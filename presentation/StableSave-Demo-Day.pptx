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8b18ac-c856-f207-2a95-44cbf840824a}">
          <p14:sldIdLst>
            <p14:sldId id="256"/>
            <p14:sldId id="257"/>
          </p14:sldIdLst>
        </p14:section>
        <p14:section name="Product" id="{ec6076d5-5dc5-9447-e621-f5026f036c44}">
          <p14:sldIdLst>
            <p14:sldId id="258"/>
            <p14:sldId id="259"/>
            <p14:sldId id="260"/>
            <p14:sldId id="261"/>
          </p14:sldIdLst>
        </p14:section>
        <p14:section name="Solana vault" id="{be47d773-9c6f-968a-803f-862ff64aa03f}">
          <p14:sldIdLst>
            <p14:sldId id="262"/>
            <p14:sldId id="263"/>
          </p14:sldIdLst>
        </p14:section>
        <p14:section name="Demo" id="{6c0c7c6e-4d49-a425-0f9f-fa3df9de0a94}">
          <p14:sldIdLst>
            <p14:sldId id="264"/>
          </p14:sldIdLst>
        </p14:section>
        <p14:section name="Status and roadmap" id="{18f59093-7033-2e56-df0c-adfea61742bb}">
          <p14:sldIdLst>
            <p14:sldId id="265"/>
            <p14:sldId id="266"/>
          </p14:sldIdLst>
        </p14:section>
        <p14:section name="Close" id="{0e4bca8f-5898-fbfd-28d8-dd65cd437be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9945FF"/>
            </a:solidFill>
            <a:effectLst/>
          </c:spPr>
          <c:invertIfNegative val="0"/>
          <c:dLbls>
            <c:numFmt formatCode="0&quot;%&quot;" sourceLinked="0"/>
            <c:txPr>
              <a:bodyPr/>
              <a:lstStyle/>
              <a:p>
                <a:pPr>
                  <a:defRPr b="0" i="0" strike="noStrike" sz="1100" u="none">
                    <a:solidFill>
                      <a:srgbClr val="F5F7FB"/>
                    </a:solidFill>
                    <a:latin typeface="+mn-lt"/>
                  </a:defRPr>
                </a:pPr>
              </a:p>
            </c:txPr>
            <c:showLegendKey val="0"/>
            <c:showVal val="1"/>
            <c:showCatName val="0"/>
            <c:showSerName val="0"/>
            <c:showPercent val="0"/>
            <c:showBubbleSize val="0"/>
            <c:showLeaderLines val="0"/>
          </c:dLbls>
          <c:cat>
            <c:multiLvlStrRef>
              <c:f>Sheet1!$A$2:$A$10</c:f>
              <c:multiLvlStrCache>
                <c:ptCount val="9"/>
                <c:lvl>
                  <c:pt idx="0">
                    <c:v>Yield stability</c:v>
                  </c:pt>
                  <c:pt idx="1">
                    <c:v>Concentration</c:v>
                  </c:pt>
                  <c:pt idx="2">
                    <c:v>Oracle dependencies</c:v>
                  </c:pt>
                  <c:pt idx="3">
                    <c:v>Strategy complexity</c:v>
                  </c:pt>
                  <c:pt idx="4">
                    <c:v>Incident history</c:v>
                  </c:pt>
                  <c:pt idx="5">
                    <c:v>Liquidity</c:v>
                  </c:pt>
                  <c:pt idx="6">
                    <c:v>Total value locked</c:v>
                  </c:pt>
                  <c:pt idx="7">
                    <c:v>Smart contract security</c:v>
                  </c:pt>
                  <c:pt idx="8">
                    <c:v>Protocol maturity</c:v>
                  </c:pt>
                </c:lvl>
              </c:multiLvlStrCache>
            </c:multiLvlStrRef>
          </c:cat>
          <c:val>
            <c:numRef>
              <c:f>Sheet1!$B$2:$B$10</c:f>
              <c:numCache>
                <c:formatCode>General</c:formatCode>
                <c:ptCount val="9"/>
                <c:pt idx="0">
                  <c:v>8</c:v>
                </c:pt>
                <c:pt idx="1">
                  <c:v>9</c:v>
                </c:pt>
                <c:pt idx="2">
                  <c:v>9</c:v>
                </c:pt>
                <c:pt idx="3">
                  <c:v>10</c:v>
                </c:pt>
                <c:pt idx="4">
                  <c:v>12</c:v>
                </c:pt>
                <c:pt idx="5">
                  <c:v>12</c:v>
                </c:pt>
                <c:pt idx="6">
                  <c:v>12</c:v>
                </c:pt>
                <c:pt idx="7">
                  <c:v>14</c:v>
                </c:pt>
                <c:pt idx="8">
                  <c:v>14</c:v>
                </c:pt>
              </c:numCache>
            </c:numRef>
          </c:val>
        </c:ser>
        <c:dLbls>
          <c:numFmt formatCode="0&quot;%&quot;" sourceLinked="0"/>
          <c:txPr>
            <a:bodyPr/>
            <a:lstStyle/>
            <a:p>
              <a:pPr>
                <a:defRPr b="0" i="0" strike="noStrike" sz="1100" u="none">
                  <a:solidFill>
                    <a:srgbClr val="F5F7F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F5F7FB"/>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20 seconds.
Key message: StableSave helps people see the risk and the real return before they chase a headline rate.
Talking points:
- Hi, I'm Theo. This is StableSave.
- It has two parts, and I'll keep them separate all the way through: a comparison app that is live today, and a Solana vault that is a devnet prototype.
- One line to remember: know the risk before you chase the yield.
Transition: Let's start with why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40 seconds.
Key message: the headline rate is the easy part. The risk and the costs behind it are the hard part.
Talking points:
- If you hold USDC or USDT, finding a rate is easy. Every app shows you one big number.
- What's hard is everything behind it: options are spread across many protocols and networks.
- A higher APY can simply mean more risk.
- Network fees can wipe out the return on a small deposit. I'll show a real example in a minute.
- Security, liquidity, how long a protocol has been live, and how complex its strategy is are all hard to compare.
- Beginners don't have a framework for any of it.
Note: no market statistics on this slide on purpose. The left card is a concept, not a real pool.
Transition: So here's what StableSave does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35 seconds.
Key message: one screen shows the rate, the risk grade, and what you'd actually keep after fees.
Talking points:
- You type an amount and choose a stablecoin. You pick how much risk you're comfortable with: Play it safe, Balanced, or Go bigger.
- StableSave ranks the options, gives each one an A to D grade with its reasons, and shows estimated earnings after network fees.
- When you're ready, it sends you to the protocol's official app. You deposit from your own wallet.
- Two promises: no wallet or sign-up just to compare, and StableSave never holds anyone's money in this flow.
Honesty note: this screenshot is the real interface running locally with demo data, so the numbers are illustrative. The live site shows live DefiLlama data.
Transition: Let me walk through the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45 seconds.
Key message: in a few clicks you go from a balance to a ranked, graded, fee-adjusted choice.
Walk the numbers on the slide:
1. Enter the amount and stablecoin. Here, $1,000 of USDC.
2. Pick a risk preference. Balanced is selected.
3. Options are ranked for that preference.
4. Every row shows its A to D grade, network and deposits, plus the rate and a yearly estimate.
5. Open any option: you get 30 or 90 days of daily rate history, so you can see whether today's rate is normal.
6. And what $1,000 could earn after the network fees to get in and out.
The detail panel then explains the grade factor by factor ("How risky is it?"), adds a plain risk warning, steps to deposit safely, and quick facts. Note: the review guide calls these "Why this grade?" and "What could go wrong?". The current interface uses the new headings.
Honesty: the worked example uses demo data. Say "estimated" every time. Rates change.
Transition: The grade is the core of this, so here's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50 seconds.
Key message: the grade can't be gamed by one shiny number, because the weakest factor always counts.
Talking points:
- Every option gets a score from 0 to 100 across nine factors. The biggest weights are protocol maturity and smart contract security at 14% each. Yield stability is the smallest at 8%.
- 75% of the score is the weighted average. The other 25% is the single weakest factor. That's deliberate: one bad area should pull the grade down.
- Scores map to grades: A is 80 and above, B 65 to 79, C 50 to 64, D below 50.
- Hard caps override the number. No public audits, unrepaid losses or a first-loss insurance fund: at most C. Live under six months, or one key can change the code: at most C+. 98% or more lent out: at most B minus. Three or more unverified inputs: at most B.
- If the data doesn't cover an input, it's labelled Not verified and scored cautiously. Never guessed.
The example is from the demo data on screen: an average of 81 would be an A, but concentration scores 37, so the final score is 70, a B. (0.75 x 81 + 0.25 x 37 = 70.)
Be honest if asked: the weights are my judgement. I haven't back-tested them against past exploits yet. That's on the roadmap.
Transition: The other half of a good decision is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35 seconds.
Key message: a good rate on an expensive network can lose you money on a small deposit.
Talking points:
- This is the example from my review guide: enter $100 and filter to Ethereum.
- At 4.10%, $100 earns about $4.10 in a year. StableSave's estimate for getting in and out on Ethereum is about $12. So you'd be $7.90 down, and the app marks the option: "Fees cost more than you'd earn".
- The same rate on Solana, where the estimate is about two cents, keeps about $4.08.
- That's why ranking uses yield after fees, so small deposits aren't sent to expensive networks.
Be precise: the screenshot uses demo data, and the Solana row is an illustration at the same rate. Network fees are fixed per-network estimates for one deposit and one withdrawal, not live gas prices. Bridging costs aren't counted yet.
Transition: That's the comparison app, which is live. Now the second, separate part: the Solana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50 seconds.
SAY THIS CLEARLY: this is a separate component, and it's a devnet prototype. It splits deposits into practice pools, not real protocols, and it is not audited.
Key message: the rules of the vault are enforced on-chain by the program, not by the website.
Talking points:
- The vault is one Anchor program on Solana devnet with 16 instructions.
- It uses three kinds of account. These are PDAs: program-derived addresses, which only the program can sign for.
  - Vault: the settings. Who the admins are, the limits, the strategy weights, the share totals. One per token and risk level.
  - Reserve and practice pools: rebalance keeps 20% of the vault in the reserve for withdrawals and splits the rest into one practice pool per protocol, by the on-chain strategy weights. Anyone can call rebalance, but it can only move money toward the strategy. Only the vault can sign a transfer out.
  - UserPosition: one depositor's shares and any pending withdrawal.
- The user signs a deposit or a withdrawal from their wallet. The program checks it's not paused, the deposit is at least the minimum and under the cap, and the withdrawal fits the instant limits. Anything larger goes through a 30-minute timelock.
- Two admin roles: the authority changes settings and is the only one who can unpause. The guardian can only pause.
Do NOT claim: that deposits earn market yield, that funds go to Kamino, MarginFi, Drift or Save yet, or that it's audited. The practice pools pay fixed practice rates from a sponsor pot of test tokens; real protocol integration is next.
Transition: Each of those controls is a trade-off, so let me be explicit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40 seconds.
Key message: every control buys safety with something else, and I can name the cost of each one.
Talking points (pick three, don't read all eight):
- Two instant-withdrawal limits: 2,000 per wallet and 50,000 per vault every 24 hours. They limit the damage from a stolen wallet and slow a bank run. The cost: large withdrawals are slower.
- Above the limits there's a 30-minute timelock: time to react before a big outflow. The cost: users wait.
- The guardian can pause; only the authority can unpause. A fast emergency stop that one key can't abuse. The cost: today there's no escape hatch if the vault stays paused.
- Shares use 1,000 virtual shares and 1 virtual asset, so the first depositor can't inflate the share price. The cost: tiny rounding losses.
- Only the program's upgrade authority can create vaults, so nobody can front-run vault creation. The cost: that's a single powerful key.
- Tests: 14 unit and 10 integration tests run against the compiled program on every change, and an automated job deploys it to a local test network, makes a real deposit, checks the split into practice pools and withdraws.
Do NOT call it audited or production-ready. Bottom line on the slide: devnet only.
Transition: Enough slides. Let's look at it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seconds for the slide; the live demo itself takes 3 to 4 minutes if there's time. If time is short, skip Part B and show this slide only.
SAY: Part A is live. Part B is a devnet prototype. Keep them separate.
PART A — live comparison app (stablesaver-web.vercel.app)
1. Open the site (no wallet or sign-up). Click "Find idle money in my wallet" and paste a wallet address: it reads the USDC and USDT on Solana, read-only, and fills the calculator.
2. Click Play it safe, then Balanced, then Go bigger. The recommendation and the list change.
3. Open the top option. Show the rate chart (drag across it), "Can I withdraw today?" and "How risky is it?": the grade and each factor.
4. Point at the "For comparison" row: US Treasury bills, from the US Treasury's own data, with no crypto risk.
5. Type $100 and pick the Ethereum chip. If the live data still shows it, an option is marked "Fees cost more than you'd earn". If it doesn't, say so and move on.
6. Click "Share my estimate": the link previews as a card with the estimate. The QR code on the last slide opens the same site.
PART B — devnet vault
Before the talk: Vercel has the three devnet variables set and redeployed; Solflare is on devnet with test tokens and a little devnet SOL; do one dry run.
1. Show the wallet is on devnet (Solflare: Settings, Network, Devnet), open Vault (the badge says Devnet, not Preview) and connect.
2. Deposit some test tokens; approve in the wallet. The same transaction splits the deposit into the practice pools.
3. "Where the vault's money is": 20% kept liquid, the rest in a pool per protocol, read from the chain.
4. Click "Collect interest &amp; rebalance": anyone can press it, and it can only move money toward the on-chain strategy.
5. Withdraw more than the reserve holds: the program pulls the difference back from the pools. Above 2,000 the rest waits 30 minutes; don't wait live.
6. Open the Blink from the Vault page: the same deposit, from a link or QR code.
Say out loud: devnet tokens have no value; the pools pay fixed practice rates, not market yield.
Backup if the network fails: use these screenshots and the recorded run if you made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35 seconds.
Key message: I know exactly what's real, what's experimental and what's missing. That's a strength, not an apology.
Talking points:
- Live today: the comparison on DefiLlama data, the grades with their reasons, fee-adjusted estimates, "Can I withdraw today?", the US Treasury bill comparison, the idle-money wallet scan, shareable estimate cards, and an optional API.
- Devnet prototype: the Anchor vault with deposits, shares, withdrawal limits, the timelock, pause and authority controls; a permissionless rebalance that splits deposits into practice pools by the on-chain strategy; and a deposit Blink.
- Not yet: CPI into the real protocols, so no market yield through the vault. Every balance the vault counts is already a real token in an account it owns, read on-chain, never reported by an admin. And no production security assurances: no audit.
- Other limits: one data source, fixed fee estimates, weights that are my judgement and not back-tested, ranking on today's APY rather than the 30-day average, bridging not modelled, and admin and upgrade-key risk.
Transition: Here's the order I'll fix them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30 seconds.
Key message: the roadmap goes straight at the weaknesses I just listed. Safety first, then the feature that makes the vault real.
Talking points:
- Phase 1, safety: an escape hatch so withdrawals reopen if a vault stays paused too long; close_position to refund account rent; fuzz testing the share math and withdrawal limits.
- Phase 2, recommendations: rank on the 30-day average instead of today's rate; flag options that need funds moved between networks; back-test the grades against past exploits.
- Phase 3, the vault: replace a practice pool with one real Kamino lending integration, tested against the real Kamino program on a local validator. The rebalance and the on-chain accounting stay the same.
- Phase 4: a multisig authority and a delay on strategy changes, then rate and grade alerts, a read-only portfolio view, and more tokens such as USDT and Token-2022.
All of this is planned, none of it is built yet. Don't give dates you can't commit to.
Transition: To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25 seconds, then questions.
Key message: StableSave makes yield easier to understand before it makes yield easier to chase.
Talking points:
- Three things: simpler comparison across yield options; risk grades that show the trade-offs; and a separate Solana vault prototype that explores controlled deposits and withdrawals.
- Scan the code to try it. No wallet needed.
- I'd love feedback on three things: the risk scoring, the vault's security model, and which integration I should build next.
- Close: StableSave. Know the risk before you chase the yield. Thank you.
Likely questions and honest answers:
- Does the vault earn yield? Not market yield yet. On devnet it splits deposits into practice pools that pay fixed practice rates from a sponsor pot of test tokens; swapping one for a real Kamino strategy is the next build.
- Is it audited? No. It's a devnet prototype.
- Who controls the vault? One authority key today, plus a guardian that can only pause. A multisig and a delay on strategy changes are planned.
- Why trust the grades? They're transparent: every factor and its reason is shown, and unknowns lower the grade. The weights are my judgement and not back-tested yet.
- Why only DefiLlama? It covers every network without an API key. The trade-off is a single point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Stablesaver/presentation/assets/graphics/logo-mark.png">    </p:cNvPr>
          <p:cNvPicPr>
            <a:picLocks noChangeAspect="1"/>
          </p:cNvPicPr>
          <p:nvPr/>
        </p:nvPicPr>
        <p:blipFill>
          <a:blip r:embed="rId1"/>
          <a:stretch>
            <a:fillRect/>
          </a:stretch>
        </p:blipFill>
        <p:spPr>
          <a:xfrm>
            <a:off x="548640" y="6400800"/>
            <a:ext cx="182880" cy="182880"/>
          </a:xfrm>
          <a:prstGeom prst="rect">
            <a:avLst/>
          </a:prstGeom>
        </p:spPr>
      </p:pic>
      <p:sp>
        <p:nvSpPr>
          <p:cNvPr id="3" name="Text 0"/>
          <p:cNvSpPr/>
          <p:nvPr/>
        </p:nvSpPr>
        <p:spPr>
          <a:xfrm>
            <a:off x="822960" y="6373368"/>
            <a:ext cx="3657600" cy="237744"/>
          </a:xfrm>
          <a:prstGeom prst="rect">
            <a:avLst/>
          </a:prstGeom>
          <a:noFill/>
          <a:ln/>
        </p:spPr>
        <p:txBody>
          <a:bodyPr wrap="square" lIns="0" tIns="0" rIns="0" bIns="0" rtlCol="0" anchor="ctr"/>
          <a:lstStyle/>
          <a:p>
            <a:pPr indent="0" marL="0">
              <a:buNone/>
            </a:pPr>
            <a:r>
              <a:rPr lang="en-US" sz="1000" dirty="0">
                <a:solidFill>
                  <a:schemeClr val="bg2"/>
                </a:solidFill>
              </a:rPr>
              <a:t>StableSave · Demo Day</a:t>
            </a:r>
            <a:endParaRPr lang="en-US" sz="1000" dirty="0"/>
          </a:p>
        </p:txBody>
      </p:sp>
      <p:sp>
        <p:nvSpPr>
          <p:cNvPr id="4" name="Text 1"/>
          <p:cNvSpPr/>
          <p:nvPr>
            <p:ph idx="102" type="title" hasCustomPrompt="1"/>
          </p:nvPr>
        </p:nvSpPr>
        <p:spPr>
          <a:xfrm>
            <a:off x="548640" y="384048"/>
            <a:ext cx="11094415" cy="1051560"/>
          </a:xfrm>
          <a:prstGeom prst="rect">
            <a:avLst/>
          </a:prstGeom>
          <a:noFill/>
          <a:ln/>
        </p:spPr>
        <p:txBody>
          <a:bodyPr wrap="square" rtlCol="0"/>
          <a:lstStyle>
            <a:lvl1pPr algn="l" indent="0" marL="0">
              <a:lnSpc>
                <a:spcPct val="95000"/>
              </a:lnSpc>
              <a:buNone/>
              <a:defRPr lang="en-US" sz="3200" b="1" dirty="0">
                <a:solidFill>
                  <a:schemeClr val="bg1"/>
                </a:solidFill>
              </a:defRPr>
            </a:lvl1pPr>
          </a:lstStyle>
          <a:p>
            <a:pPr algn="l" indent="0" marL="0">
              <a:lnSpc>
                <a:spcPct val="95000"/>
              </a:lnSpc>
              <a:buNone/>
            </a:pPr>
            <a:endParaRPr lang="en-US" sz="320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StableSave logo">    </p:cNvPr>
          <p:cNvPicPr>
            <a:picLocks noChangeAspect="1"/>
          </p:cNvPicPr>
          <p:nvPr/>
        </p:nvPicPr>
        <p:blipFill>
          <a:blip r:embed="rId1"/>
          <a:stretch>
            <a:fillRect/>
          </a:stretch>
        </p:blipFill>
        <p:spPr>
          <a:xfrm>
            <a:off x="548640" y="566928"/>
            <a:ext cx="3012141" cy="384048"/>
          </a:xfrm>
          <a:prstGeom prst="rect">
            <a:avLst/>
          </a:prstGeom>
        </p:spPr>
      </p:pic>
      <p:sp>
        <p:nvSpPr>
          <p:cNvPr id="3" name="descriptor"/>
          <p:cNvSpPr txBox="1"/>
          <p:nvPr/>
        </p:nvSpPr>
        <p:spPr>
          <a:xfrm>
            <a:off x="548640" y="1874520"/>
            <a:ext cx="73152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STABLECOIN YIELD INTELLIGENCE  +  SOLANA VAULT PROTOTYPE</a:t>
            </a:r>
            <a:endParaRPr lang="en-US" sz="1100" dirty="0"/>
          </a:p>
        </p:txBody>
      </p:sp>
      <p:sp>
        <p:nvSpPr>
          <p:cNvPr id="4" name="headline"/>
          <p:cNvSpPr txBox="1"/>
          <p:nvPr/>
        </p:nvSpPr>
        <p:spPr>
          <a:xfrm>
            <a:off x="548640" y="2240280"/>
            <a:ext cx="6949440" cy="1920240"/>
          </a:xfrm>
          <a:prstGeom prst="rect">
            <a:avLst/>
          </a:prstGeom>
          <a:noFill/>
          <a:ln/>
        </p:spPr>
        <p:txBody>
          <a:bodyPr wrap="square" lIns="0" tIns="0" rIns="0" bIns="0" rtlCol="0" anchor="t"/>
          <a:lstStyle/>
          <a:p>
            <a:pPr indent="0" marL="0">
              <a:lnSpc>
                <a:spcPct val="92000"/>
              </a:lnSpc>
              <a:buNone/>
            </a:pPr>
            <a:r>
              <a:rPr lang="en-US" sz="5200" b="1" dirty="0">
                <a:solidFill>
                  <a:schemeClr val="bg1"/>
                </a:solidFill>
              </a:rPr>
              <a:t>Know the risk before you </a:t>
            </a:r>
            <a:pPr indent="0" marL="0">
              <a:lnSpc>
                <a:spcPct val="92000"/>
              </a:lnSpc>
              <a:buNone/>
            </a:pPr>
            <a:r>
              <a:rPr lang="en-US" sz="5200" b="1" dirty="0">
                <a:solidFill>
                  <a:schemeClr val="accent2"/>
                </a:solidFill>
              </a:rPr>
              <a:t>chase the yield.</a:t>
            </a:r>
            <a:endParaRPr lang="en-US" sz="5200" dirty="0"/>
          </a:p>
        </p:txBody>
      </p:sp>
      <p:sp>
        <p:nvSpPr>
          <p:cNvPr id="5" name="subhead"/>
          <p:cNvSpPr txBox="1"/>
          <p:nvPr/>
        </p:nvSpPr>
        <p:spPr>
          <a:xfrm>
            <a:off x="548640" y="4343400"/>
            <a:ext cx="5852160" cy="822960"/>
          </a:xfrm>
          <a:prstGeom prst="rect">
            <a:avLst/>
          </a:prstGeom>
          <a:noFill/>
          <a:ln/>
        </p:spPr>
        <p:txBody>
          <a:bodyPr wrap="square" lIns="0" tIns="0" rIns="0" bIns="0" rtlCol="0" anchor="t"/>
          <a:lstStyle/>
          <a:p>
            <a:pPr indent="0" marL="0">
              <a:lnSpc>
                <a:spcPct val="115000"/>
              </a:lnSpc>
              <a:buNone/>
            </a:pPr>
            <a:r>
              <a:rPr lang="en-US" sz="1800" dirty="0">
                <a:solidFill>
                  <a:schemeClr val="bg2"/>
                </a:solidFill>
              </a:rPr>
              <a:t>A simpler way to compare stablecoin yield opportunities, understand risk, and see what remains after fees.</a:t>
            </a:r>
            <a:endParaRPr lang="en-US" sz="1800" dirty="0"/>
          </a:p>
        </p:txBody>
      </p:sp>
      <p:sp>
        <p:nvSpPr>
          <p:cNvPr id="6" name="presenter"/>
          <p:cNvSpPr txBox="1"/>
          <p:nvPr/>
        </p:nvSpPr>
        <p:spPr>
          <a:xfrm>
            <a:off x="548640" y="5715000"/>
            <a:ext cx="5486400" cy="548640"/>
          </a:xfrm>
          <a:prstGeom prst="rect">
            <a:avLst/>
          </a:prstGeom>
          <a:noFill/>
          <a:ln/>
        </p:spPr>
        <p:txBody>
          <a:bodyPr wrap="square" lIns="0" tIns="0" rIns="0" bIns="0" rtlCol="0" anchor="t"/>
          <a:lstStyle/>
          <a:p>
            <a:pPr indent="0" marL="0">
              <a:buNone/>
            </a:pPr>
            <a:r>
              <a:rPr lang="en-US" sz="1300" b="1" dirty="0">
                <a:solidFill>
                  <a:schemeClr val="bg1"/>
                </a:solidFill>
              </a:rPr>
              <a:t>Theo</a:t>
            </a:r>
            <a:endParaRPr lang="en-US" sz="1300" dirty="0"/>
          </a:p>
          <a:p>
            <a:pPr indent="0" marL="0">
              <a:buNone/>
            </a:pPr>
            <a:r>
              <a:rPr lang="en-US" sz="1300" dirty="0">
                <a:solidFill>
                  <a:schemeClr val="bg2"/>
                </a:solidFill>
              </a:rPr>
              <a:t>Demo Day · stablesaver-web.vercel.app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Finding yield is easy.</a:t>
            </a:r>
            <a:endParaRPr lang="en-US" sz="3200" dirty="0"/>
          </a:p>
          <a:p>
            <a:pPr algn="l" indent="0" marL="0">
              <a:lnSpc>
                <a:spcPct val="95000"/>
              </a:lnSpc>
              <a:buNone/>
            </a:pPr>
            <a:r>
              <a:rPr lang="en-US" sz="3200" b="1" dirty="0">
                <a:solidFill>
                  <a:schemeClr val="bg1"/>
                </a:solidFill>
              </a:rPr>
              <a:t>Knowing what you're taking on is harder</a:t>
            </a:r>
            <a:endParaRPr lang="en-US" sz="3200" dirty="0"/>
          </a:p>
        </p:txBody>
      </p:sp>
      <p:sp>
        <p:nvSpPr>
          <p:cNvPr id="3" name="seen-card"/>
          <p:cNvSpPr/>
          <p:nvPr/>
        </p:nvSpPr>
        <p:spPr>
          <a:xfrm>
            <a:off x="548640" y="1618488"/>
            <a:ext cx="4206240" cy="4526280"/>
          </a:xfrm>
          <a:prstGeom prst="roundRect">
            <a:avLst>
              <a:gd name="adj" fmla="val 3043"/>
            </a:avLst>
          </a:prstGeom>
          <a:solidFill>
            <a:schemeClr val="tx2"/>
          </a:solidFill>
          <a:ln w="9525">
            <a:solidFill>
              <a:schemeClr val="accent6"/>
            </a:solidFill>
            <a:prstDash val="solid"/>
          </a:ln>
        </p:spPr>
      </p:sp>
      <p:sp>
        <p:nvSpPr>
          <p:cNvPr id="4" name="Text 2"/>
          <p:cNvSpPr txBox="1"/>
          <p:nvPr/>
        </p:nvSpPr>
        <p:spPr>
          <a:xfrm>
            <a:off x="914400" y="1984248"/>
            <a:ext cx="3474720" cy="274320"/>
          </a:xfrm>
          <a:prstGeom prst="rect">
            <a:avLst/>
          </a:prstGeom>
          <a:noFill/>
          <a:ln/>
        </p:spPr>
        <p:txBody>
          <a:bodyPr wrap="square" lIns="0" tIns="0" rIns="0" bIns="0" rtlCol="0" anchor="t"/>
          <a:lstStyle/>
          <a:p>
            <a:pPr indent="0" marL="0">
              <a:buNone/>
            </a:pPr>
            <a:r>
              <a:rPr lang="en-US" sz="1100" b="1" spc="200" kern="0" dirty="0">
                <a:solidFill>
                  <a:schemeClr val="bg2"/>
                </a:solidFill>
              </a:rPr>
              <a:t>WHAT YOU SEE</a:t>
            </a:r>
            <a:endParaRPr lang="en-US" sz="1100" dirty="0"/>
          </a:p>
        </p:txBody>
      </p:sp>
      <p:sp>
        <p:nvSpPr>
          <p:cNvPr id="5" name="Text 3"/>
          <p:cNvSpPr txBox="1"/>
          <p:nvPr/>
        </p:nvSpPr>
        <p:spPr>
          <a:xfrm>
            <a:off x="914400" y="2441448"/>
            <a:ext cx="3474720" cy="548640"/>
          </a:xfrm>
          <a:prstGeom prst="rect">
            <a:avLst/>
          </a:prstGeom>
          <a:noFill/>
          <a:ln/>
        </p:spPr>
        <p:txBody>
          <a:bodyPr wrap="square" lIns="0" tIns="0" rIns="0" bIns="0" rtlCol="0" anchor="t"/>
          <a:lstStyle/>
          <a:p>
            <a:pPr indent="0" marL="0">
              <a:buNone/>
            </a:pPr>
            <a:r>
              <a:rPr lang="en-US" sz="3000" b="1" dirty="0">
                <a:solidFill>
                  <a:schemeClr val="accent2"/>
                </a:solidFill>
              </a:rPr>
              <a:t>A big APY</a:t>
            </a:r>
            <a:endParaRPr lang="en-US" sz="3000" dirty="0"/>
          </a:p>
        </p:txBody>
      </p:sp>
      <p:sp>
        <p:nvSpPr>
          <p:cNvPr id="6" name="Text 4"/>
          <p:cNvSpPr txBox="1"/>
          <p:nvPr/>
        </p:nvSpPr>
        <p:spPr>
          <a:xfrm>
            <a:off x="914400" y="3035808"/>
            <a:ext cx="3474720" cy="640080"/>
          </a:xfrm>
          <a:prstGeom prst="rect">
            <a:avLst/>
          </a:prstGeom>
          <a:noFill/>
          <a:ln/>
        </p:spPr>
        <p:txBody>
          <a:bodyPr wrap="square" lIns="0" tIns="0" rIns="0" bIns="0" rtlCol="0" anchor="t"/>
          <a:lstStyle/>
          <a:p>
            <a:pPr indent="0" marL="0">
              <a:buNone/>
            </a:pPr>
            <a:r>
              <a:rPr lang="en-US" sz="1500" dirty="0">
                <a:solidFill>
                  <a:schemeClr val="bg1"/>
                </a:solidFill>
              </a:rPr>
              <a:t>One number on a dashboard, usually the highest one.</a:t>
            </a:r>
            <a:endParaRPr lang="en-US" sz="1500" dirty="0"/>
          </a:p>
        </p:txBody>
      </p:sp>
      <p:pic>
        <p:nvPicPr>
          <p:cNvPr id="7" name="Image 0" descr="Rising line icon">    </p:cNvPr>
          <p:cNvPicPr>
            <a:picLocks noChangeAspect="1"/>
          </p:cNvPicPr>
          <p:nvPr/>
        </p:nvPicPr>
        <p:blipFill>
          <a:blip r:embed="rId1"/>
          <a:stretch>
            <a:fillRect/>
          </a:stretch>
        </p:blipFill>
        <p:spPr>
          <a:xfrm>
            <a:off x="914400" y="3950208"/>
            <a:ext cx="1143000" cy="1143000"/>
          </a:xfrm>
          <a:prstGeom prst="rect">
            <a:avLst/>
          </a:prstGeom>
        </p:spPr>
      </p:pic>
      <p:sp>
        <p:nvSpPr>
          <p:cNvPr id="8" name="Text 5"/>
          <p:cNvSpPr txBox="1"/>
          <p:nvPr/>
        </p:nvSpPr>
        <p:spPr>
          <a:xfrm>
            <a:off x="914400" y="5596128"/>
            <a:ext cx="3474720" cy="274320"/>
          </a:xfrm>
          <a:prstGeom prst="rect">
            <a:avLst/>
          </a:prstGeom>
          <a:noFill/>
          <a:ln/>
        </p:spPr>
        <p:txBody>
          <a:bodyPr wrap="square" lIns="0" tIns="0" rIns="0" bIns="0" rtlCol="0" anchor="t"/>
          <a:lstStyle/>
          <a:p>
            <a:pPr indent="0" marL="0">
              <a:buNone/>
            </a:pPr>
            <a:r>
              <a:rPr lang="en-US" sz="1000" i="1" dirty="0">
                <a:solidFill>
                  <a:schemeClr val="bg2"/>
                </a:solidFill>
              </a:rPr>
              <a:t>Conceptual illustration</a:t>
            </a:r>
            <a:endParaRPr lang="en-US" sz="1000" dirty="0"/>
          </a:p>
        </p:txBody>
      </p:sp>
      <p:sp>
        <p:nvSpPr>
          <p:cNvPr id="9" name="Text 6"/>
          <p:cNvSpPr txBox="1"/>
          <p:nvPr/>
        </p:nvSpPr>
        <p:spPr>
          <a:xfrm>
            <a:off x="5074920" y="1636776"/>
            <a:ext cx="6568135"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WHAT YOU TAKE ON</a:t>
            </a:r>
            <a:endParaRPr lang="en-US" sz="1100" dirty="0"/>
          </a:p>
        </p:txBody>
      </p:sp>
      <p:sp>
        <p:nvSpPr>
          <p:cNvPr id="10" name="risk-0"/>
          <p:cNvSpPr/>
          <p:nvPr/>
        </p:nvSpPr>
        <p:spPr>
          <a:xfrm>
            <a:off x="5074920" y="2029968"/>
            <a:ext cx="6568135" cy="786384"/>
          </a:xfrm>
          <a:prstGeom prst="roundRect">
            <a:avLst>
              <a:gd name="adj" fmla="val 13953"/>
            </a:avLst>
          </a:prstGeom>
          <a:solidFill>
            <a:schemeClr val="tx2"/>
          </a:solidFill>
          <a:ln w="9525">
            <a:solidFill>
              <a:schemeClr val="accent6"/>
            </a:solidFill>
            <a:prstDash val="solid"/>
          </a:ln>
        </p:spPr>
      </p:sp>
      <p:pic>
        <p:nvPicPr>
          <p:cNvPr id="11" name="Image 1" descr="Scattered">    </p:cNvPr>
          <p:cNvPicPr>
            <a:picLocks noChangeAspect="1"/>
          </p:cNvPicPr>
          <p:nvPr/>
        </p:nvPicPr>
        <p:blipFill>
          <a:blip r:embed="rId2"/>
          <a:stretch>
            <a:fillRect/>
          </a:stretch>
        </p:blipFill>
        <p:spPr>
          <a:xfrm>
            <a:off x="5303520" y="2240280"/>
            <a:ext cx="365760" cy="365760"/>
          </a:xfrm>
          <a:prstGeom prst="rect">
            <a:avLst/>
          </a:prstGeom>
        </p:spPr>
      </p:pic>
      <p:sp>
        <p:nvSpPr>
          <p:cNvPr id="12" name="Text 8"/>
          <p:cNvSpPr txBox="1"/>
          <p:nvPr/>
        </p:nvSpPr>
        <p:spPr>
          <a:xfrm>
            <a:off x="5852160" y="2157984"/>
            <a:ext cx="2194560" cy="548640"/>
          </a:xfrm>
          <a:prstGeom prst="rect">
            <a:avLst/>
          </a:prstGeom>
          <a:noFill/>
          <a:ln/>
        </p:spPr>
        <p:txBody>
          <a:bodyPr wrap="square" lIns="0" tIns="0" rIns="0" bIns="0" rtlCol="0" anchor="ctr"/>
          <a:lstStyle/>
          <a:p>
            <a:pPr indent="0" marL="0">
              <a:buNone/>
            </a:pPr>
            <a:r>
              <a:rPr lang="en-US" sz="1600" b="1" dirty="0">
                <a:solidFill>
                  <a:schemeClr val="bg1"/>
                </a:solidFill>
              </a:rPr>
              <a:t>Scattered</a:t>
            </a:r>
            <a:endParaRPr lang="en-US" sz="1600" dirty="0"/>
          </a:p>
        </p:txBody>
      </p:sp>
      <p:sp>
        <p:nvSpPr>
          <p:cNvPr id="13" name="Text 9"/>
          <p:cNvSpPr txBox="1"/>
          <p:nvPr/>
        </p:nvSpPr>
        <p:spPr>
          <a:xfrm>
            <a:off x="8046720" y="2157984"/>
            <a:ext cx="3413455" cy="548640"/>
          </a:xfrm>
          <a:prstGeom prst="rect">
            <a:avLst/>
          </a:prstGeom>
          <a:noFill/>
          <a:ln/>
        </p:spPr>
        <p:txBody>
          <a:bodyPr wrap="square" lIns="0" tIns="0" rIns="0" bIns="0" rtlCol="0" anchor="ctr"/>
          <a:lstStyle/>
          <a:p>
            <a:pPr indent="0" marL="0">
              <a:buNone/>
            </a:pPr>
            <a:r>
              <a:rPr lang="en-US" sz="1400" dirty="0">
                <a:solidFill>
                  <a:schemeClr val="bg2"/>
                </a:solidFill>
              </a:rPr>
              <a:t>Options sit across many protocols and networks.</a:t>
            </a:r>
            <a:endParaRPr lang="en-US" sz="1400" dirty="0"/>
          </a:p>
        </p:txBody>
      </p:sp>
      <p:sp>
        <p:nvSpPr>
          <p:cNvPr id="14" name="risk-1"/>
          <p:cNvSpPr/>
          <p:nvPr/>
        </p:nvSpPr>
        <p:spPr>
          <a:xfrm>
            <a:off x="5074920" y="2871216"/>
            <a:ext cx="6568135" cy="786384"/>
          </a:xfrm>
          <a:prstGeom prst="roundRect">
            <a:avLst>
              <a:gd name="adj" fmla="val 13953"/>
            </a:avLst>
          </a:prstGeom>
          <a:solidFill>
            <a:schemeClr val="tx2"/>
          </a:solidFill>
          <a:ln w="9525">
            <a:solidFill>
              <a:schemeClr val="accent6"/>
            </a:solidFill>
            <a:prstDash val="solid"/>
          </a:ln>
        </p:spPr>
      </p:sp>
      <p:pic>
        <p:nvPicPr>
          <p:cNvPr id="15" name="Image 2" descr="Higher isn't better">    </p:cNvPr>
          <p:cNvPicPr>
            <a:picLocks noChangeAspect="1"/>
          </p:cNvPicPr>
          <p:nvPr/>
        </p:nvPicPr>
        <p:blipFill>
          <a:blip r:embed="rId3"/>
          <a:stretch>
            <a:fillRect/>
          </a:stretch>
        </p:blipFill>
        <p:spPr>
          <a:xfrm>
            <a:off x="5303520" y="3081528"/>
            <a:ext cx="365760" cy="365760"/>
          </a:xfrm>
          <a:prstGeom prst="rect">
            <a:avLst/>
          </a:prstGeom>
        </p:spPr>
      </p:pic>
      <p:sp>
        <p:nvSpPr>
          <p:cNvPr id="16" name="Text 11"/>
          <p:cNvSpPr txBox="1"/>
          <p:nvPr/>
        </p:nvSpPr>
        <p:spPr>
          <a:xfrm>
            <a:off x="5852160" y="2999232"/>
            <a:ext cx="2194560" cy="548640"/>
          </a:xfrm>
          <a:prstGeom prst="rect">
            <a:avLst/>
          </a:prstGeom>
          <a:noFill/>
          <a:ln/>
        </p:spPr>
        <p:txBody>
          <a:bodyPr wrap="square" lIns="0" tIns="0" rIns="0" bIns="0" rtlCol="0" anchor="ctr"/>
          <a:lstStyle/>
          <a:p>
            <a:pPr indent="0" marL="0">
              <a:buNone/>
            </a:pPr>
            <a:r>
              <a:rPr lang="en-US" sz="1600" b="1" dirty="0">
                <a:solidFill>
                  <a:schemeClr val="bg1"/>
                </a:solidFill>
              </a:rPr>
              <a:t>Higher isn't better</a:t>
            </a:r>
            <a:endParaRPr lang="en-US" sz="1600" dirty="0"/>
          </a:p>
        </p:txBody>
      </p:sp>
      <p:sp>
        <p:nvSpPr>
          <p:cNvPr id="17" name="Text 12"/>
          <p:cNvSpPr txBox="1"/>
          <p:nvPr/>
        </p:nvSpPr>
        <p:spPr>
          <a:xfrm>
            <a:off x="8046720" y="2999232"/>
            <a:ext cx="3413455" cy="548640"/>
          </a:xfrm>
          <a:prstGeom prst="rect">
            <a:avLst/>
          </a:prstGeom>
          <a:noFill/>
          <a:ln/>
        </p:spPr>
        <p:txBody>
          <a:bodyPr wrap="square" lIns="0" tIns="0" rIns="0" bIns="0" rtlCol="0" anchor="ctr"/>
          <a:lstStyle/>
          <a:p>
            <a:pPr indent="0" marL="0">
              <a:buNone/>
            </a:pPr>
            <a:r>
              <a:rPr lang="en-US" sz="1400" dirty="0">
                <a:solidFill>
                  <a:schemeClr val="bg2"/>
                </a:solidFill>
              </a:rPr>
              <a:t>A higher APY can mean more risk, not a better deal.</a:t>
            </a:r>
            <a:endParaRPr lang="en-US" sz="1400" dirty="0"/>
          </a:p>
        </p:txBody>
      </p:sp>
      <p:sp>
        <p:nvSpPr>
          <p:cNvPr id="18" name="risk-2"/>
          <p:cNvSpPr/>
          <p:nvPr/>
        </p:nvSpPr>
        <p:spPr>
          <a:xfrm>
            <a:off x="5074920" y="3712464"/>
            <a:ext cx="6568135" cy="786384"/>
          </a:xfrm>
          <a:prstGeom prst="roundRect">
            <a:avLst>
              <a:gd name="adj" fmla="val 13953"/>
            </a:avLst>
          </a:prstGeom>
          <a:solidFill>
            <a:schemeClr val="tx2"/>
          </a:solidFill>
          <a:ln w="9525">
            <a:solidFill>
              <a:schemeClr val="accent6"/>
            </a:solidFill>
            <a:prstDash val="solid"/>
          </a:ln>
        </p:spPr>
      </p:sp>
      <p:pic>
        <p:nvPicPr>
          <p:cNvPr id="19" name="Image 3" descr="Fees bite">    </p:cNvPr>
          <p:cNvPicPr>
            <a:picLocks noChangeAspect="1"/>
          </p:cNvPicPr>
          <p:nvPr/>
        </p:nvPicPr>
        <p:blipFill>
          <a:blip r:embed="rId4"/>
          <a:stretch>
            <a:fillRect/>
          </a:stretch>
        </p:blipFill>
        <p:spPr>
          <a:xfrm>
            <a:off x="5303520" y="3922776"/>
            <a:ext cx="365760" cy="365760"/>
          </a:xfrm>
          <a:prstGeom prst="rect">
            <a:avLst/>
          </a:prstGeom>
        </p:spPr>
      </p:pic>
      <p:sp>
        <p:nvSpPr>
          <p:cNvPr id="20" name="Text 14"/>
          <p:cNvSpPr txBox="1"/>
          <p:nvPr/>
        </p:nvSpPr>
        <p:spPr>
          <a:xfrm>
            <a:off x="5852160" y="3840480"/>
            <a:ext cx="2194560" cy="548640"/>
          </a:xfrm>
          <a:prstGeom prst="rect">
            <a:avLst/>
          </a:prstGeom>
          <a:noFill/>
          <a:ln/>
        </p:spPr>
        <p:txBody>
          <a:bodyPr wrap="square" lIns="0" tIns="0" rIns="0" bIns="0" rtlCol="0" anchor="ctr"/>
          <a:lstStyle/>
          <a:p>
            <a:pPr indent="0" marL="0">
              <a:buNone/>
            </a:pPr>
            <a:r>
              <a:rPr lang="en-US" sz="1600" b="1" dirty="0">
                <a:solidFill>
                  <a:schemeClr val="bg1"/>
                </a:solidFill>
              </a:rPr>
              <a:t>Fees bite</a:t>
            </a:r>
            <a:endParaRPr lang="en-US" sz="1600" dirty="0"/>
          </a:p>
        </p:txBody>
      </p:sp>
      <p:sp>
        <p:nvSpPr>
          <p:cNvPr id="21" name="Text 15"/>
          <p:cNvSpPr txBox="1"/>
          <p:nvPr/>
        </p:nvSpPr>
        <p:spPr>
          <a:xfrm>
            <a:off x="8046720" y="3840480"/>
            <a:ext cx="3413455" cy="548640"/>
          </a:xfrm>
          <a:prstGeom prst="rect">
            <a:avLst/>
          </a:prstGeom>
          <a:noFill/>
          <a:ln/>
        </p:spPr>
        <p:txBody>
          <a:bodyPr wrap="square" lIns="0" tIns="0" rIns="0" bIns="0" rtlCol="0" anchor="ctr"/>
          <a:lstStyle/>
          <a:p>
            <a:pPr indent="0" marL="0">
              <a:buNone/>
            </a:pPr>
            <a:r>
              <a:rPr lang="en-US" sz="1400" dirty="0">
                <a:solidFill>
                  <a:schemeClr val="bg2"/>
                </a:solidFill>
              </a:rPr>
              <a:t>Network fees can wipe out the return on a small deposit.</a:t>
            </a:r>
            <a:endParaRPr lang="en-US" sz="1400" dirty="0"/>
          </a:p>
        </p:txBody>
      </p:sp>
      <p:sp>
        <p:nvSpPr>
          <p:cNvPr id="22" name="risk-3"/>
          <p:cNvSpPr/>
          <p:nvPr/>
        </p:nvSpPr>
        <p:spPr>
          <a:xfrm>
            <a:off x="5074920" y="4553712"/>
            <a:ext cx="6568135" cy="786384"/>
          </a:xfrm>
          <a:prstGeom prst="roundRect">
            <a:avLst>
              <a:gd name="adj" fmla="val 13953"/>
            </a:avLst>
          </a:prstGeom>
          <a:solidFill>
            <a:schemeClr val="tx2"/>
          </a:solidFill>
          <a:ln w="9525">
            <a:solidFill>
              <a:schemeClr val="accent6"/>
            </a:solidFill>
            <a:prstDash val="solid"/>
          </a:ln>
        </p:spPr>
      </p:sp>
      <p:pic>
        <p:nvPicPr>
          <p:cNvPr id="23" name="Image 4" descr="Hard to compare">    </p:cNvPr>
          <p:cNvPicPr>
            <a:picLocks noChangeAspect="1"/>
          </p:cNvPicPr>
          <p:nvPr/>
        </p:nvPicPr>
        <p:blipFill>
          <a:blip r:embed="rId5"/>
          <a:stretch>
            <a:fillRect/>
          </a:stretch>
        </p:blipFill>
        <p:spPr>
          <a:xfrm>
            <a:off x="5303520" y="4764024"/>
            <a:ext cx="365760" cy="365760"/>
          </a:xfrm>
          <a:prstGeom prst="rect">
            <a:avLst/>
          </a:prstGeom>
        </p:spPr>
      </p:pic>
      <p:sp>
        <p:nvSpPr>
          <p:cNvPr id="24" name="Text 17"/>
          <p:cNvSpPr txBox="1"/>
          <p:nvPr/>
        </p:nvSpPr>
        <p:spPr>
          <a:xfrm>
            <a:off x="5852160" y="4681728"/>
            <a:ext cx="2194560" cy="548640"/>
          </a:xfrm>
          <a:prstGeom prst="rect">
            <a:avLst/>
          </a:prstGeom>
          <a:noFill/>
          <a:ln/>
        </p:spPr>
        <p:txBody>
          <a:bodyPr wrap="square" lIns="0" tIns="0" rIns="0" bIns="0" rtlCol="0" anchor="ctr"/>
          <a:lstStyle/>
          <a:p>
            <a:pPr indent="0" marL="0">
              <a:buNone/>
            </a:pPr>
            <a:r>
              <a:rPr lang="en-US" sz="1600" b="1" dirty="0">
                <a:solidFill>
                  <a:schemeClr val="bg1"/>
                </a:solidFill>
              </a:rPr>
              <a:t>Hard to compare</a:t>
            </a:r>
            <a:endParaRPr lang="en-US" sz="1600" dirty="0"/>
          </a:p>
        </p:txBody>
      </p:sp>
      <p:sp>
        <p:nvSpPr>
          <p:cNvPr id="25" name="Text 18"/>
          <p:cNvSpPr txBox="1"/>
          <p:nvPr/>
        </p:nvSpPr>
        <p:spPr>
          <a:xfrm>
            <a:off x="8046720" y="4681728"/>
            <a:ext cx="3413455" cy="548640"/>
          </a:xfrm>
          <a:prstGeom prst="rect">
            <a:avLst/>
          </a:prstGeom>
          <a:noFill/>
          <a:ln/>
        </p:spPr>
        <p:txBody>
          <a:bodyPr wrap="square" lIns="0" tIns="0" rIns="0" bIns="0" rtlCol="0" anchor="ctr"/>
          <a:lstStyle/>
          <a:p>
            <a:pPr indent="0" marL="0">
              <a:buNone/>
            </a:pPr>
            <a:r>
              <a:rPr lang="en-US" sz="1400" dirty="0">
                <a:solidFill>
                  <a:schemeClr val="bg2"/>
                </a:solidFill>
              </a:rPr>
              <a:t>Security, liquidity, maturity and strategy complexity hide in docs.</a:t>
            </a:r>
            <a:endParaRPr lang="en-US" sz="1400" dirty="0"/>
          </a:p>
        </p:txBody>
      </p:sp>
      <p:sp>
        <p:nvSpPr>
          <p:cNvPr id="26" name="risk-4"/>
          <p:cNvSpPr/>
          <p:nvPr/>
        </p:nvSpPr>
        <p:spPr>
          <a:xfrm>
            <a:off x="5074920" y="5394960"/>
            <a:ext cx="6568135" cy="786384"/>
          </a:xfrm>
          <a:prstGeom prst="roundRect">
            <a:avLst>
              <a:gd name="adj" fmla="val 13953"/>
            </a:avLst>
          </a:prstGeom>
          <a:solidFill>
            <a:schemeClr val="tx2"/>
          </a:solidFill>
          <a:ln w="9525">
            <a:solidFill>
              <a:schemeClr val="accent6"/>
            </a:solidFill>
            <a:prstDash val="solid"/>
          </a:ln>
        </p:spPr>
      </p:sp>
      <p:pic>
        <p:nvPicPr>
          <p:cNvPr id="27" name="Image 5" descr="No framework">    </p:cNvPr>
          <p:cNvPicPr>
            <a:picLocks noChangeAspect="1"/>
          </p:cNvPicPr>
          <p:nvPr/>
        </p:nvPicPr>
        <p:blipFill>
          <a:blip r:embed="rId6"/>
          <a:stretch>
            <a:fillRect/>
          </a:stretch>
        </p:blipFill>
        <p:spPr>
          <a:xfrm>
            <a:off x="5303520" y="5605272"/>
            <a:ext cx="365760" cy="365760"/>
          </a:xfrm>
          <a:prstGeom prst="rect">
            <a:avLst/>
          </a:prstGeom>
        </p:spPr>
      </p:pic>
      <p:sp>
        <p:nvSpPr>
          <p:cNvPr id="28" name="Text 20"/>
          <p:cNvSpPr txBox="1"/>
          <p:nvPr/>
        </p:nvSpPr>
        <p:spPr>
          <a:xfrm>
            <a:off x="5852160" y="5522976"/>
            <a:ext cx="2194560" cy="548640"/>
          </a:xfrm>
          <a:prstGeom prst="rect">
            <a:avLst/>
          </a:prstGeom>
          <a:noFill/>
          <a:ln/>
        </p:spPr>
        <p:txBody>
          <a:bodyPr wrap="square" lIns="0" tIns="0" rIns="0" bIns="0" rtlCol="0" anchor="ctr"/>
          <a:lstStyle/>
          <a:p>
            <a:pPr indent="0" marL="0">
              <a:buNone/>
            </a:pPr>
            <a:r>
              <a:rPr lang="en-US" sz="1600" b="1" dirty="0">
                <a:solidFill>
                  <a:schemeClr val="bg1"/>
                </a:solidFill>
              </a:rPr>
              <a:t>No framework</a:t>
            </a:r>
            <a:endParaRPr lang="en-US" sz="1600" dirty="0"/>
          </a:p>
        </p:txBody>
      </p:sp>
      <p:sp>
        <p:nvSpPr>
          <p:cNvPr id="29" name="Text 21"/>
          <p:cNvSpPr txBox="1"/>
          <p:nvPr/>
        </p:nvSpPr>
        <p:spPr>
          <a:xfrm>
            <a:off x="8046720" y="5522976"/>
            <a:ext cx="3413455" cy="548640"/>
          </a:xfrm>
          <a:prstGeom prst="rect">
            <a:avLst/>
          </a:prstGeom>
          <a:noFill/>
          <a:ln/>
        </p:spPr>
        <p:txBody>
          <a:bodyPr wrap="square" lIns="0" tIns="0" rIns="0" bIns="0" rtlCol="0" anchor="ctr"/>
          <a:lstStyle/>
          <a:p>
            <a:pPr indent="0" marL="0">
              <a:buNone/>
            </a:pPr>
            <a:r>
              <a:rPr lang="en-US" sz="1400" dirty="0">
                <a:solidFill>
                  <a:schemeClr val="bg2"/>
                </a:solidFill>
              </a:rPr>
              <a:t>Beginners have no clear way to weigh any of it.</a:t>
            </a:r>
            <a:endParaRPr lang="en-US" sz="140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One place to compare yield, risk,</a:t>
            </a:r>
            <a:endParaRPr lang="en-US" sz="3200" dirty="0"/>
          </a:p>
          <a:p>
            <a:pPr algn="l" indent="0" marL="0">
              <a:lnSpc>
                <a:spcPct val="95000"/>
              </a:lnSpc>
              <a:buNone/>
            </a:pPr>
            <a:r>
              <a:rPr lang="en-US" sz="3200" b="1" dirty="0">
                <a:solidFill>
                  <a:schemeClr val="bg1"/>
                </a:solidFill>
              </a:rPr>
              <a:t>and estimated net earnings</a:t>
            </a:r>
            <a:endParaRPr lang="en-US" sz="3200" dirty="0"/>
          </a:p>
        </p:txBody>
      </p:sp>
      <p:sp>
        <p:nvSpPr>
          <p:cNvPr id="3" name="shot-home-frame"/>
          <p:cNvSpPr/>
          <p:nvPr/>
        </p:nvSpPr>
        <p:spPr>
          <a:xfrm>
            <a:off x="962517" y="1517904"/>
            <a:ext cx="2555526" cy="4453128"/>
          </a:xfrm>
          <a:prstGeom prst="roundRect">
            <a:avLst>
              <a:gd name="adj" fmla="val 4294"/>
            </a:avLst>
          </a:prstGeom>
          <a:solidFill>
            <a:schemeClr val="tx1"/>
          </a:solidFill>
          <a:ln w="9525">
            <a:solidFill>
              <a:schemeClr val="accent6"/>
            </a:solidFill>
            <a:prstDash val="solid"/>
          </a:ln>
        </p:spPr>
      </p:sp>
      <p:pic>
        <p:nvPicPr>
          <p:cNvPr id="4" name="shot-home" descr="StableSave home screen: amount entry, estimated yearly earnings, and the risk preference selector">    </p:cNvPr>
          <p:cNvPicPr>
            <a:picLocks noChangeAspect="1"/>
          </p:cNvPicPr>
          <p:nvPr/>
        </p:nvPicPr>
        <p:blipFill>
          <a:blip r:embed="rId1"/>
          <a:stretch>
            <a:fillRect/>
          </a:stretch>
        </p:blipFill>
        <p:spPr>
          <a:xfrm>
            <a:off x="1017381" y="1572768"/>
            <a:ext cx="2445798" cy="4343400"/>
          </a:xfrm>
          <a:prstGeom prst="rect">
            <a:avLst/>
          </a:prstGeom>
        </p:spPr>
      </p:pic>
      <p:sp>
        <p:nvSpPr>
          <p:cNvPr id="5" name="Text 2"/>
          <p:cNvSpPr txBox="1"/>
          <p:nvPr/>
        </p:nvSpPr>
        <p:spPr>
          <a:xfrm>
            <a:off x="962517" y="6025896"/>
            <a:ext cx="2994438" cy="274320"/>
          </a:xfrm>
          <a:prstGeom prst="rect">
            <a:avLst/>
          </a:prstGeom>
          <a:noFill/>
          <a:ln/>
        </p:spPr>
        <p:txBody>
          <a:bodyPr wrap="square" lIns="0" tIns="0" rIns="0" bIns="0" rtlCol="0" anchor="t"/>
          <a:lstStyle/>
          <a:p>
            <a:pPr algn="l" indent="0" marL="0">
              <a:buNone/>
            </a:pPr>
            <a:r>
              <a:rPr lang="en-US" sz="1000" i="1" dirty="0">
                <a:solidFill>
                  <a:schemeClr val="bg2"/>
                </a:solidFill>
              </a:rPr>
              <a:t>Real interface · local build, demo data</a:t>
            </a:r>
            <a:endParaRPr lang="en-US" sz="1000" dirty="0"/>
          </a:p>
        </p:txBody>
      </p:sp>
      <p:sp>
        <p:nvSpPr>
          <p:cNvPr id="6" name="step-1"/>
          <p:cNvSpPr/>
          <p:nvPr/>
        </p:nvSpPr>
        <p:spPr>
          <a:xfrm>
            <a:off x="4480560" y="1618488"/>
            <a:ext cx="3291840" cy="731520"/>
          </a:xfrm>
          <a:prstGeom prst="roundRect">
            <a:avLst>
              <a:gd name="adj" fmla="val 15000"/>
            </a:avLst>
          </a:prstGeom>
          <a:solidFill>
            <a:schemeClr val="tx2"/>
          </a:solidFill>
          <a:ln w="9525">
            <a:solidFill>
              <a:schemeClr val="accent6"/>
            </a:solidFill>
            <a:prstDash val="solid"/>
          </a:ln>
        </p:spPr>
      </p:sp>
      <p:sp>
        <p:nvSpPr>
          <p:cNvPr id="7" name="badge-1"/>
          <p:cNvSpPr txBox="1"/>
          <p:nvPr/>
        </p:nvSpPr>
        <p:spPr>
          <a:xfrm>
            <a:off x="4681728" y="1819656"/>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Text 5"/>
          <p:cNvSpPr txBox="1"/>
          <p:nvPr/>
        </p:nvSpPr>
        <p:spPr>
          <a:xfrm>
            <a:off x="5166360" y="1709928"/>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Enter a stablecoin amount</a:t>
            </a:r>
            <a:endParaRPr lang="en-US" sz="1500" dirty="0"/>
          </a:p>
        </p:txBody>
      </p:sp>
      <p:sp>
        <p:nvSpPr>
          <p:cNvPr id="9" name="step-2"/>
          <p:cNvSpPr/>
          <p:nvPr/>
        </p:nvSpPr>
        <p:spPr>
          <a:xfrm>
            <a:off x="4480560" y="2514600"/>
            <a:ext cx="3291840" cy="731520"/>
          </a:xfrm>
          <a:prstGeom prst="roundRect">
            <a:avLst>
              <a:gd name="adj" fmla="val 15000"/>
            </a:avLst>
          </a:prstGeom>
          <a:solidFill>
            <a:schemeClr val="tx2"/>
          </a:solidFill>
          <a:ln w="9525">
            <a:solidFill>
              <a:schemeClr val="accent6"/>
            </a:solidFill>
            <a:prstDash val="solid"/>
          </a:ln>
        </p:spPr>
      </p:sp>
      <p:sp>
        <p:nvSpPr>
          <p:cNvPr id="10" name="badge-2"/>
          <p:cNvSpPr txBox="1"/>
          <p:nvPr/>
        </p:nvSpPr>
        <p:spPr>
          <a:xfrm>
            <a:off x="4681728" y="2715768"/>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Text 8"/>
          <p:cNvSpPr txBox="1"/>
          <p:nvPr/>
        </p:nvSpPr>
        <p:spPr>
          <a:xfrm>
            <a:off x="5166360" y="2606040"/>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Pick a risk preference</a:t>
            </a:r>
            <a:endParaRPr lang="en-US" sz="1500" dirty="0"/>
          </a:p>
        </p:txBody>
      </p:sp>
      <p:sp>
        <p:nvSpPr>
          <p:cNvPr id="12" name="step-3"/>
          <p:cNvSpPr/>
          <p:nvPr/>
        </p:nvSpPr>
        <p:spPr>
          <a:xfrm>
            <a:off x="4480560" y="3410712"/>
            <a:ext cx="3291840" cy="731520"/>
          </a:xfrm>
          <a:prstGeom prst="roundRect">
            <a:avLst>
              <a:gd name="adj" fmla="val 15000"/>
            </a:avLst>
          </a:prstGeom>
          <a:solidFill>
            <a:schemeClr val="tx2"/>
          </a:solidFill>
          <a:ln w="9525">
            <a:solidFill>
              <a:schemeClr val="accent6"/>
            </a:solidFill>
            <a:prstDash val="solid"/>
          </a:ln>
        </p:spPr>
      </p:sp>
      <p:sp>
        <p:nvSpPr>
          <p:cNvPr id="13" name="badge-3"/>
          <p:cNvSpPr txBox="1"/>
          <p:nvPr/>
        </p:nvSpPr>
        <p:spPr>
          <a:xfrm>
            <a:off x="4681728" y="3611880"/>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4" name="Text 11"/>
          <p:cNvSpPr txBox="1"/>
          <p:nvPr/>
        </p:nvSpPr>
        <p:spPr>
          <a:xfrm>
            <a:off x="5166360" y="3502152"/>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Compare the options</a:t>
            </a:r>
            <a:endParaRPr lang="en-US" sz="1500" dirty="0"/>
          </a:p>
        </p:txBody>
      </p:sp>
      <p:sp>
        <p:nvSpPr>
          <p:cNvPr id="15" name="step-4"/>
          <p:cNvSpPr/>
          <p:nvPr/>
        </p:nvSpPr>
        <p:spPr>
          <a:xfrm>
            <a:off x="8092440" y="1618488"/>
            <a:ext cx="3291840" cy="731520"/>
          </a:xfrm>
          <a:prstGeom prst="roundRect">
            <a:avLst>
              <a:gd name="adj" fmla="val 15000"/>
            </a:avLst>
          </a:prstGeom>
          <a:solidFill>
            <a:schemeClr val="tx2"/>
          </a:solidFill>
          <a:ln w="9525">
            <a:solidFill>
              <a:schemeClr val="accent6"/>
            </a:solidFill>
            <a:prstDash val="solid"/>
          </a:ln>
        </p:spPr>
      </p:sp>
      <p:sp>
        <p:nvSpPr>
          <p:cNvPr id="16" name="badge-4"/>
          <p:cNvSpPr txBox="1"/>
          <p:nvPr/>
        </p:nvSpPr>
        <p:spPr>
          <a:xfrm>
            <a:off x="8293608" y="1819656"/>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7" name="Text 14"/>
          <p:cNvSpPr txBox="1"/>
          <p:nvPr/>
        </p:nvSpPr>
        <p:spPr>
          <a:xfrm>
            <a:off x="8778240" y="1709928"/>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Check the grade and its reasons</a:t>
            </a:r>
            <a:endParaRPr lang="en-US" sz="1500" dirty="0"/>
          </a:p>
        </p:txBody>
      </p:sp>
      <p:sp>
        <p:nvSpPr>
          <p:cNvPr id="18" name="step-5"/>
          <p:cNvSpPr/>
          <p:nvPr/>
        </p:nvSpPr>
        <p:spPr>
          <a:xfrm>
            <a:off x="8092440" y="2514600"/>
            <a:ext cx="3291840" cy="731520"/>
          </a:xfrm>
          <a:prstGeom prst="roundRect">
            <a:avLst>
              <a:gd name="adj" fmla="val 15000"/>
            </a:avLst>
          </a:prstGeom>
          <a:solidFill>
            <a:schemeClr val="tx2"/>
          </a:solidFill>
          <a:ln w="9525">
            <a:solidFill>
              <a:schemeClr val="accent6"/>
            </a:solidFill>
            <a:prstDash val="solid"/>
          </a:ln>
        </p:spPr>
      </p:sp>
      <p:sp>
        <p:nvSpPr>
          <p:cNvPr id="19" name="badge-5"/>
          <p:cNvSpPr txBox="1"/>
          <p:nvPr/>
        </p:nvSpPr>
        <p:spPr>
          <a:xfrm>
            <a:off x="8293608" y="2715768"/>
            <a:ext cx="329184" cy="329184"/>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0" name="Text 17"/>
          <p:cNvSpPr txBox="1"/>
          <p:nvPr/>
        </p:nvSpPr>
        <p:spPr>
          <a:xfrm>
            <a:off x="8778240" y="2606040"/>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See earnings after fees</a:t>
            </a:r>
            <a:endParaRPr lang="en-US" sz="1500" dirty="0"/>
          </a:p>
        </p:txBody>
      </p:sp>
      <p:sp>
        <p:nvSpPr>
          <p:cNvPr id="21" name="step-6"/>
          <p:cNvSpPr/>
          <p:nvPr/>
        </p:nvSpPr>
        <p:spPr>
          <a:xfrm>
            <a:off x="8092440" y="3410712"/>
            <a:ext cx="3291840" cy="731520"/>
          </a:xfrm>
          <a:prstGeom prst="roundRect">
            <a:avLst>
              <a:gd name="adj" fmla="val 15000"/>
            </a:avLst>
          </a:prstGeom>
          <a:solidFill>
            <a:schemeClr val="tx2"/>
          </a:solidFill>
          <a:ln w="9525">
            <a:solidFill>
              <a:schemeClr val="accent6"/>
            </a:solidFill>
            <a:prstDash val="solid"/>
          </a:ln>
        </p:spPr>
      </p:sp>
      <p:sp>
        <p:nvSpPr>
          <p:cNvPr id="22" name="badge-6"/>
          <p:cNvSpPr txBox="1"/>
          <p:nvPr/>
        </p:nvSpPr>
        <p:spPr>
          <a:xfrm>
            <a:off x="8293608" y="3611880"/>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3" name="Text 20"/>
          <p:cNvSpPr txBox="1"/>
          <p:nvPr/>
        </p:nvSpPr>
        <p:spPr>
          <a:xfrm>
            <a:off x="8778240" y="3502152"/>
            <a:ext cx="2468880" cy="548640"/>
          </a:xfrm>
          <a:prstGeom prst="rect">
            <a:avLst/>
          </a:prstGeom>
          <a:noFill/>
          <a:ln/>
        </p:spPr>
        <p:txBody>
          <a:bodyPr wrap="square" lIns="0" tIns="0" rIns="0" bIns="0" rtlCol="0" anchor="ctr"/>
          <a:lstStyle/>
          <a:p>
            <a:pPr indent="0" marL="0">
              <a:buNone/>
            </a:pPr>
            <a:r>
              <a:rPr lang="en-US" sz="1500" b="1" dirty="0">
                <a:solidFill>
                  <a:schemeClr val="bg1"/>
                </a:solidFill>
              </a:rPr>
              <a:t>Continue to the official app</a:t>
            </a:r>
            <a:endParaRPr lang="en-US" sz="1500" dirty="0"/>
          </a:p>
        </p:txBody>
      </p:sp>
      <p:sp>
        <p:nvSpPr>
          <p:cNvPr id="24" name="promise-0"/>
          <p:cNvSpPr/>
          <p:nvPr/>
        </p:nvSpPr>
        <p:spPr>
          <a:xfrm>
            <a:off x="4480560" y="4453128"/>
            <a:ext cx="3314700" cy="1627632"/>
          </a:xfrm>
          <a:prstGeom prst="roundRect">
            <a:avLst>
              <a:gd name="adj" fmla="val 7865"/>
            </a:avLst>
          </a:prstGeom>
          <a:solidFill>
            <a:schemeClr val="accent5"/>
          </a:solidFill>
          <a:ln w="9525">
            <a:solidFill>
              <a:schemeClr val="accent6"/>
            </a:solidFill>
            <a:prstDash val="solid"/>
          </a:ln>
        </p:spPr>
      </p:sp>
      <p:pic>
        <p:nvPicPr>
          <p:cNvPr id="25" name="Image 1" descr="No wallet or sign-up">    </p:cNvPr>
          <p:cNvPicPr>
            <a:picLocks noChangeAspect="1"/>
          </p:cNvPicPr>
          <p:nvPr/>
        </p:nvPicPr>
        <p:blipFill>
          <a:blip r:embed="rId2"/>
          <a:stretch>
            <a:fillRect/>
          </a:stretch>
        </p:blipFill>
        <p:spPr>
          <a:xfrm>
            <a:off x="4754880" y="4727448"/>
            <a:ext cx="384048" cy="384048"/>
          </a:xfrm>
          <a:prstGeom prst="rect">
            <a:avLst/>
          </a:prstGeom>
        </p:spPr>
      </p:pic>
      <p:sp>
        <p:nvSpPr>
          <p:cNvPr id="26" name="Text 22"/>
          <p:cNvSpPr txBox="1"/>
          <p:nvPr/>
        </p:nvSpPr>
        <p:spPr>
          <a:xfrm>
            <a:off x="4754880" y="5184648"/>
            <a:ext cx="2766060" cy="274320"/>
          </a:xfrm>
          <a:prstGeom prst="rect">
            <a:avLst/>
          </a:prstGeom>
          <a:noFill/>
          <a:ln/>
        </p:spPr>
        <p:txBody>
          <a:bodyPr wrap="square" lIns="0" tIns="0" rIns="0" bIns="0" rtlCol="0" anchor="t"/>
          <a:lstStyle/>
          <a:p>
            <a:pPr indent="0" marL="0">
              <a:buNone/>
            </a:pPr>
            <a:r>
              <a:rPr lang="en-US" sz="1500" b="1" dirty="0">
                <a:solidFill>
                  <a:schemeClr val="accent2"/>
                </a:solidFill>
              </a:rPr>
              <a:t>No wallet or sign-up</a:t>
            </a:r>
            <a:endParaRPr lang="en-US" sz="1500" dirty="0"/>
          </a:p>
        </p:txBody>
      </p:sp>
      <p:sp>
        <p:nvSpPr>
          <p:cNvPr id="27" name="Text 23"/>
          <p:cNvSpPr txBox="1"/>
          <p:nvPr/>
        </p:nvSpPr>
        <p:spPr>
          <a:xfrm>
            <a:off x="4754880" y="5458968"/>
            <a:ext cx="2857500" cy="365760"/>
          </a:xfrm>
          <a:prstGeom prst="rect">
            <a:avLst/>
          </a:prstGeom>
          <a:noFill/>
          <a:ln/>
        </p:spPr>
        <p:txBody>
          <a:bodyPr wrap="square" lIns="0" tIns="0" rIns="0" bIns="0" rtlCol="0" anchor="t"/>
          <a:lstStyle/>
          <a:p>
            <a:pPr indent="0" marL="0">
              <a:buNone/>
            </a:pPr>
            <a:r>
              <a:rPr lang="en-US" sz="1250" dirty="0">
                <a:solidFill>
                  <a:schemeClr val="bg2"/>
                </a:solidFill>
              </a:rPr>
              <a:t>Comparing needs nothing but an amount.</a:t>
            </a:r>
            <a:endParaRPr lang="en-US" sz="1250" dirty="0"/>
          </a:p>
        </p:txBody>
      </p:sp>
      <p:sp>
        <p:nvSpPr>
          <p:cNvPr id="28" name="promise-1"/>
          <p:cNvSpPr/>
          <p:nvPr/>
        </p:nvSpPr>
        <p:spPr>
          <a:xfrm>
            <a:off x="8069580" y="4453128"/>
            <a:ext cx="3314700" cy="1627632"/>
          </a:xfrm>
          <a:prstGeom prst="roundRect">
            <a:avLst>
              <a:gd name="adj" fmla="val 7865"/>
            </a:avLst>
          </a:prstGeom>
          <a:solidFill>
            <a:schemeClr val="accent5"/>
          </a:solidFill>
          <a:ln w="9525">
            <a:solidFill>
              <a:schemeClr val="accent6"/>
            </a:solidFill>
            <a:prstDash val="solid"/>
          </a:ln>
        </p:spPr>
      </p:sp>
      <p:pic>
        <p:nvPicPr>
          <p:cNvPr id="29" name="Image 2" descr="Never holds your funds">    </p:cNvPr>
          <p:cNvPicPr>
            <a:picLocks noChangeAspect="1"/>
          </p:cNvPicPr>
          <p:nvPr/>
        </p:nvPicPr>
        <p:blipFill>
          <a:blip r:embed="rId3"/>
          <a:stretch>
            <a:fillRect/>
          </a:stretch>
        </p:blipFill>
        <p:spPr>
          <a:xfrm>
            <a:off x="8343900" y="4727448"/>
            <a:ext cx="384048" cy="384048"/>
          </a:xfrm>
          <a:prstGeom prst="rect">
            <a:avLst/>
          </a:prstGeom>
        </p:spPr>
      </p:pic>
      <p:sp>
        <p:nvSpPr>
          <p:cNvPr id="30" name="Text 25"/>
          <p:cNvSpPr txBox="1"/>
          <p:nvPr/>
        </p:nvSpPr>
        <p:spPr>
          <a:xfrm>
            <a:off x="8343900" y="5184648"/>
            <a:ext cx="2766060" cy="274320"/>
          </a:xfrm>
          <a:prstGeom prst="rect">
            <a:avLst/>
          </a:prstGeom>
          <a:noFill/>
          <a:ln/>
        </p:spPr>
        <p:txBody>
          <a:bodyPr wrap="square" lIns="0" tIns="0" rIns="0" bIns="0" rtlCol="0" anchor="t"/>
          <a:lstStyle/>
          <a:p>
            <a:pPr indent="0" marL="0">
              <a:buNone/>
            </a:pPr>
            <a:r>
              <a:rPr lang="en-US" sz="1500" b="1" dirty="0">
                <a:solidFill>
                  <a:schemeClr val="accent2"/>
                </a:solidFill>
              </a:rPr>
              <a:t>Never holds your funds</a:t>
            </a:r>
            <a:endParaRPr lang="en-US" sz="1500" dirty="0"/>
          </a:p>
        </p:txBody>
      </p:sp>
      <p:sp>
        <p:nvSpPr>
          <p:cNvPr id="31" name="Text 26"/>
          <p:cNvSpPr txBox="1"/>
          <p:nvPr/>
        </p:nvSpPr>
        <p:spPr>
          <a:xfrm>
            <a:off x="8343900" y="5458968"/>
            <a:ext cx="2857500" cy="365760"/>
          </a:xfrm>
          <a:prstGeom prst="rect">
            <a:avLst/>
          </a:prstGeom>
          <a:noFill/>
          <a:ln/>
        </p:spPr>
        <p:txBody>
          <a:bodyPr wrap="square" lIns="0" tIns="0" rIns="0" bIns="0" rtlCol="0" anchor="t"/>
          <a:lstStyle/>
          <a:p>
            <a:pPr indent="0" marL="0">
              <a:buNone/>
            </a:pPr>
            <a:r>
              <a:rPr lang="en-US" sz="1250" dirty="0">
                <a:solidFill>
                  <a:schemeClr val="bg2"/>
                </a:solidFill>
              </a:rPr>
              <a:t>You deposit from your own wallet, on the protocol's own app.</a:t>
            </a:r>
            <a:endParaRPr lang="en-US" sz="125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From a balance to a more informed decision</a:t>
            </a:r>
            <a:endParaRPr lang="en-US" sz="3200" dirty="0"/>
          </a:p>
        </p:txBody>
      </p:sp>
      <p:sp>
        <p:nvSpPr>
          <p:cNvPr id="3" name="walk-home-frame"/>
          <p:cNvSpPr/>
          <p:nvPr/>
        </p:nvSpPr>
        <p:spPr>
          <a:xfrm>
            <a:off x="644031" y="1472184"/>
            <a:ext cx="2323819" cy="4041648"/>
          </a:xfrm>
          <a:prstGeom prst="roundRect">
            <a:avLst>
              <a:gd name="adj" fmla="val 4722"/>
            </a:avLst>
          </a:prstGeom>
          <a:solidFill>
            <a:schemeClr val="tx1"/>
          </a:solidFill>
          <a:ln w="9525">
            <a:solidFill>
              <a:schemeClr val="accent6"/>
            </a:solidFill>
            <a:prstDash val="solid"/>
          </a:ln>
        </p:spPr>
      </p:sp>
      <p:pic>
        <p:nvPicPr>
          <p:cNvPr id="4" name="walk-home" descr="Amount, stablecoin and risk preference">    </p:cNvPr>
          <p:cNvPicPr>
            <a:picLocks noChangeAspect="1"/>
          </p:cNvPicPr>
          <p:nvPr/>
        </p:nvPicPr>
        <p:blipFill>
          <a:blip r:embed="rId1"/>
          <a:stretch>
            <a:fillRect/>
          </a:stretch>
        </p:blipFill>
        <p:spPr>
          <a:xfrm>
            <a:off x="698895" y="1527048"/>
            <a:ext cx="2214091" cy="3931920"/>
          </a:xfrm>
          <a:prstGeom prst="rect">
            <a:avLst/>
          </a:prstGeom>
        </p:spPr>
      </p:pic>
      <p:sp>
        <p:nvSpPr>
          <p:cNvPr id="5" name="walk-list-frame"/>
          <p:cNvSpPr/>
          <p:nvPr/>
        </p:nvSpPr>
        <p:spPr>
          <a:xfrm>
            <a:off x="3538728" y="1472184"/>
            <a:ext cx="3255264" cy="4041648"/>
          </a:xfrm>
          <a:prstGeom prst="roundRect">
            <a:avLst>
              <a:gd name="adj" fmla="val 3371"/>
            </a:avLst>
          </a:prstGeom>
          <a:solidFill>
            <a:schemeClr val="tx1"/>
          </a:solidFill>
          <a:ln w="9525">
            <a:solidFill>
              <a:schemeClr val="accent6"/>
            </a:solidFill>
            <a:prstDash val="solid"/>
          </a:ln>
        </p:spPr>
      </p:sp>
      <p:pic>
        <p:nvPicPr>
          <p:cNvPr id="6" name="walk-list" descr="Ranked options with grade, network, deposits, rate and yearly estimate">    </p:cNvPr>
          <p:cNvPicPr>
            <a:picLocks noChangeAspect="1"/>
          </p:cNvPicPr>
          <p:nvPr/>
        </p:nvPicPr>
        <p:blipFill>
          <a:blip r:embed="rId2"/>
          <a:stretch>
            <a:fillRect/>
          </a:stretch>
        </p:blipFill>
        <p:spPr>
          <a:xfrm>
            <a:off x="3593592" y="1527048"/>
            <a:ext cx="3145536" cy="3931920"/>
          </a:xfrm>
          <a:prstGeom prst="rect">
            <a:avLst/>
          </a:prstGeom>
        </p:spPr>
      </p:pic>
      <p:sp>
        <p:nvSpPr>
          <p:cNvPr id="7" name="walk-detail-frame"/>
          <p:cNvSpPr/>
          <p:nvPr/>
        </p:nvSpPr>
        <p:spPr>
          <a:xfrm>
            <a:off x="7345030" y="1472184"/>
            <a:ext cx="2043459" cy="4041648"/>
          </a:xfrm>
          <a:prstGeom prst="roundRect">
            <a:avLst>
              <a:gd name="adj" fmla="val 5370"/>
            </a:avLst>
          </a:prstGeom>
          <a:solidFill>
            <a:schemeClr val="tx1"/>
          </a:solidFill>
          <a:ln w="9525">
            <a:solidFill>
              <a:schemeClr val="accent6"/>
            </a:solidFill>
            <a:prstDash val="solid"/>
          </a:ln>
        </p:spPr>
      </p:sp>
      <p:pic>
        <p:nvPicPr>
          <p:cNvPr id="8" name="walk-detail" descr="Option detail: rate history, and what $1,000 could earn after fees">    </p:cNvPr>
          <p:cNvPicPr>
            <a:picLocks noChangeAspect="1"/>
          </p:cNvPicPr>
          <p:nvPr/>
        </p:nvPicPr>
        <p:blipFill>
          <a:blip r:embed="rId3"/>
          <a:stretch>
            <a:fillRect/>
          </a:stretch>
        </p:blipFill>
        <p:spPr>
          <a:xfrm>
            <a:off x="7399894" y="1527048"/>
            <a:ext cx="1933731" cy="3931920"/>
          </a:xfrm>
          <a:prstGeom prst="rect">
            <a:avLst/>
          </a:prstGeom>
        </p:spPr>
      </p:pic>
      <p:sp>
        <p:nvSpPr>
          <p:cNvPr id="9" name="badge-1"/>
          <p:cNvSpPr txBox="1"/>
          <p:nvPr/>
        </p:nvSpPr>
        <p:spPr>
          <a:xfrm>
            <a:off x="479439" y="2844241"/>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0" name="badge-2"/>
          <p:cNvSpPr txBox="1"/>
          <p:nvPr/>
        </p:nvSpPr>
        <p:spPr>
          <a:xfrm>
            <a:off x="479439" y="5046116"/>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1" name="badge-3"/>
          <p:cNvSpPr txBox="1"/>
          <p:nvPr/>
        </p:nvSpPr>
        <p:spPr>
          <a:xfrm>
            <a:off x="6611112" y="1380744"/>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badge-4"/>
          <p:cNvSpPr txBox="1"/>
          <p:nvPr/>
        </p:nvSpPr>
        <p:spPr>
          <a:xfrm>
            <a:off x="3374136" y="1979219"/>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3" name="badge-5"/>
          <p:cNvSpPr txBox="1"/>
          <p:nvPr/>
        </p:nvSpPr>
        <p:spPr>
          <a:xfrm>
            <a:off x="7180438" y="2981858"/>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4" name="badge-6"/>
          <p:cNvSpPr txBox="1"/>
          <p:nvPr/>
        </p:nvSpPr>
        <p:spPr>
          <a:xfrm>
            <a:off x="7180438" y="4358030"/>
            <a:ext cx="329184" cy="329184"/>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5" name="badge-1"/>
          <p:cNvSpPr txBox="1"/>
          <p:nvPr/>
        </p:nvSpPr>
        <p:spPr>
          <a:xfrm>
            <a:off x="9646920" y="1545336"/>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16" name="Text 11"/>
          <p:cNvSpPr txBox="1"/>
          <p:nvPr/>
        </p:nvSpPr>
        <p:spPr>
          <a:xfrm>
            <a:off x="10030968" y="1527048"/>
            <a:ext cx="1600200" cy="274320"/>
          </a:xfrm>
          <a:prstGeom prst="rect">
            <a:avLst/>
          </a:prstGeom>
          <a:noFill/>
          <a:ln/>
        </p:spPr>
        <p:txBody>
          <a:bodyPr wrap="square" lIns="0" tIns="0" rIns="0" bIns="0" rtlCol="0" anchor="t"/>
          <a:lstStyle/>
          <a:p>
            <a:pPr indent="0" marL="0">
              <a:buNone/>
            </a:pPr>
            <a:r>
              <a:rPr lang="en-US" sz="1300" b="1" dirty="0">
                <a:solidFill>
                  <a:schemeClr val="bg1"/>
                </a:solidFill>
              </a:rPr>
              <a:t>Amount</a:t>
            </a:r>
            <a:endParaRPr lang="en-US" sz="1300" dirty="0"/>
          </a:p>
        </p:txBody>
      </p:sp>
      <p:sp>
        <p:nvSpPr>
          <p:cNvPr id="17" name="Text 12"/>
          <p:cNvSpPr txBox="1"/>
          <p:nvPr/>
        </p:nvSpPr>
        <p:spPr>
          <a:xfrm>
            <a:off x="10030968" y="1801368"/>
            <a:ext cx="1600200" cy="274320"/>
          </a:xfrm>
          <a:prstGeom prst="rect">
            <a:avLst/>
          </a:prstGeom>
          <a:noFill/>
          <a:ln/>
        </p:spPr>
        <p:txBody>
          <a:bodyPr wrap="square" lIns="0" tIns="0" rIns="0" bIns="0" rtlCol="0" anchor="t"/>
          <a:lstStyle/>
          <a:p>
            <a:pPr indent="0" marL="0">
              <a:buNone/>
            </a:pPr>
            <a:r>
              <a:rPr lang="en-US" sz="1050" dirty="0">
                <a:solidFill>
                  <a:schemeClr val="bg2"/>
                </a:solidFill>
              </a:rPr>
              <a:t>$1,000 of USDC here</a:t>
            </a:r>
            <a:endParaRPr lang="en-US" sz="1050" dirty="0"/>
          </a:p>
        </p:txBody>
      </p:sp>
      <p:sp>
        <p:nvSpPr>
          <p:cNvPr id="18" name="badge-2"/>
          <p:cNvSpPr txBox="1"/>
          <p:nvPr/>
        </p:nvSpPr>
        <p:spPr>
          <a:xfrm>
            <a:off x="9646920" y="2221992"/>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9" name="Text 14"/>
          <p:cNvSpPr txBox="1"/>
          <p:nvPr/>
        </p:nvSpPr>
        <p:spPr>
          <a:xfrm>
            <a:off x="10030968" y="2203704"/>
            <a:ext cx="1600200" cy="274320"/>
          </a:xfrm>
          <a:prstGeom prst="rect">
            <a:avLst/>
          </a:prstGeom>
          <a:noFill/>
          <a:ln/>
        </p:spPr>
        <p:txBody>
          <a:bodyPr wrap="square" lIns="0" tIns="0" rIns="0" bIns="0" rtlCol="0" anchor="t"/>
          <a:lstStyle/>
          <a:p>
            <a:pPr indent="0" marL="0">
              <a:buNone/>
            </a:pPr>
            <a:r>
              <a:rPr lang="en-US" sz="1300" b="1" dirty="0">
                <a:solidFill>
                  <a:schemeClr val="bg1"/>
                </a:solidFill>
              </a:rPr>
              <a:t>Risk preference</a:t>
            </a:r>
            <a:endParaRPr lang="en-US" sz="1300" dirty="0"/>
          </a:p>
        </p:txBody>
      </p:sp>
      <p:sp>
        <p:nvSpPr>
          <p:cNvPr id="20" name="Text 15"/>
          <p:cNvSpPr txBox="1"/>
          <p:nvPr/>
        </p:nvSpPr>
        <p:spPr>
          <a:xfrm>
            <a:off x="10030968" y="2478024"/>
            <a:ext cx="1600200" cy="274320"/>
          </a:xfrm>
          <a:prstGeom prst="rect">
            <a:avLst/>
          </a:prstGeom>
          <a:noFill/>
          <a:ln/>
        </p:spPr>
        <p:txBody>
          <a:bodyPr wrap="square" lIns="0" tIns="0" rIns="0" bIns="0" rtlCol="0" anchor="t"/>
          <a:lstStyle/>
          <a:p>
            <a:pPr indent="0" marL="0">
              <a:buNone/>
            </a:pPr>
            <a:r>
              <a:rPr lang="en-US" sz="1050" dirty="0">
                <a:solidFill>
                  <a:schemeClr val="bg2"/>
                </a:solidFill>
              </a:rPr>
              <a:t>Safe, Balanced or Bigger</a:t>
            </a:r>
            <a:endParaRPr lang="en-US" sz="1050" dirty="0"/>
          </a:p>
        </p:txBody>
      </p:sp>
      <p:sp>
        <p:nvSpPr>
          <p:cNvPr id="21" name="badge-3"/>
          <p:cNvSpPr txBox="1"/>
          <p:nvPr/>
        </p:nvSpPr>
        <p:spPr>
          <a:xfrm>
            <a:off x="9646920" y="2898648"/>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22" name="Text 17"/>
          <p:cNvSpPr txBox="1"/>
          <p:nvPr/>
        </p:nvSpPr>
        <p:spPr>
          <a:xfrm>
            <a:off x="10030968" y="2880360"/>
            <a:ext cx="1600200" cy="274320"/>
          </a:xfrm>
          <a:prstGeom prst="rect">
            <a:avLst/>
          </a:prstGeom>
          <a:noFill/>
          <a:ln/>
        </p:spPr>
        <p:txBody>
          <a:bodyPr wrap="square" lIns="0" tIns="0" rIns="0" bIns="0" rtlCol="0" anchor="t"/>
          <a:lstStyle/>
          <a:p>
            <a:pPr indent="0" marL="0">
              <a:buNone/>
            </a:pPr>
            <a:r>
              <a:rPr lang="en-US" sz="1300" b="1" dirty="0">
                <a:solidFill>
                  <a:schemeClr val="bg1"/>
                </a:solidFill>
              </a:rPr>
              <a:t>Ranked options</a:t>
            </a:r>
            <a:endParaRPr lang="en-US" sz="1300" dirty="0"/>
          </a:p>
        </p:txBody>
      </p:sp>
      <p:sp>
        <p:nvSpPr>
          <p:cNvPr id="23" name="Text 18"/>
          <p:cNvSpPr txBox="1"/>
          <p:nvPr/>
        </p:nvSpPr>
        <p:spPr>
          <a:xfrm>
            <a:off x="10030968" y="3154680"/>
            <a:ext cx="1600200" cy="274320"/>
          </a:xfrm>
          <a:prstGeom prst="rect">
            <a:avLst/>
          </a:prstGeom>
          <a:noFill/>
          <a:ln/>
        </p:spPr>
        <p:txBody>
          <a:bodyPr wrap="square" lIns="0" tIns="0" rIns="0" bIns="0" rtlCol="0" anchor="t"/>
          <a:lstStyle/>
          <a:p>
            <a:pPr indent="0" marL="0">
              <a:buNone/>
            </a:pPr>
            <a:r>
              <a:rPr lang="en-US" sz="1050" dirty="0">
                <a:solidFill>
                  <a:schemeClr val="bg2"/>
                </a:solidFill>
              </a:rPr>
              <a:t>Sort: best fit, rate, safety</a:t>
            </a:r>
            <a:endParaRPr lang="en-US" sz="1050" dirty="0"/>
          </a:p>
        </p:txBody>
      </p:sp>
      <p:sp>
        <p:nvSpPr>
          <p:cNvPr id="24" name="badge-4"/>
          <p:cNvSpPr txBox="1"/>
          <p:nvPr/>
        </p:nvSpPr>
        <p:spPr>
          <a:xfrm>
            <a:off x="9646920" y="3575304"/>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25" name="Text 20"/>
          <p:cNvSpPr txBox="1"/>
          <p:nvPr/>
        </p:nvSpPr>
        <p:spPr>
          <a:xfrm>
            <a:off x="10030968" y="3557016"/>
            <a:ext cx="1600200" cy="274320"/>
          </a:xfrm>
          <a:prstGeom prst="rect">
            <a:avLst/>
          </a:prstGeom>
          <a:noFill/>
          <a:ln/>
        </p:spPr>
        <p:txBody>
          <a:bodyPr wrap="square" lIns="0" tIns="0" rIns="0" bIns="0" rtlCol="0" anchor="t"/>
          <a:lstStyle/>
          <a:p>
            <a:pPr indent="0" marL="0">
              <a:buNone/>
            </a:pPr>
            <a:r>
              <a:rPr lang="en-US" sz="1300" b="1" dirty="0">
                <a:solidFill>
                  <a:schemeClr val="bg1"/>
                </a:solidFill>
              </a:rPr>
              <a:t>A–D grade</a:t>
            </a:r>
            <a:endParaRPr lang="en-US" sz="1300" dirty="0"/>
          </a:p>
        </p:txBody>
      </p:sp>
      <p:sp>
        <p:nvSpPr>
          <p:cNvPr id="26" name="Text 21"/>
          <p:cNvSpPr txBox="1"/>
          <p:nvPr/>
        </p:nvSpPr>
        <p:spPr>
          <a:xfrm>
            <a:off x="10030968" y="3831336"/>
            <a:ext cx="1600200" cy="274320"/>
          </a:xfrm>
          <a:prstGeom prst="rect">
            <a:avLst/>
          </a:prstGeom>
          <a:noFill/>
          <a:ln/>
        </p:spPr>
        <p:txBody>
          <a:bodyPr wrap="square" lIns="0" tIns="0" rIns="0" bIns="0" rtlCol="0" anchor="t"/>
          <a:lstStyle/>
          <a:p>
            <a:pPr indent="0" marL="0">
              <a:buNone/>
            </a:pPr>
            <a:r>
              <a:rPr lang="en-US" sz="1050" dirty="0">
                <a:solidFill>
                  <a:schemeClr val="bg2"/>
                </a:solidFill>
              </a:rPr>
              <a:t>Next to network, deposits</a:t>
            </a:r>
            <a:endParaRPr lang="en-US" sz="1050" dirty="0"/>
          </a:p>
        </p:txBody>
      </p:sp>
      <p:sp>
        <p:nvSpPr>
          <p:cNvPr id="27" name="badge-5"/>
          <p:cNvSpPr txBox="1"/>
          <p:nvPr/>
        </p:nvSpPr>
        <p:spPr>
          <a:xfrm>
            <a:off x="9646920" y="4251960"/>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28" name="Text 23"/>
          <p:cNvSpPr txBox="1"/>
          <p:nvPr/>
        </p:nvSpPr>
        <p:spPr>
          <a:xfrm>
            <a:off x="10030968" y="4233672"/>
            <a:ext cx="1600200" cy="274320"/>
          </a:xfrm>
          <a:prstGeom prst="rect">
            <a:avLst/>
          </a:prstGeom>
          <a:noFill/>
          <a:ln/>
        </p:spPr>
        <p:txBody>
          <a:bodyPr wrap="square" lIns="0" tIns="0" rIns="0" bIns="0" rtlCol="0" anchor="t"/>
          <a:lstStyle/>
          <a:p>
            <a:pPr indent="0" marL="0">
              <a:buNone/>
            </a:pPr>
            <a:r>
              <a:rPr lang="en-US" sz="1300" b="1" dirty="0">
                <a:solidFill>
                  <a:schemeClr val="bg1"/>
                </a:solidFill>
              </a:rPr>
              <a:t>Rate history</a:t>
            </a:r>
            <a:endParaRPr lang="en-US" sz="1300" dirty="0"/>
          </a:p>
        </p:txBody>
      </p:sp>
      <p:sp>
        <p:nvSpPr>
          <p:cNvPr id="29" name="Text 24"/>
          <p:cNvSpPr txBox="1"/>
          <p:nvPr/>
        </p:nvSpPr>
        <p:spPr>
          <a:xfrm>
            <a:off x="10030968" y="4507992"/>
            <a:ext cx="1600200" cy="274320"/>
          </a:xfrm>
          <a:prstGeom prst="rect">
            <a:avLst/>
          </a:prstGeom>
          <a:noFill/>
          <a:ln/>
        </p:spPr>
        <p:txBody>
          <a:bodyPr wrap="square" lIns="0" tIns="0" rIns="0" bIns="0" rtlCol="0" anchor="t"/>
          <a:lstStyle/>
          <a:p>
            <a:pPr indent="0" marL="0">
              <a:buNone/>
            </a:pPr>
            <a:r>
              <a:rPr lang="en-US" sz="1050" dirty="0">
                <a:solidFill>
                  <a:schemeClr val="bg2"/>
                </a:solidFill>
              </a:rPr>
              <a:t>30 or 90 days, daily</a:t>
            </a:r>
            <a:endParaRPr lang="en-US" sz="1050" dirty="0"/>
          </a:p>
        </p:txBody>
      </p:sp>
      <p:sp>
        <p:nvSpPr>
          <p:cNvPr id="30" name="badge-6"/>
          <p:cNvSpPr txBox="1"/>
          <p:nvPr/>
        </p:nvSpPr>
        <p:spPr>
          <a:xfrm>
            <a:off x="9646920" y="4928616"/>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100" b="1" dirty="0">
                <a:solidFill>
                  <a:schemeClr val="tx1"/>
                </a:solidFill>
              </a:rPr>
              <a:t>6</a:t>
            </a:r>
            <a:endParaRPr lang="en-US" sz="1100" dirty="0"/>
          </a:p>
        </p:txBody>
      </p:sp>
      <p:sp>
        <p:nvSpPr>
          <p:cNvPr id="31" name="Text 26"/>
          <p:cNvSpPr txBox="1"/>
          <p:nvPr/>
        </p:nvSpPr>
        <p:spPr>
          <a:xfrm>
            <a:off x="10030968" y="4910328"/>
            <a:ext cx="1600200" cy="274320"/>
          </a:xfrm>
          <a:prstGeom prst="rect">
            <a:avLst/>
          </a:prstGeom>
          <a:noFill/>
          <a:ln/>
        </p:spPr>
        <p:txBody>
          <a:bodyPr wrap="square" lIns="0" tIns="0" rIns="0" bIns="0" rtlCol="0" anchor="t"/>
          <a:lstStyle/>
          <a:p>
            <a:pPr indent="0" marL="0">
              <a:buNone/>
            </a:pPr>
            <a:r>
              <a:rPr lang="en-US" sz="1300" b="1" dirty="0">
                <a:solidFill>
                  <a:schemeClr val="bg1"/>
                </a:solidFill>
              </a:rPr>
              <a:t>After fees</a:t>
            </a:r>
            <a:endParaRPr lang="en-US" sz="1300" dirty="0"/>
          </a:p>
        </p:txBody>
      </p:sp>
      <p:sp>
        <p:nvSpPr>
          <p:cNvPr id="32" name="Text 27"/>
          <p:cNvSpPr txBox="1"/>
          <p:nvPr/>
        </p:nvSpPr>
        <p:spPr>
          <a:xfrm>
            <a:off x="10030968" y="5184648"/>
            <a:ext cx="1600200" cy="274320"/>
          </a:xfrm>
          <a:prstGeom prst="rect">
            <a:avLst/>
          </a:prstGeom>
          <a:noFill/>
          <a:ln/>
        </p:spPr>
        <p:txBody>
          <a:bodyPr wrap="square" lIns="0" tIns="0" rIns="0" bIns="0" rtlCol="0" anchor="t"/>
          <a:lstStyle/>
          <a:p>
            <a:pPr indent="0" marL="0">
              <a:buNone/>
            </a:pPr>
            <a:r>
              <a:rPr lang="en-US" sz="1050" dirty="0">
                <a:solidFill>
                  <a:schemeClr val="bg2"/>
                </a:solidFill>
              </a:rPr>
              <a:t>What you'd keep a year</a:t>
            </a:r>
            <a:endParaRPr lang="en-US" sz="1050" dirty="0"/>
          </a:p>
        </p:txBody>
      </p:sp>
      <p:sp>
        <p:nvSpPr>
          <p:cNvPr id="33" name="worked-example"/>
          <p:cNvSpPr/>
          <p:nvPr/>
        </p:nvSpPr>
        <p:spPr>
          <a:xfrm>
            <a:off x="548640" y="5733288"/>
            <a:ext cx="11094415" cy="566928"/>
          </a:xfrm>
          <a:prstGeom prst="roundRect">
            <a:avLst>
              <a:gd name="adj" fmla="val 16129"/>
            </a:avLst>
          </a:prstGeom>
          <a:solidFill>
            <a:schemeClr val="accent5"/>
          </a:solidFill>
          <a:ln w="9525">
            <a:solidFill>
              <a:schemeClr val="accent6"/>
            </a:solidFill>
            <a:prstDash val="solid"/>
          </a:ln>
        </p:spPr>
      </p:sp>
      <p:sp>
        <p:nvSpPr>
          <p:cNvPr id="34" name="Text 29"/>
          <p:cNvSpPr txBox="1"/>
          <p:nvPr/>
        </p:nvSpPr>
        <p:spPr>
          <a:xfrm>
            <a:off x="822960" y="5806440"/>
            <a:ext cx="10545775" cy="420624"/>
          </a:xfrm>
          <a:prstGeom prst="rect">
            <a:avLst/>
          </a:prstGeom>
          <a:noFill/>
          <a:ln/>
        </p:spPr>
        <p:txBody>
          <a:bodyPr wrap="square" lIns="0" tIns="0" rIns="0" bIns="0" rtlCol="0" anchor="ctr"/>
          <a:lstStyle/>
          <a:p>
            <a:pPr indent="0" marL="0">
              <a:buNone/>
            </a:pPr>
            <a:r>
              <a:rPr lang="en-US" sz="1300" b="1" dirty="0">
                <a:solidFill>
                  <a:schemeClr val="bg1"/>
                </a:solidFill>
              </a:rPr>
              <a:t>Worked example (demo data):  </a:t>
            </a:r>
            <a:pPr indent="0" marL="0">
              <a:buNone/>
            </a:pPr>
            <a:r>
              <a:rPr lang="en-US" sz="1300" dirty="0">
                <a:solidFill>
                  <a:schemeClr val="bg2"/>
                </a:solidFill>
              </a:rPr>
              <a:t>$1,000 USDC, Balanced → 8.33% → </a:t>
            </a:r>
            <a:pPr indent="0" marL="0">
              <a:buNone/>
            </a:pPr>
            <a:r>
              <a:rPr lang="en-US" sz="1300" b="1" dirty="0">
                <a:solidFill>
                  <a:schemeClr val="accent2"/>
                </a:solidFill>
              </a:rPr>
              <a:t>about +$83 a year after fees</a:t>
            </a:r>
            <a:pPr indent="0" marL="0">
              <a:buNone/>
            </a:pPr>
            <a:r>
              <a:rPr lang="en-US" sz="1300" dirty="0">
                <a:solidFill>
                  <a:schemeClr val="bg2"/>
                </a:solidFill>
              </a:rPr>
              <a:t>. Estimated, not promised.</a:t>
            </a:r>
            <a:endParaRPr lang="en-US" sz="130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A high APY should never tell the whole story</a:t>
            </a:r>
            <a:endParaRPr lang="en-US" sz="3200" dirty="0"/>
          </a:p>
        </p:txBody>
      </p:sp>
      <p:sp>
        <p:nvSpPr>
          <p:cNvPr id="3" name="weights-card"/>
          <p:cNvSpPr/>
          <p:nvPr/>
        </p:nvSpPr>
        <p:spPr>
          <a:xfrm>
            <a:off x="548640" y="1572768"/>
            <a:ext cx="5669280" cy="4526280"/>
          </a:xfrm>
          <a:prstGeom prst="roundRect">
            <a:avLst>
              <a:gd name="adj" fmla="val 2828"/>
            </a:avLst>
          </a:prstGeom>
          <a:solidFill>
            <a:schemeClr val="tx2"/>
          </a:solidFill>
          <a:ln w="9525">
            <a:solidFill>
              <a:schemeClr val="accent6"/>
            </a:solidFill>
            <a:prstDash val="solid"/>
          </a:ln>
        </p:spPr>
      </p:sp>
      <p:sp>
        <p:nvSpPr>
          <p:cNvPr id="4" name="Text 2"/>
          <p:cNvSpPr txBox="1"/>
          <p:nvPr/>
        </p:nvSpPr>
        <p:spPr>
          <a:xfrm>
            <a:off x="822960" y="1773936"/>
            <a:ext cx="5120640" cy="320040"/>
          </a:xfrm>
          <a:prstGeom prst="rect">
            <a:avLst/>
          </a:prstGeom>
          <a:noFill/>
          <a:ln/>
        </p:spPr>
        <p:txBody>
          <a:bodyPr wrap="square" lIns="0" tIns="0" rIns="0" bIns="0" rtlCol="0" anchor="t"/>
          <a:lstStyle/>
          <a:p>
            <a:pPr indent="0" marL="0">
              <a:buNone/>
            </a:pPr>
            <a:r>
              <a:rPr lang="en-US" sz="1500" b="1" dirty="0">
                <a:solidFill>
                  <a:schemeClr val="bg1"/>
                </a:solidFill>
              </a:rPr>
              <a:t>Nine factors, weighted (% of the score)</a:t>
            </a:r>
            <a:endParaRPr lang="en-US" sz="1500" dirty="0"/>
          </a:p>
        </p:txBody>
      </p:sp>
      <p:graphicFrame>
        <p:nvGraphicFramePr>
          <p:cNvPr id="5" name="weights-chart" descr=""/>
          <p:cNvGraphicFramePr/>
          <p:nvPr/>
        </p:nvGraphicFramePr>
        <p:xfrm>
          <a:off x="685800" y="2121408"/>
          <a:ext cx="5394960" cy="3886200"/>
        </p:xfrm>
        <a:graphic xmlns:a="http://schemas.openxmlformats.org/drawingml/2006/main">
          <a:graphicData uri="http://schemas.openxmlformats.org/drawingml/2006/chart">
            <c:chart xmlns:c="http://schemas.openxmlformats.org/drawingml/2006/chart" r:id="rId1"/>
          </a:graphicData>
        </a:graphic>
      </p:graphicFrame>
      <p:sp>
        <p:nvSpPr>
          <p:cNvPr id="6" name="formula-card"/>
          <p:cNvSpPr/>
          <p:nvPr/>
        </p:nvSpPr>
        <p:spPr>
          <a:xfrm>
            <a:off x="6537960" y="1572768"/>
            <a:ext cx="5105095" cy="1572768"/>
          </a:xfrm>
          <a:prstGeom prst="roundRect">
            <a:avLst>
              <a:gd name="adj" fmla="val 8140"/>
            </a:avLst>
          </a:prstGeom>
          <a:solidFill>
            <a:schemeClr val="accent5"/>
          </a:solidFill>
          <a:ln w="9525">
            <a:solidFill>
              <a:schemeClr val="accent6"/>
            </a:solidFill>
            <a:prstDash val="solid"/>
          </a:ln>
        </p:spPr>
      </p:sp>
      <p:sp>
        <p:nvSpPr>
          <p:cNvPr id="7" name="Text 4"/>
          <p:cNvSpPr txBox="1"/>
          <p:nvPr/>
        </p:nvSpPr>
        <p:spPr>
          <a:xfrm>
            <a:off x="6812280" y="1755648"/>
            <a:ext cx="4556455" cy="256032"/>
          </a:xfrm>
          <a:prstGeom prst="rect">
            <a:avLst/>
          </a:prstGeom>
          <a:noFill/>
          <a:ln/>
        </p:spPr>
        <p:txBody>
          <a:bodyPr wrap="square" lIns="0" tIns="0" rIns="0" bIns="0" rtlCol="0" anchor="t"/>
          <a:lstStyle/>
          <a:p>
            <a:pPr indent="0" marL="0">
              <a:buNone/>
            </a:pPr>
            <a:r>
              <a:rPr lang="en-US" sz="1050" b="1" spc="200" kern="0" dirty="0">
                <a:solidFill>
                  <a:schemeClr val="bg2"/>
                </a:solidFill>
              </a:rPr>
              <a:t>HOW THE SCORE IS BUILT</a:t>
            </a:r>
            <a:endParaRPr lang="en-US" sz="1050" dirty="0"/>
          </a:p>
        </p:txBody>
      </p:sp>
      <p:sp>
        <p:nvSpPr>
          <p:cNvPr id="8" name="Text 5"/>
          <p:cNvSpPr txBox="1"/>
          <p:nvPr/>
        </p:nvSpPr>
        <p:spPr>
          <a:xfrm>
            <a:off x="6812280" y="2029968"/>
            <a:ext cx="4556455" cy="685800"/>
          </a:xfrm>
          <a:prstGeom prst="rect">
            <a:avLst/>
          </a:prstGeom>
          <a:noFill/>
          <a:ln/>
        </p:spPr>
        <p:txBody>
          <a:bodyPr wrap="square" lIns="0" tIns="0" rIns="0" bIns="0" rtlCol="0" anchor="t"/>
          <a:lstStyle/>
          <a:p>
            <a:pPr indent="0" marL="0">
              <a:buNone/>
            </a:pPr>
            <a:r>
              <a:rPr lang="en-US" sz="1700" b="1" dirty="0">
                <a:solidFill>
                  <a:schemeClr val="bg1"/>
                </a:solidFill>
              </a:rPr>
              <a:t>Score = </a:t>
            </a:r>
            <a:pPr indent="0" marL="0">
              <a:buNone/>
            </a:pPr>
            <a:r>
              <a:rPr lang="en-US" sz="1700" b="1" dirty="0">
                <a:solidFill>
                  <a:schemeClr val="accent1"/>
                </a:solidFill>
              </a:rPr>
              <a:t>75%</a:t>
            </a:r>
            <a:pPr indent="0" marL="0">
              <a:buNone/>
            </a:pPr>
            <a:r>
              <a:rPr lang="en-US" sz="1700" b="1" dirty="0">
                <a:solidFill>
                  <a:schemeClr val="bg1"/>
                </a:solidFill>
              </a:rPr>
              <a:t> weighted average</a:t>
            </a:r>
            <a:endParaRPr lang="en-US" sz="1700" dirty="0"/>
          </a:p>
          <a:p>
            <a:pPr indent="0" marL="0">
              <a:buNone/>
            </a:pPr>
            <a:r>
              <a:rPr lang="en-US" sz="1700" b="1" dirty="0">
                <a:solidFill>
                  <a:schemeClr val="bg1"/>
                </a:solidFill>
              </a:rPr>
              <a:t>      + </a:t>
            </a:r>
            <a:pPr indent="0" marL="0">
              <a:buNone/>
            </a:pPr>
            <a:r>
              <a:rPr lang="en-US" sz="1700" b="1" dirty="0">
                <a:solidFill>
                  <a:schemeClr val="accent3"/>
                </a:solidFill>
              </a:rPr>
              <a:t>25%</a:t>
            </a:r>
            <a:pPr indent="0" marL="0">
              <a:buNone/>
            </a:pPr>
            <a:r>
              <a:rPr lang="en-US" sz="1700" b="1" dirty="0">
                <a:solidFill>
                  <a:schemeClr val="bg1"/>
                </a:solidFill>
              </a:rPr>
              <a:t> weakest factor</a:t>
            </a:r>
            <a:endParaRPr lang="en-US" sz="1700" dirty="0"/>
          </a:p>
        </p:txBody>
      </p:sp>
      <p:sp>
        <p:nvSpPr>
          <p:cNvPr id="9" name="Text 6"/>
          <p:cNvSpPr txBox="1"/>
          <p:nvPr/>
        </p:nvSpPr>
        <p:spPr>
          <a:xfrm>
            <a:off x="6812280" y="2761488"/>
            <a:ext cx="4556455" cy="274320"/>
          </a:xfrm>
          <a:prstGeom prst="rect">
            <a:avLst/>
          </a:prstGeom>
          <a:noFill/>
          <a:ln/>
        </p:spPr>
        <p:txBody>
          <a:bodyPr wrap="square" lIns="0" tIns="0" rIns="0" bIns="0" rtlCol="0" anchor="t"/>
          <a:lstStyle/>
          <a:p>
            <a:pPr indent="0" marL="0">
              <a:buNone/>
            </a:pPr>
            <a:r>
              <a:rPr lang="en-US" sz="1250" dirty="0">
                <a:solidFill>
                  <a:schemeClr val="bg2"/>
                </a:solidFill>
              </a:rPr>
              <a:t>So one bad area pulls the grade down.</a:t>
            </a:r>
            <a:endParaRPr lang="en-US" sz="1250" dirty="0"/>
          </a:p>
        </p:txBody>
      </p:sp>
      <p:sp>
        <p:nvSpPr>
          <p:cNvPr id="10" name="band-A"/>
          <p:cNvSpPr/>
          <p:nvPr/>
        </p:nvSpPr>
        <p:spPr>
          <a:xfrm>
            <a:off x="6537960" y="3310128"/>
            <a:ext cx="1173404" cy="868680"/>
          </a:xfrm>
          <a:prstGeom prst="roundRect">
            <a:avLst>
              <a:gd name="adj" fmla="val 12632"/>
            </a:avLst>
          </a:prstGeom>
          <a:solidFill>
            <a:schemeClr val="tx2"/>
          </a:solidFill>
          <a:ln w="9525">
            <a:solidFill>
              <a:schemeClr val="accent2"/>
            </a:solidFill>
            <a:prstDash val="solid"/>
          </a:ln>
        </p:spPr>
      </p:sp>
      <p:sp>
        <p:nvSpPr>
          <p:cNvPr id="11" name="Text 8"/>
          <p:cNvSpPr txBox="1"/>
          <p:nvPr/>
        </p:nvSpPr>
        <p:spPr>
          <a:xfrm>
            <a:off x="6537960" y="3383280"/>
            <a:ext cx="1173404" cy="438912"/>
          </a:xfrm>
          <a:prstGeom prst="rect">
            <a:avLst/>
          </a:prstGeom>
          <a:noFill/>
          <a:ln/>
        </p:spPr>
        <p:txBody>
          <a:bodyPr wrap="square" lIns="0" tIns="0" rIns="0" bIns="0" rtlCol="0" anchor="t"/>
          <a:lstStyle/>
          <a:p>
            <a:pPr algn="ctr" indent="0" marL="0">
              <a:buNone/>
            </a:pPr>
            <a:r>
              <a:rPr lang="en-US" sz="2400" b="1" dirty="0">
                <a:solidFill>
                  <a:schemeClr val="accent2"/>
                </a:solidFill>
              </a:rPr>
              <a:t>A</a:t>
            </a:r>
            <a:endParaRPr lang="en-US" sz="2400" dirty="0"/>
          </a:p>
        </p:txBody>
      </p:sp>
      <p:sp>
        <p:nvSpPr>
          <p:cNvPr id="12" name="Text 9"/>
          <p:cNvSpPr txBox="1"/>
          <p:nvPr/>
        </p:nvSpPr>
        <p:spPr>
          <a:xfrm>
            <a:off x="6537960" y="3822192"/>
            <a:ext cx="1173404" cy="274320"/>
          </a:xfrm>
          <a:prstGeom prst="rect">
            <a:avLst/>
          </a:prstGeom>
          <a:noFill/>
          <a:ln/>
        </p:spPr>
        <p:txBody>
          <a:bodyPr wrap="square" lIns="0" tIns="0" rIns="0" bIns="0" rtlCol="0" anchor="t"/>
          <a:lstStyle/>
          <a:p>
            <a:pPr algn="ctr" indent="0" marL="0">
              <a:buNone/>
            </a:pPr>
            <a:r>
              <a:rPr lang="en-US" sz="1200" dirty="0">
                <a:solidFill>
                  <a:schemeClr val="bg2"/>
                </a:solidFill>
              </a:rPr>
              <a:t>80+</a:t>
            </a:r>
            <a:endParaRPr lang="en-US" sz="1200" dirty="0"/>
          </a:p>
        </p:txBody>
      </p:sp>
      <p:sp>
        <p:nvSpPr>
          <p:cNvPr id="13" name="band-B"/>
          <p:cNvSpPr/>
          <p:nvPr/>
        </p:nvSpPr>
        <p:spPr>
          <a:xfrm>
            <a:off x="7848524" y="3310128"/>
            <a:ext cx="1173404" cy="868680"/>
          </a:xfrm>
          <a:prstGeom prst="roundRect">
            <a:avLst>
              <a:gd name="adj" fmla="val 12632"/>
            </a:avLst>
          </a:prstGeom>
          <a:solidFill>
            <a:schemeClr val="tx2"/>
          </a:solidFill>
          <a:ln w="9525">
            <a:solidFill>
              <a:srgbClr val="D7C65E"/>
            </a:solidFill>
            <a:prstDash val="solid"/>
          </a:ln>
        </p:spPr>
      </p:sp>
      <p:sp>
        <p:nvSpPr>
          <p:cNvPr id="14" name="Text 11"/>
          <p:cNvSpPr txBox="1"/>
          <p:nvPr/>
        </p:nvSpPr>
        <p:spPr>
          <a:xfrm>
            <a:off x="7848524" y="3383280"/>
            <a:ext cx="1173404" cy="438912"/>
          </a:xfrm>
          <a:prstGeom prst="rect">
            <a:avLst/>
          </a:prstGeom>
          <a:noFill/>
          <a:ln/>
        </p:spPr>
        <p:txBody>
          <a:bodyPr wrap="square" lIns="0" tIns="0" rIns="0" bIns="0" rtlCol="0" anchor="t"/>
          <a:lstStyle/>
          <a:p>
            <a:pPr algn="ctr" indent="0" marL="0">
              <a:buNone/>
            </a:pPr>
            <a:r>
              <a:rPr lang="en-US" sz="2400" b="1" dirty="0">
                <a:solidFill>
                  <a:srgbClr val="D7C65E"/>
                </a:solidFill>
              </a:rPr>
              <a:t>B</a:t>
            </a:r>
            <a:endParaRPr lang="en-US" sz="2400" dirty="0"/>
          </a:p>
        </p:txBody>
      </p:sp>
      <p:sp>
        <p:nvSpPr>
          <p:cNvPr id="15" name="Text 12"/>
          <p:cNvSpPr txBox="1"/>
          <p:nvPr/>
        </p:nvSpPr>
        <p:spPr>
          <a:xfrm>
            <a:off x="7848524" y="3822192"/>
            <a:ext cx="1173404" cy="274320"/>
          </a:xfrm>
          <a:prstGeom prst="rect">
            <a:avLst/>
          </a:prstGeom>
          <a:noFill/>
          <a:ln/>
        </p:spPr>
        <p:txBody>
          <a:bodyPr wrap="square" lIns="0" tIns="0" rIns="0" bIns="0" rtlCol="0" anchor="t"/>
          <a:lstStyle/>
          <a:p>
            <a:pPr algn="ctr" indent="0" marL="0">
              <a:buNone/>
            </a:pPr>
            <a:r>
              <a:rPr lang="en-US" sz="1200" dirty="0">
                <a:solidFill>
                  <a:schemeClr val="bg2"/>
                </a:solidFill>
              </a:rPr>
              <a:t>65–79</a:t>
            </a:r>
            <a:endParaRPr lang="en-US" sz="1200" dirty="0"/>
          </a:p>
        </p:txBody>
      </p:sp>
      <p:sp>
        <p:nvSpPr>
          <p:cNvPr id="16" name="band-C"/>
          <p:cNvSpPr/>
          <p:nvPr/>
        </p:nvSpPr>
        <p:spPr>
          <a:xfrm>
            <a:off x="9159088" y="3310128"/>
            <a:ext cx="1173404" cy="868680"/>
          </a:xfrm>
          <a:prstGeom prst="roundRect">
            <a:avLst>
              <a:gd name="adj" fmla="val 12632"/>
            </a:avLst>
          </a:prstGeom>
          <a:solidFill>
            <a:schemeClr val="tx2"/>
          </a:solidFill>
          <a:ln w="9525">
            <a:solidFill>
              <a:srgbClr val="E8955C"/>
            </a:solidFill>
            <a:prstDash val="solid"/>
          </a:ln>
        </p:spPr>
      </p:sp>
      <p:sp>
        <p:nvSpPr>
          <p:cNvPr id="17" name="Text 14"/>
          <p:cNvSpPr txBox="1"/>
          <p:nvPr/>
        </p:nvSpPr>
        <p:spPr>
          <a:xfrm>
            <a:off x="9159088" y="3383280"/>
            <a:ext cx="1173404" cy="438912"/>
          </a:xfrm>
          <a:prstGeom prst="rect">
            <a:avLst/>
          </a:prstGeom>
          <a:noFill/>
          <a:ln/>
        </p:spPr>
        <p:txBody>
          <a:bodyPr wrap="square" lIns="0" tIns="0" rIns="0" bIns="0" rtlCol="0" anchor="t"/>
          <a:lstStyle/>
          <a:p>
            <a:pPr algn="ctr" indent="0" marL="0">
              <a:buNone/>
            </a:pPr>
            <a:r>
              <a:rPr lang="en-US" sz="2400" b="1" dirty="0">
                <a:solidFill>
                  <a:srgbClr val="E8955C"/>
                </a:solidFill>
              </a:rPr>
              <a:t>C</a:t>
            </a:r>
            <a:endParaRPr lang="en-US" sz="2400" dirty="0"/>
          </a:p>
        </p:txBody>
      </p:sp>
      <p:sp>
        <p:nvSpPr>
          <p:cNvPr id="18" name="Text 15"/>
          <p:cNvSpPr txBox="1"/>
          <p:nvPr/>
        </p:nvSpPr>
        <p:spPr>
          <a:xfrm>
            <a:off x="9159088" y="3822192"/>
            <a:ext cx="1173404" cy="274320"/>
          </a:xfrm>
          <a:prstGeom prst="rect">
            <a:avLst/>
          </a:prstGeom>
          <a:noFill/>
          <a:ln/>
        </p:spPr>
        <p:txBody>
          <a:bodyPr wrap="square" lIns="0" tIns="0" rIns="0" bIns="0" rtlCol="0" anchor="t"/>
          <a:lstStyle/>
          <a:p>
            <a:pPr algn="ctr" indent="0" marL="0">
              <a:buNone/>
            </a:pPr>
            <a:r>
              <a:rPr lang="en-US" sz="1200" dirty="0">
                <a:solidFill>
                  <a:schemeClr val="bg2"/>
                </a:solidFill>
              </a:rPr>
              <a:t>50–64</a:t>
            </a:r>
            <a:endParaRPr lang="en-US" sz="1200" dirty="0"/>
          </a:p>
        </p:txBody>
      </p:sp>
      <p:sp>
        <p:nvSpPr>
          <p:cNvPr id="19" name="band-D"/>
          <p:cNvSpPr/>
          <p:nvPr/>
        </p:nvSpPr>
        <p:spPr>
          <a:xfrm>
            <a:off x="10469651" y="3310128"/>
            <a:ext cx="1173404" cy="868680"/>
          </a:xfrm>
          <a:prstGeom prst="roundRect">
            <a:avLst>
              <a:gd name="adj" fmla="val 12632"/>
            </a:avLst>
          </a:prstGeom>
          <a:solidFill>
            <a:schemeClr val="tx2"/>
          </a:solidFill>
          <a:ln w="9525">
            <a:solidFill>
              <a:schemeClr val="accent4"/>
            </a:solidFill>
            <a:prstDash val="solid"/>
          </a:ln>
        </p:spPr>
      </p:sp>
      <p:sp>
        <p:nvSpPr>
          <p:cNvPr id="20" name="Text 17"/>
          <p:cNvSpPr txBox="1"/>
          <p:nvPr/>
        </p:nvSpPr>
        <p:spPr>
          <a:xfrm>
            <a:off x="10469651" y="3383280"/>
            <a:ext cx="1173404" cy="438912"/>
          </a:xfrm>
          <a:prstGeom prst="rect">
            <a:avLst/>
          </a:prstGeom>
          <a:noFill/>
          <a:ln/>
        </p:spPr>
        <p:txBody>
          <a:bodyPr wrap="square" lIns="0" tIns="0" rIns="0" bIns="0" rtlCol="0" anchor="t"/>
          <a:lstStyle/>
          <a:p>
            <a:pPr algn="ctr" indent="0" marL="0">
              <a:buNone/>
            </a:pPr>
            <a:r>
              <a:rPr lang="en-US" sz="2400" b="1" dirty="0">
                <a:solidFill>
                  <a:schemeClr val="accent4"/>
                </a:solidFill>
              </a:rPr>
              <a:t>D</a:t>
            </a:r>
            <a:endParaRPr lang="en-US" sz="2400" dirty="0"/>
          </a:p>
        </p:txBody>
      </p:sp>
      <p:sp>
        <p:nvSpPr>
          <p:cNvPr id="21" name="Text 18"/>
          <p:cNvSpPr txBox="1"/>
          <p:nvPr/>
        </p:nvSpPr>
        <p:spPr>
          <a:xfrm>
            <a:off x="10469651" y="3822192"/>
            <a:ext cx="1173404" cy="274320"/>
          </a:xfrm>
          <a:prstGeom prst="rect">
            <a:avLst/>
          </a:prstGeom>
          <a:noFill/>
          <a:ln/>
        </p:spPr>
        <p:txBody>
          <a:bodyPr wrap="square" lIns="0" tIns="0" rIns="0" bIns="0" rtlCol="0" anchor="t"/>
          <a:lstStyle/>
          <a:p>
            <a:pPr algn="ctr" indent="0" marL="0">
              <a:buNone/>
            </a:pPr>
            <a:r>
              <a:rPr lang="en-US" sz="1200" dirty="0">
                <a:solidFill>
                  <a:schemeClr val="bg2"/>
                </a:solidFill>
              </a:rPr>
              <a:t>&lt;50</a:t>
            </a:r>
            <a:endParaRPr lang="en-US" sz="1200" dirty="0"/>
          </a:p>
        </p:txBody>
      </p:sp>
      <p:sp>
        <p:nvSpPr>
          <p:cNvPr id="22" name="example-card"/>
          <p:cNvSpPr/>
          <p:nvPr/>
        </p:nvSpPr>
        <p:spPr>
          <a:xfrm>
            <a:off x="6537960" y="4315968"/>
            <a:ext cx="5105095" cy="1207008"/>
          </a:xfrm>
          <a:prstGeom prst="roundRect">
            <a:avLst>
              <a:gd name="adj" fmla="val 10606"/>
            </a:avLst>
          </a:prstGeom>
          <a:solidFill>
            <a:schemeClr val="tx2"/>
          </a:solidFill>
          <a:ln w="9525">
            <a:solidFill>
              <a:schemeClr val="accent6"/>
            </a:solidFill>
            <a:prstDash val="solid"/>
          </a:ln>
        </p:spPr>
      </p:sp>
      <p:sp>
        <p:nvSpPr>
          <p:cNvPr id="23" name="Text 20"/>
          <p:cNvSpPr txBox="1"/>
          <p:nvPr/>
        </p:nvSpPr>
        <p:spPr>
          <a:xfrm>
            <a:off x="6812280" y="4480560"/>
            <a:ext cx="4556455" cy="256032"/>
          </a:xfrm>
          <a:prstGeom prst="rect">
            <a:avLst/>
          </a:prstGeom>
          <a:noFill/>
          <a:ln/>
        </p:spPr>
        <p:txBody>
          <a:bodyPr wrap="square" lIns="0" tIns="0" rIns="0" bIns="0" rtlCol="0" anchor="t"/>
          <a:lstStyle/>
          <a:p>
            <a:pPr indent="0" marL="0">
              <a:buNone/>
            </a:pPr>
            <a:r>
              <a:rPr lang="en-US" sz="1050" b="1" spc="200" kern="0" dirty="0">
                <a:solidFill>
                  <a:schemeClr val="accent3"/>
                </a:solidFill>
              </a:rPr>
              <a:t>ONE WEAK FACTOR (DEMO DATA)</a:t>
            </a:r>
            <a:endParaRPr lang="en-US" sz="1050" dirty="0"/>
          </a:p>
        </p:txBody>
      </p:sp>
      <p:sp>
        <p:nvSpPr>
          <p:cNvPr id="24" name="Text 21"/>
          <p:cNvSpPr txBox="1"/>
          <p:nvPr/>
        </p:nvSpPr>
        <p:spPr>
          <a:xfrm>
            <a:off x="6812280" y="4754880"/>
            <a:ext cx="4556455" cy="731520"/>
          </a:xfrm>
          <a:prstGeom prst="rect">
            <a:avLst/>
          </a:prstGeom>
          <a:noFill/>
          <a:ln/>
        </p:spPr>
        <p:txBody>
          <a:bodyPr wrap="square" lIns="0" tIns="0" rIns="0" bIns="0" rtlCol="0" anchor="t"/>
          <a:lstStyle/>
          <a:p>
            <a:pPr indent="0" marL="0">
              <a:lnSpc>
                <a:spcPct val="105000"/>
              </a:lnSpc>
              <a:buNone/>
            </a:pPr>
            <a:r>
              <a:rPr lang="en-US" sz="1350" dirty="0">
                <a:solidFill>
                  <a:schemeClr val="bg2"/>
                </a:solidFill>
              </a:rPr>
              <a:t>Kamino JLP Market: weighted average </a:t>
            </a:r>
            <a:pPr indent="0" marL="0">
              <a:lnSpc>
                <a:spcPct val="105000"/>
              </a:lnSpc>
              <a:buNone/>
            </a:pPr>
            <a:r>
              <a:rPr lang="en-US" sz="1350" b="1" dirty="0">
                <a:solidFill>
                  <a:schemeClr val="accent2"/>
                </a:solidFill>
              </a:rPr>
              <a:t>81</a:t>
            </a:r>
            <a:pPr indent="0" marL="0">
              <a:lnSpc>
                <a:spcPct val="105000"/>
              </a:lnSpc>
              <a:buNone/>
            </a:pPr>
            <a:r>
              <a:rPr lang="en-US" sz="1350" dirty="0">
                <a:solidFill>
                  <a:schemeClr val="bg2"/>
                </a:solidFill>
              </a:rPr>
              <a:t> (an A on its own). Concentration scores </a:t>
            </a:r>
            <a:pPr indent="0" marL="0">
              <a:lnSpc>
                <a:spcPct val="105000"/>
              </a:lnSpc>
              <a:buNone/>
            </a:pPr>
            <a:r>
              <a:rPr lang="en-US" sz="1350" b="1" dirty="0">
                <a:solidFill>
                  <a:schemeClr val="accent4"/>
                </a:solidFill>
              </a:rPr>
              <a:t>37</a:t>
            </a:r>
            <a:pPr indent="0" marL="0">
              <a:lnSpc>
                <a:spcPct val="105000"/>
              </a:lnSpc>
              <a:buNone/>
            </a:pPr>
            <a:r>
              <a:rPr lang="en-US" sz="1350" dirty="0">
                <a:solidFill>
                  <a:schemeClr val="bg2"/>
                </a:solidFill>
              </a:rPr>
              <a:t>, so the final score is </a:t>
            </a:r>
            <a:pPr indent="0" marL="0">
              <a:lnSpc>
                <a:spcPct val="105000"/>
              </a:lnSpc>
              <a:buNone/>
            </a:pPr>
            <a:r>
              <a:rPr lang="en-US" sz="1350" b="1" dirty="0">
                <a:solidFill>
                  <a:schemeClr val="bg1"/>
                </a:solidFill>
              </a:rPr>
              <a:t>70: grade B</a:t>
            </a:r>
            <a:pPr indent="0" marL="0">
              <a:lnSpc>
                <a:spcPct val="105000"/>
              </a:lnSpc>
              <a:buNone/>
            </a:pPr>
            <a:r>
              <a:rPr lang="en-US" sz="1350" dirty="0">
                <a:solidFill>
                  <a:schemeClr val="bg2"/>
                </a:solidFill>
              </a:rPr>
              <a:t>.</a:t>
            </a:r>
            <a:endParaRPr lang="en-US" sz="1350" dirty="0"/>
          </a:p>
        </p:txBody>
      </p:sp>
      <p:sp>
        <p:nvSpPr>
          <p:cNvPr id="25" name="Text 22"/>
          <p:cNvSpPr txBox="1"/>
          <p:nvPr/>
        </p:nvSpPr>
        <p:spPr>
          <a:xfrm>
            <a:off x="6537960" y="5632704"/>
            <a:ext cx="5105095" cy="566928"/>
          </a:xfrm>
          <a:prstGeom prst="rect">
            <a:avLst/>
          </a:prstGeom>
          <a:noFill/>
          <a:ln/>
        </p:spPr>
        <p:txBody>
          <a:bodyPr wrap="square" lIns="0" tIns="0" rIns="0" bIns="0" rtlCol="0" anchor="t"/>
          <a:lstStyle/>
          <a:p>
            <a:pPr indent="0" marL="0">
              <a:buNone/>
            </a:pPr>
            <a:r>
              <a:rPr lang="en-US" sz="1200" b="1" dirty="0">
                <a:solidFill>
                  <a:schemeClr val="bg1"/>
                </a:solidFill>
              </a:rPr>
              <a:t>Hard caps can override the score </a:t>
            </a:r>
            <a:pPr indent="0" marL="0">
              <a:buNone/>
            </a:pPr>
            <a:r>
              <a:rPr lang="en-US" sz="1200" dirty="0">
                <a:solidFill>
                  <a:schemeClr val="bg2"/>
                </a:solidFill>
              </a:rPr>
              <a:t>(e.g. no public audits: at most C). Inputs the data doesn't cover are marked "Not verified" and scored cautiously, never guessed.</a:t>
            </a:r>
            <a:endParaRPr lang="en-US" sz="120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The return that matters is the return after costs</a:t>
            </a:r>
            <a:endParaRPr lang="en-US" sz="3200" dirty="0"/>
          </a:p>
        </p:txBody>
      </p:sp>
      <p:sp>
        <p:nvSpPr>
          <p:cNvPr id="3" name="shot-fees-frame"/>
          <p:cNvSpPr/>
          <p:nvPr/>
        </p:nvSpPr>
        <p:spPr>
          <a:xfrm>
            <a:off x="548640" y="1578703"/>
            <a:ext cx="6876288" cy="2338138"/>
          </a:xfrm>
          <a:prstGeom prst="roundRect">
            <a:avLst>
              <a:gd name="adj" fmla="val 4693"/>
            </a:avLst>
          </a:prstGeom>
          <a:solidFill>
            <a:schemeClr val="tx1"/>
          </a:solidFill>
          <a:ln w="9525">
            <a:solidFill>
              <a:schemeClr val="accent6"/>
            </a:solidFill>
            <a:prstDash val="solid"/>
          </a:ln>
        </p:spPr>
      </p:sp>
      <p:pic>
        <p:nvPicPr>
          <p:cNvPr id="4" name="shot-fees" descr="Filtered to Ethereum with $100: Aave V3 at 4.10% shows minus $7.90 a year and the note 'Fees cost more than you'd earn'">    </p:cNvPr>
          <p:cNvPicPr>
            <a:picLocks noChangeAspect="1"/>
          </p:cNvPicPr>
          <p:nvPr/>
        </p:nvPicPr>
        <p:blipFill>
          <a:blip r:embed="rId1"/>
          <a:stretch>
            <a:fillRect/>
          </a:stretch>
        </p:blipFill>
        <p:spPr>
          <a:xfrm>
            <a:off x="603504" y="1633567"/>
            <a:ext cx="6766560" cy="2228410"/>
          </a:xfrm>
          <a:prstGeom prst="rect">
            <a:avLst/>
          </a:prstGeom>
        </p:spPr>
      </p:pic>
      <p:sp>
        <p:nvSpPr>
          <p:cNvPr id="5" name="Text 2"/>
          <p:cNvSpPr txBox="1"/>
          <p:nvPr/>
        </p:nvSpPr>
        <p:spPr>
          <a:xfrm>
            <a:off x="603504" y="3953417"/>
            <a:ext cx="6400800" cy="274320"/>
          </a:xfrm>
          <a:prstGeom prst="rect">
            <a:avLst/>
          </a:prstGeom>
          <a:noFill/>
          <a:ln/>
        </p:spPr>
        <p:txBody>
          <a:bodyPr wrap="square" lIns="0" tIns="0" rIns="0" bIns="0" rtlCol="0" anchor="t"/>
          <a:lstStyle/>
          <a:p>
            <a:pPr algn="l" indent="0" marL="0">
              <a:buNone/>
            </a:pPr>
            <a:r>
              <a:rPr lang="en-US" sz="1000" i="1" dirty="0">
                <a:solidFill>
                  <a:schemeClr val="bg2"/>
                </a:solidFill>
              </a:rPr>
              <a:t>Real interface · local build, demo data · $100 of USDC, Ethereum</a:t>
            </a:r>
            <a:endParaRPr lang="en-US" sz="1000" dirty="0"/>
          </a:p>
        </p:txBody>
      </p:sp>
      <p:sp>
        <p:nvSpPr>
          <p:cNvPr id="6" name="fees-callout"/>
          <p:cNvSpPr/>
          <p:nvPr/>
        </p:nvSpPr>
        <p:spPr>
          <a:xfrm>
            <a:off x="7726680" y="1572768"/>
            <a:ext cx="3916375" cy="2338138"/>
          </a:xfrm>
          <a:prstGeom prst="roundRect">
            <a:avLst>
              <a:gd name="adj" fmla="val 5475"/>
            </a:avLst>
          </a:prstGeom>
          <a:solidFill>
            <a:schemeClr val="tx2"/>
          </a:solidFill>
          <a:ln w="9525">
            <a:solidFill>
              <a:schemeClr val="accent3"/>
            </a:solidFill>
            <a:prstDash val="solid"/>
          </a:ln>
        </p:spPr>
      </p:sp>
      <p:sp>
        <p:nvSpPr>
          <p:cNvPr id="7" name="Text 4"/>
          <p:cNvSpPr txBox="1"/>
          <p:nvPr/>
        </p:nvSpPr>
        <p:spPr>
          <a:xfrm>
            <a:off x="8001000" y="1801368"/>
            <a:ext cx="3367735" cy="256032"/>
          </a:xfrm>
          <a:prstGeom prst="rect">
            <a:avLst/>
          </a:prstGeom>
          <a:noFill/>
          <a:ln/>
        </p:spPr>
        <p:txBody>
          <a:bodyPr wrap="square" lIns="0" tIns="0" rIns="0" bIns="0" rtlCol="0" anchor="t"/>
          <a:lstStyle/>
          <a:p>
            <a:pPr indent="0" marL="0">
              <a:buNone/>
            </a:pPr>
            <a:r>
              <a:rPr lang="en-US" sz="1050" b="1" spc="200" kern="0" dirty="0">
                <a:solidFill>
                  <a:schemeClr val="accent3"/>
                </a:solidFill>
              </a:rPr>
              <a:t>MARKED, NOT HIDDEN</a:t>
            </a:r>
            <a:endParaRPr lang="en-US" sz="1050" dirty="0"/>
          </a:p>
        </p:txBody>
      </p:sp>
      <p:sp>
        <p:nvSpPr>
          <p:cNvPr id="8" name="Text 5"/>
          <p:cNvSpPr txBox="1"/>
          <p:nvPr/>
        </p:nvSpPr>
        <p:spPr>
          <a:xfrm>
            <a:off x="8001000" y="2167128"/>
            <a:ext cx="3413455" cy="1600200"/>
          </a:xfrm>
          <a:prstGeom prst="rect">
            <a:avLst/>
          </a:prstGeom>
          <a:noFill/>
          <a:ln/>
        </p:spPr>
        <p:txBody>
          <a:bodyPr wrap="square" lIns="0" tIns="0" rIns="0" bIns="0" rtlCol="0" anchor="t"/>
          <a:lstStyle/>
          <a:p>
            <a:pPr indent="0" marL="0">
              <a:lnSpc>
                <a:spcPct val="110000"/>
              </a:lnSpc>
              <a:buNone/>
            </a:pPr>
            <a:r>
              <a:rPr lang="en-US" sz="1400" dirty="0">
                <a:solidFill>
                  <a:schemeClr val="bg1"/>
                </a:solidFill>
              </a:rPr>
              <a:t>$100 at 4.10% earns about $4.10 a year. Getting in and out of Ethereum is estimated at $12. </a:t>
            </a:r>
            <a:pPr indent="0" marL="0">
              <a:lnSpc>
                <a:spcPct val="110000"/>
              </a:lnSpc>
              <a:buNone/>
            </a:pPr>
            <a:r>
              <a:rPr lang="en-US" sz="1400" b="1" dirty="0">
                <a:solidFill>
                  <a:schemeClr val="accent3"/>
                </a:solidFill>
              </a:rPr>
              <a:t>So the app says: "Fees cost more than you'd earn."</a:t>
            </a:r>
            <a:endParaRPr lang="en-US" sz="1400" dirty="0"/>
          </a:p>
        </p:txBody>
      </p:sp>
      <p:sp>
        <p:nvSpPr>
          <p:cNvPr id="9" name="Text 6"/>
          <p:cNvSpPr txBox="1"/>
          <p:nvPr/>
        </p:nvSpPr>
        <p:spPr>
          <a:xfrm>
            <a:off x="2057400" y="4319177"/>
            <a:ext cx="2270684" cy="274320"/>
          </a:xfrm>
          <a:prstGeom prst="rect">
            <a:avLst/>
          </a:prstGeom>
          <a:noFill/>
          <a:ln/>
        </p:spPr>
        <p:txBody>
          <a:bodyPr wrap="square" lIns="0" tIns="0" rIns="0" bIns="0" rtlCol="0" anchor="t"/>
          <a:lstStyle/>
          <a:p>
            <a:pPr algn="r" indent="0" marL="0">
              <a:buNone/>
            </a:pPr>
            <a:r>
              <a:rPr lang="en-US" sz="1150" b="1" dirty="0">
                <a:solidFill>
                  <a:schemeClr val="bg2"/>
                </a:solidFill>
              </a:rPr>
              <a:t>Headline rate</a:t>
            </a:r>
            <a:endParaRPr lang="en-US" sz="1150" dirty="0"/>
          </a:p>
        </p:txBody>
      </p:sp>
      <p:sp>
        <p:nvSpPr>
          <p:cNvPr id="10" name="Text 7"/>
          <p:cNvSpPr txBox="1"/>
          <p:nvPr/>
        </p:nvSpPr>
        <p:spPr>
          <a:xfrm>
            <a:off x="4419524" y="4319177"/>
            <a:ext cx="2270684" cy="274320"/>
          </a:xfrm>
          <a:prstGeom prst="rect">
            <a:avLst/>
          </a:prstGeom>
          <a:noFill/>
          <a:ln/>
        </p:spPr>
        <p:txBody>
          <a:bodyPr wrap="square" lIns="0" tIns="0" rIns="0" bIns="0" rtlCol="0" anchor="t"/>
          <a:lstStyle/>
          <a:p>
            <a:pPr algn="r" indent="0" marL="0">
              <a:buNone/>
            </a:pPr>
            <a:r>
              <a:rPr lang="en-US" sz="1150" b="1" dirty="0">
                <a:solidFill>
                  <a:schemeClr val="bg2"/>
                </a:solidFill>
              </a:rPr>
              <a:t>A year's interest</a:t>
            </a:r>
            <a:endParaRPr lang="en-US" sz="1150" dirty="0"/>
          </a:p>
        </p:txBody>
      </p:sp>
      <p:sp>
        <p:nvSpPr>
          <p:cNvPr id="11" name="Text 8"/>
          <p:cNvSpPr txBox="1"/>
          <p:nvPr/>
        </p:nvSpPr>
        <p:spPr>
          <a:xfrm>
            <a:off x="6781648" y="4319177"/>
            <a:ext cx="2270684" cy="274320"/>
          </a:xfrm>
          <a:prstGeom prst="rect">
            <a:avLst/>
          </a:prstGeom>
          <a:noFill/>
          <a:ln/>
        </p:spPr>
        <p:txBody>
          <a:bodyPr wrap="square" lIns="0" tIns="0" rIns="0" bIns="0" rtlCol="0" anchor="t"/>
          <a:lstStyle/>
          <a:p>
            <a:pPr algn="r" indent="0" marL="0">
              <a:buNone/>
            </a:pPr>
            <a:r>
              <a:rPr lang="en-US" sz="1150" b="1" dirty="0">
                <a:solidFill>
                  <a:schemeClr val="bg2"/>
                </a:solidFill>
              </a:rPr>
              <a:t>Network fees (est.)</a:t>
            </a:r>
            <a:endParaRPr lang="en-US" sz="1150" dirty="0"/>
          </a:p>
        </p:txBody>
      </p:sp>
      <p:sp>
        <p:nvSpPr>
          <p:cNvPr id="12" name="Text 9"/>
          <p:cNvSpPr txBox="1"/>
          <p:nvPr/>
        </p:nvSpPr>
        <p:spPr>
          <a:xfrm>
            <a:off x="9143771" y="4319177"/>
            <a:ext cx="2270684" cy="274320"/>
          </a:xfrm>
          <a:prstGeom prst="rect">
            <a:avLst/>
          </a:prstGeom>
          <a:noFill/>
          <a:ln/>
        </p:spPr>
        <p:txBody>
          <a:bodyPr wrap="square" lIns="0" tIns="0" rIns="0" bIns="0" rtlCol="0" anchor="t"/>
          <a:lstStyle/>
          <a:p>
            <a:pPr algn="r" indent="0" marL="0">
              <a:buNone/>
            </a:pPr>
            <a:r>
              <a:rPr lang="en-US" sz="1150" b="1" dirty="0">
                <a:solidFill>
                  <a:schemeClr val="bg2"/>
                </a:solidFill>
              </a:rPr>
              <a:t>What you keep</a:t>
            </a:r>
            <a:endParaRPr lang="en-US" sz="1150" dirty="0"/>
          </a:p>
        </p:txBody>
      </p:sp>
      <p:sp>
        <p:nvSpPr>
          <p:cNvPr id="13" name="ledger-Ethereum"/>
          <p:cNvSpPr/>
          <p:nvPr/>
        </p:nvSpPr>
        <p:spPr>
          <a:xfrm>
            <a:off x="548640" y="4648361"/>
            <a:ext cx="11094415" cy="512064"/>
          </a:xfrm>
          <a:prstGeom prst="roundRect">
            <a:avLst>
              <a:gd name="adj" fmla="val 17857"/>
            </a:avLst>
          </a:prstGeom>
          <a:solidFill>
            <a:schemeClr val="tx2"/>
          </a:solidFill>
          <a:ln w="9525">
            <a:solidFill>
              <a:schemeClr val="accent6"/>
            </a:solidFill>
            <a:prstDash val="solid"/>
          </a:ln>
        </p:spPr>
      </p:sp>
      <p:sp>
        <p:nvSpPr>
          <p:cNvPr id="14" name="Text 11"/>
          <p:cNvSpPr txBox="1"/>
          <p:nvPr/>
        </p:nvSpPr>
        <p:spPr>
          <a:xfrm>
            <a:off x="777240" y="4721513"/>
            <a:ext cx="1371600" cy="365760"/>
          </a:xfrm>
          <a:prstGeom prst="rect">
            <a:avLst/>
          </a:prstGeom>
          <a:noFill/>
          <a:ln/>
        </p:spPr>
        <p:txBody>
          <a:bodyPr wrap="square" lIns="0" tIns="0" rIns="0" bIns="0" rtlCol="0" anchor="ctr"/>
          <a:lstStyle/>
          <a:p>
            <a:pPr indent="0" marL="0">
              <a:buNone/>
            </a:pPr>
            <a:r>
              <a:rPr lang="en-US" sz="1500" b="1" dirty="0">
                <a:solidFill>
                  <a:schemeClr val="bg1"/>
                </a:solidFill>
              </a:rPr>
              <a:t>Ethereum</a:t>
            </a:r>
            <a:endParaRPr lang="en-US" sz="1500" dirty="0"/>
          </a:p>
        </p:txBody>
      </p:sp>
      <p:sp>
        <p:nvSpPr>
          <p:cNvPr id="15" name="Text 12"/>
          <p:cNvSpPr txBox="1"/>
          <p:nvPr/>
        </p:nvSpPr>
        <p:spPr>
          <a:xfrm>
            <a:off x="2057400" y="4721513"/>
            <a:ext cx="2270684" cy="365760"/>
          </a:xfrm>
          <a:prstGeom prst="rect">
            <a:avLst/>
          </a:prstGeom>
          <a:noFill/>
          <a:ln/>
        </p:spPr>
        <p:txBody>
          <a:bodyPr wrap="square" lIns="0" tIns="0" rIns="0" bIns="0" rtlCol="0" anchor="ctr"/>
          <a:lstStyle/>
          <a:p>
            <a:pPr algn="r" indent="0" marL="0">
              <a:buNone/>
            </a:pPr>
            <a:r>
              <a:rPr lang="en-US" sz="1600" dirty="0">
                <a:solidFill>
                  <a:schemeClr val="bg1"/>
                </a:solidFill>
              </a:rPr>
              <a:t>4.10%</a:t>
            </a:r>
            <a:endParaRPr lang="en-US" sz="1600" dirty="0"/>
          </a:p>
        </p:txBody>
      </p:sp>
      <p:sp>
        <p:nvSpPr>
          <p:cNvPr id="16" name="Text 13"/>
          <p:cNvSpPr txBox="1"/>
          <p:nvPr/>
        </p:nvSpPr>
        <p:spPr>
          <a:xfrm>
            <a:off x="4419524" y="4721513"/>
            <a:ext cx="2270684" cy="365760"/>
          </a:xfrm>
          <a:prstGeom prst="rect">
            <a:avLst/>
          </a:prstGeom>
          <a:noFill/>
          <a:ln/>
        </p:spPr>
        <p:txBody>
          <a:bodyPr wrap="square" lIns="0" tIns="0" rIns="0" bIns="0" rtlCol="0" anchor="ctr"/>
          <a:lstStyle/>
          <a:p>
            <a:pPr algn="r" indent="0" marL="0">
              <a:buNone/>
            </a:pPr>
            <a:r>
              <a:rPr lang="en-US" sz="1600" dirty="0">
                <a:solidFill>
                  <a:schemeClr val="bg1"/>
                </a:solidFill>
              </a:rPr>
              <a:t>$4.10</a:t>
            </a:r>
            <a:endParaRPr lang="en-US" sz="1600" dirty="0"/>
          </a:p>
        </p:txBody>
      </p:sp>
      <p:sp>
        <p:nvSpPr>
          <p:cNvPr id="17" name="Text 14"/>
          <p:cNvSpPr txBox="1"/>
          <p:nvPr/>
        </p:nvSpPr>
        <p:spPr>
          <a:xfrm>
            <a:off x="6781648" y="4721513"/>
            <a:ext cx="2270684" cy="365760"/>
          </a:xfrm>
          <a:prstGeom prst="rect">
            <a:avLst/>
          </a:prstGeom>
          <a:noFill/>
          <a:ln/>
        </p:spPr>
        <p:txBody>
          <a:bodyPr wrap="square" lIns="0" tIns="0" rIns="0" bIns="0" rtlCol="0" anchor="ctr"/>
          <a:lstStyle/>
          <a:p>
            <a:pPr algn="r" indent="0" marL="0">
              <a:buNone/>
            </a:pPr>
            <a:r>
              <a:rPr lang="en-US" sz="1600" dirty="0">
                <a:solidFill>
                  <a:schemeClr val="accent3"/>
                </a:solidFill>
              </a:rPr>
              <a:t>−$12.00</a:t>
            </a:r>
            <a:endParaRPr lang="en-US" sz="1600" dirty="0"/>
          </a:p>
        </p:txBody>
      </p:sp>
      <p:sp>
        <p:nvSpPr>
          <p:cNvPr id="18" name="Text 15"/>
          <p:cNvSpPr txBox="1"/>
          <p:nvPr/>
        </p:nvSpPr>
        <p:spPr>
          <a:xfrm>
            <a:off x="9143771" y="4721513"/>
            <a:ext cx="2270684" cy="365760"/>
          </a:xfrm>
          <a:prstGeom prst="rect">
            <a:avLst/>
          </a:prstGeom>
          <a:noFill/>
          <a:ln/>
        </p:spPr>
        <p:txBody>
          <a:bodyPr wrap="square" lIns="0" tIns="0" rIns="0" bIns="0" rtlCol="0" anchor="ctr"/>
          <a:lstStyle/>
          <a:p>
            <a:pPr algn="r" indent="0" marL="0">
              <a:buNone/>
            </a:pPr>
            <a:r>
              <a:rPr lang="en-US" sz="1600" b="1" dirty="0">
                <a:solidFill>
                  <a:schemeClr val="accent4"/>
                </a:solidFill>
              </a:rPr>
              <a:t>−$7.90</a:t>
            </a:r>
            <a:endParaRPr lang="en-US" sz="1600" dirty="0"/>
          </a:p>
        </p:txBody>
      </p:sp>
      <p:sp>
        <p:nvSpPr>
          <p:cNvPr id="19" name="ledger-Solana"/>
          <p:cNvSpPr/>
          <p:nvPr/>
        </p:nvSpPr>
        <p:spPr>
          <a:xfrm>
            <a:off x="548640" y="5251865"/>
            <a:ext cx="11094415" cy="512064"/>
          </a:xfrm>
          <a:prstGeom prst="roundRect">
            <a:avLst>
              <a:gd name="adj" fmla="val 17857"/>
            </a:avLst>
          </a:prstGeom>
          <a:solidFill>
            <a:schemeClr val="tx2"/>
          </a:solidFill>
          <a:ln w="9525">
            <a:solidFill>
              <a:schemeClr val="accent6"/>
            </a:solidFill>
            <a:prstDash val="solid"/>
          </a:ln>
        </p:spPr>
      </p:sp>
      <p:sp>
        <p:nvSpPr>
          <p:cNvPr id="20" name="Text 17"/>
          <p:cNvSpPr txBox="1"/>
          <p:nvPr/>
        </p:nvSpPr>
        <p:spPr>
          <a:xfrm>
            <a:off x="777240" y="5325017"/>
            <a:ext cx="1371600" cy="365760"/>
          </a:xfrm>
          <a:prstGeom prst="rect">
            <a:avLst/>
          </a:prstGeom>
          <a:noFill/>
          <a:ln/>
        </p:spPr>
        <p:txBody>
          <a:bodyPr wrap="square" lIns="0" tIns="0" rIns="0" bIns="0" rtlCol="0" anchor="ctr"/>
          <a:lstStyle/>
          <a:p>
            <a:pPr indent="0" marL="0">
              <a:buNone/>
            </a:pPr>
            <a:r>
              <a:rPr lang="en-US" sz="1500" b="1" dirty="0">
                <a:solidFill>
                  <a:schemeClr val="bg1"/>
                </a:solidFill>
              </a:rPr>
              <a:t>Solana</a:t>
            </a:r>
            <a:endParaRPr lang="en-US" sz="1500" dirty="0"/>
          </a:p>
        </p:txBody>
      </p:sp>
      <p:sp>
        <p:nvSpPr>
          <p:cNvPr id="21" name="Text 18"/>
          <p:cNvSpPr txBox="1"/>
          <p:nvPr/>
        </p:nvSpPr>
        <p:spPr>
          <a:xfrm>
            <a:off x="2057400" y="5325017"/>
            <a:ext cx="2270684" cy="365760"/>
          </a:xfrm>
          <a:prstGeom prst="rect">
            <a:avLst/>
          </a:prstGeom>
          <a:noFill/>
          <a:ln/>
        </p:spPr>
        <p:txBody>
          <a:bodyPr wrap="square" lIns="0" tIns="0" rIns="0" bIns="0" rtlCol="0" anchor="ctr"/>
          <a:lstStyle/>
          <a:p>
            <a:pPr algn="r" indent="0" marL="0">
              <a:buNone/>
            </a:pPr>
            <a:r>
              <a:rPr lang="en-US" sz="1600" dirty="0">
                <a:solidFill>
                  <a:schemeClr val="bg1"/>
                </a:solidFill>
              </a:rPr>
              <a:t>4.10%</a:t>
            </a:r>
            <a:endParaRPr lang="en-US" sz="1600" dirty="0"/>
          </a:p>
        </p:txBody>
      </p:sp>
      <p:sp>
        <p:nvSpPr>
          <p:cNvPr id="22" name="Text 19"/>
          <p:cNvSpPr txBox="1"/>
          <p:nvPr/>
        </p:nvSpPr>
        <p:spPr>
          <a:xfrm>
            <a:off x="4419524" y="5325017"/>
            <a:ext cx="2270684" cy="365760"/>
          </a:xfrm>
          <a:prstGeom prst="rect">
            <a:avLst/>
          </a:prstGeom>
          <a:noFill/>
          <a:ln/>
        </p:spPr>
        <p:txBody>
          <a:bodyPr wrap="square" lIns="0" tIns="0" rIns="0" bIns="0" rtlCol="0" anchor="ctr"/>
          <a:lstStyle/>
          <a:p>
            <a:pPr algn="r" indent="0" marL="0">
              <a:buNone/>
            </a:pPr>
            <a:r>
              <a:rPr lang="en-US" sz="1600" dirty="0">
                <a:solidFill>
                  <a:schemeClr val="bg1"/>
                </a:solidFill>
              </a:rPr>
              <a:t>$4.10</a:t>
            </a:r>
            <a:endParaRPr lang="en-US" sz="1600" dirty="0"/>
          </a:p>
        </p:txBody>
      </p:sp>
      <p:sp>
        <p:nvSpPr>
          <p:cNvPr id="23" name="Text 20"/>
          <p:cNvSpPr txBox="1"/>
          <p:nvPr/>
        </p:nvSpPr>
        <p:spPr>
          <a:xfrm>
            <a:off x="6781648" y="5325017"/>
            <a:ext cx="2270684" cy="365760"/>
          </a:xfrm>
          <a:prstGeom prst="rect">
            <a:avLst/>
          </a:prstGeom>
          <a:noFill/>
          <a:ln/>
        </p:spPr>
        <p:txBody>
          <a:bodyPr wrap="square" lIns="0" tIns="0" rIns="0" bIns="0" rtlCol="0" anchor="ctr"/>
          <a:lstStyle/>
          <a:p>
            <a:pPr algn="r" indent="0" marL="0">
              <a:buNone/>
            </a:pPr>
            <a:r>
              <a:rPr lang="en-US" sz="1600" dirty="0">
                <a:solidFill>
                  <a:schemeClr val="accent3"/>
                </a:solidFill>
              </a:rPr>
              <a:t>−$0.02</a:t>
            </a:r>
            <a:endParaRPr lang="en-US" sz="1600" dirty="0"/>
          </a:p>
        </p:txBody>
      </p:sp>
      <p:sp>
        <p:nvSpPr>
          <p:cNvPr id="24" name="Text 21"/>
          <p:cNvSpPr txBox="1"/>
          <p:nvPr/>
        </p:nvSpPr>
        <p:spPr>
          <a:xfrm>
            <a:off x="9143771" y="5325017"/>
            <a:ext cx="2270684" cy="365760"/>
          </a:xfrm>
          <a:prstGeom prst="rect">
            <a:avLst/>
          </a:prstGeom>
          <a:noFill/>
          <a:ln/>
        </p:spPr>
        <p:txBody>
          <a:bodyPr wrap="square" lIns="0" tIns="0" rIns="0" bIns="0" rtlCol="0" anchor="ctr"/>
          <a:lstStyle/>
          <a:p>
            <a:pPr algn="r" indent="0" marL="0">
              <a:buNone/>
            </a:pPr>
            <a:r>
              <a:rPr lang="en-US" sz="1600" b="1" dirty="0">
                <a:solidFill>
                  <a:schemeClr val="accent2"/>
                </a:solidFill>
              </a:rPr>
              <a:t>+$4.08</a:t>
            </a:r>
            <a:endParaRPr lang="en-US" sz="1600" dirty="0"/>
          </a:p>
        </p:txBody>
      </p:sp>
      <p:sp>
        <p:nvSpPr>
          <p:cNvPr id="25" name="Text 22"/>
          <p:cNvSpPr txBox="1"/>
          <p:nvPr/>
        </p:nvSpPr>
        <p:spPr>
          <a:xfrm>
            <a:off x="548640" y="5946809"/>
            <a:ext cx="11094415" cy="274320"/>
          </a:xfrm>
          <a:prstGeom prst="rect">
            <a:avLst/>
          </a:prstGeom>
          <a:noFill/>
          <a:ln/>
        </p:spPr>
        <p:txBody>
          <a:bodyPr wrap="square" lIns="0" tIns="0" rIns="0" bIns="0" rtlCol="0" anchor="t"/>
          <a:lstStyle/>
          <a:p>
            <a:pPr indent="0" marL="0">
              <a:buNone/>
            </a:pPr>
            <a:r>
              <a:rPr lang="en-US" sz="1100" i="1" dirty="0">
                <a:solidFill>
                  <a:schemeClr val="bg2"/>
                </a:solidFill>
              </a:rPr>
              <a:t>Illustrative: $100 at the same 4.10% rate, using StableSave's per-network fee estimates for one deposit and one withdrawal. Estimates, not live gas prices.</a:t>
            </a:r>
            <a:endParaRPr lang="en-US" sz="110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A separate Anchor vault prototype</a:t>
            </a:r>
            <a:endParaRPr lang="en-US" sz="3200" dirty="0"/>
          </a:p>
          <a:p>
            <a:pPr algn="l" indent="0" marL="0">
              <a:lnSpc>
                <a:spcPct val="95000"/>
              </a:lnSpc>
              <a:buNone/>
            </a:pPr>
            <a:r>
              <a:rPr lang="en-US" sz="3200" b="1" dirty="0">
                <a:solidFill>
                  <a:schemeClr val="bg1"/>
                </a:solidFill>
              </a:rPr>
              <a:t>brings the project on-chain</a:t>
            </a:r>
            <a:endParaRPr lang="en-US" sz="3200" dirty="0"/>
          </a:p>
        </p:txBody>
      </p:sp>
      <p:sp>
        <p:nvSpPr>
          <p:cNvPr id="3" name="wallet"/>
          <p:cNvSpPr/>
          <p:nvPr/>
        </p:nvSpPr>
        <p:spPr>
          <a:xfrm>
            <a:off x="548640" y="2624328"/>
            <a:ext cx="1965960" cy="1463040"/>
          </a:xfrm>
          <a:prstGeom prst="roundRect">
            <a:avLst>
              <a:gd name="adj" fmla="val 8750"/>
            </a:avLst>
          </a:prstGeom>
          <a:solidFill>
            <a:schemeClr val="accent5"/>
          </a:solidFill>
          <a:ln w="9525">
            <a:solidFill>
              <a:schemeClr val="accent6"/>
            </a:solidFill>
            <a:prstDash val="solid"/>
          </a:ln>
        </p:spPr>
      </p:sp>
      <p:pic>
        <p:nvPicPr>
          <p:cNvPr id="4" name="Image 0" descr="Wallet">    </p:cNvPr>
          <p:cNvPicPr>
            <a:picLocks noChangeAspect="1"/>
          </p:cNvPicPr>
          <p:nvPr/>
        </p:nvPicPr>
        <p:blipFill>
          <a:blip r:embed="rId1"/>
          <a:stretch>
            <a:fillRect/>
          </a:stretch>
        </p:blipFill>
        <p:spPr>
          <a:xfrm>
            <a:off x="777240" y="2852928"/>
            <a:ext cx="384048" cy="384048"/>
          </a:xfrm>
          <a:prstGeom prst="rect">
            <a:avLst/>
          </a:prstGeom>
        </p:spPr>
      </p:pic>
      <p:sp>
        <p:nvSpPr>
          <p:cNvPr id="5" name="Text 2"/>
          <p:cNvSpPr txBox="1"/>
          <p:nvPr/>
        </p:nvSpPr>
        <p:spPr>
          <a:xfrm>
            <a:off x="777240" y="3337560"/>
            <a:ext cx="1600200" cy="274320"/>
          </a:xfrm>
          <a:prstGeom prst="rect">
            <a:avLst/>
          </a:prstGeom>
          <a:noFill/>
          <a:ln/>
        </p:spPr>
        <p:txBody>
          <a:bodyPr wrap="square" lIns="0" tIns="0" rIns="0" bIns="0" rtlCol="0" anchor="t"/>
          <a:lstStyle/>
          <a:p>
            <a:pPr indent="0" marL="0">
              <a:buNone/>
            </a:pPr>
            <a:r>
              <a:rPr lang="en-US" sz="1500" b="1" dirty="0">
                <a:solidFill>
                  <a:schemeClr val="bg1"/>
                </a:solidFill>
              </a:rPr>
              <a:t>User wallet</a:t>
            </a:r>
            <a:endParaRPr lang="en-US" sz="1500" dirty="0"/>
          </a:p>
        </p:txBody>
      </p:sp>
      <p:sp>
        <p:nvSpPr>
          <p:cNvPr id="6" name="Text 3"/>
          <p:cNvSpPr txBox="1"/>
          <p:nvPr/>
        </p:nvSpPr>
        <p:spPr>
          <a:xfrm>
            <a:off x="777240" y="3630168"/>
            <a:ext cx="1600200" cy="274320"/>
          </a:xfrm>
          <a:prstGeom prst="rect">
            <a:avLst/>
          </a:prstGeom>
          <a:noFill/>
          <a:ln/>
        </p:spPr>
        <p:txBody>
          <a:bodyPr wrap="square" lIns="0" tIns="0" rIns="0" bIns="0" rtlCol="0" anchor="t"/>
          <a:lstStyle/>
          <a:p>
            <a:pPr indent="0" marL="0">
              <a:buNone/>
            </a:pPr>
            <a:r>
              <a:rPr lang="en-US" sz="1100" dirty="0">
                <a:solidFill>
                  <a:schemeClr val="bg2"/>
                </a:solidFill>
              </a:rPr>
              <a:t>Signs every user action</a:t>
            </a:r>
            <a:endParaRPr lang="en-US" sz="1100" dirty="0"/>
          </a:p>
        </p:txBody>
      </p:sp>
      <p:sp>
        <p:nvSpPr>
          <p:cNvPr id="7" name="status-card"/>
          <p:cNvSpPr/>
          <p:nvPr/>
        </p:nvSpPr>
        <p:spPr>
          <a:xfrm>
            <a:off x="548640" y="4498848"/>
            <a:ext cx="1965960" cy="1143000"/>
          </a:xfrm>
          <a:prstGeom prst="roundRect">
            <a:avLst>
              <a:gd name="adj" fmla="val 11200"/>
            </a:avLst>
          </a:prstGeom>
          <a:solidFill>
            <a:schemeClr val="tx2"/>
          </a:solidFill>
          <a:ln w="9525">
            <a:solidFill>
              <a:schemeClr val="accent3"/>
            </a:solidFill>
            <a:prstDash val="solid"/>
          </a:ln>
        </p:spPr>
      </p:sp>
      <p:sp>
        <p:nvSpPr>
          <p:cNvPr id="8" name="Text 5"/>
          <p:cNvSpPr txBox="1"/>
          <p:nvPr/>
        </p:nvSpPr>
        <p:spPr>
          <a:xfrm>
            <a:off x="777240" y="4636008"/>
            <a:ext cx="1600200" cy="868680"/>
          </a:xfrm>
          <a:prstGeom prst="rect">
            <a:avLst/>
          </a:prstGeom>
          <a:noFill/>
          <a:ln/>
        </p:spPr>
        <p:txBody>
          <a:bodyPr wrap="square" lIns="0" tIns="0" rIns="0" bIns="0" rtlCol="0" anchor="ctr"/>
          <a:lstStyle/>
          <a:p>
            <a:pPr indent="0" marL="0">
              <a:spcAft>
                <a:spcPts val="200"/>
              </a:spcAft>
              <a:buNone/>
            </a:pPr>
            <a:r>
              <a:rPr lang="en-US" sz="1300" b="1" dirty="0">
                <a:solidFill>
                  <a:schemeClr val="accent3"/>
                </a:solidFill>
              </a:rPr>
              <a:t>Devnet prototype</a:t>
            </a:r>
            <a:endParaRPr lang="en-US" sz="1300" dirty="0"/>
          </a:p>
          <a:p>
            <a:pPr indent="0" marL="0">
              <a:spcAft>
                <a:spcPts val="200"/>
              </a:spcAft>
              <a:buNone/>
            </a:pPr>
            <a:r>
              <a:rPr lang="en-US" sz="1300" b="1" dirty="0">
                <a:solidFill>
                  <a:schemeClr val="accent3"/>
                </a:solidFill>
              </a:rPr>
              <a:t>Unaudited</a:t>
            </a:r>
            <a:endParaRPr lang="en-US" sz="1300" dirty="0"/>
          </a:p>
          <a:p>
            <a:pPr indent="0" marL="0">
              <a:spcAft>
                <a:spcPts val="200"/>
              </a:spcAft>
              <a:buNone/>
            </a:pPr>
            <a:r>
              <a:rPr lang="en-US" sz="1300" b="1" dirty="0">
                <a:solidFill>
                  <a:schemeClr val="accent3"/>
                </a:solidFill>
              </a:rPr>
              <a:t>Practice pools</a:t>
            </a:r>
            <a:endParaRPr lang="en-US" sz="1300" dirty="0"/>
          </a:p>
        </p:txBody>
      </p:sp>
      <p:sp>
        <p:nvSpPr>
          <p:cNvPr id="9" name="program"/>
          <p:cNvSpPr/>
          <p:nvPr/>
        </p:nvSpPr>
        <p:spPr>
          <a:xfrm>
            <a:off x="3520440" y="1664208"/>
            <a:ext cx="4160520" cy="4434840"/>
          </a:xfrm>
          <a:prstGeom prst="roundRect">
            <a:avLst>
              <a:gd name="adj" fmla="val 3077"/>
            </a:avLst>
          </a:prstGeom>
          <a:solidFill>
            <a:schemeClr val="tx2"/>
          </a:solidFill>
          <a:ln w="9525">
            <a:solidFill>
              <a:schemeClr val="accent1"/>
            </a:solidFill>
            <a:prstDash val="solid"/>
          </a:ln>
        </p:spPr>
      </p:sp>
      <p:pic>
        <p:nvPicPr>
          <p:cNvPr id="10" name="Image 1" descr="Program">    </p:cNvPr>
          <p:cNvPicPr>
            <a:picLocks noChangeAspect="1"/>
          </p:cNvPicPr>
          <p:nvPr/>
        </p:nvPicPr>
        <p:blipFill>
          <a:blip r:embed="rId2"/>
          <a:stretch>
            <a:fillRect/>
          </a:stretch>
        </p:blipFill>
        <p:spPr>
          <a:xfrm>
            <a:off x="3794760" y="1892808"/>
            <a:ext cx="365760" cy="365760"/>
          </a:xfrm>
          <a:prstGeom prst="rect">
            <a:avLst/>
          </a:prstGeom>
        </p:spPr>
      </p:pic>
      <p:sp>
        <p:nvSpPr>
          <p:cNvPr id="11" name="Text 7"/>
          <p:cNvSpPr txBox="1"/>
          <p:nvPr/>
        </p:nvSpPr>
        <p:spPr>
          <a:xfrm>
            <a:off x="4270248" y="1865376"/>
            <a:ext cx="3246120" cy="274320"/>
          </a:xfrm>
          <a:prstGeom prst="rect">
            <a:avLst/>
          </a:prstGeom>
          <a:noFill/>
          <a:ln/>
        </p:spPr>
        <p:txBody>
          <a:bodyPr wrap="square" lIns="0" tIns="0" rIns="0" bIns="0" rtlCol="0" anchor="t"/>
          <a:lstStyle/>
          <a:p>
            <a:pPr indent="0" marL="0">
              <a:buNone/>
            </a:pPr>
            <a:r>
              <a:rPr lang="en-US" sz="1500" b="1" dirty="0">
                <a:solidFill>
                  <a:schemeClr val="bg1"/>
                </a:solidFill>
              </a:rPr>
              <a:t>StableSave Vault program</a:t>
            </a:r>
            <a:endParaRPr lang="en-US" sz="1500" dirty="0"/>
          </a:p>
        </p:txBody>
      </p:sp>
      <p:sp>
        <p:nvSpPr>
          <p:cNvPr id="12" name="Text 8"/>
          <p:cNvSpPr txBox="1"/>
          <p:nvPr/>
        </p:nvSpPr>
        <p:spPr>
          <a:xfrm>
            <a:off x="4270248" y="2139696"/>
            <a:ext cx="3246120" cy="256032"/>
          </a:xfrm>
          <a:prstGeom prst="rect">
            <a:avLst/>
          </a:prstGeom>
          <a:noFill/>
          <a:ln/>
        </p:spPr>
        <p:txBody>
          <a:bodyPr wrap="square" lIns="0" tIns="0" rIns="0" bIns="0" rtlCol="0" anchor="t"/>
          <a:lstStyle/>
          <a:p>
            <a:pPr indent="0" marL="0">
              <a:buNone/>
            </a:pPr>
            <a:r>
              <a:rPr lang="en-US" sz="1100" dirty="0">
                <a:solidFill>
                  <a:schemeClr val="bg2"/>
                </a:solidFill>
              </a:rPr>
              <a:t>Anchor · Solana devnet · 16 instructions</a:t>
            </a:r>
            <a:endParaRPr lang="en-US" sz="1100" dirty="0"/>
          </a:p>
        </p:txBody>
      </p:sp>
      <p:sp>
        <p:nvSpPr>
          <p:cNvPr id="13" name="Text 9"/>
          <p:cNvSpPr txBox="1"/>
          <p:nvPr/>
        </p:nvSpPr>
        <p:spPr>
          <a:xfrm>
            <a:off x="3794760" y="2578608"/>
            <a:ext cx="3611880" cy="256032"/>
          </a:xfrm>
          <a:prstGeom prst="rect">
            <a:avLst/>
          </a:prstGeom>
          <a:noFill/>
          <a:ln/>
        </p:spPr>
        <p:txBody>
          <a:bodyPr wrap="square" lIns="0" tIns="0" rIns="0" bIns="0" rtlCol="0" anchor="t"/>
          <a:lstStyle/>
          <a:p>
            <a:pPr indent="0" marL="0">
              <a:buNone/>
            </a:pPr>
            <a:r>
              <a:rPr lang="en-US" sz="1000" b="1" spc="200" kern="0" dirty="0">
                <a:solidFill>
                  <a:schemeClr val="accent2"/>
                </a:solidFill>
              </a:rPr>
              <a:t>PROGRAM-ENFORCED CHECKS</a:t>
            </a:r>
            <a:endParaRPr lang="en-US" sz="1000" dirty="0"/>
          </a:p>
        </p:txBody>
      </p:sp>
      <p:pic>
        <p:nvPicPr>
          <p:cNvPr id="14" name="Image 2" descr="Check">    </p:cNvPr>
          <p:cNvPicPr>
            <a:picLocks noChangeAspect="1"/>
          </p:cNvPicPr>
          <p:nvPr/>
        </p:nvPicPr>
        <p:blipFill>
          <a:blip r:embed="rId3"/>
          <a:stretch>
            <a:fillRect/>
          </a:stretch>
        </p:blipFill>
        <p:spPr>
          <a:xfrm>
            <a:off x="3794760" y="2944368"/>
            <a:ext cx="237744" cy="237744"/>
          </a:xfrm>
          <a:prstGeom prst="rect">
            <a:avLst/>
          </a:prstGeom>
        </p:spPr>
      </p:pic>
      <p:sp>
        <p:nvSpPr>
          <p:cNvPr id="15" name="Text 10"/>
          <p:cNvSpPr txBox="1"/>
          <p:nvPr/>
        </p:nvSpPr>
        <p:spPr>
          <a:xfrm>
            <a:off x="4160520" y="2907792"/>
            <a:ext cx="3291840" cy="384048"/>
          </a:xfrm>
          <a:prstGeom prst="rect">
            <a:avLst/>
          </a:prstGeom>
          <a:noFill/>
          <a:ln/>
        </p:spPr>
        <p:txBody>
          <a:bodyPr wrap="square" lIns="0" tIns="0" rIns="0" bIns="0" rtlCol="0" anchor="t"/>
          <a:lstStyle/>
          <a:p>
            <a:pPr indent="0" marL="0">
              <a:buNone/>
            </a:pPr>
            <a:r>
              <a:rPr lang="en-US" sz="1250" dirty="0">
                <a:solidFill>
                  <a:schemeClr val="bg1"/>
                </a:solidFill>
              </a:rPr>
              <a:t>Not paused</a:t>
            </a:r>
            <a:endParaRPr lang="en-US" sz="1250" dirty="0"/>
          </a:p>
        </p:txBody>
      </p:sp>
      <p:pic>
        <p:nvPicPr>
          <p:cNvPr id="16" name="Image 3" descr="Check">    </p:cNvPr>
          <p:cNvPicPr>
            <a:picLocks noChangeAspect="1"/>
          </p:cNvPicPr>
          <p:nvPr/>
        </p:nvPicPr>
        <p:blipFill>
          <a:blip r:embed="rId4"/>
          <a:stretch>
            <a:fillRect/>
          </a:stretch>
        </p:blipFill>
        <p:spPr>
          <a:xfrm>
            <a:off x="3794760" y="3474720"/>
            <a:ext cx="237744" cy="237744"/>
          </a:xfrm>
          <a:prstGeom prst="rect">
            <a:avLst/>
          </a:prstGeom>
        </p:spPr>
      </p:pic>
      <p:sp>
        <p:nvSpPr>
          <p:cNvPr id="17" name="Text 11"/>
          <p:cNvSpPr txBox="1"/>
          <p:nvPr/>
        </p:nvSpPr>
        <p:spPr>
          <a:xfrm>
            <a:off x="4160520" y="3438144"/>
            <a:ext cx="3291840" cy="384048"/>
          </a:xfrm>
          <a:prstGeom prst="rect">
            <a:avLst/>
          </a:prstGeom>
          <a:noFill/>
          <a:ln/>
        </p:spPr>
        <p:txBody>
          <a:bodyPr wrap="square" lIns="0" tIns="0" rIns="0" bIns="0" rtlCol="0" anchor="t"/>
          <a:lstStyle/>
          <a:p>
            <a:pPr indent="0" marL="0">
              <a:buNone/>
            </a:pPr>
            <a:r>
              <a:rPr lang="en-US" sz="1250" dirty="0">
                <a:solidFill>
                  <a:schemeClr val="bg1"/>
                </a:solidFill>
              </a:rPr>
              <a:t>Deposit ≥ minimum, under the vault cap</a:t>
            </a:r>
            <a:endParaRPr lang="en-US" sz="1250" dirty="0"/>
          </a:p>
        </p:txBody>
      </p:sp>
      <p:pic>
        <p:nvPicPr>
          <p:cNvPr id="18" name="Image 4" descr="Check">    </p:cNvPr>
          <p:cNvPicPr>
            <a:picLocks noChangeAspect="1"/>
          </p:cNvPicPr>
          <p:nvPr/>
        </p:nvPicPr>
        <p:blipFill>
          <a:blip r:embed="rId5"/>
          <a:stretch>
            <a:fillRect/>
          </a:stretch>
        </p:blipFill>
        <p:spPr>
          <a:xfrm>
            <a:off x="3794760" y="4005072"/>
            <a:ext cx="237744" cy="237744"/>
          </a:xfrm>
          <a:prstGeom prst="rect">
            <a:avLst/>
          </a:prstGeom>
        </p:spPr>
      </p:pic>
      <p:sp>
        <p:nvSpPr>
          <p:cNvPr id="19" name="Text 12"/>
          <p:cNvSpPr txBox="1"/>
          <p:nvPr/>
        </p:nvSpPr>
        <p:spPr>
          <a:xfrm>
            <a:off x="4160520" y="3968496"/>
            <a:ext cx="3291840" cy="384048"/>
          </a:xfrm>
          <a:prstGeom prst="rect">
            <a:avLst/>
          </a:prstGeom>
          <a:noFill/>
          <a:ln/>
        </p:spPr>
        <p:txBody>
          <a:bodyPr wrap="square" lIns="0" tIns="0" rIns="0" bIns="0" rtlCol="0" anchor="t"/>
          <a:lstStyle/>
          <a:p>
            <a:pPr indent="0" marL="0">
              <a:buNone/>
            </a:pPr>
            <a:r>
              <a:rPr lang="en-US" sz="1250" dirty="0">
                <a:solidFill>
                  <a:schemeClr val="bg1"/>
                </a:solidFill>
              </a:rPr>
              <a:t>Instant: 2,000 per wallet, 50,000 per vault / 24 h</a:t>
            </a:r>
            <a:endParaRPr lang="en-US" sz="1250" dirty="0"/>
          </a:p>
        </p:txBody>
      </p:sp>
      <p:pic>
        <p:nvPicPr>
          <p:cNvPr id="20" name="Image 5" descr="Check">    </p:cNvPr>
          <p:cNvPicPr>
            <a:picLocks noChangeAspect="1"/>
          </p:cNvPicPr>
          <p:nvPr/>
        </p:nvPicPr>
        <p:blipFill>
          <a:blip r:embed="rId6"/>
          <a:stretch>
            <a:fillRect/>
          </a:stretch>
        </p:blipFill>
        <p:spPr>
          <a:xfrm>
            <a:off x="3794760" y="4535424"/>
            <a:ext cx="237744" cy="237744"/>
          </a:xfrm>
          <a:prstGeom prst="rect">
            <a:avLst/>
          </a:prstGeom>
        </p:spPr>
      </p:pic>
      <p:sp>
        <p:nvSpPr>
          <p:cNvPr id="21" name="Text 13"/>
          <p:cNvSpPr txBox="1"/>
          <p:nvPr/>
        </p:nvSpPr>
        <p:spPr>
          <a:xfrm>
            <a:off x="4160520" y="4498848"/>
            <a:ext cx="3291840" cy="384048"/>
          </a:xfrm>
          <a:prstGeom prst="rect">
            <a:avLst/>
          </a:prstGeom>
          <a:noFill/>
          <a:ln/>
        </p:spPr>
        <p:txBody>
          <a:bodyPr wrap="square" lIns="0" tIns="0" rIns="0" bIns="0" rtlCol="0" anchor="t"/>
          <a:lstStyle/>
          <a:p>
            <a:pPr indent="0" marL="0">
              <a:buNone/>
            </a:pPr>
            <a:r>
              <a:rPr lang="en-US" sz="1250" dirty="0">
                <a:solidFill>
                  <a:schemeClr val="bg1"/>
                </a:solidFill>
              </a:rPr>
              <a:t>Bigger: request, wait 30 min, then execute</a:t>
            </a:r>
            <a:endParaRPr lang="en-US" sz="1250" dirty="0"/>
          </a:p>
        </p:txBody>
      </p:sp>
      <p:pic>
        <p:nvPicPr>
          <p:cNvPr id="22" name="Image 6" descr="Check">    </p:cNvPr>
          <p:cNvPicPr>
            <a:picLocks noChangeAspect="1"/>
          </p:cNvPicPr>
          <p:nvPr/>
        </p:nvPicPr>
        <p:blipFill>
          <a:blip r:embed="rId7"/>
          <a:stretch>
            <a:fillRect/>
          </a:stretch>
        </p:blipFill>
        <p:spPr>
          <a:xfrm>
            <a:off x="3794760" y="5065776"/>
            <a:ext cx="237744" cy="237744"/>
          </a:xfrm>
          <a:prstGeom prst="rect">
            <a:avLst/>
          </a:prstGeom>
        </p:spPr>
      </p:pic>
      <p:sp>
        <p:nvSpPr>
          <p:cNvPr id="23" name="Text 14"/>
          <p:cNvSpPr txBox="1"/>
          <p:nvPr/>
        </p:nvSpPr>
        <p:spPr>
          <a:xfrm>
            <a:off x="4160520" y="5029200"/>
            <a:ext cx="3291840" cy="384048"/>
          </a:xfrm>
          <a:prstGeom prst="rect">
            <a:avLst/>
          </a:prstGeom>
          <a:noFill/>
          <a:ln/>
        </p:spPr>
        <p:txBody>
          <a:bodyPr wrap="square" lIns="0" tIns="0" rIns="0" bIns="0" rtlCol="0" anchor="t"/>
          <a:lstStyle/>
          <a:p>
            <a:pPr indent="0" marL="0">
              <a:buNone/>
            </a:pPr>
            <a:r>
              <a:rPr lang="en-US" sz="1250" dirty="0">
                <a:solidFill>
                  <a:schemeClr val="bg1"/>
                </a:solidFill>
              </a:rPr>
              <a:t>Shares priced with a virtual offset</a:t>
            </a:r>
            <a:endParaRPr lang="en-US" sz="1250" dirty="0"/>
          </a:p>
        </p:txBody>
      </p:sp>
      <p:sp>
        <p:nvSpPr>
          <p:cNvPr id="24" name="Text 15"/>
          <p:cNvSpPr txBox="1"/>
          <p:nvPr/>
        </p:nvSpPr>
        <p:spPr>
          <a:xfrm>
            <a:off x="3794760" y="5532120"/>
            <a:ext cx="3611880" cy="411480"/>
          </a:xfrm>
          <a:prstGeom prst="rect">
            <a:avLst/>
          </a:prstGeom>
          <a:noFill/>
          <a:ln/>
        </p:spPr>
        <p:txBody>
          <a:bodyPr wrap="square" lIns="0" tIns="0" rIns="0" bIns="0" rtlCol="0" anchor="t"/>
          <a:lstStyle/>
          <a:p>
            <a:pPr indent="0" marL="0">
              <a:buNone/>
            </a:pPr>
            <a:r>
              <a:rPr lang="en-US" sz="1050" dirty="0">
                <a:solidFill>
                  <a:schemeClr val="accent3"/>
                </a:solidFill>
              </a:rPr>
              <a:t>Admin: authority (settings, unpause, two-step handover) · guardian (pause only)</a:t>
            </a:r>
            <a:endParaRPr lang="en-US" sz="1050" dirty="0"/>
          </a:p>
        </p:txBody>
      </p:sp>
      <p:sp>
        <p:nvSpPr>
          <p:cNvPr id="25" name="arrow-in"/>
          <p:cNvSpPr/>
          <p:nvPr/>
        </p:nvSpPr>
        <p:spPr>
          <a:xfrm>
            <a:off x="2560320" y="3127248"/>
            <a:ext cx="914400" cy="0"/>
          </a:xfrm>
          <a:prstGeom prst="line">
            <a:avLst/>
          </a:prstGeom>
          <a:noFill/>
          <a:ln w="22225">
            <a:solidFill>
              <a:srgbClr val="14F195"/>
            </a:solidFill>
            <a:prstDash val="solid"/>
            <a:tailEnd type="triangle"/>
          </a:ln>
        </p:spPr>
      </p:sp>
      <p:sp>
        <p:nvSpPr>
          <p:cNvPr id="26" name="arrow-out"/>
          <p:cNvSpPr/>
          <p:nvPr/>
        </p:nvSpPr>
        <p:spPr>
          <a:xfrm>
            <a:off x="2560320" y="3584448"/>
            <a:ext cx="914400" cy="0"/>
          </a:xfrm>
          <a:prstGeom prst="line">
            <a:avLst/>
          </a:prstGeom>
          <a:noFill/>
          <a:ln w="15875">
            <a:solidFill>
              <a:srgbClr val="9AA7BD"/>
            </a:solidFill>
            <a:prstDash val="solid"/>
            <a:headEnd type="triangle"/>
          </a:ln>
        </p:spPr>
      </p:sp>
      <p:sp>
        <p:nvSpPr>
          <p:cNvPr id="27" name="Text 18"/>
          <p:cNvSpPr txBox="1"/>
          <p:nvPr/>
        </p:nvSpPr>
        <p:spPr>
          <a:xfrm>
            <a:off x="2606040" y="2825496"/>
            <a:ext cx="822960" cy="256032"/>
          </a:xfrm>
          <a:prstGeom prst="rect">
            <a:avLst/>
          </a:prstGeom>
          <a:noFill/>
          <a:ln/>
        </p:spPr>
        <p:txBody>
          <a:bodyPr wrap="square" lIns="0" tIns="0" rIns="0" bIns="0" rtlCol="0" anchor="t"/>
          <a:lstStyle/>
          <a:p>
            <a:pPr algn="ctr" indent="0" marL="0">
              <a:buNone/>
            </a:pPr>
            <a:r>
              <a:rPr lang="en-US" sz="1050" dirty="0">
                <a:solidFill>
                  <a:schemeClr val="accent2"/>
                </a:solidFill>
              </a:rPr>
              <a:t>deposit</a:t>
            </a:r>
            <a:endParaRPr lang="en-US" sz="1050" dirty="0"/>
          </a:p>
        </p:txBody>
      </p:sp>
      <p:sp>
        <p:nvSpPr>
          <p:cNvPr id="28" name="Text 19"/>
          <p:cNvSpPr txBox="1"/>
          <p:nvPr/>
        </p:nvSpPr>
        <p:spPr>
          <a:xfrm>
            <a:off x="2606040" y="3648456"/>
            <a:ext cx="822960" cy="256032"/>
          </a:xfrm>
          <a:prstGeom prst="rect">
            <a:avLst/>
          </a:prstGeom>
          <a:noFill/>
          <a:ln/>
        </p:spPr>
        <p:txBody>
          <a:bodyPr wrap="square" lIns="0" tIns="0" rIns="0" bIns="0" rtlCol="0" anchor="t"/>
          <a:lstStyle/>
          <a:p>
            <a:pPr algn="ctr" indent="0" marL="0">
              <a:buNone/>
            </a:pPr>
            <a:r>
              <a:rPr lang="en-US" sz="1050" dirty="0">
                <a:solidFill>
                  <a:schemeClr val="bg2"/>
                </a:solidFill>
              </a:rPr>
              <a:t>withdraw</a:t>
            </a:r>
            <a:endParaRPr lang="en-US" sz="1050" dirty="0"/>
          </a:p>
        </p:txBody>
      </p:sp>
      <p:sp>
        <p:nvSpPr>
          <p:cNvPr id="29" name="acct-0"/>
          <p:cNvSpPr/>
          <p:nvPr/>
        </p:nvSpPr>
        <p:spPr>
          <a:xfrm>
            <a:off x="8549640" y="1664208"/>
            <a:ext cx="3093415" cy="1344168"/>
          </a:xfrm>
          <a:prstGeom prst="roundRect">
            <a:avLst>
              <a:gd name="adj" fmla="val 9524"/>
            </a:avLst>
          </a:prstGeom>
          <a:solidFill>
            <a:schemeClr val="tx2"/>
          </a:solidFill>
          <a:ln w="9525">
            <a:solidFill>
              <a:schemeClr val="accent6"/>
            </a:solidFill>
            <a:prstDash val="solid"/>
          </a:ln>
        </p:spPr>
      </p:sp>
      <p:sp>
        <p:nvSpPr>
          <p:cNvPr id="30" name="Text 21"/>
          <p:cNvSpPr txBox="1"/>
          <p:nvPr/>
        </p:nvSpPr>
        <p:spPr>
          <a:xfrm>
            <a:off x="8778240" y="1801368"/>
            <a:ext cx="2636215" cy="274320"/>
          </a:xfrm>
          <a:prstGeom prst="rect">
            <a:avLst/>
          </a:prstGeom>
          <a:noFill/>
          <a:ln/>
        </p:spPr>
        <p:txBody>
          <a:bodyPr wrap="square" lIns="0" tIns="0" rIns="0" bIns="0" rtlCol="0" anchor="t"/>
          <a:lstStyle/>
          <a:p>
            <a:pPr indent="0" marL="0">
              <a:buNone/>
            </a:pPr>
            <a:r>
              <a:rPr lang="en-US" sz="1400" b="1" dirty="0">
                <a:solidFill>
                  <a:schemeClr val="bg1"/>
                </a:solidFill>
              </a:rPr>
              <a:t>Vault PDA</a:t>
            </a:r>
            <a:endParaRPr lang="en-US" sz="1400" dirty="0"/>
          </a:p>
        </p:txBody>
      </p:sp>
      <p:sp>
        <p:nvSpPr>
          <p:cNvPr id="31" name="Text 22"/>
          <p:cNvSpPr txBox="1"/>
          <p:nvPr/>
        </p:nvSpPr>
        <p:spPr>
          <a:xfrm>
            <a:off x="8778240" y="2093976"/>
            <a:ext cx="2636215" cy="256032"/>
          </a:xfrm>
          <a:prstGeom prst="rect">
            <a:avLst/>
          </a:prstGeom>
          <a:noFill/>
          <a:ln/>
        </p:spPr>
        <p:txBody>
          <a:bodyPr wrap="square" lIns="0" tIns="0" rIns="0" bIns="0" rtlCol="0" anchor="t"/>
          <a:lstStyle/>
          <a:p>
            <a:pPr indent="0" marL="0">
              <a:buNone/>
            </a:pPr>
            <a:r>
              <a:rPr lang="en-US" sz="1050" dirty="0">
                <a:solidFill>
                  <a:schemeClr val="accent1"/>
                </a:solidFill>
                <a:latin typeface="Courier New" pitchFamily="34" charset="0"/>
                <a:ea typeface="Courier New" pitchFamily="34" charset="-122"/>
                <a:cs typeface="Courier New" pitchFamily="34" charset="-120"/>
              </a:rPr>
              <a:t>["vault", mint, risk_profile]</a:t>
            </a:r>
            <a:endParaRPr lang="en-US" sz="1050" dirty="0"/>
          </a:p>
        </p:txBody>
      </p:sp>
      <p:sp>
        <p:nvSpPr>
          <p:cNvPr id="32" name="Text 23"/>
          <p:cNvSpPr txBox="1"/>
          <p:nvPr/>
        </p:nvSpPr>
        <p:spPr>
          <a:xfrm>
            <a:off x="8778240" y="2377440"/>
            <a:ext cx="2636215" cy="457200"/>
          </a:xfrm>
          <a:prstGeom prst="rect">
            <a:avLst/>
          </a:prstGeom>
          <a:noFill/>
          <a:ln/>
        </p:spPr>
        <p:txBody>
          <a:bodyPr wrap="square" lIns="0" tIns="0" rIns="0" bIns="0" rtlCol="0" anchor="t"/>
          <a:lstStyle/>
          <a:p>
            <a:pPr indent="0" marL="0">
              <a:buNone/>
            </a:pPr>
            <a:r>
              <a:rPr lang="en-US" sz="1150" dirty="0">
                <a:solidFill>
                  <a:schemeClr val="bg2"/>
                </a:solidFill>
              </a:rPr>
              <a:t>Roles, limits, strategy, share totals</a:t>
            </a:r>
            <a:endParaRPr lang="en-US" sz="1150" dirty="0"/>
          </a:p>
        </p:txBody>
      </p:sp>
      <p:sp>
        <p:nvSpPr>
          <p:cNvPr id="33" name="link-0"/>
          <p:cNvSpPr/>
          <p:nvPr/>
        </p:nvSpPr>
        <p:spPr>
          <a:xfrm>
            <a:off x="7726680" y="2336292"/>
            <a:ext cx="777240" cy="0"/>
          </a:xfrm>
          <a:prstGeom prst="line">
            <a:avLst/>
          </a:prstGeom>
          <a:noFill/>
          <a:ln w="15875">
            <a:solidFill>
              <a:srgbClr val="26324F"/>
            </a:solidFill>
            <a:prstDash val="solid"/>
            <a:tailEnd type="oval"/>
          </a:ln>
        </p:spPr>
      </p:sp>
      <p:sp>
        <p:nvSpPr>
          <p:cNvPr id="34" name="acct-1"/>
          <p:cNvSpPr/>
          <p:nvPr/>
        </p:nvSpPr>
        <p:spPr>
          <a:xfrm>
            <a:off x="8549640" y="3191256"/>
            <a:ext cx="3093415" cy="1344168"/>
          </a:xfrm>
          <a:prstGeom prst="roundRect">
            <a:avLst>
              <a:gd name="adj" fmla="val 9524"/>
            </a:avLst>
          </a:prstGeom>
          <a:solidFill>
            <a:schemeClr val="tx2"/>
          </a:solidFill>
          <a:ln w="9525">
            <a:solidFill>
              <a:schemeClr val="accent6"/>
            </a:solidFill>
            <a:prstDash val="solid"/>
          </a:ln>
        </p:spPr>
      </p:sp>
      <p:sp>
        <p:nvSpPr>
          <p:cNvPr id="35" name="Text 26"/>
          <p:cNvSpPr txBox="1"/>
          <p:nvPr/>
        </p:nvSpPr>
        <p:spPr>
          <a:xfrm>
            <a:off x="8778240" y="3328416"/>
            <a:ext cx="2636215" cy="274320"/>
          </a:xfrm>
          <a:prstGeom prst="rect">
            <a:avLst/>
          </a:prstGeom>
          <a:noFill/>
          <a:ln/>
        </p:spPr>
        <p:txBody>
          <a:bodyPr wrap="square" lIns="0" tIns="0" rIns="0" bIns="0" rtlCol="0" anchor="t"/>
          <a:lstStyle/>
          <a:p>
            <a:pPr indent="0" marL="0">
              <a:buNone/>
            </a:pPr>
            <a:r>
              <a:rPr lang="en-US" sz="1400" b="1" dirty="0">
                <a:solidFill>
                  <a:schemeClr val="accent2"/>
                </a:solidFill>
              </a:rPr>
              <a:t>Reserve + practice pools</a:t>
            </a:r>
            <a:endParaRPr lang="en-US" sz="1400" dirty="0"/>
          </a:p>
        </p:txBody>
      </p:sp>
      <p:sp>
        <p:nvSpPr>
          <p:cNvPr id="36" name="Text 27"/>
          <p:cNvSpPr txBox="1"/>
          <p:nvPr/>
        </p:nvSpPr>
        <p:spPr>
          <a:xfrm>
            <a:off x="8778240" y="3621024"/>
            <a:ext cx="2636215" cy="256032"/>
          </a:xfrm>
          <a:prstGeom prst="rect">
            <a:avLst/>
          </a:prstGeom>
          <a:noFill/>
          <a:ln/>
        </p:spPr>
        <p:txBody>
          <a:bodyPr wrap="square" lIns="0" tIns="0" rIns="0" bIns="0" rtlCol="0" anchor="t"/>
          <a:lstStyle/>
          <a:p>
            <a:pPr indent="0" marL="0">
              <a:buNone/>
            </a:pPr>
            <a:r>
              <a:rPr lang="en-US" sz="1050" dirty="0">
                <a:solidFill>
                  <a:schemeClr val="accent1"/>
                </a:solidFill>
                <a:latin typeface="Courier New" pitchFamily="34" charset="0"/>
                <a:ea typeface="Courier New" pitchFamily="34" charset="-122"/>
                <a:cs typeface="Courier New" pitchFamily="34" charset="-120"/>
              </a:rPr>
              <a:t>["reserve"] · ["pool", protocol]</a:t>
            </a:r>
            <a:endParaRPr lang="en-US" sz="1050" dirty="0"/>
          </a:p>
        </p:txBody>
      </p:sp>
      <p:sp>
        <p:nvSpPr>
          <p:cNvPr id="37" name="Text 28"/>
          <p:cNvSpPr txBox="1"/>
          <p:nvPr/>
        </p:nvSpPr>
        <p:spPr>
          <a:xfrm>
            <a:off x="8778240" y="3904488"/>
            <a:ext cx="2636215" cy="457200"/>
          </a:xfrm>
          <a:prstGeom prst="rect">
            <a:avLst/>
          </a:prstGeom>
          <a:noFill/>
          <a:ln/>
        </p:spPr>
        <p:txBody>
          <a:bodyPr wrap="square" lIns="0" tIns="0" rIns="0" bIns="0" rtlCol="0" anchor="t"/>
          <a:lstStyle/>
          <a:p>
            <a:pPr indent="0" marL="0">
              <a:buNone/>
            </a:pPr>
            <a:r>
              <a:rPr lang="en-US" sz="1150" dirty="0">
                <a:solidFill>
                  <a:schemeClr val="bg2"/>
                </a:solidFill>
              </a:rPr>
              <a:t>20% kept liquid; the rest split by strategy weight. Only the vault signs transfers out</a:t>
            </a:r>
            <a:endParaRPr lang="en-US" sz="1150" dirty="0"/>
          </a:p>
        </p:txBody>
      </p:sp>
      <p:sp>
        <p:nvSpPr>
          <p:cNvPr id="38" name="link-1"/>
          <p:cNvSpPr/>
          <p:nvPr/>
        </p:nvSpPr>
        <p:spPr>
          <a:xfrm>
            <a:off x="7726680" y="3863340"/>
            <a:ext cx="777240" cy="0"/>
          </a:xfrm>
          <a:prstGeom prst="line">
            <a:avLst/>
          </a:prstGeom>
          <a:noFill/>
          <a:ln w="15875">
            <a:solidFill>
              <a:srgbClr val="26324F"/>
            </a:solidFill>
            <a:prstDash val="solid"/>
            <a:tailEnd type="oval"/>
          </a:ln>
        </p:spPr>
      </p:sp>
      <p:sp>
        <p:nvSpPr>
          <p:cNvPr id="39" name="acct-2"/>
          <p:cNvSpPr/>
          <p:nvPr/>
        </p:nvSpPr>
        <p:spPr>
          <a:xfrm>
            <a:off x="8549640" y="4718304"/>
            <a:ext cx="3093415" cy="1344168"/>
          </a:xfrm>
          <a:prstGeom prst="roundRect">
            <a:avLst>
              <a:gd name="adj" fmla="val 9524"/>
            </a:avLst>
          </a:prstGeom>
          <a:solidFill>
            <a:schemeClr val="tx2"/>
          </a:solidFill>
          <a:ln w="9525">
            <a:solidFill>
              <a:schemeClr val="accent6"/>
            </a:solidFill>
            <a:prstDash val="solid"/>
          </a:ln>
        </p:spPr>
      </p:sp>
      <p:sp>
        <p:nvSpPr>
          <p:cNvPr id="40" name="Text 31"/>
          <p:cNvSpPr txBox="1"/>
          <p:nvPr/>
        </p:nvSpPr>
        <p:spPr>
          <a:xfrm>
            <a:off x="8778240" y="4855464"/>
            <a:ext cx="2636215" cy="274320"/>
          </a:xfrm>
          <a:prstGeom prst="rect">
            <a:avLst/>
          </a:prstGeom>
          <a:noFill/>
          <a:ln/>
        </p:spPr>
        <p:txBody>
          <a:bodyPr wrap="square" lIns="0" tIns="0" rIns="0" bIns="0" rtlCol="0" anchor="t"/>
          <a:lstStyle/>
          <a:p>
            <a:pPr indent="0" marL="0">
              <a:buNone/>
            </a:pPr>
            <a:r>
              <a:rPr lang="en-US" sz="1400" b="1" dirty="0">
                <a:solidFill>
                  <a:schemeClr val="bg1"/>
                </a:solidFill>
              </a:rPr>
              <a:t>UserPosition PDA</a:t>
            </a:r>
            <a:endParaRPr lang="en-US" sz="1400" dirty="0"/>
          </a:p>
        </p:txBody>
      </p:sp>
      <p:sp>
        <p:nvSpPr>
          <p:cNvPr id="41" name="Text 32"/>
          <p:cNvSpPr txBox="1"/>
          <p:nvPr/>
        </p:nvSpPr>
        <p:spPr>
          <a:xfrm>
            <a:off x="8778240" y="5148072"/>
            <a:ext cx="2636215" cy="256032"/>
          </a:xfrm>
          <a:prstGeom prst="rect">
            <a:avLst/>
          </a:prstGeom>
          <a:noFill/>
          <a:ln/>
        </p:spPr>
        <p:txBody>
          <a:bodyPr wrap="square" lIns="0" tIns="0" rIns="0" bIns="0" rtlCol="0" anchor="t"/>
          <a:lstStyle/>
          <a:p>
            <a:pPr indent="0" marL="0">
              <a:buNone/>
            </a:pPr>
            <a:r>
              <a:rPr lang="en-US" sz="1050" dirty="0">
                <a:solidFill>
                  <a:schemeClr val="accent1"/>
                </a:solidFill>
                <a:latin typeface="Courier New" pitchFamily="34" charset="0"/>
                <a:ea typeface="Courier New" pitchFamily="34" charset="-122"/>
                <a:cs typeface="Courier New" pitchFamily="34" charset="-120"/>
              </a:rPr>
              <a:t>["position", vault, owner]</a:t>
            </a:r>
            <a:endParaRPr lang="en-US" sz="1050" dirty="0"/>
          </a:p>
        </p:txBody>
      </p:sp>
      <p:sp>
        <p:nvSpPr>
          <p:cNvPr id="42" name="Text 33"/>
          <p:cNvSpPr txBox="1"/>
          <p:nvPr/>
        </p:nvSpPr>
        <p:spPr>
          <a:xfrm>
            <a:off x="8778240" y="5431536"/>
            <a:ext cx="2636215" cy="457200"/>
          </a:xfrm>
          <a:prstGeom prst="rect">
            <a:avLst/>
          </a:prstGeom>
          <a:noFill/>
          <a:ln/>
        </p:spPr>
        <p:txBody>
          <a:bodyPr wrap="square" lIns="0" tIns="0" rIns="0" bIns="0" rtlCol="0" anchor="t"/>
          <a:lstStyle/>
          <a:p>
            <a:pPr indent="0" marL="0">
              <a:buNone/>
            </a:pPr>
            <a:r>
              <a:rPr lang="en-US" sz="1150" dirty="0">
                <a:solidFill>
                  <a:schemeClr val="bg2"/>
                </a:solidFill>
              </a:rPr>
              <a:t>One depositor's shares and pending withdrawal</a:t>
            </a:r>
            <a:endParaRPr lang="en-US" sz="1150" dirty="0"/>
          </a:p>
        </p:txBody>
      </p:sp>
      <p:sp>
        <p:nvSpPr>
          <p:cNvPr id="43" name="link-2"/>
          <p:cNvSpPr/>
          <p:nvPr/>
        </p:nvSpPr>
        <p:spPr>
          <a:xfrm>
            <a:off x="7726680" y="5390388"/>
            <a:ext cx="777240" cy="0"/>
          </a:xfrm>
          <a:prstGeom prst="line">
            <a:avLst/>
          </a:prstGeom>
          <a:noFill/>
          <a:ln w="15875">
            <a:solidFill>
              <a:srgbClr val="26324F"/>
            </a:solidFill>
            <a:prstDash val="solid"/>
            <a:tailEnd type="oval"/>
          </a:ln>
        </p:spPr>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Security is not a badge. It is a set of explicit trade-offs</a:t>
            </a:r>
            <a:endParaRPr lang="en-US" sz="3200" dirty="0"/>
          </a:p>
        </p:txBody>
      </p:sp>
      <p:sp>
        <p:nvSpPr>
          <p:cNvPr id="3" name="control-0"/>
          <p:cNvSpPr/>
          <p:nvPr/>
        </p:nvSpPr>
        <p:spPr>
          <a:xfrm>
            <a:off x="548640" y="1572768"/>
            <a:ext cx="2602154" cy="1847088"/>
          </a:xfrm>
          <a:prstGeom prst="roundRect">
            <a:avLst>
              <a:gd name="adj" fmla="val 6931"/>
            </a:avLst>
          </a:prstGeom>
          <a:solidFill>
            <a:schemeClr val="tx2"/>
          </a:solidFill>
          <a:ln w="9525">
            <a:solidFill>
              <a:schemeClr val="accent6"/>
            </a:solidFill>
            <a:prstDash val="solid"/>
          </a:ln>
        </p:spPr>
      </p:sp>
      <p:pic>
        <p:nvPicPr>
          <p:cNvPr id="4" name="Image 0" descr="On-chain checks">    </p:cNvPr>
          <p:cNvPicPr>
            <a:picLocks noChangeAspect="1"/>
          </p:cNvPicPr>
          <p:nvPr/>
        </p:nvPicPr>
        <p:blipFill>
          <a:blip r:embed="rId1"/>
          <a:stretch>
            <a:fillRect/>
          </a:stretch>
        </p:blipFill>
        <p:spPr>
          <a:xfrm>
            <a:off x="777240" y="1801368"/>
            <a:ext cx="329184" cy="329184"/>
          </a:xfrm>
          <a:prstGeom prst="rect">
            <a:avLst/>
          </a:prstGeom>
        </p:spPr>
      </p:pic>
      <p:sp>
        <p:nvSpPr>
          <p:cNvPr id="5" name="Text 2"/>
          <p:cNvSpPr txBox="1"/>
          <p:nvPr/>
        </p:nvSpPr>
        <p:spPr>
          <a:xfrm>
            <a:off x="777240" y="2231136"/>
            <a:ext cx="2190674" cy="292608"/>
          </a:xfrm>
          <a:prstGeom prst="rect">
            <a:avLst/>
          </a:prstGeom>
          <a:noFill/>
          <a:ln/>
        </p:spPr>
        <p:txBody>
          <a:bodyPr wrap="square" lIns="0" tIns="0" rIns="0" bIns="0" rtlCol="0" anchor="t"/>
          <a:lstStyle/>
          <a:p>
            <a:pPr indent="0" marL="0">
              <a:buNone/>
            </a:pPr>
            <a:r>
              <a:rPr lang="en-US" sz="1400" b="1" dirty="0">
                <a:solidFill>
                  <a:schemeClr val="bg1"/>
                </a:solidFill>
              </a:rPr>
              <a:t>On-chain checks</a:t>
            </a:r>
            <a:endParaRPr lang="en-US" sz="1400" dirty="0"/>
          </a:p>
        </p:txBody>
      </p:sp>
      <p:sp>
        <p:nvSpPr>
          <p:cNvPr id="6" name="Text 3"/>
          <p:cNvSpPr txBox="1"/>
          <p:nvPr/>
        </p:nvSpPr>
        <p:spPr>
          <a:xfrm>
            <a:off x="777240" y="2532888"/>
            <a:ext cx="2190674" cy="274320"/>
          </a:xfrm>
          <a:prstGeom prst="rect">
            <a:avLst/>
          </a:prstGeom>
          <a:noFill/>
          <a:ln/>
        </p:spPr>
        <p:txBody>
          <a:bodyPr wrap="square" lIns="0" tIns="0" rIns="0" bIns="0" rtlCol="0" anchor="t"/>
          <a:lstStyle/>
          <a:p>
            <a:pPr indent="0" marL="0">
              <a:buNone/>
            </a:pPr>
            <a:r>
              <a:rPr lang="en-US" sz="1150" dirty="0">
                <a:solidFill>
                  <a:schemeClr val="bg2"/>
                </a:solidFill>
              </a:rPr>
              <a:t>Pause, minimum and cap</a:t>
            </a:r>
            <a:endParaRPr lang="en-US" sz="1150" dirty="0"/>
          </a:p>
        </p:txBody>
      </p:sp>
      <p:sp>
        <p:nvSpPr>
          <p:cNvPr id="7" name="Text 4"/>
          <p:cNvSpPr txBox="1"/>
          <p:nvPr/>
        </p:nvSpPr>
        <p:spPr>
          <a:xfrm>
            <a:off x="777240" y="2926080"/>
            <a:ext cx="2190674" cy="274320"/>
          </a:xfrm>
          <a:prstGeom prst="rect">
            <a:avLst/>
          </a:prstGeom>
          <a:noFill/>
          <a:ln/>
        </p:spPr>
        <p:txBody>
          <a:bodyPr wrap="square" lIns="0" tIns="0" rIns="0" bIns="0" rtlCol="0" anchor="t"/>
          <a:lstStyle/>
          <a:p>
            <a:pPr indent="0" marL="0">
              <a:buNone/>
            </a:pPr>
            <a:r>
              <a:rPr lang="en-US" sz="1150" dirty="0">
                <a:solidFill>
                  <a:schemeClr val="accent2"/>
                </a:solidFill>
              </a:rPr>
              <a:t>Rejects bad deposits and exits</a:t>
            </a:r>
            <a:endParaRPr lang="en-US" sz="1150" dirty="0"/>
          </a:p>
        </p:txBody>
      </p:sp>
      <p:sp>
        <p:nvSpPr>
          <p:cNvPr id="8" name="control-1"/>
          <p:cNvSpPr/>
          <p:nvPr/>
        </p:nvSpPr>
        <p:spPr>
          <a:xfrm>
            <a:off x="3379394" y="1572768"/>
            <a:ext cx="2602154" cy="1847088"/>
          </a:xfrm>
          <a:prstGeom prst="roundRect">
            <a:avLst>
              <a:gd name="adj" fmla="val 6931"/>
            </a:avLst>
          </a:prstGeom>
          <a:solidFill>
            <a:schemeClr val="tx2"/>
          </a:solidFill>
          <a:ln w="9525">
            <a:solidFill>
              <a:schemeClr val="accent6"/>
            </a:solidFill>
            <a:prstDash val="solid"/>
          </a:ln>
        </p:spPr>
      </p:sp>
      <p:pic>
        <p:nvPicPr>
          <p:cNvPr id="9" name="Image 1" descr="2,000 per wallet / 24 h">    </p:cNvPr>
          <p:cNvPicPr>
            <a:picLocks noChangeAspect="1"/>
          </p:cNvPicPr>
          <p:nvPr/>
        </p:nvPicPr>
        <p:blipFill>
          <a:blip r:embed="rId2"/>
          <a:stretch>
            <a:fillRect/>
          </a:stretch>
        </p:blipFill>
        <p:spPr>
          <a:xfrm>
            <a:off x="3607994" y="1801368"/>
            <a:ext cx="329184" cy="329184"/>
          </a:xfrm>
          <a:prstGeom prst="rect">
            <a:avLst/>
          </a:prstGeom>
        </p:spPr>
      </p:pic>
      <p:sp>
        <p:nvSpPr>
          <p:cNvPr id="10" name="Text 6"/>
          <p:cNvSpPr txBox="1"/>
          <p:nvPr/>
        </p:nvSpPr>
        <p:spPr>
          <a:xfrm>
            <a:off x="3607994" y="2231136"/>
            <a:ext cx="2190674" cy="292608"/>
          </a:xfrm>
          <a:prstGeom prst="rect">
            <a:avLst/>
          </a:prstGeom>
          <a:noFill/>
          <a:ln/>
        </p:spPr>
        <p:txBody>
          <a:bodyPr wrap="square" lIns="0" tIns="0" rIns="0" bIns="0" rtlCol="0" anchor="t"/>
          <a:lstStyle/>
          <a:p>
            <a:pPr indent="0" marL="0">
              <a:buNone/>
            </a:pPr>
            <a:r>
              <a:rPr lang="en-US" sz="1400" b="1" dirty="0">
                <a:solidFill>
                  <a:schemeClr val="bg1"/>
                </a:solidFill>
              </a:rPr>
              <a:t>2,000 per wallet / 24 h</a:t>
            </a:r>
            <a:endParaRPr lang="en-US" sz="1400" dirty="0"/>
          </a:p>
        </p:txBody>
      </p:sp>
      <p:sp>
        <p:nvSpPr>
          <p:cNvPr id="11" name="Text 7"/>
          <p:cNvSpPr txBox="1"/>
          <p:nvPr/>
        </p:nvSpPr>
        <p:spPr>
          <a:xfrm>
            <a:off x="3607994" y="2532888"/>
            <a:ext cx="2190674" cy="274320"/>
          </a:xfrm>
          <a:prstGeom prst="rect">
            <a:avLst/>
          </a:prstGeom>
          <a:noFill/>
          <a:ln/>
        </p:spPr>
        <p:txBody>
          <a:bodyPr wrap="square" lIns="0" tIns="0" rIns="0" bIns="0" rtlCol="0" anchor="t"/>
          <a:lstStyle/>
          <a:p>
            <a:pPr indent="0" marL="0">
              <a:buNone/>
            </a:pPr>
            <a:r>
              <a:rPr lang="en-US" sz="1150" dirty="0">
                <a:solidFill>
                  <a:schemeClr val="bg2"/>
                </a:solidFill>
              </a:rPr>
              <a:t>Instant withdrawal limit</a:t>
            </a:r>
            <a:endParaRPr lang="en-US" sz="1150" dirty="0"/>
          </a:p>
        </p:txBody>
      </p:sp>
      <p:sp>
        <p:nvSpPr>
          <p:cNvPr id="12" name="Text 8"/>
          <p:cNvSpPr txBox="1"/>
          <p:nvPr/>
        </p:nvSpPr>
        <p:spPr>
          <a:xfrm>
            <a:off x="3607994" y="2926080"/>
            <a:ext cx="2190674" cy="274320"/>
          </a:xfrm>
          <a:prstGeom prst="rect">
            <a:avLst/>
          </a:prstGeom>
          <a:noFill/>
          <a:ln/>
        </p:spPr>
        <p:txBody>
          <a:bodyPr wrap="square" lIns="0" tIns="0" rIns="0" bIns="0" rtlCol="0" anchor="t"/>
          <a:lstStyle/>
          <a:p>
            <a:pPr indent="0" marL="0">
              <a:buNone/>
            </a:pPr>
            <a:r>
              <a:rPr lang="en-US" sz="1150" dirty="0">
                <a:solidFill>
                  <a:schemeClr val="accent2"/>
                </a:solidFill>
              </a:rPr>
              <a:t>Limits a stolen wallet</a:t>
            </a:r>
            <a:endParaRPr lang="en-US" sz="1150" dirty="0"/>
          </a:p>
        </p:txBody>
      </p:sp>
      <p:sp>
        <p:nvSpPr>
          <p:cNvPr id="13" name="control-2"/>
          <p:cNvSpPr/>
          <p:nvPr/>
        </p:nvSpPr>
        <p:spPr>
          <a:xfrm>
            <a:off x="6210148" y="1572768"/>
            <a:ext cx="2602154" cy="1847088"/>
          </a:xfrm>
          <a:prstGeom prst="roundRect">
            <a:avLst>
              <a:gd name="adj" fmla="val 6931"/>
            </a:avLst>
          </a:prstGeom>
          <a:solidFill>
            <a:schemeClr val="tx2"/>
          </a:solidFill>
          <a:ln w="9525">
            <a:solidFill>
              <a:schemeClr val="accent6"/>
            </a:solidFill>
            <a:prstDash val="solid"/>
          </a:ln>
        </p:spPr>
      </p:sp>
      <p:pic>
        <p:nvPicPr>
          <p:cNvPr id="14" name="Image 2" descr="50,000 per vault / 24 h">    </p:cNvPr>
          <p:cNvPicPr>
            <a:picLocks noChangeAspect="1"/>
          </p:cNvPicPr>
          <p:nvPr/>
        </p:nvPicPr>
        <p:blipFill>
          <a:blip r:embed="rId3"/>
          <a:stretch>
            <a:fillRect/>
          </a:stretch>
        </p:blipFill>
        <p:spPr>
          <a:xfrm>
            <a:off x="6438748" y="1801368"/>
            <a:ext cx="329184" cy="329184"/>
          </a:xfrm>
          <a:prstGeom prst="rect">
            <a:avLst/>
          </a:prstGeom>
        </p:spPr>
      </p:pic>
      <p:sp>
        <p:nvSpPr>
          <p:cNvPr id="15" name="Text 10"/>
          <p:cNvSpPr txBox="1"/>
          <p:nvPr/>
        </p:nvSpPr>
        <p:spPr>
          <a:xfrm>
            <a:off x="6438748" y="2231136"/>
            <a:ext cx="2190674" cy="292608"/>
          </a:xfrm>
          <a:prstGeom prst="rect">
            <a:avLst/>
          </a:prstGeom>
          <a:noFill/>
          <a:ln/>
        </p:spPr>
        <p:txBody>
          <a:bodyPr wrap="square" lIns="0" tIns="0" rIns="0" bIns="0" rtlCol="0" anchor="t"/>
          <a:lstStyle/>
          <a:p>
            <a:pPr indent="0" marL="0">
              <a:buNone/>
            </a:pPr>
            <a:r>
              <a:rPr lang="en-US" sz="1400" b="1" dirty="0">
                <a:solidFill>
                  <a:schemeClr val="bg1"/>
                </a:solidFill>
              </a:rPr>
              <a:t>50,000 per vault / 24 h</a:t>
            </a:r>
            <a:endParaRPr lang="en-US" sz="1400" dirty="0"/>
          </a:p>
        </p:txBody>
      </p:sp>
      <p:sp>
        <p:nvSpPr>
          <p:cNvPr id="16" name="Text 11"/>
          <p:cNvSpPr txBox="1"/>
          <p:nvPr/>
        </p:nvSpPr>
        <p:spPr>
          <a:xfrm>
            <a:off x="6438748" y="2532888"/>
            <a:ext cx="2190674" cy="274320"/>
          </a:xfrm>
          <a:prstGeom prst="rect">
            <a:avLst/>
          </a:prstGeom>
          <a:noFill/>
          <a:ln/>
        </p:spPr>
        <p:txBody>
          <a:bodyPr wrap="square" lIns="0" tIns="0" rIns="0" bIns="0" rtlCol="0" anchor="t"/>
          <a:lstStyle/>
          <a:p>
            <a:pPr indent="0" marL="0">
              <a:buNone/>
            </a:pPr>
            <a:r>
              <a:rPr lang="en-US" sz="1150" dirty="0">
                <a:solidFill>
                  <a:schemeClr val="bg2"/>
                </a:solidFill>
              </a:rPr>
              <a:t>Instant limit, all users</a:t>
            </a:r>
            <a:endParaRPr lang="en-US" sz="1150" dirty="0"/>
          </a:p>
        </p:txBody>
      </p:sp>
      <p:sp>
        <p:nvSpPr>
          <p:cNvPr id="17" name="Text 12"/>
          <p:cNvSpPr txBox="1"/>
          <p:nvPr/>
        </p:nvSpPr>
        <p:spPr>
          <a:xfrm>
            <a:off x="6438748" y="2926080"/>
            <a:ext cx="2190674" cy="274320"/>
          </a:xfrm>
          <a:prstGeom prst="rect">
            <a:avLst/>
          </a:prstGeom>
          <a:noFill/>
          <a:ln/>
        </p:spPr>
        <p:txBody>
          <a:bodyPr wrap="square" lIns="0" tIns="0" rIns="0" bIns="0" rtlCol="0" anchor="t"/>
          <a:lstStyle/>
          <a:p>
            <a:pPr indent="0" marL="0">
              <a:buNone/>
            </a:pPr>
            <a:r>
              <a:rPr lang="en-US" sz="1150" dirty="0">
                <a:solidFill>
                  <a:schemeClr val="accent2"/>
                </a:solidFill>
              </a:rPr>
              <a:t>Slows a bank run</a:t>
            </a:r>
            <a:endParaRPr lang="en-US" sz="1150" dirty="0"/>
          </a:p>
        </p:txBody>
      </p:sp>
      <p:sp>
        <p:nvSpPr>
          <p:cNvPr id="18" name="control-3"/>
          <p:cNvSpPr/>
          <p:nvPr/>
        </p:nvSpPr>
        <p:spPr>
          <a:xfrm>
            <a:off x="9040901" y="1572768"/>
            <a:ext cx="2602154" cy="1847088"/>
          </a:xfrm>
          <a:prstGeom prst="roundRect">
            <a:avLst>
              <a:gd name="adj" fmla="val 6931"/>
            </a:avLst>
          </a:prstGeom>
          <a:solidFill>
            <a:schemeClr val="tx2"/>
          </a:solidFill>
          <a:ln w="9525">
            <a:solidFill>
              <a:schemeClr val="accent6"/>
            </a:solidFill>
            <a:prstDash val="solid"/>
          </a:ln>
        </p:spPr>
      </p:sp>
      <p:pic>
        <p:nvPicPr>
          <p:cNvPr id="19" name="Image 3" descr="30-minute timelock">    </p:cNvPr>
          <p:cNvPicPr>
            <a:picLocks noChangeAspect="1"/>
          </p:cNvPicPr>
          <p:nvPr/>
        </p:nvPicPr>
        <p:blipFill>
          <a:blip r:embed="rId4"/>
          <a:stretch>
            <a:fillRect/>
          </a:stretch>
        </p:blipFill>
        <p:spPr>
          <a:xfrm>
            <a:off x="9269501" y="1801368"/>
            <a:ext cx="329184" cy="329184"/>
          </a:xfrm>
          <a:prstGeom prst="rect">
            <a:avLst/>
          </a:prstGeom>
        </p:spPr>
      </p:pic>
      <p:sp>
        <p:nvSpPr>
          <p:cNvPr id="20" name="Text 14"/>
          <p:cNvSpPr txBox="1"/>
          <p:nvPr/>
        </p:nvSpPr>
        <p:spPr>
          <a:xfrm>
            <a:off x="9269501" y="2231136"/>
            <a:ext cx="2190674" cy="292608"/>
          </a:xfrm>
          <a:prstGeom prst="rect">
            <a:avLst/>
          </a:prstGeom>
          <a:noFill/>
          <a:ln/>
        </p:spPr>
        <p:txBody>
          <a:bodyPr wrap="square" lIns="0" tIns="0" rIns="0" bIns="0" rtlCol="0" anchor="t"/>
          <a:lstStyle/>
          <a:p>
            <a:pPr indent="0" marL="0">
              <a:buNone/>
            </a:pPr>
            <a:r>
              <a:rPr lang="en-US" sz="1400" b="1" dirty="0">
                <a:solidFill>
                  <a:schemeClr val="bg1"/>
                </a:solidFill>
              </a:rPr>
              <a:t>30-minute timelock</a:t>
            </a:r>
            <a:endParaRPr lang="en-US" sz="1400" dirty="0"/>
          </a:p>
        </p:txBody>
      </p:sp>
      <p:sp>
        <p:nvSpPr>
          <p:cNvPr id="21" name="Text 15"/>
          <p:cNvSpPr txBox="1"/>
          <p:nvPr/>
        </p:nvSpPr>
        <p:spPr>
          <a:xfrm>
            <a:off x="9269501" y="2532888"/>
            <a:ext cx="2190674" cy="274320"/>
          </a:xfrm>
          <a:prstGeom prst="rect">
            <a:avLst/>
          </a:prstGeom>
          <a:noFill/>
          <a:ln/>
        </p:spPr>
        <p:txBody>
          <a:bodyPr wrap="square" lIns="0" tIns="0" rIns="0" bIns="0" rtlCol="0" anchor="t"/>
          <a:lstStyle/>
          <a:p>
            <a:pPr indent="0" marL="0">
              <a:buNone/>
            </a:pPr>
            <a:r>
              <a:rPr lang="en-US" sz="1150" dirty="0">
                <a:solidFill>
                  <a:schemeClr val="bg2"/>
                </a:solidFill>
              </a:rPr>
              <a:t>Above the instant limits</a:t>
            </a:r>
            <a:endParaRPr lang="en-US" sz="1150" dirty="0"/>
          </a:p>
        </p:txBody>
      </p:sp>
      <p:sp>
        <p:nvSpPr>
          <p:cNvPr id="22" name="Text 16"/>
          <p:cNvSpPr txBox="1"/>
          <p:nvPr/>
        </p:nvSpPr>
        <p:spPr>
          <a:xfrm>
            <a:off x="9269501" y="2926080"/>
            <a:ext cx="2190674" cy="274320"/>
          </a:xfrm>
          <a:prstGeom prst="rect">
            <a:avLst/>
          </a:prstGeom>
          <a:noFill/>
          <a:ln/>
        </p:spPr>
        <p:txBody>
          <a:bodyPr wrap="square" lIns="0" tIns="0" rIns="0" bIns="0" rtlCol="0" anchor="t"/>
          <a:lstStyle/>
          <a:p>
            <a:pPr indent="0" marL="0">
              <a:buNone/>
            </a:pPr>
            <a:r>
              <a:rPr lang="en-US" sz="1150" dirty="0">
                <a:solidFill>
                  <a:schemeClr val="accent2"/>
                </a:solidFill>
              </a:rPr>
              <a:t>Time to react; big exits wait</a:t>
            </a:r>
            <a:endParaRPr lang="en-US" sz="1150" dirty="0"/>
          </a:p>
        </p:txBody>
      </p:sp>
      <p:sp>
        <p:nvSpPr>
          <p:cNvPr id="23" name="control-4"/>
          <p:cNvSpPr/>
          <p:nvPr/>
        </p:nvSpPr>
        <p:spPr>
          <a:xfrm>
            <a:off x="548640" y="3648456"/>
            <a:ext cx="2602154" cy="1847088"/>
          </a:xfrm>
          <a:prstGeom prst="roundRect">
            <a:avLst>
              <a:gd name="adj" fmla="val 6931"/>
            </a:avLst>
          </a:prstGeom>
          <a:solidFill>
            <a:schemeClr val="tx2"/>
          </a:solidFill>
          <a:ln w="9525">
            <a:solidFill>
              <a:schemeClr val="accent6"/>
            </a:solidFill>
            <a:prstDash val="solid"/>
          </a:ln>
        </p:spPr>
      </p:sp>
      <p:pic>
        <p:nvPicPr>
          <p:cNvPr id="24" name="Image 4" descr="Guardian pause">    </p:cNvPr>
          <p:cNvPicPr>
            <a:picLocks noChangeAspect="1"/>
          </p:cNvPicPr>
          <p:nvPr/>
        </p:nvPicPr>
        <p:blipFill>
          <a:blip r:embed="rId5"/>
          <a:stretch>
            <a:fillRect/>
          </a:stretch>
        </p:blipFill>
        <p:spPr>
          <a:xfrm>
            <a:off x="777240" y="3877056"/>
            <a:ext cx="329184" cy="329184"/>
          </a:xfrm>
          <a:prstGeom prst="rect">
            <a:avLst/>
          </a:prstGeom>
        </p:spPr>
      </p:pic>
      <p:sp>
        <p:nvSpPr>
          <p:cNvPr id="25" name="Text 18"/>
          <p:cNvSpPr txBox="1"/>
          <p:nvPr/>
        </p:nvSpPr>
        <p:spPr>
          <a:xfrm>
            <a:off x="777240" y="4306824"/>
            <a:ext cx="2190674" cy="292608"/>
          </a:xfrm>
          <a:prstGeom prst="rect">
            <a:avLst/>
          </a:prstGeom>
          <a:noFill/>
          <a:ln/>
        </p:spPr>
        <p:txBody>
          <a:bodyPr wrap="square" lIns="0" tIns="0" rIns="0" bIns="0" rtlCol="0" anchor="t"/>
          <a:lstStyle/>
          <a:p>
            <a:pPr indent="0" marL="0">
              <a:buNone/>
            </a:pPr>
            <a:r>
              <a:rPr lang="en-US" sz="1400" b="1" dirty="0">
                <a:solidFill>
                  <a:schemeClr val="bg1"/>
                </a:solidFill>
              </a:rPr>
              <a:t>Guardian pause</a:t>
            </a:r>
            <a:endParaRPr lang="en-US" sz="1400" dirty="0"/>
          </a:p>
        </p:txBody>
      </p:sp>
      <p:sp>
        <p:nvSpPr>
          <p:cNvPr id="26" name="Text 19"/>
          <p:cNvSpPr txBox="1"/>
          <p:nvPr/>
        </p:nvSpPr>
        <p:spPr>
          <a:xfrm>
            <a:off x="777240" y="4608576"/>
            <a:ext cx="2190674" cy="274320"/>
          </a:xfrm>
          <a:prstGeom prst="rect">
            <a:avLst/>
          </a:prstGeom>
          <a:noFill/>
          <a:ln/>
        </p:spPr>
        <p:txBody>
          <a:bodyPr wrap="square" lIns="0" tIns="0" rIns="0" bIns="0" rtlCol="0" anchor="t"/>
          <a:lstStyle/>
          <a:p>
            <a:pPr indent="0" marL="0">
              <a:buNone/>
            </a:pPr>
            <a:r>
              <a:rPr lang="en-US" sz="1150" dirty="0">
                <a:solidFill>
                  <a:schemeClr val="bg2"/>
                </a:solidFill>
              </a:rPr>
              <a:t>Only the authority unpauses</a:t>
            </a:r>
            <a:endParaRPr lang="en-US" sz="1150" dirty="0"/>
          </a:p>
        </p:txBody>
      </p:sp>
      <p:sp>
        <p:nvSpPr>
          <p:cNvPr id="27" name="Text 20"/>
          <p:cNvSpPr txBox="1"/>
          <p:nvPr/>
        </p:nvSpPr>
        <p:spPr>
          <a:xfrm>
            <a:off x="777240" y="5001768"/>
            <a:ext cx="2190674" cy="274320"/>
          </a:xfrm>
          <a:prstGeom prst="rect">
            <a:avLst/>
          </a:prstGeom>
          <a:noFill/>
          <a:ln/>
        </p:spPr>
        <p:txBody>
          <a:bodyPr wrap="square" lIns="0" tIns="0" rIns="0" bIns="0" rtlCol="0" anchor="t"/>
          <a:lstStyle/>
          <a:p>
            <a:pPr indent="0" marL="0">
              <a:buNone/>
            </a:pPr>
            <a:r>
              <a:rPr lang="en-US" sz="1150" dirty="0">
                <a:solidFill>
                  <a:schemeClr val="accent2"/>
                </a:solidFill>
              </a:rPr>
              <a:t>Fast stop; no escape hatch yet</a:t>
            </a:r>
            <a:endParaRPr lang="en-US" sz="1150" dirty="0"/>
          </a:p>
        </p:txBody>
      </p:sp>
      <p:sp>
        <p:nvSpPr>
          <p:cNvPr id="28" name="control-5"/>
          <p:cNvSpPr/>
          <p:nvPr/>
        </p:nvSpPr>
        <p:spPr>
          <a:xfrm>
            <a:off x="3379394" y="3648456"/>
            <a:ext cx="2602154" cy="1847088"/>
          </a:xfrm>
          <a:prstGeom prst="roundRect">
            <a:avLst>
              <a:gd name="adj" fmla="val 6931"/>
            </a:avLst>
          </a:prstGeom>
          <a:solidFill>
            <a:schemeClr val="tx2"/>
          </a:solidFill>
          <a:ln w="9525">
            <a:solidFill>
              <a:schemeClr val="accent6"/>
            </a:solidFill>
            <a:prstDash val="solid"/>
          </a:ln>
        </p:spPr>
      </p:sp>
      <p:pic>
        <p:nvPicPr>
          <p:cNvPr id="29" name="Image 5" descr="Role-based admin">    </p:cNvPr>
          <p:cNvPicPr>
            <a:picLocks noChangeAspect="1"/>
          </p:cNvPicPr>
          <p:nvPr/>
        </p:nvPicPr>
        <p:blipFill>
          <a:blip r:embed="rId6"/>
          <a:stretch>
            <a:fillRect/>
          </a:stretch>
        </p:blipFill>
        <p:spPr>
          <a:xfrm>
            <a:off x="3607994" y="3877056"/>
            <a:ext cx="329184" cy="329184"/>
          </a:xfrm>
          <a:prstGeom prst="rect">
            <a:avLst/>
          </a:prstGeom>
        </p:spPr>
      </p:pic>
      <p:sp>
        <p:nvSpPr>
          <p:cNvPr id="30" name="Text 22"/>
          <p:cNvSpPr txBox="1"/>
          <p:nvPr/>
        </p:nvSpPr>
        <p:spPr>
          <a:xfrm>
            <a:off x="3607994" y="4306824"/>
            <a:ext cx="2190674" cy="292608"/>
          </a:xfrm>
          <a:prstGeom prst="rect">
            <a:avLst/>
          </a:prstGeom>
          <a:noFill/>
          <a:ln/>
        </p:spPr>
        <p:txBody>
          <a:bodyPr wrap="square" lIns="0" tIns="0" rIns="0" bIns="0" rtlCol="0" anchor="t"/>
          <a:lstStyle/>
          <a:p>
            <a:pPr indent="0" marL="0">
              <a:buNone/>
            </a:pPr>
            <a:r>
              <a:rPr lang="en-US" sz="1400" b="1" dirty="0">
                <a:solidFill>
                  <a:schemeClr val="bg1"/>
                </a:solidFill>
              </a:rPr>
              <a:t>Role-based admin</a:t>
            </a:r>
            <a:endParaRPr lang="en-US" sz="1400" dirty="0"/>
          </a:p>
        </p:txBody>
      </p:sp>
      <p:sp>
        <p:nvSpPr>
          <p:cNvPr id="31" name="Text 23"/>
          <p:cNvSpPr txBox="1"/>
          <p:nvPr/>
        </p:nvSpPr>
        <p:spPr>
          <a:xfrm>
            <a:off x="3607994" y="4608576"/>
            <a:ext cx="2190674" cy="274320"/>
          </a:xfrm>
          <a:prstGeom prst="rect">
            <a:avLst/>
          </a:prstGeom>
          <a:noFill/>
          <a:ln/>
        </p:spPr>
        <p:txBody>
          <a:bodyPr wrap="square" lIns="0" tIns="0" rIns="0" bIns="0" rtlCol="0" anchor="t"/>
          <a:lstStyle/>
          <a:p>
            <a:pPr indent="0" marL="0">
              <a:buNone/>
            </a:pPr>
            <a:r>
              <a:rPr lang="en-US" sz="1150" dirty="0">
                <a:solidFill>
                  <a:schemeClr val="bg2"/>
                </a:solidFill>
              </a:rPr>
              <a:t>Two-step authority handover</a:t>
            </a:r>
            <a:endParaRPr lang="en-US" sz="1150" dirty="0"/>
          </a:p>
        </p:txBody>
      </p:sp>
      <p:sp>
        <p:nvSpPr>
          <p:cNvPr id="32" name="Text 24"/>
          <p:cNvSpPr txBox="1"/>
          <p:nvPr/>
        </p:nvSpPr>
        <p:spPr>
          <a:xfrm>
            <a:off x="3607994" y="5001768"/>
            <a:ext cx="2190674" cy="274320"/>
          </a:xfrm>
          <a:prstGeom prst="rect">
            <a:avLst/>
          </a:prstGeom>
          <a:noFill/>
          <a:ln/>
        </p:spPr>
        <p:txBody>
          <a:bodyPr wrap="square" lIns="0" tIns="0" rIns="0" bIns="0" rtlCol="0" anchor="t"/>
          <a:lstStyle/>
          <a:p>
            <a:pPr indent="0" marL="0">
              <a:buNone/>
            </a:pPr>
            <a:r>
              <a:rPr lang="en-US" sz="1150" dirty="0">
                <a:solidFill>
                  <a:schemeClr val="accent2"/>
                </a:solidFill>
              </a:rPr>
              <a:t>One powerful key today</a:t>
            </a:r>
            <a:endParaRPr lang="en-US" sz="1150" dirty="0"/>
          </a:p>
        </p:txBody>
      </p:sp>
      <p:sp>
        <p:nvSpPr>
          <p:cNvPr id="33" name="control-6"/>
          <p:cNvSpPr/>
          <p:nvPr/>
        </p:nvSpPr>
        <p:spPr>
          <a:xfrm>
            <a:off x="6210148" y="3648456"/>
            <a:ext cx="2602154" cy="1847088"/>
          </a:xfrm>
          <a:prstGeom prst="roundRect">
            <a:avLst>
              <a:gd name="adj" fmla="val 6931"/>
            </a:avLst>
          </a:prstGeom>
          <a:solidFill>
            <a:schemeClr val="tx2"/>
          </a:solidFill>
          <a:ln w="9525">
            <a:solidFill>
              <a:schemeClr val="accent6"/>
            </a:solidFill>
            <a:prstDash val="solid"/>
          </a:ln>
        </p:spPr>
      </p:sp>
      <p:pic>
        <p:nvPicPr>
          <p:cNvPr id="34" name="Image 6" descr="Virtual share offset">    </p:cNvPr>
          <p:cNvPicPr>
            <a:picLocks noChangeAspect="1"/>
          </p:cNvPicPr>
          <p:nvPr/>
        </p:nvPicPr>
        <p:blipFill>
          <a:blip r:embed="rId7"/>
          <a:stretch>
            <a:fillRect/>
          </a:stretch>
        </p:blipFill>
        <p:spPr>
          <a:xfrm>
            <a:off x="6438748" y="3877056"/>
            <a:ext cx="329184" cy="329184"/>
          </a:xfrm>
          <a:prstGeom prst="rect">
            <a:avLst/>
          </a:prstGeom>
        </p:spPr>
      </p:pic>
      <p:sp>
        <p:nvSpPr>
          <p:cNvPr id="35" name="Text 26"/>
          <p:cNvSpPr txBox="1"/>
          <p:nvPr/>
        </p:nvSpPr>
        <p:spPr>
          <a:xfrm>
            <a:off x="6438748" y="4306824"/>
            <a:ext cx="2190674" cy="292608"/>
          </a:xfrm>
          <a:prstGeom prst="rect">
            <a:avLst/>
          </a:prstGeom>
          <a:noFill/>
          <a:ln/>
        </p:spPr>
        <p:txBody>
          <a:bodyPr wrap="square" lIns="0" tIns="0" rIns="0" bIns="0" rtlCol="0" anchor="t"/>
          <a:lstStyle/>
          <a:p>
            <a:pPr indent="0" marL="0">
              <a:buNone/>
            </a:pPr>
            <a:r>
              <a:rPr lang="en-US" sz="1400" b="1" dirty="0">
                <a:solidFill>
                  <a:schemeClr val="bg1"/>
                </a:solidFill>
              </a:rPr>
              <a:t>Virtual share offset</a:t>
            </a:r>
            <a:endParaRPr lang="en-US" sz="1400" dirty="0"/>
          </a:p>
        </p:txBody>
      </p:sp>
      <p:sp>
        <p:nvSpPr>
          <p:cNvPr id="36" name="Text 27"/>
          <p:cNvSpPr txBox="1"/>
          <p:nvPr/>
        </p:nvSpPr>
        <p:spPr>
          <a:xfrm>
            <a:off x="6438748" y="4608576"/>
            <a:ext cx="2190674" cy="274320"/>
          </a:xfrm>
          <a:prstGeom prst="rect">
            <a:avLst/>
          </a:prstGeom>
          <a:noFill/>
          <a:ln/>
        </p:spPr>
        <p:txBody>
          <a:bodyPr wrap="square" lIns="0" tIns="0" rIns="0" bIns="0" rtlCol="0" anchor="t"/>
          <a:lstStyle/>
          <a:p>
            <a:pPr indent="0" marL="0">
              <a:buNone/>
            </a:pPr>
            <a:r>
              <a:rPr lang="en-US" sz="1150" dirty="0">
                <a:solidFill>
                  <a:schemeClr val="bg2"/>
                </a:solidFill>
              </a:rPr>
              <a:t>1,000 shares, 1 asset</a:t>
            </a:r>
            <a:endParaRPr lang="en-US" sz="1150" dirty="0"/>
          </a:p>
        </p:txBody>
      </p:sp>
      <p:sp>
        <p:nvSpPr>
          <p:cNvPr id="37" name="Text 28"/>
          <p:cNvSpPr txBox="1"/>
          <p:nvPr/>
        </p:nvSpPr>
        <p:spPr>
          <a:xfrm>
            <a:off x="6438748" y="5001768"/>
            <a:ext cx="2190674" cy="274320"/>
          </a:xfrm>
          <a:prstGeom prst="rect">
            <a:avLst/>
          </a:prstGeom>
          <a:noFill/>
          <a:ln/>
        </p:spPr>
        <p:txBody>
          <a:bodyPr wrap="square" lIns="0" tIns="0" rIns="0" bIns="0" rtlCol="0" anchor="t"/>
          <a:lstStyle/>
          <a:p>
            <a:pPr indent="0" marL="0">
              <a:buNone/>
            </a:pPr>
            <a:r>
              <a:rPr lang="en-US" sz="1150" dirty="0">
                <a:solidFill>
                  <a:schemeClr val="accent2"/>
                </a:solidFill>
              </a:rPr>
              <a:t>Stops share-price inflation</a:t>
            </a:r>
            <a:endParaRPr lang="en-US" sz="1150" dirty="0"/>
          </a:p>
        </p:txBody>
      </p:sp>
      <p:sp>
        <p:nvSpPr>
          <p:cNvPr id="38" name="control-7"/>
          <p:cNvSpPr/>
          <p:nvPr/>
        </p:nvSpPr>
        <p:spPr>
          <a:xfrm>
            <a:off x="9040901" y="3648456"/>
            <a:ext cx="2602154" cy="1847088"/>
          </a:xfrm>
          <a:prstGeom prst="roundRect">
            <a:avLst>
              <a:gd name="adj" fmla="val 6931"/>
            </a:avLst>
          </a:prstGeom>
          <a:solidFill>
            <a:schemeClr val="tx2"/>
          </a:solidFill>
          <a:ln w="9525">
            <a:solidFill>
              <a:schemeClr val="accent6"/>
            </a:solidFill>
            <a:prstDash val="solid"/>
          </a:ln>
        </p:spPr>
      </p:sp>
      <p:pic>
        <p:nvPicPr>
          <p:cNvPr id="39" name="Image 7" descr="Automated tests">    </p:cNvPr>
          <p:cNvPicPr>
            <a:picLocks noChangeAspect="1"/>
          </p:cNvPicPr>
          <p:nvPr/>
        </p:nvPicPr>
        <p:blipFill>
          <a:blip r:embed="rId8"/>
          <a:stretch>
            <a:fillRect/>
          </a:stretch>
        </p:blipFill>
        <p:spPr>
          <a:xfrm>
            <a:off x="9269501" y="3877056"/>
            <a:ext cx="329184" cy="329184"/>
          </a:xfrm>
          <a:prstGeom prst="rect">
            <a:avLst/>
          </a:prstGeom>
        </p:spPr>
      </p:pic>
      <p:sp>
        <p:nvSpPr>
          <p:cNvPr id="40" name="Text 30"/>
          <p:cNvSpPr txBox="1"/>
          <p:nvPr/>
        </p:nvSpPr>
        <p:spPr>
          <a:xfrm>
            <a:off x="9269501" y="4306824"/>
            <a:ext cx="2190674" cy="292608"/>
          </a:xfrm>
          <a:prstGeom prst="rect">
            <a:avLst/>
          </a:prstGeom>
          <a:noFill/>
          <a:ln/>
        </p:spPr>
        <p:txBody>
          <a:bodyPr wrap="square" lIns="0" tIns="0" rIns="0" bIns="0" rtlCol="0" anchor="t"/>
          <a:lstStyle/>
          <a:p>
            <a:pPr indent="0" marL="0">
              <a:buNone/>
            </a:pPr>
            <a:r>
              <a:rPr lang="en-US" sz="1400" b="1" dirty="0">
                <a:solidFill>
                  <a:schemeClr val="bg1"/>
                </a:solidFill>
              </a:rPr>
              <a:t>Automated tests</a:t>
            </a:r>
            <a:endParaRPr lang="en-US" sz="1400" dirty="0"/>
          </a:p>
        </p:txBody>
      </p:sp>
      <p:sp>
        <p:nvSpPr>
          <p:cNvPr id="41" name="Text 31"/>
          <p:cNvSpPr txBox="1"/>
          <p:nvPr/>
        </p:nvSpPr>
        <p:spPr>
          <a:xfrm>
            <a:off x="9269501" y="4608576"/>
            <a:ext cx="2190674" cy="274320"/>
          </a:xfrm>
          <a:prstGeom prst="rect">
            <a:avLst/>
          </a:prstGeom>
          <a:noFill/>
          <a:ln/>
        </p:spPr>
        <p:txBody>
          <a:bodyPr wrap="square" lIns="0" tIns="0" rIns="0" bIns="0" rtlCol="0" anchor="t"/>
          <a:lstStyle/>
          <a:p>
            <a:pPr indent="0" marL="0">
              <a:buNone/>
            </a:pPr>
            <a:r>
              <a:rPr lang="en-US" sz="1150" dirty="0">
                <a:solidFill>
                  <a:schemeClr val="bg2"/>
                </a:solidFill>
              </a:rPr>
              <a:t>10 unit + 5 integration</a:t>
            </a:r>
            <a:endParaRPr lang="en-US" sz="1150" dirty="0"/>
          </a:p>
        </p:txBody>
      </p:sp>
      <p:sp>
        <p:nvSpPr>
          <p:cNvPr id="42" name="Text 32"/>
          <p:cNvSpPr txBox="1"/>
          <p:nvPr/>
        </p:nvSpPr>
        <p:spPr>
          <a:xfrm>
            <a:off x="9269501" y="5001768"/>
            <a:ext cx="2190674" cy="274320"/>
          </a:xfrm>
          <a:prstGeom prst="rect">
            <a:avLst/>
          </a:prstGeom>
          <a:noFill/>
          <a:ln/>
        </p:spPr>
        <p:txBody>
          <a:bodyPr wrap="square" lIns="0" tIns="0" rIns="0" bIns="0" rtlCol="0" anchor="t"/>
          <a:lstStyle/>
          <a:p>
            <a:pPr indent="0" marL="0">
              <a:buNone/>
            </a:pPr>
            <a:r>
              <a:rPr lang="en-US" sz="1150" dirty="0">
                <a:solidFill>
                  <a:schemeClr val="accent2"/>
                </a:solidFill>
              </a:rPr>
              <a:t>Plus a local deploy rehearsal</a:t>
            </a:r>
            <a:endParaRPr lang="en-US" sz="1150" dirty="0"/>
          </a:p>
        </p:txBody>
      </p:sp>
      <p:sp>
        <p:nvSpPr>
          <p:cNvPr id="43" name="not-yet"/>
          <p:cNvSpPr/>
          <p:nvPr/>
        </p:nvSpPr>
        <p:spPr>
          <a:xfrm>
            <a:off x="548640" y="5678424"/>
            <a:ext cx="11094415" cy="530352"/>
          </a:xfrm>
          <a:prstGeom prst="roundRect">
            <a:avLst>
              <a:gd name="adj" fmla="val 17241"/>
            </a:avLst>
          </a:prstGeom>
          <a:solidFill>
            <a:schemeClr val="tx2"/>
          </a:solidFill>
          <a:ln w="9525">
            <a:solidFill>
              <a:schemeClr val="accent3"/>
            </a:solidFill>
            <a:prstDash val="solid"/>
          </a:ln>
        </p:spPr>
      </p:sp>
      <p:sp>
        <p:nvSpPr>
          <p:cNvPr id="44" name="Text 34"/>
          <p:cNvSpPr txBox="1"/>
          <p:nvPr/>
        </p:nvSpPr>
        <p:spPr>
          <a:xfrm>
            <a:off x="822960" y="5751576"/>
            <a:ext cx="10545775" cy="384048"/>
          </a:xfrm>
          <a:prstGeom prst="rect">
            <a:avLst/>
          </a:prstGeom>
          <a:noFill/>
          <a:ln/>
        </p:spPr>
        <p:txBody>
          <a:bodyPr wrap="square" lIns="0" tIns="0" rIns="0" bIns="0" rtlCol="0" anchor="ctr"/>
          <a:lstStyle/>
          <a:p>
            <a:pPr indent="0" marL="0">
              <a:buNone/>
            </a:pPr>
            <a:r>
              <a:rPr lang="en-US" sz="1300" b="1" dirty="0">
                <a:solidFill>
                  <a:schemeClr val="accent3"/>
                </a:solidFill>
              </a:rPr>
              <a:t>Not yet: </a:t>
            </a:r>
            <a:pPr indent="0" marL="0">
              <a:buNone/>
            </a:pPr>
            <a:r>
              <a:rPr lang="en-US" sz="1300" dirty="0">
                <a:solidFill>
                  <a:schemeClr val="bg1"/>
                </a:solidFill>
              </a:rPr>
              <a:t>audit · multisig authority · strategy-change delay · pause escape hatch · fuzz testing</a:t>
            </a:r>
            <a:pPr indent="0" marL="0">
              <a:buNone/>
            </a:pPr>
            <a:r>
              <a:rPr lang="en-US" sz="1300" dirty="0">
                <a:solidFill>
                  <a:schemeClr val="bg2"/>
                </a:solidFill>
              </a:rPr>
              <a:t>   (everything above runs on devnet only)</a:t>
            </a:r>
            <a:endParaRPr lang="en-US" sz="130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Let's see what works today</a:t>
            </a:r>
            <a:endParaRPr lang="en-US" sz="3200" dirty="0"/>
          </a:p>
        </p:txBody>
      </p:sp>
      <p:sp>
        <p:nvSpPr>
          <p:cNvPr id="3" name="demo-0"/>
          <p:cNvSpPr/>
          <p:nvPr/>
        </p:nvSpPr>
        <p:spPr>
          <a:xfrm>
            <a:off x="548640" y="1572768"/>
            <a:ext cx="5364328" cy="4251960"/>
          </a:xfrm>
          <a:prstGeom prst="roundRect">
            <a:avLst>
              <a:gd name="adj" fmla="val 3011"/>
            </a:avLst>
          </a:prstGeom>
          <a:solidFill>
            <a:schemeClr val="tx2"/>
          </a:solidFill>
          <a:ln w="9525">
            <a:solidFill>
              <a:schemeClr val="accent6"/>
            </a:solidFill>
            <a:prstDash val="solid"/>
          </a:ln>
        </p:spPr>
      </p:sp>
      <p:sp>
        <p:nvSpPr>
          <p:cNvPr id="4" name="Text 2"/>
          <p:cNvSpPr txBox="1"/>
          <p:nvPr/>
        </p:nvSpPr>
        <p:spPr>
          <a:xfrm>
            <a:off x="822960" y="1828800"/>
            <a:ext cx="960120" cy="310896"/>
          </a:xfrm>
          <a:prstGeom prst="roundRect">
            <a:avLst>
              <a:gd name="adj" fmla="val 50000"/>
            </a:avLst>
          </a:prstGeom>
          <a:solidFill>
            <a:schemeClr val="tx1"/>
          </a:solidFill>
          <a:ln w="12700">
            <a:solidFill>
              <a:schemeClr val="accent2"/>
            </a:solidFill>
          </a:ln>
        </p:spPr>
        <p:txBody>
          <a:bodyPr wrap="square" lIns="0" tIns="0" rIns="0" bIns="0" rtlCol="0" anchor="ctr"/>
          <a:lstStyle/>
          <a:p>
            <a:pPr algn="ctr" indent="0" marL="0">
              <a:buNone/>
            </a:pPr>
            <a:r>
              <a:rPr lang="en-US" sz="950" b="1" spc="100" kern="0" dirty="0">
                <a:solidFill>
                  <a:schemeClr val="accent2"/>
                </a:solidFill>
              </a:rPr>
              <a:t>A · LIVE</a:t>
            </a:r>
            <a:endParaRPr lang="en-US" sz="950" dirty="0"/>
          </a:p>
        </p:txBody>
      </p:sp>
      <p:sp>
        <p:nvSpPr>
          <p:cNvPr id="5" name="Text 3"/>
          <p:cNvSpPr txBox="1"/>
          <p:nvPr/>
        </p:nvSpPr>
        <p:spPr>
          <a:xfrm>
            <a:off x="822960" y="2286000"/>
            <a:ext cx="3108960" cy="365760"/>
          </a:xfrm>
          <a:prstGeom prst="rect">
            <a:avLst/>
          </a:prstGeom>
          <a:noFill/>
          <a:ln/>
        </p:spPr>
        <p:txBody>
          <a:bodyPr wrap="square" lIns="0" tIns="0" rIns="0" bIns="0" rtlCol="0" anchor="t"/>
          <a:lstStyle/>
          <a:p>
            <a:pPr indent="0" marL="0">
              <a:buNone/>
            </a:pPr>
            <a:r>
              <a:rPr lang="en-US" sz="2000" b="1" dirty="0">
                <a:solidFill>
                  <a:schemeClr val="bg1"/>
                </a:solidFill>
              </a:rPr>
              <a:t>Comparison app</a:t>
            </a:r>
            <a:endParaRPr lang="en-US" sz="2000" dirty="0"/>
          </a:p>
        </p:txBody>
      </p:sp>
      <p:sp>
        <p:nvSpPr>
          <p:cNvPr id="6" name="Text 4"/>
          <p:cNvSpPr txBox="1"/>
          <p:nvPr/>
        </p:nvSpPr>
        <p:spPr>
          <a:xfrm>
            <a:off x="822960" y="2651760"/>
            <a:ext cx="3108960" cy="274320"/>
          </a:xfrm>
          <a:prstGeom prst="rect">
            <a:avLst/>
          </a:prstGeom>
          <a:noFill/>
          <a:ln/>
        </p:spPr>
        <p:txBody>
          <a:bodyPr wrap="square" lIns="0" tIns="0" rIns="0" bIns="0" rtlCol="0" anchor="t"/>
          <a:lstStyle/>
          <a:p>
            <a:pPr indent="0" marL="0">
              <a:buNone/>
            </a:pPr>
            <a:r>
              <a:rPr lang="en-US" sz="1150" dirty="0">
                <a:solidFill>
                  <a:schemeClr val="accent2"/>
                </a:solidFill>
              </a:rPr>
              <a:t>stablesaver-web.vercel.app</a:t>
            </a:r>
            <a:endParaRPr lang="en-US" sz="1150" dirty="0"/>
          </a:p>
        </p:txBody>
      </p:sp>
      <p:sp>
        <p:nvSpPr>
          <p:cNvPr id="7" name="badge-1"/>
          <p:cNvSpPr txBox="1"/>
          <p:nvPr/>
        </p:nvSpPr>
        <p:spPr>
          <a:xfrm>
            <a:off x="822960" y="3099816"/>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050" b="1" dirty="0">
                <a:solidFill>
                  <a:schemeClr val="tx1"/>
                </a:solidFill>
              </a:rPr>
              <a:t>1</a:t>
            </a:r>
            <a:endParaRPr lang="en-US" sz="1050" dirty="0"/>
          </a:p>
        </p:txBody>
      </p:sp>
      <p:sp>
        <p:nvSpPr>
          <p:cNvPr id="8" name="Text 6"/>
          <p:cNvSpPr txBox="1"/>
          <p:nvPr/>
        </p:nvSpPr>
        <p:spPr>
          <a:xfrm>
            <a:off x="1207008" y="3081528"/>
            <a:ext cx="2651760" cy="329184"/>
          </a:xfrm>
          <a:prstGeom prst="rect">
            <a:avLst/>
          </a:prstGeom>
          <a:noFill/>
          <a:ln/>
        </p:spPr>
        <p:txBody>
          <a:bodyPr wrap="square" lIns="0" tIns="0" rIns="0" bIns="0" rtlCol="0" anchor="ctr"/>
          <a:lstStyle/>
          <a:p>
            <a:pPr indent="0" marL="0">
              <a:buNone/>
            </a:pPr>
            <a:r>
              <a:rPr lang="en-US" sz="1300" dirty="0">
                <a:solidFill>
                  <a:schemeClr val="bg1"/>
                </a:solidFill>
              </a:rPr>
              <a:t>Find idle money in a wallet</a:t>
            </a:r>
            <a:endParaRPr lang="en-US" sz="1300" dirty="0"/>
          </a:p>
        </p:txBody>
      </p:sp>
      <p:sp>
        <p:nvSpPr>
          <p:cNvPr id="9" name="badge-2"/>
          <p:cNvSpPr txBox="1"/>
          <p:nvPr/>
        </p:nvSpPr>
        <p:spPr>
          <a:xfrm>
            <a:off x="822960" y="3529584"/>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050" b="1" dirty="0">
                <a:solidFill>
                  <a:schemeClr val="tx1"/>
                </a:solidFill>
              </a:rPr>
              <a:t>2</a:t>
            </a:r>
            <a:endParaRPr lang="en-US" sz="1050" dirty="0"/>
          </a:p>
        </p:txBody>
      </p:sp>
      <p:sp>
        <p:nvSpPr>
          <p:cNvPr id="10" name="Text 8"/>
          <p:cNvSpPr txBox="1"/>
          <p:nvPr/>
        </p:nvSpPr>
        <p:spPr>
          <a:xfrm>
            <a:off x="1207008" y="3511296"/>
            <a:ext cx="2651760" cy="329184"/>
          </a:xfrm>
          <a:prstGeom prst="rect">
            <a:avLst/>
          </a:prstGeom>
          <a:noFill/>
          <a:ln/>
        </p:spPr>
        <p:txBody>
          <a:bodyPr wrap="square" lIns="0" tIns="0" rIns="0" bIns="0" rtlCol="0" anchor="ctr"/>
          <a:lstStyle/>
          <a:p>
            <a:pPr indent="0" marL="0">
              <a:buNone/>
            </a:pPr>
            <a:r>
              <a:rPr lang="en-US" sz="1300" dirty="0">
                <a:solidFill>
                  <a:schemeClr val="bg1"/>
                </a:solidFill>
              </a:rPr>
              <a:t>Switch Safe / Balanced / Bigger</a:t>
            </a:r>
            <a:endParaRPr lang="en-US" sz="1300" dirty="0"/>
          </a:p>
        </p:txBody>
      </p:sp>
      <p:sp>
        <p:nvSpPr>
          <p:cNvPr id="11" name="badge-3"/>
          <p:cNvSpPr txBox="1"/>
          <p:nvPr/>
        </p:nvSpPr>
        <p:spPr>
          <a:xfrm>
            <a:off x="822960" y="3959352"/>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050" b="1" dirty="0">
                <a:solidFill>
                  <a:schemeClr val="tx1"/>
                </a:solidFill>
              </a:rPr>
              <a:t>3</a:t>
            </a:r>
            <a:endParaRPr lang="en-US" sz="1050" dirty="0"/>
          </a:p>
        </p:txBody>
      </p:sp>
      <p:sp>
        <p:nvSpPr>
          <p:cNvPr id="12" name="Text 10"/>
          <p:cNvSpPr txBox="1"/>
          <p:nvPr/>
        </p:nvSpPr>
        <p:spPr>
          <a:xfrm>
            <a:off x="1207008" y="3941064"/>
            <a:ext cx="2651760" cy="329184"/>
          </a:xfrm>
          <a:prstGeom prst="rect">
            <a:avLst/>
          </a:prstGeom>
          <a:noFill/>
          <a:ln/>
        </p:spPr>
        <p:txBody>
          <a:bodyPr wrap="square" lIns="0" tIns="0" rIns="0" bIns="0" rtlCol="0" anchor="ctr"/>
          <a:lstStyle/>
          <a:p>
            <a:pPr indent="0" marL="0">
              <a:buNone/>
            </a:pPr>
            <a:r>
              <a:rPr lang="en-US" sz="1300" dirty="0">
                <a:solidFill>
                  <a:schemeClr val="bg1"/>
                </a:solidFill>
              </a:rPr>
              <a:t>Open an option: grade, withdraw</a:t>
            </a:r>
            <a:endParaRPr lang="en-US" sz="1300" dirty="0"/>
          </a:p>
        </p:txBody>
      </p:sp>
      <p:sp>
        <p:nvSpPr>
          <p:cNvPr id="13" name="badge-4"/>
          <p:cNvSpPr txBox="1"/>
          <p:nvPr/>
        </p:nvSpPr>
        <p:spPr>
          <a:xfrm>
            <a:off x="822960" y="4389120"/>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050" b="1" dirty="0">
                <a:solidFill>
                  <a:schemeClr val="tx1"/>
                </a:solidFill>
              </a:rPr>
              <a:t>4</a:t>
            </a:r>
            <a:endParaRPr lang="en-US" sz="1050" dirty="0"/>
          </a:p>
        </p:txBody>
      </p:sp>
      <p:sp>
        <p:nvSpPr>
          <p:cNvPr id="14" name="Text 12"/>
          <p:cNvSpPr txBox="1"/>
          <p:nvPr/>
        </p:nvSpPr>
        <p:spPr>
          <a:xfrm>
            <a:off x="1207008" y="4370832"/>
            <a:ext cx="2651760" cy="329184"/>
          </a:xfrm>
          <a:prstGeom prst="rect">
            <a:avLst/>
          </a:prstGeom>
          <a:noFill/>
          <a:ln/>
        </p:spPr>
        <p:txBody>
          <a:bodyPr wrap="square" lIns="0" tIns="0" rIns="0" bIns="0" rtlCol="0" anchor="ctr"/>
          <a:lstStyle/>
          <a:p>
            <a:pPr indent="0" marL="0">
              <a:buNone/>
            </a:pPr>
            <a:r>
              <a:rPr lang="en-US" sz="1300" dirty="0">
                <a:solidFill>
                  <a:schemeClr val="bg1"/>
                </a:solidFill>
              </a:rPr>
              <a:t>Compare with US T-bills</a:t>
            </a:r>
            <a:endParaRPr lang="en-US" sz="1300" dirty="0"/>
          </a:p>
        </p:txBody>
      </p:sp>
      <p:sp>
        <p:nvSpPr>
          <p:cNvPr id="15" name="badge-5"/>
          <p:cNvSpPr txBox="1"/>
          <p:nvPr/>
        </p:nvSpPr>
        <p:spPr>
          <a:xfrm>
            <a:off x="822960" y="4818888"/>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050" b="1" dirty="0">
                <a:solidFill>
                  <a:schemeClr val="tx1"/>
                </a:solidFill>
              </a:rPr>
              <a:t>5</a:t>
            </a:r>
            <a:endParaRPr lang="en-US" sz="1050" dirty="0"/>
          </a:p>
        </p:txBody>
      </p:sp>
      <p:sp>
        <p:nvSpPr>
          <p:cNvPr id="16" name="Text 14"/>
          <p:cNvSpPr txBox="1"/>
          <p:nvPr/>
        </p:nvSpPr>
        <p:spPr>
          <a:xfrm>
            <a:off x="1207008" y="4800600"/>
            <a:ext cx="2651760" cy="329184"/>
          </a:xfrm>
          <a:prstGeom prst="rect">
            <a:avLst/>
          </a:prstGeom>
          <a:noFill/>
          <a:ln/>
        </p:spPr>
        <p:txBody>
          <a:bodyPr wrap="square" lIns="0" tIns="0" rIns="0" bIns="0" rtlCol="0" anchor="ctr"/>
          <a:lstStyle/>
          <a:p>
            <a:pPr indent="0" marL="0">
              <a:buNone/>
            </a:pPr>
            <a:r>
              <a:rPr lang="en-US" sz="1300" dirty="0">
                <a:solidFill>
                  <a:schemeClr val="bg1"/>
                </a:solidFill>
              </a:rPr>
              <a:t>$100 + Ethereum: fees win</a:t>
            </a:r>
            <a:endParaRPr lang="en-US" sz="1300" dirty="0"/>
          </a:p>
        </p:txBody>
      </p:sp>
      <p:sp>
        <p:nvSpPr>
          <p:cNvPr id="17" name="badge-6"/>
          <p:cNvSpPr txBox="1"/>
          <p:nvPr/>
        </p:nvSpPr>
        <p:spPr>
          <a:xfrm>
            <a:off x="822960" y="5248656"/>
            <a:ext cx="274320" cy="274320"/>
          </a:xfrm>
          <a:prstGeom prst="ellipse">
            <a:avLst/>
          </a:prstGeom>
          <a:solidFill>
            <a:schemeClr val="accent2"/>
          </a:solidFill>
          <a:ln w="19050">
            <a:solidFill>
              <a:schemeClr val="tx1"/>
            </a:solidFill>
          </a:ln>
        </p:spPr>
        <p:txBody>
          <a:bodyPr wrap="square" lIns="0" tIns="0" rIns="0" bIns="0" rtlCol="0" anchor="ctr"/>
          <a:lstStyle/>
          <a:p>
            <a:pPr algn="ctr" indent="0" marL="0">
              <a:buNone/>
            </a:pPr>
            <a:r>
              <a:rPr lang="en-US" sz="1050" b="1" dirty="0">
                <a:solidFill>
                  <a:schemeClr val="tx1"/>
                </a:solidFill>
              </a:rPr>
              <a:t>6</a:t>
            </a:r>
            <a:endParaRPr lang="en-US" sz="1050" dirty="0"/>
          </a:p>
        </p:txBody>
      </p:sp>
      <p:sp>
        <p:nvSpPr>
          <p:cNvPr id="18" name="Text 16"/>
          <p:cNvSpPr txBox="1"/>
          <p:nvPr/>
        </p:nvSpPr>
        <p:spPr>
          <a:xfrm>
            <a:off x="1207008" y="5230368"/>
            <a:ext cx="2651760" cy="329184"/>
          </a:xfrm>
          <a:prstGeom prst="rect">
            <a:avLst/>
          </a:prstGeom>
          <a:noFill/>
          <a:ln/>
        </p:spPr>
        <p:txBody>
          <a:bodyPr wrap="square" lIns="0" tIns="0" rIns="0" bIns="0" rtlCol="0" anchor="ctr"/>
          <a:lstStyle/>
          <a:p>
            <a:pPr indent="0" marL="0">
              <a:buNone/>
            </a:pPr>
            <a:r>
              <a:rPr lang="en-US" sz="1300" dirty="0">
                <a:solidFill>
                  <a:schemeClr val="bg1"/>
                </a:solidFill>
              </a:rPr>
              <a:t>Share my estimate</a:t>
            </a:r>
            <a:endParaRPr lang="en-US" sz="1300" dirty="0"/>
          </a:p>
        </p:txBody>
      </p:sp>
      <p:sp>
        <p:nvSpPr>
          <p:cNvPr id="19" name="Shape 17"/>
          <p:cNvSpPr/>
          <p:nvPr/>
        </p:nvSpPr>
        <p:spPr>
          <a:xfrm>
            <a:off x="3931920" y="2137572"/>
            <a:ext cx="1798168" cy="3122353"/>
          </a:xfrm>
          <a:prstGeom prst="roundRect">
            <a:avLst>
              <a:gd name="adj" fmla="val 5085"/>
            </a:avLst>
          </a:prstGeom>
          <a:solidFill>
            <a:schemeClr val="tx1"/>
          </a:solidFill>
          <a:ln w="9525">
            <a:solidFill>
              <a:schemeClr val="accent6"/>
            </a:solidFill>
            <a:prstDash val="solid"/>
          </a:ln>
        </p:spPr>
      </p:sp>
      <p:pic>
        <p:nvPicPr>
          <p:cNvPr id="20" name="demo-shot-0" descr="Comparison app home: amount, estimated earnings and risk preference">    </p:cNvPr>
          <p:cNvPicPr>
            <a:picLocks noChangeAspect="1"/>
          </p:cNvPicPr>
          <p:nvPr/>
        </p:nvPicPr>
        <p:blipFill>
          <a:blip r:embed="rId1"/>
          <a:stretch>
            <a:fillRect/>
          </a:stretch>
        </p:blipFill>
        <p:spPr>
          <a:xfrm>
            <a:off x="3977640" y="2183292"/>
            <a:ext cx="1706728" cy="3030913"/>
          </a:xfrm>
          <a:prstGeom prst="rect">
            <a:avLst/>
          </a:prstGeom>
        </p:spPr>
      </p:pic>
      <p:sp>
        <p:nvSpPr>
          <p:cNvPr id="21" name="demo-1"/>
          <p:cNvSpPr/>
          <p:nvPr/>
        </p:nvSpPr>
        <p:spPr>
          <a:xfrm>
            <a:off x="6278728" y="1572768"/>
            <a:ext cx="5364328" cy="4251960"/>
          </a:xfrm>
          <a:prstGeom prst="roundRect">
            <a:avLst>
              <a:gd name="adj" fmla="val 3011"/>
            </a:avLst>
          </a:prstGeom>
          <a:solidFill>
            <a:schemeClr val="tx2"/>
          </a:solidFill>
          <a:ln w="9525">
            <a:solidFill>
              <a:schemeClr val="accent6"/>
            </a:solidFill>
            <a:prstDash val="solid"/>
          </a:ln>
        </p:spPr>
      </p:sp>
      <p:sp>
        <p:nvSpPr>
          <p:cNvPr id="22" name="Text 19"/>
          <p:cNvSpPr txBox="1"/>
          <p:nvPr/>
        </p:nvSpPr>
        <p:spPr>
          <a:xfrm>
            <a:off x="6553048" y="1828800"/>
            <a:ext cx="2057400" cy="310896"/>
          </a:xfrm>
          <a:prstGeom prst="roundRect">
            <a:avLst>
              <a:gd name="adj" fmla="val 50000"/>
            </a:avLst>
          </a:prstGeom>
          <a:solidFill>
            <a:schemeClr val="tx1"/>
          </a:solidFill>
          <a:ln w="12700">
            <a:solidFill>
              <a:schemeClr val="accent1"/>
            </a:solidFill>
          </a:ln>
        </p:spPr>
        <p:txBody>
          <a:bodyPr wrap="square" lIns="0" tIns="0" rIns="0" bIns="0" rtlCol="0" anchor="ctr"/>
          <a:lstStyle/>
          <a:p>
            <a:pPr algn="ctr" indent="0" marL="0">
              <a:buNone/>
            </a:pPr>
            <a:r>
              <a:rPr lang="en-US" sz="950" b="1" spc="100" kern="0" dirty="0">
                <a:solidFill>
                  <a:schemeClr val="accent1"/>
                </a:solidFill>
              </a:rPr>
              <a:t>B · DEVNET PROTOTYPE</a:t>
            </a:r>
            <a:endParaRPr lang="en-US" sz="950" dirty="0"/>
          </a:p>
        </p:txBody>
      </p:sp>
      <p:sp>
        <p:nvSpPr>
          <p:cNvPr id="23" name="Text 20"/>
          <p:cNvSpPr txBox="1"/>
          <p:nvPr/>
        </p:nvSpPr>
        <p:spPr>
          <a:xfrm>
            <a:off x="6553048" y="2286000"/>
            <a:ext cx="3108960" cy="365760"/>
          </a:xfrm>
          <a:prstGeom prst="rect">
            <a:avLst/>
          </a:prstGeom>
          <a:noFill/>
          <a:ln/>
        </p:spPr>
        <p:txBody>
          <a:bodyPr wrap="square" lIns="0" tIns="0" rIns="0" bIns="0" rtlCol="0" anchor="t"/>
          <a:lstStyle/>
          <a:p>
            <a:pPr indent="0" marL="0">
              <a:buNone/>
            </a:pPr>
            <a:r>
              <a:rPr lang="en-US" sz="2000" b="1" dirty="0">
                <a:solidFill>
                  <a:schemeClr val="bg1"/>
                </a:solidFill>
              </a:rPr>
              <a:t>Vault</a:t>
            </a:r>
            <a:endParaRPr lang="en-US" sz="2000" dirty="0"/>
          </a:p>
        </p:txBody>
      </p:sp>
      <p:sp>
        <p:nvSpPr>
          <p:cNvPr id="24" name="Text 21"/>
          <p:cNvSpPr txBox="1"/>
          <p:nvPr/>
        </p:nvSpPr>
        <p:spPr>
          <a:xfrm>
            <a:off x="6553048" y="2651760"/>
            <a:ext cx="3108960" cy="274320"/>
          </a:xfrm>
          <a:prstGeom prst="rect">
            <a:avLst/>
          </a:prstGeom>
          <a:noFill/>
          <a:ln/>
        </p:spPr>
        <p:txBody>
          <a:bodyPr wrap="square" lIns="0" tIns="0" rIns="0" bIns="0" rtlCol="0" anchor="t"/>
          <a:lstStyle/>
          <a:p>
            <a:pPr indent="0" marL="0">
              <a:buNone/>
            </a:pPr>
            <a:r>
              <a:rPr lang="en-US" sz="1150" dirty="0">
                <a:solidFill>
                  <a:schemeClr val="accent1"/>
                </a:solidFill>
              </a:rPr>
              <a:t>Wallet on Solana devnet</a:t>
            </a:r>
            <a:endParaRPr lang="en-US" sz="1150" dirty="0"/>
          </a:p>
        </p:txBody>
      </p:sp>
      <p:sp>
        <p:nvSpPr>
          <p:cNvPr id="25" name="badge-1"/>
          <p:cNvSpPr txBox="1"/>
          <p:nvPr/>
        </p:nvSpPr>
        <p:spPr>
          <a:xfrm>
            <a:off x="6553048" y="3099816"/>
            <a:ext cx="274320" cy="274320"/>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050" b="1" dirty="0">
                <a:solidFill>
                  <a:schemeClr val="tx1"/>
                </a:solidFill>
              </a:rPr>
              <a:t>1</a:t>
            </a:r>
            <a:endParaRPr lang="en-US" sz="1050" dirty="0"/>
          </a:p>
        </p:txBody>
      </p:sp>
      <p:sp>
        <p:nvSpPr>
          <p:cNvPr id="26" name="Text 23"/>
          <p:cNvSpPr txBox="1"/>
          <p:nvPr/>
        </p:nvSpPr>
        <p:spPr>
          <a:xfrm>
            <a:off x="6937096" y="3081528"/>
            <a:ext cx="2651760" cy="329184"/>
          </a:xfrm>
          <a:prstGeom prst="rect">
            <a:avLst/>
          </a:prstGeom>
          <a:noFill/>
          <a:ln/>
        </p:spPr>
        <p:txBody>
          <a:bodyPr wrap="square" lIns="0" tIns="0" rIns="0" bIns="0" rtlCol="0" anchor="ctr"/>
          <a:lstStyle/>
          <a:p>
            <a:pPr indent="0" marL="0">
              <a:buNone/>
            </a:pPr>
            <a:r>
              <a:rPr lang="en-US" sz="1300" dirty="0">
                <a:solidFill>
                  <a:schemeClr val="bg1"/>
                </a:solidFill>
              </a:rPr>
              <a:t>Connect a devnet wallet</a:t>
            </a:r>
            <a:endParaRPr lang="en-US" sz="1300" dirty="0"/>
          </a:p>
        </p:txBody>
      </p:sp>
      <p:sp>
        <p:nvSpPr>
          <p:cNvPr id="27" name="badge-2"/>
          <p:cNvSpPr txBox="1"/>
          <p:nvPr/>
        </p:nvSpPr>
        <p:spPr>
          <a:xfrm>
            <a:off x="6553048" y="3529584"/>
            <a:ext cx="274320" cy="274320"/>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050" b="1" dirty="0">
                <a:solidFill>
                  <a:schemeClr val="tx1"/>
                </a:solidFill>
              </a:rPr>
              <a:t>2</a:t>
            </a:r>
            <a:endParaRPr lang="en-US" sz="1050" dirty="0"/>
          </a:p>
        </p:txBody>
      </p:sp>
      <p:sp>
        <p:nvSpPr>
          <p:cNvPr id="28" name="Text 25"/>
          <p:cNvSpPr txBox="1"/>
          <p:nvPr/>
        </p:nvSpPr>
        <p:spPr>
          <a:xfrm>
            <a:off x="6937096" y="3511296"/>
            <a:ext cx="2651760" cy="329184"/>
          </a:xfrm>
          <a:prstGeom prst="rect">
            <a:avLst/>
          </a:prstGeom>
          <a:noFill/>
          <a:ln/>
        </p:spPr>
        <p:txBody>
          <a:bodyPr wrap="square" lIns="0" tIns="0" rIns="0" bIns="0" rtlCol="0" anchor="ctr"/>
          <a:lstStyle/>
          <a:p>
            <a:pPr indent="0" marL="0">
              <a:buNone/>
            </a:pPr>
            <a:r>
              <a:rPr lang="en-US" sz="1300" dirty="0">
                <a:solidFill>
                  <a:schemeClr val="bg1"/>
                </a:solidFill>
              </a:rPr>
              <a:t>Deposit: split into pools</a:t>
            </a:r>
            <a:endParaRPr lang="en-US" sz="1300" dirty="0"/>
          </a:p>
        </p:txBody>
      </p:sp>
      <p:sp>
        <p:nvSpPr>
          <p:cNvPr id="29" name="badge-3"/>
          <p:cNvSpPr txBox="1"/>
          <p:nvPr/>
        </p:nvSpPr>
        <p:spPr>
          <a:xfrm>
            <a:off x="6553048" y="3959352"/>
            <a:ext cx="274320" cy="274320"/>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050" b="1" dirty="0">
                <a:solidFill>
                  <a:schemeClr val="tx1"/>
                </a:solidFill>
              </a:rPr>
              <a:t>3</a:t>
            </a:r>
            <a:endParaRPr lang="en-US" sz="1050" dirty="0"/>
          </a:p>
        </p:txBody>
      </p:sp>
      <p:sp>
        <p:nvSpPr>
          <p:cNvPr id="30" name="Text 27"/>
          <p:cNvSpPr txBox="1"/>
          <p:nvPr/>
        </p:nvSpPr>
        <p:spPr>
          <a:xfrm>
            <a:off x="6937096" y="3941064"/>
            <a:ext cx="2651760" cy="329184"/>
          </a:xfrm>
          <a:prstGeom prst="rect">
            <a:avLst/>
          </a:prstGeom>
          <a:noFill/>
          <a:ln/>
        </p:spPr>
        <p:txBody>
          <a:bodyPr wrap="square" lIns="0" tIns="0" rIns="0" bIns="0" rtlCol="0" anchor="ctr"/>
          <a:lstStyle/>
          <a:p>
            <a:pPr indent="0" marL="0">
              <a:buNone/>
            </a:pPr>
            <a:r>
              <a:rPr lang="en-US" sz="1300" dirty="0">
                <a:solidFill>
                  <a:schemeClr val="bg1"/>
                </a:solidFill>
              </a:rPr>
              <a:t>Where the money is</a:t>
            </a:r>
            <a:endParaRPr lang="en-US" sz="1300" dirty="0"/>
          </a:p>
        </p:txBody>
      </p:sp>
      <p:sp>
        <p:nvSpPr>
          <p:cNvPr id="31" name="badge-4"/>
          <p:cNvSpPr txBox="1"/>
          <p:nvPr/>
        </p:nvSpPr>
        <p:spPr>
          <a:xfrm>
            <a:off x="6553048" y="4389120"/>
            <a:ext cx="274320" cy="274320"/>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050" b="1" dirty="0">
                <a:solidFill>
                  <a:schemeClr val="tx1"/>
                </a:solidFill>
              </a:rPr>
              <a:t>4</a:t>
            </a:r>
            <a:endParaRPr lang="en-US" sz="1050" dirty="0"/>
          </a:p>
        </p:txBody>
      </p:sp>
      <p:sp>
        <p:nvSpPr>
          <p:cNvPr id="32" name="Text 29"/>
          <p:cNvSpPr txBox="1"/>
          <p:nvPr/>
        </p:nvSpPr>
        <p:spPr>
          <a:xfrm>
            <a:off x="6937096" y="4370832"/>
            <a:ext cx="2651760" cy="329184"/>
          </a:xfrm>
          <a:prstGeom prst="rect">
            <a:avLst/>
          </a:prstGeom>
          <a:noFill/>
          <a:ln/>
        </p:spPr>
        <p:txBody>
          <a:bodyPr wrap="square" lIns="0" tIns="0" rIns="0" bIns="0" rtlCol="0" anchor="ctr"/>
          <a:lstStyle/>
          <a:p>
            <a:pPr indent="0" marL="0">
              <a:buNone/>
            </a:pPr>
            <a:r>
              <a:rPr lang="en-US" sz="1300" dirty="0">
                <a:solidFill>
                  <a:schemeClr val="bg1"/>
                </a:solidFill>
              </a:rPr>
              <a:t>Collect interest, rebalance</a:t>
            </a:r>
            <a:endParaRPr lang="en-US" sz="1300" dirty="0"/>
          </a:p>
        </p:txBody>
      </p:sp>
      <p:sp>
        <p:nvSpPr>
          <p:cNvPr id="33" name="badge-5"/>
          <p:cNvSpPr txBox="1"/>
          <p:nvPr/>
        </p:nvSpPr>
        <p:spPr>
          <a:xfrm>
            <a:off x="6553048" y="4818888"/>
            <a:ext cx="274320" cy="274320"/>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050" b="1" dirty="0">
                <a:solidFill>
                  <a:schemeClr val="tx1"/>
                </a:solidFill>
              </a:rPr>
              <a:t>5</a:t>
            </a:r>
            <a:endParaRPr lang="en-US" sz="1050" dirty="0"/>
          </a:p>
        </p:txBody>
      </p:sp>
      <p:sp>
        <p:nvSpPr>
          <p:cNvPr id="34" name="Text 31"/>
          <p:cNvSpPr txBox="1"/>
          <p:nvPr/>
        </p:nvSpPr>
        <p:spPr>
          <a:xfrm>
            <a:off x="6937096" y="4800600"/>
            <a:ext cx="2651760" cy="329184"/>
          </a:xfrm>
          <a:prstGeom prst="rect">
            <a:avLst/>
          </a:prstGeom>
          <a:noFill/>
          <a:ln/>
        </p:spPr>
        <p:txBody>
          <a:bodyPr wrap="square" lIns="0" tIns="0" rIns="0" bIns="0" rtlCol="0" anchor="ctr"/>
          <a:lstStyle/>
          <a:p>
            <a:pPr indent="0" marL="0">
              <a:buNone/>
            </a:pPr>
            <a:r>
              <a:rPr lang="en-US" sz="1300" dirty="0">
                <a:solidFill>
                  <a:schemeClr val="bg1"/>
                </a:solidFill>
              </a:rPr>
              <a:t>Withdraw: pools top up</a:t>
            </a:r>
            <a:endParaRPr lang="en-US" sz="1300" dirty="0"/>
          </a:p>
        </p:txBody>
      </p:sp>
      <p:sp>
        <p:nvSpPr>
          <p:cNvPr id="35" name="badge-6"/>
          <p:cNvSpPr txBox="1"/>
          <p:nvPr/>
        </p:nvSpPr>
        <p:spPr>
          <a:xfrm>
            <a:off x="6553048" y="5248656"/>
            <a:ext cx="274320" cy="274320"/>
          </a:xfrm>
          <a:prstGeom prst="ellipse">
            <a:avLst/>
          </a:prstGeom>
          <a:solidFill>
            <a:schemeClr val="accent1"/>
          </a:solidFill>
          <a:ln w="19050">
            <a:solidFill>
              <a:schemeClr val="tx1"/>
            </a:solidFill>
          </a:ln>
        </p:spPr>
        <p:txBody>
          <a:bodyPr wrap="square" lIns="0" tIns="0" rIns="0" bIns="0" rtlCol="0" anchor="ctr"/>
          <a:lstStyle/>
          <a:p>
            <a:pPr algn="ctr" indent="0" marL="0">
              <a:buNone/>
            </a:pPr>
            <a:r>
              <a:rPr lang="en-US" sz="1050" b="1" dirty="0">
                <a:solidFill>
                  <a:schemeClr val="tx1"/>
                </a:solidFill>
              </a:rPr>
              <a:t>6</a:t>
            </a:r>
            <a:endParaRPr lang="en-US" sz="1050" dirty="0"/>
          </a:p>
        </p:txBody>
      </p:sp>
      <p:sp>
        <p:nvSpPr>
          <p:cNvPr id="36" name="Text 33"/>
          <p:cNvSpPr txBox="1"/>
          <p:nvPr/>
        </p:nvSpPr>
        <p:spPr>
          <a:xfrm>
            <a:off x="6937096" y="5230368"/>
            <a:ext cx="2651760" cy="329184"/>
          </a:xfrm>
          <a:prstGeom prst="rect">
            <a:avLst/>
          </a:prstGeom>
          <a:noFill/>
          <a:ln/>
        </p:spPr>
        <p:txBody>
          <a:bodyPr wrap="square" lIns="0" tIns="0" rIns="0" bIns="0" rtlCol="0" anchor="ctr"/>
          <a:lstStyle/>
          <a:p>
            <a:pPr indent="0" marL="0">
              <a:buNone/>
            </a:pPr>
            <a:r>
              <a:rPr lang="en-US" sz="1300" dirty="0">
                <a:solidFill>
                  <a:schemeClr val="bg1"/>
                </a:solidFill>
              </a:rPr>
              <a:t>Deposit from a Blink</a:t>
            </a:r>
            <a:endParaRPr lang="en-US" sz="1300" dirty="0"/>
          </a:p>
        </p:txBody>
      </p:sp>
      <p:sp>
        <p:nvSpPr>
          <p:cNvPr id="37" name="Shape 34"/>
          <p:cNvSpPr/>
          <p:nvPr/>
        </p:nvSpPr>
        <p:spPr>
          <a:xfrm>
            <a:off x="9662008" y="2287646"/>
            <a:ext cx="1798168" cy="2822204"/>
          </a:xfrm>
          <a:prstGeom prst="roundRect">
            <a:avLst>
              <a:gd name="adj" fmla="val 5085"/>
            </a:avLst>
          </a:prstGeom>
          <a:solidFill>
            <a:schemeClr val="tx1"/>
          </a:solidFill>
          <a:ln w="9525">
            <a:solidFill>
              <a:schemeClr val="accent6"/>
            </a:solidFill>
            <a:prstDash val="solid"/>
          </a:ln>
        </p:spPr>
      </p:sp>
      <p:pic>
        <p:nvPicPr>
          <p:cNvPr id="38" name="demo-shot-1" descr="Vault withdraw screen: 2,000 now, the rest after a 30-minute timelock">    </p:cNvPr>
          <p:cNvPicPr>
            <a:picLocks noChangeAspect="1"/>
          </p:cNvPicPr>
          <p:nvPr/>
        </p:nvPicPr>
        <p:blipFill>
          <a:blip r:embed="rId2"/>
          <a:stretch>
            <a:fillRect/>
          </a:stretch>
        </p:blipFill>
        <p:spPr>
          <a:xfrm>
            <a:off x="9707728" y="2333366"/>
            <a:ext cx="1706728" cy="2730764"/>
          </a:xfrm>
          <a:prstGeom prst="rect">
            <a:avLst/>
          </a:prstGeom>
        </p:spPr>
      </p:pic>
      <p:sp>
        <p:nvSpPr>
          <p:cNvPr id="39" name="Text 35"/>
          <p:cNvSpPr txBox="1"/>
          <p:nvPr/>
        </p:nvSpPr>
        <p:spPr>
          <a:xfrm>
            <a:off x="548640" y="5980176"/>
            <a:ext cx="11094415" cy="365760"/>
          </a:xfrm>
          <a:prstGeom prst="rect">
            <a:avLst/>
          </a:prstGeom>
          <a:noFill/>
          <a:ln/>
        </p:spPr>
        <p:txBody>
          <a:bodyPr wrap="square" lIns="0" tIns="0" rIns="0" bIns="0" rtlCol="0" anchor="t"/>
          <a:lstStyle/>
          <a:p>
            <a:pPr indent="0" marL="0">
              <a:buNone/>
            </a:pPr>
            <a:r>
              <a:rPr lang="en-US" sz="1150" b="1" dirty="0">
                <a:solidFill>
                  <a:schemeClr val="accent3"/>
                </a:solidFill>
              </a:rPr>
              <a:t>Devnet tokens have no value. </a:t>
            </a:r>
            <a:pPr indent="0" marL="0">
              <a:buNone/>
            </a:pPr>
            <a:r>
              <a:rPr lang="en-US" sz="1150" dirty="0">
                <a:solidFill>
                  <a:schemeClr val="bg2"/>
                </a:solidFill>
              </a:rPr>
              <a:t>Practice pools pay fixed practice rates, not market yield. Thumbnails: local build (demo data; vault in simulated preview).</a:t>
            </a:r>
            <a:endParaRPr lang="en-US" sz="115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What is live, what is experimental, and what comes next</a:t>
            </a:r>
            <a:endParaRPr lang="en-US" sz="3200" dirty="0"/>
          </a:p>
        </p:txBody>
      </p:sp>
      <p:sp>
        <p:nvSpPr>
          <p:cNvPr id="3" name="status-0"/>
          <p:cNvSpPr/>
          <p:nvPr/>
        </p:nvSpPr>
        <p:spPr>
          <a:xfrm>
            <a:off x="548640" y="1572768"/>
            <a:ext cx="3515258" cy="3063240"/>
          </a:xfrm>
          <a:prstGeom prst="roundRect">
            <a:avLst>
              <a:gd name="adj" fmla="val 4179"/>
            </a:avLst>
          </a:prstGeom>
          <a:solidFill>
            <a:schemeClr val="tx2"/>
          </a:solidFill>
          <a:ln w="9525">
            <a:solidFill>
              <a:schemeClr val="accent2"/>
            </a:solidFill>
            <a:prstDash val="solid"/>
          </a:ln>
        </p:spPr>
      </p:sp>
      <p:sp>
        <p:nvSpPr>
          <p:cNvPr id="4" name="Text 2"/>
          <p:cNvSpPr txBox="1"/>
          <p:nvPr/>
        </p:nvSpPr>
        <p:spPr>
          <a:xfrm>
            <a:off x="822960" y="1801368"/>
            <a:ext cx="2966618" cy="365760"/>
          </a:xfrm>
          <a:prstGeom prst="rect">
            <a:avLst/>
          </a:prstGeom>
          <a:noFill/>
          <a:ln/>
        </p:spPr>
        <p:txBody>
          <a:bodyPr wrap="square" lIns="0" tIns="0" rIns="0" bIns="0" rtlCol="0" anchor="t"/>
          <a:lstStyle/>
          <a:p>
            <a:pPr indent="0" marL="0">
              <a:buNone/>
            </a:pPr>
            <a:r>
              <a:rPr lang="en-US" sz="1800" b="1" dirty="0">
                <a:solidFill>
                  <a:schemeClr val="accent2"/>
                </a:solidFill>
              </a:rPr>
              <a:t>Live</a:t>
            </a:r>
            <a:endParaRPr lang="en-US" sz="1800" dirty="0"/>
          </a:p>
        </p:txBody>
      </p:sp>
      <p:sp>
        <p:nvSpPr>
          <p:cNvPr id="5" name="Text 3"/>
          <p:cNvSpPr txBox="1"/>
          <p:nvPr/>
        </p:nvSpPr>
        <p:spPr>
          <a:xfrm>
            <a:off x="822960" y="2304288"/>
            <a:ext cx="3012338" cy="21488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bg1"/>
                </a:solidFill>
              </a:rPr>
              <a:t>Stablecoin opportunity comparison</a:t>
            </a:r>
            <a:endParaRPr lang="en-US" sz="1350" dirty="0"/>
          </a:p>
          <a:p>
            <a:pPr marL="177800" indent="-177800">
              <a:spcAft>
                <a:spcPts val="700"/>
              </a:spcAft>
              <a:buSzPct val="100000"/>
              <a:buChar char="•"/>
            </a:pPr>
            <a:r>
              <a:rPr lang="en-US" sz="1350" dirty="0">
                <a:solidFill>
                  <a:schemeClr val="bg1"/>
                </a:solidFill>
              </a:rPr>
              <a:t>Risk grades and explanations</a:t>
            </a:r>
            <a:endParaRPr lang="en-US" sz="1350" dirty="0"/>
          </a:p>
          <a:p>
            <a:pPr marL="177800" indent="-177800">
              <a:spcAft>
                <a:spcPts val="700"/>
              </a:spcAft>
              <a:buSzPct val="100000"/>
              <a:buChar char="•"/>
            </a:pPr>
            <a:r>
              <a:rPr lang="en-US" sz="1350" dirty="0">
                <a:solidFill>
                  <a:schemeClr val="bg1"/>
                </a:solidFill>
              </a:rPr>
              <a:t>Fee-adjusted earnings estimates</a:t>
            </a:r>
            <a:endParaRPr lang="en-US" sz="1350" dirty="0"/>
          </a:p>
          <a:p>
            <a:pPr marL="177800" indent="-177800">
              <a:spcAft>
                <a:spcPts val="700"/>
              </a:spcAft>
              <a:buSzPct val="100000"/>
              <a:buChar char="•"/>
            </a:pPr>
            <a:r>
              <a:rPr lang="en-US" sz="1350" dirty="0">
                <a:solidFill>
                  <a:schemeClr val="bg1"/>
                </a:solidFill>
              </a:rPr>
              <a:t>Withdraw-today check, T-bill comparison</a:t>
            </a:r>
            <a:endParaRPr lang="en-US" sz="1350" dirty="0"/>
          </a:p>
          <a:p>
            <a:pPr marL="177800" indent="-177800">
              <a:spcAft>
                <a:spcPts val="700"/>
              </a:spcAft>
              <a:buSzPct val="100000"/>
              <a:buChar char="•"/>
            </a:pPr>
            <a:r>
              <a:rPr lang="en-US" sz="1350" dirty="0">
                <a:solidFill>
                  <a:schemeClr val="bg1"/>
                </a:solidFill>
              </a:rPr>
              <a:t>Idle-money scan and share cards</a:t>
            </a:r>
            <a:endParaRPr lang="en-US" sz="1350" dirty="0"/>
          </a:p>
        </p:txBody>
      </p:sp>
      <p:sp>
        <p:nvSpPr>
          <p:cNvPr id="6" name="status-1"/>
          <p:cNvSpPr/>
          <p:nvPr/>
        </p:nvSpPr>
        <p:spPr>
          <a:xfrm>
            <a:off x="4338218" y="1572768"/>
            <a:ext cx="3515258" cy="3063240"/>
          </a:xfrm>
          <a:prstGeom prst="roundRect">
            <a:avLst>
              <a:gd name="adj" fmla="val 4179"/>
            </a:avLst>
          </a:prstGeom>
          <a:solidFill>
            <a:schemeClr val="tx2"/>
          </a:solidFill>
          <a:ln w="9525">
            <a:solidFill>
              <a:schemeClr val="accent1"/>
            </a:solidFill>
            <a:prstDash val="solid"/>
          </a:ln>
        </p:spPr>
      </p:sp>
      <p:sp>
        <p:nvSpPr>
          <p:cNvPr id="7" name="Text 5"/>
          <p:cNvSpPr txBox="1"/>
          <p:nvPr/>
        </p:nvSpPr>
        <p:spPr>
          <a:xfrm>
            <a:off x="4612538" y="1801368"/>
            <a:ext cx="2966618" cy="365760"/>
          </a:xfrm>
          <a:prstGeom prst="rect">
            <a:avLst/>
          </a:prstGeom>
          <a:noFill/>
          <a:ln/>
        </p:spPr>
        <p:txBody>
          <a:bodyPr wrap="square" lIns="0" tIns="0" rIns="0" bIns="0" rtlCol="0" anchor="t"/>
          <a:lstStyle/>
          <a:p>
            <a:pPr indent="0" marL="0">
              <a:buNone/>
            </a:pPr>
            <a:r>
              <a:rPr lang="en-US" sz="1800" b="1" dirty="0">
                <a:solidFill>
                  <a:schemeClr val="accent1"/>
                </a:solidFill>
              </a:rPr>
              <a:t>Devnet prototype</a:t>
            </a:r>
            <a:endParaRPr lang="en-US" sz="1800" dirty="0"/>
          </a:p>
        </p:txBody>
      </p:sp>
      <p:sp>
        <p:nvSpPr>
          <p:cNvPr id="8" name="Text 6"/>
          <p:cNvSpPr txBox="1"/>
          <p:nvPr/>
        </p:nvSpPr>
        <p:spPr>
          <a:xfrm>
            <a:off x="4612538" y="2304288"/>
            <a:ext cx="3012338" cy="21488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bg1"/>
                </a:solidFill>
              </a:rPr>
              <a:t>Anchor vault program</a:t>
            </a:r>
            <a:endParaRPr lang="en-US" sz="1350" dirty="0"/>
          </a:p>
          <a:p>
            <a:pPr marL="177800" indent="-177800">
              <a:spcAft>
                <a:spcPts val="700"/>
              </a:spcAft>
              <a:buSzPct val="100000"/>
              <a:buChar char="•"/>
            </a:pPr>
            <a:r>
              <a:rPr lang="en-US" sz="1350" dirty="0">
                <a:solidFill>
                  <a:schemeClr val="bg1"/>
                </a:solidFill>
              </a:rPr>
              <a:t>Deposits, shares, limits, timelock</a:t>
            </a:r>
            <a:endParaRPr lang="en-US" sz="1350" dirty="0"/>
          </a:p>
          <a:p>
            <a:pPr marL="177800" indent="-177800">
              <a:spcAft>
                <a:spcPts val="700"/>
              </a:spcAft>
              <a:buSzPct val="100000"/>
              <a:buChar char="•"/>
            </a:pPr>
            <a:r>
              <a:rPr lang="en-US" sz="1350" dirty="0">
                <a:solidFill>
                  <a:schemeClr val="bg1"/>
                </a:solidFill>
              </a:rPr>
              <a:t>Split into practice pools on-chain</a:t>
            </a:r>
            <a:endParaRPr lang="en-US" sz="1350" dirty="0"/>
          </a:p>
          <a:p>
            <a:pPr marL="177800" indent="-177800">
              <a:spcAft>
                <a:spcPts val="700"/>
              </a:spcAft>
              <a:buSzPct val="100000"/>
              <a:buChar char="•"/>
            </a:pPr>
            <a:r>
              <a:rPr lang="en-US" sz="1350" dirty="0">
                <a:solidFill>
                  <a:schemeClr val="bg1"/>
                </a:solidFill>
              </a:rPr>
              <a:t>Deposit Blink (Solana Action)</a:t>
            </a:r>
            <a:endParaRPr lang="en-US" sz="1350" dirty="0"/>
          </a:p>
          <a:p>
            <a:pPr marL="177800" indent="-177800">
              <a:spcAft>
                <a:spcPts val="700"/>
              </a:spcAft>
              <a:buSzPct val="100000"/>
              <a:buChar char="•"/>
            </a:pPr>
            <a:r>
              <a:rPr lang="en-US" sz="1350" dirty="0">
                <a:solidFill>
                  <a:schemeClr val="bg1"/>
                </a:solidFill>
              </a:rPr>
              <a:t>Pause and authority controls</a:t>
            </a:r>
            <a:endParaRPr lang="en-US" sz="1350" dirty="0"/>
          </a:p>
        </p:txBody>
      </p:sp>
      <p:sp>
        <p:nvSpPr>
          <p:cNvPr id="9" name="status-2"/>
          <p:cNvSpPr/>
          <p:nvPr/>
        </p:nvSpPr>
        <p:spPr>
          <a:xfrm>
            <a:off x="8127797" y="1572768"/>
            <a:ext cx="3515258" cy="3063240"/>
          </a:xfrm>
          <a:prstGeom prst="roundRect">
            <a:avLst>
              <a:gd name="adj" fmla="val 4179"/>
            </a:avLst>
          </a:prstGeom>
          <a:solidFill>
            <a:schemeClr val="tx2"/>
          </a:solidFill>
          <a:ln w="9525">
            <a:solidFill>
              <a:schemeClr val="accent3"/>
            </a:solidFill>
            <a:prstDash val="solid"/>
          </a:ln>
        </p:spPr>
      </p:sp>
      <p:sp>
        <p:nvSpPr>
          <p:cNvPr id="10" name="Text 8"/>
          <p:cNvSpPr txBox="1"/>
          <p:nvPr/>
        </p:nvSpPr>
        <p:spPr>
          <a:xfrm>
            <a:off x="8402117" y="1801368"/>
            <a:ext cx="2966618" cy="365760"/>
          </a:xfrm>
          <a:prstGeom prst="rect">
            <a:avLst/>
          </a:prstGeom>
          <a:noFill/>
          <a:ln/>
        </p:spPr>
        <p:txBody>
          <a:bodyPr wrap="square" lIns="0" tIns="0" rIns="0" bIns="0" rtlCol="0" anchor="t"/>
          <a:lstStyle/>
          <a:p>
            <a:pPr indent="0" marL="0">
              <a:buNone/>
            </a:pPr>
            <a:r>
              <a:rPr lang="en-US" sz="1800" b="1" dirty="0">
                <a:solidFill>
                  <a:schemeClr val="accent3"/>
                </a:solidFill>
              </a:rPr>
              <a:t>Not yet implemented</a:t>
            </a:r>
            <a:endParaRPr lang="en-US" sz="1800" dirty="0"/>
          </a:p>
        </p:txBody>
      </p:sp>
      <p:sp>
        <p:nvSpPr>
          <p:cNvPr id="11" name="Text 9"/>
          <p:cNvSpPr txBox="1"/>
          <p:nvPr/>
        </p:nvSpPr>
        <p:spPr>
          <a:xfrm>
            <a:off x="8402117" y="2304288"/>
            <a:ext cx="3012338" cy="21488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bg1"/>
                </a:solidFill>
              </a:rPr>
              <a:t>CPI into Kamino, MarginFi, Drift and Save</a:t>
            </a:r>
            <a:endParaRPr lang="en-US" sz="1350" dirty="0"/>
          </a:p>
          <a:p>
            <a:pPr marL="177800" indent="-177800">
              <a:spcAft>
                <a:spcPts val="700"/>
              </a:spcAft>
              <a:buSzPct val="100000"/>
              <a:buChar char="•"/>
            </a:pPr>
            <a:r>
              <a:rPr lang="en-US" sz="1350" dirty="0">
                <a:solidFill>
                  <a:schemeClr val="bg1"/>
                </a:solidFill>
              </a:rPr>
              <a:t>Market yield through the vault</a:t>
            </a:r>
            <a:endParaRPr lang="en-US" sz="1350" dirty="0"/>
          </a:p>
          <a:p>
            <a:pPr marL="177800" indent="-177800">
              <a:spcAft>
                <a:spcPts val="700"/>
              </a:spcAft>
              <a:buSzPct val="100000"/>
              <a:buChar char="•"/>
            </a:pPr>
            <a:r>
              <a:rPr lang="en-US" sz="1350" dirty="0">
                <a:solidFill>
                  <a:schemeClr val="bg1"/>
                </a:solidFill>
              </a:rPr>
              <a:t>Production security assurances</a:t>
            </a:r>
            <a:endParaRPr lang="en-US" sz="1350" dirty="0"/>
          </a:p>
        </p:txBody>
      </p:sp>
      <p:sp>
        <p:nvSpPr>
          <p:cNvPr id="12" name="Text 10"/>
          <p:cNvSpPr txBox="1"/>
          <p:nvPr/>
        </p:nvSpPr>
        <p:spPr>
          <a:xfrm>
            <a:off x="548640" y="4910328"/>
            <a:ext cx="3657600" cy="256032"/>
          </a:xfrm>
          <a:prstGeom prst="rect">
            <a:avLst/>
          </a:prstGeom>
          <a:noFill/>
          <a:ln/>
        </p:spPr>
        <p:txBody>
          <a:bodyPr wrap="square" lIns="0" tIns="0" rIns="0" bIns="0" rtlCol="0" anchor="t"/>
          <a:lstStyle/>
          <a:p>
            <a:pPr indent="0" marL="0">
              <a:buNone/>
            </a:pPr>
            <a:r>
              <a:rPr lang="en-US" sz="1050" b="1" spc="200" kern="0" dirty="0">
                <a:solidFill>
                  <a:schemeClr val="bg2"/>
                </a:solidFill>
              </a:rPr>
              <a:t>ALSO WORTH KNOWING</a:t>
            </a:r>
            <a:endParaRPr lang="en-US" sz="1050" dirty="0"/>
          </a:p>
        </p:txBody>
      </p:sp>
      <p:sp>
        <p:nvSpPr>
          <p:cNvPr id="13" name="Text 11"/>
          <p:cNvSpPr txBox="1"/>
          <p:nvPr/>
        </p:nvSpPr>
        <p:spPr>
          <a:xfrm>
            <a:off x="548640" y="5257800"/>
            <a:ext cx="3576218" cy="365760"/>
          </a:xfrm>
          <a:prstGeom prst="roundRect">
            <a:avLst>
              <a:gd name="adj" fmla="val 25000"/>
            </a:avLst>
          </a:prstGeom>
          <a:solidFill>
            <a:schemeClr val="accent5"/>
          </a:solidFill>
          <a:ln w="9525">
            <a:solidFill>
              <a:schemeClr val="accent6"/>
            </a:solidFill>
          </a:ln>
        </p:spPr>
        <p:txBody>
          <a:bodyPr wrap="square" lIns="0" tIns="0" rIns="0" bIns="0" rtlCol="0" anchor="ctr"/>
          <a:lstStyle/>
          <a:p>
            <a:pPr algn="ctr" indent="0" marL="0">
              <a:buNone/>
            </a:pPr>
            <a:r>
              <a:rPr lang="en-US" sz="1150" dirty="0">
                <a:solidFill>
                  <a:schemeClr val="bg1"/>
                </a:solidFill>
              </a:rPr>
              <a:t>One data source</a:t>
            </a:r>
            <a:endParaRPr lang="en-US" sz="1150" dirty="0"/>
          </a:p>
        </p:txBody>
      </p:sp>
      <p:sp>
        <p:nvSpPr>
          <p:cNvPr id="14" name="Text 12"/>
          <p:cNvSpPr txBox="1"/>
          <p:nvPr/>
        </p:nvSpPr>
        <p:spPr>
          <a:xfrm>
            <a:off x="4307738" y="5257800"/>
            <a:ext cx="3576218" cy="365760"/>
          </a:xfrm>
          <a:prstGeom prst="roundRect">
            <a:avLst>
              <a:gd name="adj" fmla="val 25000"/>
            </a:avLst>
          </a:prstGeom>
          <a:solidFill>
            <a:schemeClr val="accent5"/>
          </a:solidFill>
          <a:ln w="9525">
            <a:solidFill>
              <a:schemeClr val="accent6"/>
            </a:solidFill>
          </a:ln>
        </p:spPr>
        <p:txBody>
          <a:bodyPr wrap="square" lIns="0" tIns="0" rIns="0" bIns="0" rtlCol="0" anchor="ctr"/>
          <a:lstStyle/>
          <a:p>
            <a:pPr algn="ctr" indent="0" marL="0">
              <a:buNone/>
            </a:pPr>
            <a:r>
              <a:rPr lang="en-US" sz="1150" dirty="0">
                <a:solidFill>
                  <a:schemeClr val="bg1"/>
                </a:solidFill>
              </a:rPr>
              <a:t>Fixed network-fee estimates</a:t>
            </a:r>
            <a:endParaRPr lang="en-US" sz="1150" dirty="0"/>
          </a:p>
        </p:txBody>
      </p:sp>
      <p:sp>
        <p:nvSpPr>
          <p:cNvPr id="15" name="Text 13"/>
          <p:cNvSpPr txBox="1"/>
          <p:nvPr/>
        </p:nvSpPr>
        <p:spPr>
          <a:xfrm>
            <a:off x="8066837" y="5257800"/>
            <a:ext cx="3576218" cy="365760"/>
          </a:xfrm>
          <a:prstGeom prst="roundRect">
            <a:avLst>
              <a:gd name="adj" fmla="val 25000"/>
            </a:avLst>
          </a:prstGeom>
          <a:solidFill>
            <a:schemeClr val="accent5"/>
          </a:solidFill>
          <a:ln w="9525">
            <a:solidFill>
              <a:schemeClr val="accent6"/>
            </a:solidFill>
          </a:ln>
        </p:spPr>
        <p:txBody>
          <a:bodyPr wrap="square" lIns="0" tIns="0" rIns="0" bIns="0" rtlCol="0" anchor="ctr"/>
          <a:lstStyle/>
          <a:p>
            <a:pPr algn="ctr" indent="0" marL="0">
              <a:buNone/>
            </a:pPr>
            <a:r>
              <a:rPr lang="en-US" sz="1150" dirty="0">
                <a:solidFill>
                  <a:schemeClr val="bg1"/>
                </a:solidFill>
              </a:rPr>
              <a:t>Weights not back-tested</a:t>
            </a:r>
            <a:endParaRPr lang="en-US" sz="1150" dirty="0"/>
          </a:p>
        </p:txBody>
      </p:sp>
      <p:sp>
        <p:nvSpPr>
          <p:cNvPr id="16" name="Text 14"/>
          <p:cNvSpPr txBox="1"/>
          <p:nvPr/>
        </p:nvSpPr>
        <p:spPr>
          <a:xfrm>
            <a:off x="548640" y="5715000"/>
            <a:ext cx="3576218" cy="365760"/>
          </a:xfrm>
          <a:prstGeom prst="roundRect">
            <a:avLst>
              <a:gd name="adj" fmla="val 25000"/>
            </a:avLst>
          </a:prstGeom>
          <a:solidFill>
            <a:schemeClr val="accent5"/>
          </a:solidFill>
          <a:ln w="9525">
            <a:solidFill>
              <a:schemeClr val="accent6"/>
            </a:solidFill>
          </a:ln>
        </p:spPr>
        <p:txBody>
          <a:bodyPr wrap="square" lIns="0" tIns="0" rIns="0" bIns="0" rtlCol="0" anchor="ctr"/>
          <a:lstStyle/>
          <a:p>
            <a:pPr algn="ctr" indent="0" marL="0">
              <a:buNone/>
            </a:pPr>
            <a:r>
              <a:rPr lang="en-US" sz="1150" dirty="0">
                <a:solidFill>
                  <a:schemeClr val="bg1"/>
                </a:solidFill>
              </a:rPr>
              <a:t>Ranks on today's APY, not the 30-day average</a:t>
            </a:r>
            <a:endParaRPr lang="en-US" sz="1150" dirty="0"/>
          </a:p>
        </p:txBody>
      </p:sp>
      <p:sp>
        <p:nvSpPr>
          <p:cNvPr id="17" name="Text 15"/>
          <p:cNvSpPr txBox="1"/>
          <p:nvPr/>
        </p:nvSpPr>
        <p:spPr>
          <a:xfrm>
            <a:off x="4307738" y="5715000"/>
            <a:ext cx="3576218" cy="365760"/>
          </a:xfrm>
          <a:prstGeom prst="roundRect">
            <a:avLst>
              <a:gd name="adj" fmla="val 25000"/>
            </a:avLst>
          </a:prstGeom>
          <a:solidFill>
            <a:schemeClr val="accent5"/>
          </a:solidFill>
          <a:ln w="9525">
            <a:solidFill>
              <a:schemeClr val="accent6"/>
            </a:solidFill>
          </a:ln>
        </p:spPr>
        <p:txBody>
          <a:bodyPr wrap="square" lIns="0" tIns="0" rIns="0" bIns="0" rtlCol="0" anchor="ctr"/>
          <a:lstStyle/>
          <a:p>
            <a:pPr algn="ctr" indent="0" marL="0">
              <a:buNone/>
            </a:pPr>
            <a:r>
              <a:rPr lang="en-US" sz="1150" dirty="0">
                <a:solidFill>
                  <a:schemeClr val="bg1"/>
                </a:solidFill>
              </a:rPr>
              <a:t>Bridge costs and risk not modelled</a:t>
            </a:r>
            <a:endParaRPr lang="en-US" sz="1150" dirty="0"/>
          </a:p>
        </p:txBody>
      </p:sp>
      <p:sp>
        <p:nvSpPr>
          <p:cNvPr id="18" name="Text 16"/>
          <p:cNvSpPr txBox="1"/>
          <p:nvPr/>
        </p:nvSpPr>
        <p:spPr>
          <a:xfrm>
            <a:off x="8066837" y="5715000"/>
            <a:ext cx="3576218" cy="365760"/>
          </a:xfrm>
          <a:prstGeom prst="roundRect">
            <a:avLst>
              <a:gd name="adj" fmla="val 25000"/>
            </a:avLst>
          </a:prstGeom>
          <a:solidFill>
            <a:schemeClr val="accent5"/>
          </a:solidFill>
          <a:ln w="9525">
            <a:solidFill>
              <a:schemeClr val="accent6"/>
            </a:solidFill>
          </a:ln>
        </p:spPr>
        <p:txBody>
          <a:bodyPr wrap="square" lIns="0" tIns="0" rIns="0" bIns="0" rtlCol="0" anchor="ctr"/>
          <a:lstStyle/>
          <a:p>
            <a:pPr algn="ctr" indent="0" marL="0">
              <a:buNone/>
            </a:pPr>
            <a:r>
              <a:rPr lang="en-US" sz="1150" dirty="0">
                <a:solidFill>
                  <a:schemeClr val="bg1"/>
                </a:solidFill>
              </a:rPr>
              <a:t>Admin and upgrade-key risk</a:t>
            </a:r>
            <a:endParaRPr lang="en-US" sz="115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1051560"/>
          </a:xfrm>
          <a:prstGeom prst="rect">
            <a:avLst/>
          </a:prstGeom>
          <a:noFill/>
          <a:ln/>
        </p:spPr>
        <p:txBody>
          <a:bodyPr wrap="square" lIns="0" tIns="0" rIns="0" bIns="0" rtlCol="0" anchor="t"/>
          <a:lstStyle/>
          <a:p>
            <a:pPr algn="l" indent="0" marL="0">
              <a:lnSpc>
                <a:spcPct val="95000"/>
              </a:lnSpc>
              <a:buNone/>
            </a:pPr>
            <a:r>
              <a:rPr lang="en-US" sz="3200" b="1" dirty="0">
                <a:solidFill>
                  <a:schemeClr val="bg1"/>
                </a:solidFill>
              </a:rPr>
              <a:t>From useful comparison tool</a:t>
            </a:r>
            <a:endParaRPr lang="en-US" sz="3200" dirty="0"/>
          </a:p>
          <a:p>
            <a:pPr algn="l" indent="0" marL="0">
              <a:lnSpc>
                <a:spcPct val="95000"/>
              </a:lnSpc>
              <a:buNone/>
            </a:pPr>
            <a:r>
              <a:rPr lang="en-US" sz="3200" b="1" dirty="0">
                <a:solidFill>
                  <a:schemeClr val="bg1"/>
                </a:solidFill>
              </a:rPr>
              <a:t>to a more complete on-chain system</a:t>
            </a:r>
            <a:endParaRPr lang="en-US" sz="3200" dirty="0"/>
          </a:p>
        </p:txBody>
      </p:sp>
      <p:sp>
        <p:nvSpPr>
          <p:cNvPr id="3" name="timeline"/>
          <p:cNvSpPr/>
          <p:nvPr/>
        </p:nvSpPr>
        <p:spPr>
          <a:xfrm>
            <a:off x="731520" y="1892808"/>
            <a:ext cx="10728655" cy="0"/>
          </a:xfrm>
          <a:prstGeom prst="line">
            <a:avLst/>
          </a:prstGeom>
          <a:noFill/>
          <a:ln w="25400">
            <a:solidFill>
              <a:srgbClr val="26324F"/>
            </a:solidFill>
            <a:prstDash val="solid"/>
          </a:ln>
        </p:spPr>
      </p:sp>
      <p:sp>
        <p:nvSpPr>
          <p:cNvPr id="4" name="dot-0"/>
          <p:cNvSpPr/>
          <p:nvPr/>
        </p:nvSpPr>
        <p:spPr>
          <a:xfrm>
            <a:off x="731520" y="1773936"/>
            <a:ext cx="237744" cy="237744"/>
          </a:xfrm>
          <a:prstGeom prst="ellipse">
            <a:avLst/>
          </a:prstGeom>
          <a:solidFill>
            <a:schemeClr val="accent2"/>
          </a:solidFill>
          <a:ln w="25400">
            <a:solidFill>
              <a:schemeClr val="tx1"/>
            </a:solidFill>
            <a:prstDash val="solid"/>
          </a:ln>
        </p:spPr>
      </p:sp>
      <p:sp>
        <p:nvSpPr>
          <p:cNvPr id="5" name="Text 3"/>
          <p:cNvSpPr txBox="1"/>
          <p:nvPr/>
        </p:nvSpPr>
        <p:spPr>
          <a:xfrm>
            <a:off x="1097280" y="1755648"/>
            <a:ext cx="203294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PHASE 1</a:t>
            </a:r>
            <a:endParaRPr lang="en-US" sz="1100" dirty="0"/>
          </a:p>
        </p:txBody>
      </p:sp>
      <p:sp>
        <p:nvSpPr>
          <p:cNvPr id="6" name="phase-0"/>
          <p:cNvSpPr/>
          <p:nvPr/>
        </p:nvSpPr>
        <p:spPr>
          <a:xfrm>
            <a:off x="548640" y="2304288"/>
            <a:ext cx="2581580" cy="3611880"/>
          </a:xfrm>
          <a:prstGeom prst="roundRect">
            <a:avLst>
              <a:gd name="adj" fmla="val 4959"/>
            </a:avLst>
          </a:prstGeom>
          <a:solidFill>
            <a:schemeClr val="tx2"/>
          </a:solidFill>
          <a:ln w="9525">
            <a:solidFill>
              <a:schemeClr val="accent6"/>
            </a:solidFill>
            <a:prstDash val="solid"/>
          </a:ln>
        </p:spPr>
      </p:sp>
      <p:sp>
        <p:nvSpPr>
          <p:cNvPr id="7" name="Text 5"/>
          <p:cNvSpPr txBox="1"/>
          <p:nvPr/>
        </p:nvSpPr>
        <p:spPr>
          <a:xfrm>
            <a:off x="804672" y="2560320"/>
            <a:ext cx="2124380" cy="640080"/>
          </a:xfrm>
          <a:prstGeom prst="rect">
            <a:avLst/>
          </a:prstGeom>
          <a:noFill/>
          <a:ln/>
        </p:spPr>
        <p:txBody>
          <a:bodyPr wrap="square" lIns="0" tIns="0" rIns="0" bIns="0" rtlCol="0" anchor="t"/>
          <a:lstStyle/>
          <a:p>
            <a:pPr indent="0" marL="0">
              <a:buNone/>
            </a:pPr>
            <a:r>
              <a:rPr lang="en-US" sz="1700" b="1" dirty="0">
                <a:solidFill>
                  <a:schemeClr val="bg1"/>
                </a:solidFill>
              </a:rPr>
              <a:t>Safety and correctness</a:t>
            </a:r>
            <a:endParaRPr lang="en-US" sz="1700" dirty="0"/>
          </a:p>
        </p:txBody>
      </p:sp>
      <p:sp>
        <p:nvSpPr>
          <p:cNvPr id="8" name="Shape 6"/>
          <p:cNvSpPr/>
          <p:nvPr/>
        </p:nvSpPr>
        <p:spPr>
          <a:xfrm>
            <a:off x="822960" y="3438144"/>
            <a:ext cx="109728" cy="109728"/>
          </a:xfrm>
          <a:prstGeom prst="ellipse">
            <a:avLst/>
          </a:prstGeom>
          <a:solidFill>
            <a:schemeClr val="accent2"/>
          </a:solidFill>
          <a:ln w="12700">
            <a:solidFill>
              <a:schemeClr val="accent2"/>
            </a:solidFill>
            <a:prstDash val="solid"/>
          </a:ln>
        </p:spPr>
      </p:sp>
      <p:sp>
        <p:nvSpPr>
          <p:cNvPr id="9" name="Text 7"/>
          <p:cNvSpPr txBox="1"/>
          <p:nvPr/>
        </p:nvSpPr>
        <p:spPr>
          <a:xfrm>
            <a:off x="1051560" y="3355848"/>
            <a:ext cx="1850060" cy="713232"/>
          </a:xfrm>
          <a:prstGeom prst="rect">
            <a:avLst/>
          </a:prstGeom>
          <a:noFill/>
          <a:ln/>
        </p:spPr>
        <p:txBody>
          <a:bodyPr wrap="square" lIns="0" tIns="0" rIns="0" bIns="0" rtlCol="0" anchor="t"/>
          <a:lstStyle/>
          <a:p>
            <a:pPr indent="0" marL="0">
              <a:buNone/>
            </a:pPr>
            <a:r>
              <a:rPr lang="en-US" sz="1300" dirty="0">
                <a:solidFill>
                  <a:schemeClr val="bg1"/>
                </a:solidFill>
              </a:rPr>
              <a:t>Escape hatch if a vault stays paused</a:t>
            </a:r>
            <a:endParaRPr lang="en-US" sz="1300" dirty="0"/>
          </a:p>
        </p:txBody>
      </p:sp>
      <p:sp>
        <p:nvSpPr>
          <p:cNvPr id="10" name="Shape 8"/>
          <p:cNvSpPr/>
          <p:nvPr/>
        </p:nvSpPr>
        <p:spPr>
          <a:xfrm>
            <a:off x="822960" y="4242816"/>
            <a:ext cx="109728" cy="109728"/>
          </a:xfrm>
          <a:prstGeom prst="ellipse">
            <a:avLst/>
          </a:prstGeom>
          <a:solidFill>
            <a:schemeClr val="accent2"/>
          </a:solidFill>
          <a:ln w="12700">
            <a:solidFill>
              <a:schemeClr val="accent2"/>
            </a:solidFill>
            <a:prstDash val="solid"/>
          </a:ln>
        </p:spPr>
      </p:sp>
      <p:sp>
        <p:nvSpPr>
          <p:cNvPr id="11" name="Text 9"/>
          <p:cNvSpPr txBox="1"/>
          <p:nvPr/>
        </p:nvSpPr>
        <p:spPr>
          <a:xfrm>
            <a:off x="1051560" y="4160520"/>
            <a:ext cx="1850060" cy="713232"/>
          </a:xfrm>
          <a:prstGeom prst="rect">
            <a:avLst/>
          </a:prstGeom>
          <a:noFill/>
          <a:ln/>
        </p:spPr>
        <p:txBody>
          <a:bodyPr wrap="square" lIns="0" tIns="0" rIns="0" bIns="0" rtlCol="0" anchor="t"/>
          <a:lstStyle/>
          <a:p>
            <a:pPr indent="0" marL="0">
              <a:buNone/>
            </a:pPr>
            <a:r>
              <a:rPr lang="en-US" sz="1300" dirty="0">
                <a:solidFill>
                  <a:schemeClr val="bg1"/>
                </a:solidFill>
              </a:rPr>
              <a:t>close_position to refund rent</a:t>
            </a:r>
            <a:endParaRPr lang="en-US" sz="1300" dirty="0"/>
          </a:p>
        </p:txBody>
      </p:sp>
      <p:sp>
        <p:nvSpPr>
          <p:cNvPr id="12" name="Shape 10"/>
          <p:cNvSpPr/>
          <p:nvPr/>
        </p:nvSpPr>
        <p:spPr>
          <a:xfrm>
            <a:off x="822960" y="5047488"/>
            <a:ext cx="109728" cy="109728"/>
          </a:xfrm>
          <a:prstGeom prst="ellipse">
            <a:avLst/>
          </a:prstGeom>
          <a:solidFill>
            <a:schemeClr val="accent2"/>
          </a:solidFill>
          <a:ln w="12700">
            <a:solidFill>
              <a:schemeClr val="accent2"/>
            </a:solidFill>
            <a:prstDash val="solid"/>
          </a:ln>
        </p:spPr>
      </p:sp>
      <p:sp>
        <p:nvSpPr>
          <p:cNvPr id="13" name="Text 11"/>
          <p:cNvSpPr txBox="1"/>
          <p:nvPr/>
        </p:nvSpPr>
        <p:spPr>
          <a:xfrm>
            <a:off x="1051560" y="4965192"/>
            <a:ext cx="1850060" cy="713232"/>
          </a:xfrm>
          <a:prstGeom prst="rect">
            <a:avLst/>
          </a:prstGeom>
          <a:noFill/>
          <a:ln/>
        </p:spPr>
        <p:txBody>
          <a:bodyPr wrap="square" lIns="0" tIns="0" rIns="0" bIns="0" rtlCol="0" anchor="t"/>
          <a:lstStyle/>
          <a:p>
            <a:pPr indent="0" marL="0">
              <a:buNone/>
            </a:pPr>
            <a:r>
              <a:rPr lang="en-US" sz="1300" dirty="0">
                <a:solidFill>
                  <a:schemeClr val="bg1"/>
                </a:solidFill>
              </a:rPr>
              <a:t>Fuzz the share math and limits</a:t>
            </a:r>
            <a:endParaRPr lang="en-US" sz="1300" dirty="0"/>
          </a:p>
        </p:txBody>
      </p:sp>
      <p:sp>
        <p:nvSpPr>
          <p:cNvPr id="14" name="dot-1"/>
          <p:cNvSpPr/>
          <p:nvPr/>
        </p:nvSpPr>
        <p:spPr>
          <a:xfrm>
            <a:off x="3569132" y="1773936"/>
            <a:ext cx="237744" cy="237744"/>
          </a:xfrm>
          <a:prstGeom prst="ellipse">
            <a:avLst/>
          </a:prstGeom>
          <a:solidFill>
            <a:schemeClr val="accent2"/>
          </a:solidFill>
          <a:ln w="25400">
            <a:solidFill>
              <a:schemeClr val="tx1"/>
            </a:solidFill>
            <a:prstDash val="solid"/>
          </a:ln>
        </p:spPr>
      </p:sp>
      <p:sp>
        <p:nvSpPr>
          <p:cNvPr id="15" name="Text 13"/>
          <p:cNvSpPr txBox="1"/>
          <p:nvPr/>
        </p:nvSpPr>
        <p:spPr>
          <a:xfrm>
            <a:off x="3934892" y="1755648"/>
            <a:ext cx="203294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PHASE 2</a:t>
            </a:r>
            <a:endParaRPr lang="en-US" sz="1100" dirty="0"/>
          </a:p>
        </p:txBody>
      </p:sp>
      <p:sp>
        <p:nvSpPr>
          <p:cNvPr id="16" name="phase-1"/>
          <p:cNvSpPr/>
          <p:nvPr/>
        </p:nvSpPr>
        <p:spPr>
          <a:xfrm>
            <a:off x="3386252" y="2304288"/>
            <a:ext cx="2581580" cy="3611880"/>
          </a:xfrm>
          <a:prstGeom prst="roundRect">
            <a:avLst>
              <a:gd name="adj" fmla="val 4959"/>
            </a:avLst>
          </a:prstGeom>
          <a:solidFill>
            <a:schemeClr val="tx2"/>
          </a:solidFill>
          <a:ln w="9525">
            <a:solidFill>
              <a:schemeClr val="accent6"/>
            </a:solidFill>
            <a:prstDash val="solid"/>
          </a:ln>
        </p:spPr>
      </p:sp>
      <p:sp>
        <p:nvSpPr>
          <p:cNvPr id="17" name="Text 15"/>
          <p:cNvSpPr txBox="1"/>
          <p:nvPr/>
        </p:nvSpPr>
        <p:spPr>
          <a:xfrm>
            <a:off x="3642284" y="2560320"/>
            <a:ext cx="2124380" cy="640080"/>
          </a:xfrm>
          <a:prstGeom prst="rect">
            <a:avLst/>
          </a:prstGeom>
          <a:noFill/>
          <a:ln/>
        </p:spPr>
        <p:txBody>
          <a:bodyPr wrap="square" lIns="0" tIns="0" rIns="0" bIns="0" rtlCol="0" anchor="t"/>
          <a:lstStyle/>
          <a:p>
            <a:pPr indent="0" marL="0">
              <a:buNone/>
            </a:pPr>
            <a:r>
              <a:rPr lang="en-US" sz="1700" b="1" dirty="0">
                <a:solidFill>
                  <a:schemeClr val="bg1"/>
                </a:solidFill>
              </a:rPr>
              <a:t>Better recommendations</a:t>
            </a:r>
            <a:endParaRPr lang="en-US" sz="1700" dirty="0"/>
          </a:p>
        </p:txBody>
      </p:sp>
      <p:sp>
        <p:nvSpPr>
          <p:cNvPr id="18" name="Shape 16"/>
          <p:cNvSpPr/>
          <p:nvPr/>
        </p:nvSpPr>
        <p:spPr>
          <a:xfrm>
            <a:off x="3660572" y="3438144"/>
            <a:ext cx="109728" cy="109728"/>
          </a:xfrm>
          <a:prstGeom prst="ellipse">
            <a:avLst/>
          </a:prstGeom>
          <a:solidFill>
            <a:schemeClr val="accent2"/>
          </a:solidFill>
          <a:ln w="12700">
            <a:solidFill>
              <a:schemeClr val="accent2"/>
            </a:solidFill>
            <a:prstDash val="solid"/>
          </a:ln>
        </p:spPr>
      </p:sp>
      <p:sp>
        <p:nvSpPr>
          <p:cNvPr id="19" name="Text 17"/>
          <p:cNvSpPr txBox="1"/>
          <p:nvPr/>
        </p:nvSpPr>
        <p:spPr>
          <a:xfrm>
            <a:off x="3889172" y="3355848"/>
            <a:ext cx="1850060" cy="713232"/>
          </a:xfrm>
          <a:prstGeom prst="rect">
            <a:avLst/>
          </a:prstGeom>
          <a:noFill/>
          <a:ln/>
        </p:spPr>
        <p:txBody>
          <a:bodyPr wrap="square" lIns="0" tIns="0" rIns="0" bIns="0" rtlCol="0" anchor="t"/>
          <a:lstStyle/>
          <a:p>
            <a:pPr indent="0" marL="0">
              <a:buNone/>
            </a:pPr>
            <a:r>
              <a:rPr lang="en-US" sz="1300" dirty="0">
                <a:solidFill>
                  <a:schemeClr val="bg1"/>
                </a:solidFill>
              </a:rPr>
              <a:t>Rank on the 30-day average APY</a:t>
            </a:r>
            <a:endParaRPr lang="en-US" sz="1300" dirty="0"/>
          </a:p>
        </p:txBody>
      </p:sp>
      <p:sp>
        <p:nvSpPr>
          <p:cNvPr id="20" name="Shape 18"/>
          <p:cNvSpPr/>
          <p:nvPr/>
        </p:nvSpPr>
        <p:spPr>
          <a:xfrm>
            <a:off x="3660572" y="4242816"/>
            <a:ext cx="109728" cy="109728"/>
          </a:xfrm>
          <a:prstGeom prst="ellipse">
            <a:avLst/>
          </a:prstGeom>
          <a:solidFill>
            <a:schemeClr val="accent2"/>
          </a:solidFill>
          <a:ln w="12700">
            <a:solidFill>
              <a:schemeClr val="accent2"/>
            </a:solidFill>
            <a:prstDash val="solid"/>
          </a:ln>
        </p:spPr>
      </p:sp>
      <p:sp>
        <p:nvSpPr>
          <p:cNvPr id="21" name="Text 19"/>
          <p:cNvSpPr txBox="1"/>
          <p:nvPr/>
        </p:nvSpPr>
        <p:spPr>
          <a:xfrm>
            <a:off x="3889172" y="4160520"/>
            <a:ext cx="1850060" cy="713232"/>
          </a:xfrm>
          <a:prstGeom prst="rect">
            <a:avLst/>
          </a:prstGeom>
          <a:noFill/>
          <a:ln/>
        </p:spPr>
        <p:txBody>
          <a:bodyPr wrap="square" lIns="0" tIns="0" rIns="0" bIns="0" rtlCol="0" anchor="t"/>
          <a:lstStyle/>
          <a:p>
            <a:pPr indent="0" marL="0">
              <a:buNone/>
            </a:pPr>
            <a:r>
              <a:rPr lang="en-US" sz="1300" dirty="0">
                <a:solidFill>
                  <a:schemeClr val="bg1"/>
                </a:solidFill>
              </a:rPr>
              <a:t>Flag options that need funds moved between networks</a:t>
            </a:r>
            <a:endParaRPr lang="en-US" sz="1300" dirty="0"/>
          </a:p>
        </p:txBody>
      </p:sp>
      <p:sp>
        <p:nvSpPr>
          <p:cNvPr id="22" name="Shape 20"/>
          <p:cNvSpPr/>
          <p:nvPr/>
        </p:nvSpPr>
        <p:spPr>
          <a:xfrm>
            <a:off x="3660572" y="5047488"/>
            <a:ext cx="109728" cy="109728"/>
          </a:xfrm>
          <a:prstGeom prst="ellipse">
            <a:avLst/>
          </a:prstGeom>
          <a:solidFill>
            <a:schemeClr val="accent2"/>
          </a:solidFill>
          <a:ln w="12700">
            <a:solidFill>
              <a:schemeClr val="accent2"/>
            </a:solidFill>
            <a:prstDash val="solid"/>
          </a:ln>
        </p:spPr>
      </p:sp>
      <p:sp>
        <p:nvSpPr>
          <p:cNvPr id="23" name="Text 21"/>
          <p:cNvSpPr txBox="1"/>
          <p:nvPr/>
        </p:nvSpPr>
        <p:spPr>
          <a:xfrm>
            <a:off x="3889172" y="4965192"/>
            <a:ext cx="1850060" cy="713232"/>
          </a:xfrm>
          <a:prstGeom prst="rect">
            <a:avLst/>
          </a:prstGeom>
          <a:noFill/>
          <a:ln/>
        </p:spPr>
        <p:txBody>
          <a:bodyPr wrap="square" lIns="0" tIns="0" rIns="0" bIns="0" rtlCol="0" anchor="t"/>
          <a:lstStyle/>
          <a:p>
            <a:pPr indent="0" marL="0">
              <a:buNone/>
            </a:pPr>
            <a:r>
              <a:rPr lang="en-US" sz="1300" dirty="0">
                <a:solidFill>
                  <a:schemeClr val="bg1"/>
                </a:solidFill>
              </a:rPr>
              <a:t>Back-test grades against past exploits</a:t>
            </a:r>
            <a:endParaRPr lang="en-US" sz="1300" dirty="0"/>
          </a:p>
        </p:txBody>
      </p:sp>
      <p:sp>
        <p:nvSpPr>
          <p:cNvPr id="24" name="dot-2"/>
          <p:cNvSpPr/>
          <p:nvPr/>
        </p:nvSpPr>
        <p:spPr>
          <a:xfrm>
            <a:off x="6406744" y="1773936"/>
            <a:ext cx="237744" cy="237744"/>
          </a:xfrm>
          <a:prstGeom prst="ellipse">
            <a:avLst/>
          </a:prstGeom>
          <a:solidFill>
            <a:schemeClr val="accent1"/>
          </a:solidFill>
          <a:ln w="25400">
            <a:solidFill>
              <a:schemeClr val="tx1"/>
            </a:solidFill>
            <a:prstDash val="solid"/>
          </a:ln>
        </p:spPr>
      </p:sp>
      <p:sp>
        <p:nvSpPr>
          <p:cNvPr id="25" name="Text 23"/>
          <p:cNvSpPr txBox="1"/>
          <p:nvPr/>
        </p:nvSpPr>
        <p:spPr>
          <a:xfrm>
            <a:off x="6772504" y="1755648"/>
            <a:ext cx="203294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PHASE 3</a:t>
            </a:r>
            <a:endParaRPr lang="en-US" sz="1100" dirty="0"/>
          </a:p>
        </p:txBody>
      </p:sp>
      <p:sp>
        <p:nvSpPr>
          <p:cNvPr id="26" name="phase-2"/>
          <p:cNvSpPr/>
          <p:nvPr/>
        </p:nvSpPr>
        <p:spPr>
          <a:xfrm>
            <a:off x="6223864" y="2304288"/>
            <a:ext cx="2581580" cy="3611880"/>
          </a:xfrm>
          <a:prstGeom prst="roundRect">
            <a:avLst>
              <a:gd name="adj" fmla="val 4959"/>
            </a:avLst>
          </a:prstGeom>
          <a:solidFill>
            <a:schemeClr val="tx2"/>
          </a:solidFill>
          <a:ln w="9525">
            <a:solidFill>
              <a:schemeClr val="accent6"/>
            </a:solidFill>
            <a:prstDash val="solid"/>
          </a:ln>
        </p:spPr>
      </p:sp>
      <p:sp>
        <p:nvSpPr>
          <p:cNvPr id="27" name="Text 25"/>
          <p:cNvSpPr txBox="1"/>
          <p:nvPr/>
        </p:nvSpPr>
        <p:spPr>
          <a:xfrm>
            <a:off x="6479896" y="2560320"/>
            <a:ext cx="2124380" cy="640080"/>
          </a:xfrm>
          <a:prstGeom prst="rect">
            <a:avLst/>
          </a:prstGeom>
          <a:noFill/>
          <a:ln/>
        </p:spPr>
        <p:txBody>
          <a:bodyPr wrap="square" lIns="0" tIns="0" rIns="0" bIns="0" rtlCol="0" anchor="t"/>
          <a:lstStyle/>
          <a:p>
            <a:pPr indent="0" marL="0">
              <a:buNone/>
            </a:pPr>
            <a:r>
              <a:rPr lang="en-US" sz="1700" b="1" dirty="0">
                <a:solidFill>
                  <a:schemeClr val="bg1"/>
                </a:solidFill>
              </a:rPr>
              <a:t>Vault integration</a:t>
            </a:r>
            <a:endParaRPr lang="en-US" sz="1700" dirty="0"/>
          </a:p>
        </p:txBody>
      </p:sp>
      <p:sp>
        <p:nvSpPr>
          <p:cNvPr id="28" name="Shape 26"/>
          <p:cNvSpPr/>
          <p:nvPr/>
        </p:nvSpPr>
        <p:spPr>
          <a:xfrm>
            <a:off x="6498184" y="3438144"/>
            <a:ext cx="109728" cy="109728"/>
          </a:xfrm>
          <a:prstGeom prst="ellipse">
            <a:avLst/>
          </a:prstGeom>
          <a:solidFill>
            <a:schemeClr val="accent1"/>
          </a:solidFill>
          <a:ln w="12700">
            <a:solidFill>
              <a:schemeClr val="accent1"/>
            </a:solidFill>
            <a:prstDash val="solid"/>
          </a:ln>
        </p:spPr>
      </p:sp>
      <p:sp>
        <p:nvSpPr>
          <p:cNvPr id="29" name="Text 27"/>
          <p:cNvSpPr txBox="1"/>
          <p:nvPr/>
        </p:nvSpPr>
        <p:spPr>
          <a:xfrm>
            <a:off x="6726784" y="3355848"/>
            <a:ext cx="1850060" cy="713232"/>
          </a:xfrm>
          <a:prstGeom prst="rect">
            <a:avLst/>
          </a:prstGeom>
          <a:noFill/>
          <a:ln/>
        </p:spPr>
        <p:txBody>
          <a:bodyPr wrap="square" lIns="0" tIns="0" rIns="0" bIns="0" rtlCol="0" anchor="t"/>
          <a:lstStyle/>
          <a:p>
            <a:pPr indent="0" marL="0">
              <a:buNone/>
            </a:pPr>
            <a:r>
              <a:rPr lang="en-US" sz="1300" dirty="0">
                <a:solidFill>
                  <a:schemeClr val="bg1"/>
                </a:solidFill>
              </a:rPr>
              <a:t>Swap a practice pool for one real Kamino strategy</a:t>
            </a:r>
            <a:endParaRPr lang="en-US" sz="1300" dirty="0"/>
          </a:p>
        </p:txBody>
      </p:sp>
      <p:sp>
        <p:nvSpPr>
          <p:cNvPr id="30" name="Shape 28"/>
          <p:cNvSpPr/>
          <p:nvPr/>
        </p:nvSpPr>
        <p:spPr>
          <a:xfrm>
            <a:off x="6498184" y="4242816"/>
            <a:ext cx="109728" cy="109728"/>
          </a:xfrm>
          <a:prstGeom prst="ellipse">
            <a:avLst/>
          </a:prstGeom>
          <a:solidFill>
            <a:schemeClr val="accent1"/>
          </a:solidFill>
          <a:ln w="12700">
            <a:solidFill>
              <a:schemeClr val="accent1"/>
            </a:solidFill>
            <a:prstDash val="solid"/>
          </a:ln>
        </p:spPr>
      </p:sp>
      <p:sp>
        <p:nvSpPr>
          <p:cNvPr id="31" name="Text 29"/>
          <p:cNvSpPr txBox="1"/>
          <p:nvPr/>
        </p:nvSpPr>
        <p:spPr>
          <a:xfrm>
            <a:off x="6726784" y="4160520"/>
            <a:ext cx="1850060" cy="713232"/>
          </a:xfrm>
          <a:prstGeom prst="rect">
            <a:avLst/>
          </a:prstGeom>
          <a:noFill/>
          <a:ln/>
        </p:spPr>
        <p:txBody>
          <a:bodyPr wrap="square" lIns="0" tIns="0" rIns="0" bIns="0" rtlCol="0" anchor="t"/>
          <a:lstStyle/>
          <a:p>
            <a:pPr indent="0" marL="0">
              <a:buNone/>
            </a:pPr>
            <a:r>
              <a:rPr lang="en-US" sz="1300" dirty="0">
                <a:solidFill>
                  <a:schemeClr val="bg1"/>
                </a:solidFill>
              </a:rPr>
              <a:t>Tested against the real Kamino program on a local validator</a:t>
            </a:r>
            <a:endParaRPr lang="en-US" sz="1300" dirty="0"/>
          </a:p>
        </p:txBody>
      </p:sp>
      <p:sp>
        <p:nvSpPr>
          <p:cNvPr id="32" name="Shape 30"/>
          <p:cNvSpPr/>
          <p:nvPr/>
        </p:nvSpPr>
        <p:spPr>
          <a:xfrm>
            <a:off x="6498184" y="5047488"/>
            <a:ext cx="109728" cy="109728"/>
          </a:xfrm>
          <a:prstGeom prst="ellipse">
            <a:avLst/>
          </a:prstGeom>
          <a:solidFill>
            <a:schemeClr val="accent1"/>
          </a:solidFill>
          <a:ln w="12700">
            <a:solidFill>
              <a:schemeClr val="accent1"/>
            </a:solidFill>
            <a:prstDash val="solid"/>
          </a:ln>
        </p:spPr>
      </p:sp>
      <p:sp>
        <p:nvSpPr>
          <p:cNvPr id="33" name="Text 31"/>
          <p:cNvSpPr txBox="1"/>
          <p:nvPr/>
        </p:nvSpPr>
        <p:spPr>
          <a:xfrm>
            <a:off x="6726784" y="4965192"/>
            <a:ext cx="1850060" cy="713232"/>
          </a:xfrm>
          <a:prstGeom prst="rect">
            <a:avLst/>
          </a:prstGeom>
          <a:noFill/>
          <a:ln/>
        </p:spPr>
        <p:txBody>
          <a:bodyPr wrap="square" lIns="0" tIns="0" rIns="0" bIns="0" rtlCol="0" anchor="t"/>
          <a:lstStyle/>
          <a:p>
            <a:pPr indent="0" marL="0">
              <a:buNone/>
            </a:pPr>
            <a:r>
              <a:rPr lang="en-US" sz="1300" dirty="0">
                <a:solidFill>
                  <a:schemeClr val="bg1"/>
                </a:solidFill>
              </a:rPr>
              <a:t>Same rebalance and on-chain balances</a:t>
            </a:r>
            <a:endParaRPr lang="en-US" sz="1300" dirty="0"/>
          </a:p>
        </p:txBody>
      </p:sp>
      <p:sp>
        <p:nvSpPr>
          <p:cNvPr id="34" name="dot-3"/>
          <p:cNvSpPr/>
          <p:nvPr/>
        </p:nvSpPr>
        <p:spPr>
          <a:xfrm>
            <a:off x="9244355" y="1773936"/>
            <a:ext cx="237744" cy="237744"/>
          </a:xfrm>
          <a:prstGeom prst="ellipse">
            <a:avLst/>
          </a:prstGeom>
          <a:solidFill>
            <a:schemeClr val="accent1"/>
          </a:solidFill>
          <a:ln w="25400">
            <a:solidFill>
              <a:schemeClr val="tx1"/>
            </a:solidFill>
            <a:prstDash val="solid"/>
          </a:ln>
        </p:spPr>
      </p:sp>
      <p:sp>
        <p:nvSpPr>
          <p:cNvPr id="35" name="Text 33"/>
          <p:cNvSpPr txBox="1"/>
          <p:nvPr/>
        </p:nvSpPr>
        <p:spPr>
          <a:xfrm>
            <a:off x="9610115" y="1755648"/>
            <a:ext cx="203294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PHASE 4</a:t>
            </a:r>
            <a:endParaRPr lang="en-US" sz="1100" dirty="0"/>
          </a:p>
        </p:txBody>
      </p:sp>
      <p:sp>
        <p:nvSpPr>
          <p:cNvPr id="36" name="phase-3"/>
          <p:cNvSpPr/>
          <p:nvPr/>
        </p:nvSpPr>
        <p:spPr>
          <a:xfrm>
            <a:off x="9061475" y="2304288"/>
            <a:ext cx="2581580" cy="3611880"/>
          </a:xfrm>
          <a:prstGeom prst="roundRect">
            <a:avLst>
              <a:gd name="adj" fmla="val 4959"/>
            </a:avLst>
          </a:prstGeom>
          <a:solidFill>
            <a:schemeClr val="tx2"/>
          </a:solidFill>
          <a:ln w="9525">
            <a:solidFill>
              <a:schemeClr val="accent6"/>
            </a:solidFill>
            <a:prstDash val="solid"/>
          </a:ln>
        </p:spPr>
      </p:sp>
      <p:sp>
        <p:nvSpPr>
          <p:cNvPr id="37" name="Text 35"/>
          <p:cNvSpPr txBox="1"/>
          <p:nvPr/>
        </p:nvSpPr>
        <p:spPr>
          <a:xfrm>
            <a:off x="9317507" y="2560320"/>
            <a:ext cx="2124380" cy="640080"/>
          </a:xfrm>
          <a:prstGeom prst="rect">
            <a:avLst/>
          </a:prstGeom>
          <a:noFill/>
          <a:ln/>
        </p:spPr>
        <p:txBody>
          <a:bodyPr wrap="square" lIns="0" tIns="0" rIns="0" bIns="0" rtlCol="0" anchor="t"/>
          <a:lstStyle/>
          <a:p>
            <a:pPr indent="0" marL="0">
              <a:buNone/>
            </a:pPr>
            <a:r>
              <a:rPr lang="en-US" sz="1700" b="1" dirty="0">
                <a:solidFill>
                  <a:schemeClr val="bg1"/>
                </a:solidFill>
              </a:rPr>
              <a:t>Admin and expansion</a:t>
            </a:r>
            <a:endParaRPr lang="en-US" sz="1700" dirty="0"/>
          </a:p>
        </p:txBody>
      </p:sp>
      <p:sp>
        <p:nvSpPr>
          <p:cNvPr id="38" name="Shape 36"/>
          <p:cNvSpPr/>
          <p:nvPr/>
        </p:nvSpPr>
        <p:spPr>
          <a:xfrm>
            <a:off x="9335795" y="3438144"/>
            <a:ext cx="109728" cy="109728"/>
          </a:xfrm>
          <a:prstGeom prst="ellipse">
            <a:avLst/>
          </a:prstGeom>
          <a:solidFill>
            <a:schemeClr val="accent1"/>
          </a:solidFill>
          <a:ln w="12700">
            <a:solidFill>
              <a:schemeClr val="accent1"/>
            </a:solidFill>
            <a:prstDash val="solid"/>
          </a:ln>
        </p:spPr>
      </p:sp>
      <p:sp>
        <p:nvSpPr>
          <p:cNvPr id="39" name="Text 37"/>
          <p:cNvSpPr txBox="1"/>
          <p:nvPr/>
        </p:nvSpPr>
        <p:spPr>
          <a:xfrm>
            <a:off x="9564395" y="3355848"/>
            <a:ext cx="1850060" cy="713232"/>
          </a:xfrm>
          <a:prstGeom prst="rect">
            <a:avLst/>
          </a:prstGeom>
          <a:noFill/>
          <a:ln/>
        </p:spPr>
        <p:txBody>
          <a:bodyPr wrap="square" lIns="0" tIns="0" rIns="0" bIns="0" rtlCol="0" anchor="t"/>
          <a:lstStyle/>
          <a:p>
            <a:pPr indent="0" marL="0">
              <a:buNone/>
            </a:pPr>
            <a:r>
              <a:rPr lang="en-US" sz="1300" dirty="0">
                <a:solidFill>
                  <a:schemeClr val="bg1"/>
                </a:solidFill>
              </a:rPr>
              <a:t>Multisig authority</a:t>
            </a:r>
            <a:endParaRPr lang="en-US" sz="1300" dirty="0"/>
          </a:p>
        </p:txBody>
      </p:sp>
      <p:sp>
        <p:nvSpPr>
          <p:cNvPr id="40" name="Shape 38"/>
          <p:cNvSpPr/>
          <p:nvPr/>
        </p:nvSpPr>
        <p:spPr>
          <a:xfrm>
            <a:off x="9335795" y="4242816"/>
            <a:ext cx="109728" cy="109728"/>
          </a:xfrm>
          <a:prstGeom prst="ellipse">
            <a:avLst/>
          </a:prstGeom>
          <a:solidFill>
            <a:schemeClr val="accent1"/>
          </a:solidFill>
          <a:ln w="12700">
            <a:solidFill>
              <a:schemeClr val="accent1"/>
            </a:solidFill>
            <a:prstDash val="solid"/>
          </a:ln>
        </p:spPr>
      </p:sp>
      <p:sp>
        <p:nvSpPr>
          <p:cNvPr id="41" name="Text 39"/>
          <p:cNvSpPr txBox="1"/>
          <p:nvPr/>
        </p:nvSpPr>
        <p:spPr>
          <a:xfrm>
            <a:off x="9564395" y="4160520"/>
            <a:ext cx="1850060" cy="713232"/>
          </a:xfrm>
          <a:prstGeom prst="rect">
            <a:avLst/>
          </a:prstGeom>
          <a:noFill/>
          <a:ln/>
        </p:spPr>
        <p:txBody>
          <a:bodyPr wrap="square" lIns="0" tIns="0" rIns="0" bIns="0" rtlCol="0" anchor="t"/>
          <a:lstStyle/>
          <a:p>
            <a:pPr indent="0" marL="0">
              <a:buNone/>
            </a:pPr>
            <a:r>
              <a:rPr lang="en-US" sz="1300" dirty="0">
                <a:solidFill>
                  <a:schemeClr val="bg1"/>
                </a:solidFill>
              </a:rPr>
              <a:t>Delay on strategy changes</a:t>
            </a:r>
            <a:endParaRPr lang="en-US" sz="1300" dirty="0"/>
          </a:p>
        </p:txBody>
      </p:sp>
      <p:sp>
        <p:nvSpPr>
          <p:cNvPr id="42" name="Shape 40"/>
          <p:cNvSpPr/>
          <p:nvPr/>
        </p:nvSpPr>
        <p:spPr>
          <a:xfrm>
            <a:off x="9335795" y="5047488"/>
            <a:ext cx="109728" cy="109728"/>
          </a:xfrm>
          <a:prstGeom prst="ellipse">
            <a:avLst/>
          </a:prstGeom>
          <a:solidFill>
            <a:schemeClr val="accent1"/>
          </a:solidFill>
          <a:ln w="12700">
            <a:solidFill>
              <a:schemeClr val="accent1"/>
            </a:solidFill>
            <a:prstDash val="solid"/>
          </a:ln>
        </p:spPr>
      </p:sp>
      <p:sp>
        <p:nvSpPr>
          <p:cNvPr id="43" name="Text 41"/>
          <p:cNvSpPr txBox="1"/>
          <p:nvPr/>
        </p:nvSpPr>
        <p:spPr>
          <a:xfrm>
            <a:off x="9564395" y="4965192"/>
            <a:ext cx="1850060" cy="713232"/>
          </a:xfrm>
          <a:prstGeom prst="rect">
            <a:avLst/>
          </a:prstGeom>
          <a:noFill/>
          <a:ln/>
        </p:spPr>
        <p:txBody>
          <a:bodyPr wrap="square" lIns="0" tIns="0" rIns="0" bIns="0" rtlCol="0" anchor="t"/>
          <a:lstStyle/>
          <a:p>
            <a:pPr indent="0" marL="0">
              <a:buNone/>
            </a:pPr>
            <a:r>
              <a:rPr lang="en-US" sz="1300" dirty="0">
                <a:solidFill>
                  <a:schemeClr val="bg1"/>
                </a:solidFill>
              </a:rPr>
              <a:t>Alerts, read-only portfolio, more tokens</a:t>
            </a:r>
            <a:endParaRPr lang="en-US" sz="1300" dirty="0"/>
          </a:p>
        </p:txBody>
      </p:sp>
      <p:sp>
        <p:nvSpPr>
          <p:cNvPr id="44" name="planned-chip"/>
          <p:cNvSpPr txBox="1"/>
          <p:nvPr/>
        </p:nvSpPr>
        <p:spPr>
          <a:xfrm>
            <a:off x="548640" y="6053328"/>
            <a:ext cx="1600200" cy="292608"/>
          </a:xfrm>
          <a:prstGeom prst="roundRect">
            <a:avLst>
              <a:gd name="adj" fmla="val 50000"/>
            </a:avLst>
          </a:prstGeom>
          <a:solidFill>
            <a:schemeClr val="tx1"/>
          </a:solidFill>
          <a:ln w="12700">
            <a:solidFill>
              <a:schemeClr val="accent3"/>
            </a:solidFill>
          </a:ln>
        </p:spPr>
        <p:txBody>
          <a:bodyPr wrap="square" lIns="0" tIns="0" rIns="0" bIns="0" rtlCol="0" anchor="ctr"/>
          <a:lstStyle/>
          <a:p>
            <a:pPr algn="ctr" indent="0" marL="0">
              <a:buNone/>
            </a:pPr>
            <a:r>
              <a:rPr lang="en-US" sz="950" b="1" spc="100" kern="0" dirty="0">
                <a:solidFill>
                  <a:schemeClr val="accent3"/>
                </a:solidFill>
              </a:rPr>
              <a:t>PLANNED WORK</a:t>
            </a:r>
            <a:endParaRPr lang="en-US" sz="950" dirty="0"/>
          </a:p>
        </p:txBody>
      </p:sp>
      <p:sp>
        <p:nvSpPr>
          <p:cNvPr id="45" name="Text 43"/>
          <p:cNvSpPr txBox="1"/>
          <p:nvPr/>
        </p:nvSpPr>
        <p:spPr>
          <a:xfrm>
            <a:off x="2377440" y="6053328"/>
            <a:ext cx="9265615" cy="292608"/>
          </a:xfrm>
          <a:prstGeom prst="rect">
            <a:avLst/>
          </a:prstGeom>
          <a:noFill/>
          <a:ln/>
        </p:spPr>
        <p:txBody>
          <a:bodyPr wrap="square" lIns="0" tIns="0" rIns="0" bIns="0" rtlCol="0" anchor="ctr"/>
          <a:lstStyle/>
          <a:p>
            <a:pPr indent="0" marL="0">
              <a:buNone/>
            </a:pPr>
            <a:r>
              <a:rPr lang="en-US" sz="1200" i="1" dirty="0">
                <a:solidFill>
                  <a:schemeClr val="bg2"/>
                </a:solidFill>
              </a:rPr>
              <a:t>None of this is built yet. Safety first, then the feature that makes the vault real.</a:t>
            </a:r>
            <a:endParaRPr lang="en-US" sz="1200" dirty="0"/>
          </a:p>
        </p:txBody>
      </p:sp>
      <p:sp>
        <p:nvSpPr>
          <p:cNvPr id="25" name="Slide Number Placeholder 0"/>
          <p:cNvSpPr>
            <a:spLocks noGrp="1"/>
          </p:cNvSpPr>
          <p:nvPr>
            <p:ph type="sldNum" sz="quarter" idx="4294967295"/>
          </p:nvPr>
        </p:nvSpPr>
        <p:spPr>
          <a:xfrm>
            <a:off x="11094415" y="6373368"/>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tableSave logo">    </p:cNvPr>
          <p:cNvPicPr>
            <a:picLocks noChangeAspect="1"/>
          </p:cNvPicPr>
          <p:nvPr/>
        </p:nvPicPr>
        <p:blipFill>
          <a:blip r:embed="rId1"/>
          <a:stretch>
            <a:fillRect/>
          </a:stretch>
        </p:blipFill>
        <p:spPr>
          <a:xfrm>
            <a:off x="548640" y="566928"/>
            <a:ext cx="2581835" cy="329184"/>
          </a:xfrm>
          <a:prstGeom prst="rect">
            <a:avLst/>
          </a:prstGeom>
        </p:spPr>
      </p:pic>
      <p:sp>
        <p:nvSpPr>
          <p:cNvPr id="3" name="Text 0"/>
          <p:cNvSpPr txBox="1"/>
          <p:nvPr/>
        </p:nvSpPr>
        <p:spPr>
          <a:xfrm>
            <a:off x="548640" y="1417320"/>
            <a:ext cx="7498080" cy="1554480"/>
          </a:xfrm>
          <a:prstGeom prst="rect">
            <a:avLst/>
          </a:prstGeom>
          <a:noFill/>
          <a:ln/>
        </p:spPr>
        <p:txBody>
          <a:bodyPr wrap="square" lIns="0" tIns="0" rIns="0" bIns="0" rtlCol="0" anchor="t"/>
          <a:lstStyle/>
          <a:p>
            <a:pPr indent="0" marL="0">
              <a:lnSpc>
                <a:spcPct val="95000"/>
              </a:lnSpc>
              <a:buNone/>
            </a:pPr>
            <a:r>
              <a:rPr lang="en-US" sz="3600" b="1" dirty="0">
                <a:solidFill>
                  <a:schemeClr val="bg1"/>
                </a:solidFill>
              </a:rPr>
              <a:t>Make stablecoin yield easier to understand before making it easier to chase.</a:t>
            </a:r>
            <a:endParaRPr lang="en-US" sz="3600" dirty="0"/>
          </a:p>
        </p:txBody>
      </p:sp>
      <p:pic>
        <p:nvPicPr>
          <p:cNvPr id="4" name="Image 1" descr="Simpler comparison">    </p:cNvPr>
          <p:cNvPicPr>
            <a:picLocks noChangeAspect="1"/>
          </p:cNvPicPr>
          <p:nvPr/>
        </p:nvPicPr>
        <p:blipFill>
          <a:blip r:embed="rId2"/>
          <a:stretch>
            <a:fillRect/>
          </a:stretch>
        </p:blipFill>
        <p:spPr>
          <a:xfrm>
            <a:off x="548640" y="3291840"/>
            <a:ext cx="365760" cy="365760"/>
          </a:xfrm>
          <a:prstGeom prst="rect">
            <a:avLst/>
          </a:prstGeom>
        </p:spPr>
      </p:pic>
      <p:sp>
        <p:nvSpPr>
          <p:cNvPr id="5" name="Text 1"/>
          <p:cNvSpPr txBox="1"/>
          <p:nvPr/>
        </p:nvSpPr>
        <p:spPr>
          <a:xfrm>
            <a:off x="1097280" y="3246120"/>
            <a:ext cx="6217920" cy="292608"/>
          </a:xfrm>
          <a:prstGeom prst="rect">
            <a:avLst/>
          </a:prstGeom>
          <a:noFill/>
          <a:ln/>
        </p:spPr>
        <p:txBody>
          <a:bodyPr wrap="square" lIns="0" tIns="0" rIns="0" bIns="0" rtlCol="0" anchor="t"/>
          <a:lstStyle/>
          <a:p>
            <a:pPr indent="0" marL="0">
              <a:buNone/>
            </a:pPr>
            <a:r>
              <a:rPr lang="en-US" sz="1600" b="1" dirty="0">
                <a:solidFill>
                  <a:schemeClr val="bg1"/>
                </a:solidFill>
              </a:rPr>
              <a:t>Simpler comparison</a:t>
            </a:r>
            <a:endParaRPr lang="en-US" sz="1600" dirty="0"/>
          </a:p>
        </p:txBody>
      </p:sp>
      <p:sp>
        <p:nvSpPr>
          <p:cNvPr id="6" name="Text 2"/>
          <p:cNvSpPr txBox="1"/>
          <p:nvPr/>
        </p:nvSpPr>
        <p:spPr>
          <a:xfrm>
            <a:off x="1097280" y="3547872"/>
            <a:ext cx="6217920" cy="274320"/>
          </a:xfrm>
          <a:prstGeom prst="rect">
            <a:avLst/>
          </a:prstGeom>
          <a:noFill/>
          <a:ln/>
        </p:spPr>
        <p:txBody>
          <a:bodyPr wrap="square" lIns="0" tIns="0" rIns="0" bIns="0" rtlCol="0" anchor="t"/>
          <a:lstStyle/>
          <a:p>
            <a:pPr indent="0" marL="0">
              <a:buNone/>
            </a:pPr>
            <a:r>
              <a:rPr lang="en-US" sz="1250" dirty="0">
                <a:solidFill>
                  <a:schemeClr val="bg2"/>
                </a:solidFill>
              </a:rPr>
              <a:t>Yield options in one place, ranked for your risk.</a:t>
            </a:r>
            <a:endParaRPr lang="en-US" sz="1250" dirty="0"/>
          </a:p>
        </p:txBody>
      </p:sp>
      <p:pic>
        <p:nvPicPr>
          <p:cNvPr id="7" name="Image 2" descr="Risk grades that show trade-offs">    </p:cNvPr>
          <p:cNvPicPr>
            <a:picLocks noChangeAspect="1"/>
          </p:cNvPicPr>
          <p:nvPr/>
        </p:nvPicPr>
        <p:blipFill>
          <a:blip r:embed="rId3"/>
          <a:stretch>
            <a:fillRect/>
          </a:stretch>
        </p:blipFill>
        <p:spPr>
          <a:xfrm>
            <a:off x="548640" y="4041648"/>
            <a:ext cx="365760" cy="365760"/>
          </a:xfrm>
          <a:prstGeom prst="rect">
            <a:avLst/>
          </a:prstGeom>
        </p:spPr>
      </p:pic>
      <p:sp>
        <p:nvSpPr>
          <p:cNvPr id="8" name="Text 3"/>
          <p:cNvSpPr txBox="1"/>
          <p:nvPr/>
        </p:nvSpPr>
        <p:spPr>
          <a:xfrm>
            <a:off x="1097280" y="3995928"/>
            <a:ext cx="6217920" cy="292608"/>
          </a:xfrm>
          <a:prstGeom prst="rect">
            <a:avLst/>
          </a:prstGeom>
          <a:noFill/>
          <a:ln/>
        </p:spPr>
        <p:txBody>
          <a:bodyPr wrap="square" lIns="0" tIns="0" rIns="0" bIns="0" rtlCol="0" anchor="t"/>
          <a:lstStyle/>
          <a:p>
            <a:pPr indent="0" marL="0">
              <a:buNone/>
            </a:pPr>
            <a:r>
              <a:rPr lang="en-US" sz="1600" b="1" dirty="0">
                <a:solidFill>
                  <a:schemeClr val="bg1"/>
                </a:solidFill>
              </a:rPr>
              <a:t>Risk grades that show trade-offs</a:t>
            </a:r>
            <a:endParaRPr lang="en-US" sz="1600" dirty="0"/>
          </a:p>
        </p:txBody>
      </p:sp>
      <p:sp>
        <p:nvSpPr>
          <p:cNvPr id="9" name="Text 4"/>
          <p:cNvSpPr txBox="1"/>
          <p:nvPr/>
        </p:nvSpPr>
        <p:spPr>
          <a:xfrm>
            <a:off x="1097280" y="4297680"/>
            <a:ext cx="6217920" cy="274320"/>
          </a:xfrm>
          <a:prstGeom prst="rect">
            <a:avLst/>
          </a:prstGeom>
          <a:noFill/>
          <a:ln/>
        </p:spPr>
        <p:txBody>
          <a:bodyPr wrap="square" lIns="0" tIns="0" rIns="0" bIns="0" rtlCol="0" anchor="t"/>
          <a:lstStyle/>
          <a:p>
            <a:pPr indent="0" marL="0">
              <a:buNone/>
            </a:pPr>
            <a:r>
              <a:rPr lang="en-US" sz="1250" dirty="0">
                <a:solidFill>
                  <a:schemeClr val="bg2"/>
                </a:solidFill>
              </a:rPr>
              <a:t>A–D, with the reasons, and unknowns never guessed.</a:t>
            </a:r>
            <a:endParaRPr lang="en-US" sz="1250" dirty="0"/>
          </a:p>
        </p:txBody>
      </p:sp>
      <p:pic>
        <p:nvPicPr>
          <p:cNvPr id="10" name="Image 3" descr="A separate Solana vault prototype">    </p:cNvPr>
          <p:cNvPicPr>
            <a:picLocks noChangeAspect="1"/>
          </p:cNvPicPr>
          <p:nvPr/>
        </p:nvPicPr>
        <p:blipFill>
          <a:blip r:embed="rId4"/>
          <a:stretch>
            <a:fillRect/>
          </a:stretch>
        </p:blipFill>
        <p:spPr>
          <a:xfrm>
            <a:off x="548640" y="4791456"/>
            <a:ext cx="365760" cy="365760"/>
          </a:xfrm>
          <a:prstGeom prst="rect">
            <a:avLst/>
          </a:prstGeom>
        </p:spPr>
      </p:pic>
      <p:sp>
        <p:nvSpPr>
          <p:cNvPr id="11" name="Text 5"/>
          <p:cNvSpPr txBox="1"/>
          <p:nvPr/>
        </p:nvSpPr>
        <p:spPr>
          <a:xfrm>
            <a:off x="1097280" y="4745736"/>
            <a:ext cx="6217920" cy="292608"/>
          </a:xfrm>
          <a:prstGeom prst="rect">
            <a:avLst/>
          </a:prstGeom>
          <a:noFill/>
          <a:ln/>
        </p:spPr>
        <p:txBody>
          <a:bodyPr wrap="square" lIns="0" tIns="0" rIns="0" bIns="0" rtlCol="0" anchor="t"/>
          <a:lstStyle/>
          <a:p>
            <a:pPr indent="0" marL="0">
              <a:buNone/>
            </a:pPr>
            <a:r>
              <a:rPr lang="en-US" sz="1600" b="1" dirty="0">
                <a:solidFill>
                  <a:schemeClr val="bg1"/>
                </a:solidFill>
              </a:rPr>
              <a:t>A separate Solana vault prototype</a:t>
            </a:r>
            <a:endParaRPr lang="en-US" sz="1600" dirty="0"/>
          </a:p>
        </p:txBody>
      </p:sp>
      <p:sp>
        <p:nvSpPr>
          <p:cNvPr id="12" name="Text 6"/>
          <p:cNvSpPr txBox="1"/>
          <p:nvPr/>
        </p:nvSpPr>
        <p:spPr>
          <a:xfrm>
            <a:off x="1097280" y="5047488"/>
            <a:ext cx="6217920" cy="274320"/>
          </a:xfrm>
          <a:prstGeom prst="rect">
            <a:avLst/>
          </a:prstGeom>
          <a:noFill/>
          <a:ln/>
        </p:spPr>
        <p:txBody>
          <a:bodyPr wrap="square" lIns="0" tIns="0" rIns="0" bIns="0" rtlCol="0" anchor="t"/>
          <a:lstStyle/>
          <a:p>
            <a:pPr indent="0" marL="0">
              <a:buNone/>
            </a:pPr>
            <a:r>
              <a:rPr lang="en-US" sz="1250" dirty="0">
                <a:solidFill>
                  <a:schemeClr val="bg2"/>
                </a:solidFill>
              </a:rPr>
              <a:t>Controlled deposits and withdrawals on devnet.</a:t>
            </a:r>
            <a:endParaRPr lang="en-US" sz="1250" dirty="0"/>
          </a:p>
        </p:txBody>
      </p:sp>
      <p:sp>
        <p:nvSpPr>
          <p:cNvPr id="13" name="qr-card"/>
          <p:cNvSpPr/>
          <p:nvPr/>
        </p:nvSpPr>
        <p:spPr>
          <a:xfrm>
            <a:off x="8625535" y="1417320"/>
            <a:ext cx="3017520" cy="3977640"/>
          </a:xfrm>
          <a:prstGeom prst="roundRect">
            <a:avLst>
              <a:gd name="adj" fmla="val 4242"/>
            </a:avLst>
          </a:prstGeom>
          <a:solidFill>
            <a:schemeClr val="tx2">
              <a:alpha val="90000"/>
            </a:schemeClr>
          </a:solidFill>
          <a:ln w="9525">
            <a:solidFill>
              <a:schemeClr val="accent6"/>
            </a:solidFill>
            <a:prstDash val="solid"/>
          </a:ln>
        </p:spPr>
      </p:sp>
      <p:pic>
        <p:nvPicPr>
          <p:cNvPr id="14" name="Image 4" descr="QR code linking to stablesaver-web.vercel.app">    </p:cNvPr>
          <p:cNvPicPr>
            <a:picLocks noChangeAspect="1"/>
          </p:cNvPicPr>
          <p:nvPr/>
        </p:nvPicPr>
        <p:blipFill>
          <a:blip r:embed="rId5"/>
          <a:stretch>
            <a:fillRect/>
          </a:stretch>
        </p:blipFill>
        <p:spPr>
          <a:xfrm>
            <a:off x="9037015" y="1691640"/>
            <a:ext cx="2194560" cy="2194560"/>
          </a:xfrm>
          <a:prstGeom prst="rect">
            <a:avLst/>
          </a:prstGeom>
        </p:spPr>
      </p:pic>
      <p:sp>
        <p:nvSpPr>
          <p:cNvPr id="15" name="Text 8"/>
          <p:cNvSpPr txBox="1"/>
          <p:nvPr/>
        </p:nvSpPr>
        <p:spPr>
          <a:xfrm>
            <a:off x="8899855" y="4041648"/>
            <a:ext cx="2468880" cy="292608"/>
          </a:xfrm>
          <a:prstGeom prst="rect">
            <a:avLst/>
          </a:prstGeom>
          <a:noFill/>
          <a:ln/>
        </p:spPr>
        <p:txBody>
          <a:bodyPr wrap="square" lIns="0" tIns="0" rIns="0" bIns="0" rtlCol="0" anchor="t"/>
          <a:lstStyle/>
          <a:p>
            <a:pPr algn="ctr" indent="0" marL="0">
              <a:buNone/>
            </a:pPr>
            <a:r>
              <a:rPr lang="en-US" sz="1500" b="1" dirty="0">
                <a:solidFill>
                  <a:schemeClr val="bg1"/>
                </a:solidFill>
              </a:rPr>
              <a:t>Try it now</a:t>
            </a:r>
            <a:endParaRPr lang="en-US" sz="1500" dirty="0"/>
          </a:p>
        </p:txBody>
      </p:sp>
      <p:sp>
        <p:nvSpPr>
          <p:cNvPr id="16" name="Text 9"/>
          <p:cNvSpPr txBox="1"/>
          <p:nvPr/>
        </p:nvSpPr>
        <p:spPr>
          <a:xfrm>
            <a:off x="8808415" y="4343400"/>
            <a:ext cx="2651760" cy="274320"/>
          </a:xfrm>
          <a:prstGeom prst="rect">
            <a:avLst/>
          </a:prstGeom>
          <a:noFill/>
          <a:ln/>
        </p:spPr>
        <p:txBody>
          <a:bodyPr wrap="square" lIns="0" tIns="0" rIns="0" bIns="0" rtlCol="0" anchor="t"/>
          <a:lstStyle/>
          <a:p>
            <a:pPr algn="ctr" indent="0" marL="0">
              <a:buNone/>
            </a:pPr>
            <a:r>
              <a:rPr lang="en-US" sz="1200" dirty="0">
                <a:solidFill>
                  <a:schemeClr val="accent2"/>
                </a:solidFill>
              </a:rPr>
              <a:t>stablesaver-web.vercel.app</a:t>
            </a:r>
            <a:endParaRPr lang="en-US" sz="1200" dirty="0"/>
          </a:p>
        </p:txBody>
      </p:sp>
      <p:sp>
        <p:nvSpPr>
          <p:cNvPr id="17" name="Text 10"/>
          <p:cNvSpPr txBox="1"/>
          <p:nvPr/>
        </p:nvSpPr>
        <p:spPr>
          <a:xfrm>
            <a:off x="8854135" y="4681728"/>
            <a:ext cx="2560320" cy="640080"/>
          </a:xfrm>
          <a:prstGeom prst="rect">
            <a:avLst/>
          </a:prstGeom>
          <a:noFill/>
          <a:ln/>
        </p:spPr>
        <p:txBody>
          <a:bodyPr wrap="square" lIns="0" tIns="0" rIns="0" bIns="0" rtlCol="0" anchor="t"/>
          <a:lstStyle/>
          <a:p>
            <a:pPr algn="ctr" indent="0" marL="0">
              <a:buNone/>
            </a:pPr>
            <a:r>
              <a:rPr lang="en-US" sz="1050" dirty="0">
                <a:solidFill>
                  <a:schemeClr val="bg2"/>
                </a:solidFill>
              </a:rPr>
              <a:t>Feedback welcome on risk scoring, vault security, and which integration to build next.</a:t>
            </a:r>
            <a:endParaRPr lang="en-US" sz="1050" dirty="0"/>
          </a:p>
        </p:txBody>
      </p:sp>
      <p:sp>
        <p:nvSpPr>
          <p:cNvPr id="18" name="Text 11"/>
          <p:cNvSpPr txBox="1"/>
          <p:nvPr/>
        </p:nvSpPr>
        <p:spPr>
          <a:xfrm>
            <a:off x="548640" y="5897880"/>
            <a:ext cx="8229600" cy="365760"/>
          </a:xfrm>
          <a:prstGeom prst="rect">
            <a:avLst/>
          </a:prstGeom>
          <a:noFill/>
          <a:ln/>
        </p:spPr>
        <p:txBody>
          <a:bodyPr wrap="square" lIns="0" tIns="0" rIns="0" bIns="0" rtlCol="0" anchor="t"/>
          <a:lstStyle/>
          <a:p>
            <a:pPr indent="0" marL="0">
              <a:buNone/>
            </a:pPr>
            <a:r>
              <a:rPr lang="en-US" sz="1300" b="1" dirty="0">
                <a:solidFill>
                  <a:schemeClr val="bg1"/>
                </a:solidFill>
              </a:rPr>
              <a:t>Theo</a:t>
            </a:r>
            <a:pPr indent="0" marL="0">
              <a:buNone/>
            </a:pPr>
            <a:r>
              <a:rPr lang="en-US" sz="1300" dirty="0">
                <a:solidFill>
                  <a:schemeClr val="bg2"/>
                </a:solidFill>
              </a:rPr>
              <a:t>   ·   StableSave — Know the risk before you chase the yield.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StableSave">
      <a:dk1>
        <a:srgbClr val="0B1020"/>
      </a:dk1>
      <a:lt1>
        <a:srgbClr val="F5F7FB"/>
      </a:lt1>
      <a:dk2>
        <a:srgbClr val="131C31"/>
      </a:dk2>
      <a:lt2>
        <a:srgbClr val="9AA7BD"/>
      </a:lt2>
      <a:accent1>
        <a:srgbClr val="9945FF"/>
      </a:accent1>
      <a:accent2>
        <a:srgbClr val="14F195"/>
      </a:accent2>
      <a:accent3>
        <a:srgbClr val="F5B942"/>
      </a:accent3>
      <a:accent4>
        <a:srgbClr val="F0616D"/>
      </a:accent4>
      <a:accent5>
        <a:srgbClr val="1B2640"/>
      </a:accent5>
      <a:accent6>
        <a:srgbClr val="26324F"/>
      </a:accent6>
      <a:hlink>
        <a:srgbClr val="14F195"/>
      </a:hlink>
      <a:folHlink>
        <a:srgbClr val="9945FF"/>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StableSave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StableSave — Demo Day</dc:title>
  <dc:subject>Stablecoin yield intelligence and a Solana vault prototype</dc:subject>
  <dc:creator>Theo</dc:creator>
  <cp:lastModifiedBy>Theo</cp:lastModifiedBy>
  <cp:revision>1</cp:revision>
  <dcterms:created xsi:type="dcterms:W3CDTF">2026-10-14T06:27:36Z</dcterms:created>
  <dcterms:modified xsi:type="dcterms:W3CDTF">2026-10-14T06:27:36Z</dcterms:modified>
</cp:coreProperties>
</file>