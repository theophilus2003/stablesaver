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2.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3.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d5eb47c8-56bd-f52b-5d64-4178689f83d6}">
          <p14:sldIdLst>
            <p14:sldId id="256"/>
            <p14:sldId id="257"/>
            <p14:sldId id="258"/>
          </p14:sldIdLst>
        </p14:section>
        <p14:section name="Comparison app" id="{560738c1-5a38-7840-28a2-aa986b25dbb4}">
          <p14:sldIdLst>
            <p14:sldId id="259"/>
            <p14:sldId id="260"/>
            <p14:sldId id="261"/>
            <p14:sldId id="262"/>
            <p14:sldId id="263"/>
            <p14:sldId id="264"/>
          </p14:sldIdLst>
        </p14:section>
        <p14:section name="Solana vault" id="{e03c5e02-10a5-96de-08e9-c238ef0b2df6}">
          <p14:sldIdLst>
            <p14:sldId id="265"/>
            <p14:sldId id="266"/>
            <p14:sldId id="267"/>
            <p14:sldId id="268"/>
          </p14:sldIdLst>
        </p14:section>
        <p14:section name="Demo and roadmap" id="{ec7794b8-d494-b5f7-f039-8e0dcde5e2c3}">
          <p14:sldIdLst>
            <p14:sldId id="269"/>
            <p14:sldId id="270"/>
            <p14:sldId id="271"/>
            <p14:sldId id="272"/>
          </p14:sldIdLst>
        </p14:section>
        <p14:section name="Close" id="{b7a6f1c7-35c6-e0c2-a56e-7ff9913f4159}">
          <p14:sldIdLst>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Weight</c:v>
                </c:pt>
              </c:strCache>
            </c:strRef>
          </c:tx>
          <c:spPr>
            <a:solidFill>
              <a:srgbClr val="3DDC97"/>
            </a:solidFill>
            <a:effectLst/>
          </c:spPr>
          <c:invertIfNegative val="0"/>
          <c:dLbls>
            <c:numFmt formatCode="0&quot;%&quot;" sourceLinked="0"/>
            <c:txPr>
              <a:bodyPr/>
              <a:lstStyle/>
              <a:p>
                <a:pPr>
                  <a:defRPr b="0" i="0" strike="noStrike" sz="1100" u="none">
                    <a:solidFill>
                      <a:srgbClr val="F2F2F2"/>
                    </a:solidFill>
                    <a:latin typeface="+mn-lt"/>
                  </a:defRPr>
                </a:pPr>
              </a:p>
            </c:txPr>
            <c:showLegendKey val="0"/>
            <c:showVal val="1"/>
            <c:showCatName val="0"/>
            <c:showSerName val="0"/>
            <c:showPercent val="0"/>
            <c:showBubbleSize val="0"/>
            <c:showLeaderLines val="0"/>
          </c:dLbls>
          <c:cat>
            <c:multiLvlStrRef>
              <c:f>Sheet1!$A$2:$A$10</c:f>
              <c:multiLvlStrCache>
                <c:ptCount val="9"/>
                <c:lvl>
                  <c:pt idx="0">
                    <c:v>Yield stability</c:v>
                  </c:pt>
                  <c:pt idx="1">
                    <c:v>Concentration</c:v>
                  </c:pt>
                  <c:pt idx="2">
                    <c:v>Oracle dependencies</c:v>
                  </c:pt>
                  <c:pt idx="3">
                    <c:v>Strategy complexity</c:v>
                  </c:pt>
                  <c:pt idx="4">
                    <c:v>Incident history</c:v>
                  </c:pt>
                  <c:pt idx="5">
                    <c:v>Liquidity</c:v>
                  </c:pt>
                  <c:pt idx="6">
                    <c:v>Total value locked</c:v>
                  </c:pt>
                  <c:pt idx="7">
                    <c:v>Smart contract security</c:v>
                  </c:pt>
                  <c:pt idx="8">
                    <c:v>Protocol maturity</c:v>
                  </c:pt>
                </c:lvl>
              </c:multiLvlStrCache>
            </c:multiLvlStrRef>
          </c:cat>
          <c:val>
            <c:numRef>
              <c:f>Sheet1!$B$2:$B$10</c:f>
              <c:numCache>
                <c:formatCode>General</c:formatCode>
                <c:ptCount val="9"/>
                <c:pt idx="0">
                  <c:v>8</c:v>
                </c:pt>
                <c:pt idx="1">
                  <c:v>9</c:v>
                </c:pt>
                <c:pt idx="2">
                  <c:v>9</c:v>
                </c:pt>
                <c:pt idx="3">
                  <c:v>10</c:v>
                </c:pt>
                <c:pt idx="4">
                  <c:v>12</c:v>
                </c:pt>
                <c:pt idx="5">
                  <c:v>12</c:v>
                </c:pt>
                <c:pt idx="6">
                  <c:v>12</c:v>
                </c:pt>
                <c:pt idx="7">
                  <c:v>14</c:v>
                </c:pt>
                <c:pt idx="8">
                  <c:v>14</c:v>
                </c:pt>
              </c:numCache>
            </c:numRef>
          </c:val>
        </c:ser>
        <c:dLbls>
          <c:numFmt formatCode="0&quot;%&quot;" sourceLinked="0"/>
          <c:txPr>
            <a:bodyPr/>
            <a:lstStyle/>
            <a:p>
              <a:pPr>
                <a:defRPr b="0" i="0" strike="noStrike" sz="1100" u="none">
                  <a:solidFill>
                    <a:srgbClr val="F2F2F2"/>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150" b="0" i="0" u="none" strike="noStrike">
                <a:solidFill>
                  <a:srgbClr val="F2F2F2"/>
                </a:solidFill>
                <a:latin typeface="+mn-lt"/>
              </a:defRPr>
            </a:pPr>
            <a:endParaRPr lang="en-US"/>
          </a:p>
        </c:txPr>
        <c:crossAx val="2094734552"/>
        <c:crosses val="autoZero"/>
        <c:auto val="1"/>
        <c:lblAlgn val="ctr"/>
        <c:noMultiLvlLbl val="1"/>
      </c:catAx>
      <c:valAx>
        <c:axId val="2094734552"/>
        <c:scaling>
          <c:orientation val="minMax"/>
          <c:max val="16"/>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Rate</c:v>
                </c:pt>
              </c:strCache>
            </c:strRef>
          </c:tx>
          <c:spPr>
            <a:solidFill>
              <a:srgbClr val="3DDC97"/>
            </a:solidFill>
            <a:effectLst/>
          </c:spPr>
          <c:invertIfNegative val="0"/>
          <c:dLbls>
            <c:numFmt formatCode="0.00&quot;%&quot;" sourceLinked="0"/>
            <c:txPr>
              <a:bodyPr/>
              <a:lstStyle/>
              <a:p>
                <a:pPr>
                  <a:defRPr b="0" i="0" strike="noStrike" sz="1000" u="none">
                    <a:solidFill>
                      <a:srgbClr val="F2F2F2"/>
                    </a:solidFill>
                    <a:latin typeface="+mn-lt"/>
                  </a:defRPr>
                </a:pPr>
              </a:p>
            </c:txPr>
            <c:showLegendKey val="0"/>
            <c:showVal val="1"/>
            <c:showCatName val="0"/>
            <c:showSerName val="0"/>
            <c:showPercent val="0"/>
            <c:showBubbleSize val="0"/>
            <c:showLeaderLines val="0"/>
          </c:dLbls>
          <c:dPt>
            <c:idx val="0"/>
            <c:invertIfNegative val="0"/>
            <c:bubble3D val="0"/>
            <c:spPr>
              <a:solidFill>
                <a:srgbClr val="3DDC97"/>
              </a:solidFill>
              <a:effectLst/>
            </c:spPr>
          </c:dPt>
          <c:dPt>
            <c:idx val="1"/>
            <c:invertIfNegative val="0"/>
            <c:bubble3D val="0"/>
            <c:spPr>
              <a:solidFill>
                <a:srgbClr val="3DDC97"/>
              </a:solidFill>
              <a:effectLst/>
            </c:spPr>
          </c:dPt>
          <c:dPt>
            <c:idx val="2"/>
            <c:invertIfNegative val="0"/>
            <c:bubble3D val="0"/>
            <c:spPr>
              <a:solidFill>
                <a:srgbClr val="3DDC97"/>
              </a:solidFill>
              <a:effectLst/>
            </c:spPr>
          </c:dPt>
          <c:dPt>
            <c:idx val="3"/>
            <c:invertIfNegative val="0"/>
            <c:bubble3D val="0"/>
            <c:spPr>
              <a:solidFill>
                <a:srgbClr val="A3A3A3"/>
              </a:solidFill>
              <a:effectLst/>
            </c:spPr>
          </c:dPt>
          <c:cat>
            <c:multiLvlStrRef>
              <c:f>Sheet1!$A$2:$A$5</c:f>
              <c:multiLvlStrCache>
                <c:ptCount val="4"/>
                <c:lvl>
                  <c:pt idx="0">
                    <c:v>Kamino JLP · B</c:v>
                  </c:pt>
                  <c:pt idx="1">
                    <c:v>Drift · A</c:v>
                  </c:pt>
                  <c:pt idx="2">
                    <c:v>Kamino · A</c:v>
                  </c:pt>
                  <c:pt idx="3">
                    <c:v>US T-bills</c:v>
                  </c:pt>
                </c:lvl>
              </c:multiLvlStrCache>
            </c:multiLvlStrRef>
          </c:cat>
          <c:val>
            <c:numRef>
              <c:f>Sheet1!$B$2:$B$5</c:f>
              <c:numCache>
                <c:formatCode>General</c:formatCode>
                <c:ptCount val="4"/>
                <c:pt idx="0">
                  <c:v>8.33</c:v>
                </c:pt>
                <c:pt idx="1">
                  <c:v>5.57</c:v>
                </c:pt>
                <c:pt idx="2">
                  <c:v>5.15</c:v>
                </c:pt>
                <c:pt idx="3">
                  <c:v>4</c:v>
                </c:pt>
              </c:numCache>
            </c:numRef>
          </c:val>
        </c:ser>
        <c:dLbls>
          <c:numFmt formatCode="0.00&quot;%&quot;" sourceLinked="0"/>
          <c:txPr>
            <a:bodyPr/>
            <a:lstStyle/>
            <a:p>
              <a:pPr>
                <a:defRPr b="0" i="0" strike="noStrike" sz="1000" u="none">
                  <a:solidFill>
                    <a:srgbClr val="F2F2F2"/>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F2F2F2"/>
                </a:solidFill>
                <a:latin typeface="+mn-lt"/>
              </a:defRPr>
            </a:pPr>
            <a:endParaRPr lang="en-US"/>
          </a:p>
        </c:txPr>
        <c:crossAx val="2094734552"/>
        <c:crosses val="autoZero"/>
        <c:auto val="1"/>
        <c:lblAlgn val="ctr"/>
        <c:noMultiLvlLbl val="1"/>
      </c:catAx>
      <c:valAx>
        <c:axId val="2094734552"/>
        <c:scaling>
          <c:orientation val="minMax"/>
          <c:max val="10.5"/>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Kept liquid</c:v>
                </c:pt>
              </c:strCache>
            </c:strRef>
          </c:tx>
          <c:spPr>
            <a:solidFill>
              <a:srgbClr val="A3A3A3"/>
            </a:solidFill>
            <a:effectLst/>
          </c:spPr>
          <c:invertIfNegative val="0"/>
          <c:dLbls>
            <c:numFmt formatCode="0;;;" sourceLinked="0"/>
            <c:txPr>
              <a:bodyPr/>
              <a:lstStyle/>
              <a:p>
                <a:pPr>
                  <a:defRPr b="0" i="0" strike="noStrike" sz="1100" u="none">
                    <a:solidFill>
                      <a:srgbClr val="141414"/>
                    </a:solidFill>
                    <a:latin typeface="+mn-lt"/>
                  </a:defRPr>
                </a:pPr>
              </a:p>
            </c:txPr>
            <c:dLblPos val="ctr"/>
            <c:showLegendKey val="0"/>
            <c:showVal val="1"/>
            <c:showCatName val="0"/>
            <c:showSerName val="0"/>
            <c:showPercent val="0"/>
            <c:showBubbleSize val="0"/>
            <c:showLeaderLines val="0"/>
          </c:dLbls>
          <c:cat>
            <c:multiLvlStrRef>
              <c:f>Sheet1!$A$2:$A$3</c:f>
              <c:multiLvlStrCache>
                <c:ptCount val="2"/>
                <c:lvl>
                  <c:pt idx="0">
                    <c:v>After withdrawing 40</c:v>
                  </c:pt>
                  <c:pt idx="1">
                    <c:v>After depositing 100</c:v>
                  </c:pt>
                </c:lvl>
              </c:multiLvlStrCache>
            </c:multiLvlStrRef>
          </c:cat>
          <c:val>
            <c:numRef>
              <c:f>Sheet1!$B$2:$B$3</c:f>
              <c:numCache>
                <c:formatCode>General</c:formatCode>
                <c:ptCount val="2"/>
                <c:pt idx="0">
                  <c:v>0</c:v>
                </c:pt>
                <c:pt idx="1">
                  <c:v>20</c:v>
                </c:pt>
              </c:numCache>
            </c:numRef>
          </c:val>
        </c:ser>
        <c:ser>
          <c:idx val="1"/>
          <c:order val="1"/>
          <c:tx>
            <c:strRef>
              <c:f>Sheet1!$C$1</c:f>
              <c:strCache>
                <c:ptCount val="1"/>
                <c:pt idx="0">
                  <c:v>In practice pools</c:v>
                </c:pt>
              </c:strCache>
            </c:strRef>
          </c:tx>
          <c:spPr>
            <a:solidFill>
              <a:srgbClr val="3DDC97"/>
            </a:solidFill>
            <a:effectLst/>
          </c:spPr>
          <c:invertIfNegative val="0"/>
          <c:dLbls>
            <c:numFmt formatCode="0;;;" sourceLinked="0"/>
            <c:txPr>
              <a:bodyPr/>
              <a:lstStyle/>
              <a:p>
                <a:pPr>
                  <a:defRPr b="0" i="0" strike="noStrike" sz="1100" u="none">
                    <a:solidFill>
                      <a:srgbClr val="141414"/>
                    </a:solidFill>
                    <a:latin typeface="+mn-lt"/>
                  </a:defRPr>
                </a:pPr>
              </a:p>
            </c:txPr>
            <c:dLblPos val="ctr"/>
            <c:showLegendKey val="0"/>
            <c:showVal val="1"/>
            <c:showCatName val="0"/>
            <c:showSerName val="0"/>
            <c:showPercent val="0"/>
            <c:showBubbleSize val="0"/>
            <c:showLeaderLines val="0"/>
          </c:dLbls>
          <c:cat>
            <c:multiLvlStrRef>
              <c:f>Sheet1!$A$2:$A$3</c:f>
              <c:multiLvlStrCache>
                <c:ptCount val="2"/>
                <c:lvl>
                  <c:pt idx="0">
                    <c:v>After withdrawing 40</c:v>
                  </c:pt>
                  <c:pt idx="1">
                    <c:v>After depositing 100</c:v>
                  </c:pt>
                </c:lvl>
              </c:multiLvlStrCache>
            </c:multiLvlStrRef>
          </c:cat>
          <c:val>
            <c:numRef>
              <c:f>Sheet1!$C$2:$C$3</c:f>
              <c:numCache>
                <c:formatCode>General</c:formatCode>
                <c:ptCount val="2"/>
                <c:pt idx="0">
                  <c:v>60</c:v>
                </c:pt>
                <c:pt idx="1">
                  <c:v>80</c:v>
                </c:pt>
              </c:numCache>
            </c:numRef>
          </c:val>
        </c:ser>
        <c:dLbls>
          <c:numFmt formatCode="0;;;" sourceLinked="0"/>
          <c:txPr>
            <a:bodyPr/>
            <a:lstStyle/>
            <a:p>
              <a:pPr>
                <a:defRPr b="0" i="0" strike="noStrike" sz="1100" u="none">
                  <a:solidFill>
                    <a:srgbClr val="141414"/>
                  </a:solidFill>
                  <a:latin typeface="+mn-lt"/>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50" b="0" i="0" u="none" strike="noStrike">
                <a:solidFill>
                  <a:srgbClr val="F2F2F2"/>
                </a:solidFill>
                <a:latin typeface="+mn-lt"/>
              </a:defRPr>
            </a:pPr>
            <a:endParaRPr lang="en-US"/>
          </a:p>
        </c:txPr>
        <c:crossAx val="2094734552"/>
        <c:crosses val="autoZero"/>
        <c:auto val="1"/>
        <c:lblAlgn val="ctr"/>
        <c:noMultiLvlLbl val="1"/>
      </c:catAx>
      <c:valAx>
        <c:axId val="2094734552"/>
        <c:scaling>
          <c:orientation val="minMax"/>
          <c:max val="10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50">
              <a:solidFill>
                <a:srgbClr val="F2F2F2"/>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about 20 seconds.
Key message: StableSave helps people see the risk and the real return before they chase a headline rate.
Talking points:
- Hi, I'm Theo. This is StableSave.
- It has two parts, and I'll keep them separate all the way through: a comparison app that is live today, and a Solana vault that is a devnet prototype.
- One line to remember: know the risk before you chase the yield.
Transition: Let's start with why this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about 40 seconds.
Key message: the headline rate is the easy part. The risk and the costs behind it are the hard part.
Talking points:
- If you hold USDC or USDT, finding a rate is easy. Every app shows you one big number.
- What's hard is everything behind it: options are spread across many protocols and networks.
- A higher APY can simply mean more risk.
- Network fees can wipe out the return on a small deposit. I'll show a real example in a minute.
- Security, liquidity, how long a protocol has been live, and how complex its strategy is are all hard to compare.
- Beginners don't have a framework for any of it.
Note: no market statistics on this slide on purpose. The left card is a concept, not a real pool.
Transition: Here's how the next few minutes 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about 10 seconds.
Key message: three parts, and the second one is a separate prototype.
Talking points:
- First the comparison app, which is live today.
- Then the Solana vault, which is a devnet prototype. I'll keep the two separate all the way through.
- Then a short demo, what's live and what's missing, and what I'm building next.
Transition: Let's start with the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about 5 seconds. Click straight through.
Say: Part one, the comparison app. It's live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about 35 seconds.
Key message: one screen shows the rate, the risk grade, and what you'd actually keep after fees.
Talking points:
- You type an amount and choose a stablecoin. You pick how much risk you're comfortable with: Play it safe, Balanced, or Go bigger.
- StableSave ranks the options, gives each one an A to D grade with its reasons, and shows estimated earnings after network fees.
- When you're ready, it sends you to the protocol's official app. You deposit from your own wallet.
- Two promises: no wallet or sign-up just to compare, and StableSave never holds anyone's money in this flow.
Honesty note: this screenshot is the real interface running locally with demo data, so the numbers are illustrative. The live site shows live DefiLlama data.
Transition: Let me walk through the screens.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about 45 seconds.
Key message: in a few clicks you go from a balance to a ranked, graded, fee-adjusted choice.
Walk the numbers on the slide:
1. Enter the amount and stablecoin. Here, $1,000 of USDC.
2. Pick a risk preference. Balanced is selected.
3. Options are ranked for that preference.
4. Every row shows its A to D grade, network and deposits, plus the rate and a yearly estimate.
5. Open any option: you get 30 or 90 days of daily rate history, so you can see whether today's rate is normal.
6. And what $1,000 could earn after the network fees to get in and out.
The detail panel then explains the grade factor by factor ("How risky is it?"), adds a plain risk warning, steps to deposit safely, and quick facts. Note: the review guide calls these "Why this grade?" and "What could go wrong?". The current interface uses the new headings.
Honesty: the worked example uses demo data. Say "estimated" every time. Rates change.
Transition: The grade is the core of this, so here's how it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about 50 seconds.
Key message: the grade can't be gamed by one shiny number, because the weakest factor always counts.
Talking points:
- Every option gets a score from 0 to 100 across nine factors. The biggest weights are protocol maturity and smart contract security at 14% each. Yield stability is the smallest at 8%.
- 75% of the score is the weighted average. The other 25% is the single weakest factor. That's deliberate: one bad area should pull the grade down.
- Scores map to grades: A is 80 and above, B 65 to 79, C 50 to 64, D below 50.
- Hard caps override the number. No public audits, unrepaid losses or a first-loss insurance fund: at most C. Live under six months, or one key can change the code: at most C+. 98% or more lent out: at most B minus. Three or more unverified inputs: at most B.
- If the data doesn't cover an input, it's labelled Not verified and scored cautiously. Never guessed.
The example is from the demo data on screen: an average of 81 would be an A, but concentration scores 37, so the final score is 70, a B. (0.75 x 81 + 0.25 x 37 = 70.)
Be honest if asked: the weights are my judgement. I haven't back-tested them against past exploits yet. That's on the roadmap.
Transition: The other half of a good decision is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about 35 seconds.
Key message: a good rate on an expensive network can lose you money on a small deposit.
Talking points:
- This is the example from my review guide: enter $100 and filter to Ethereum.
- At 4.10%, $100 earns about $4.10 in a year. StableSave's estimate for getting in and out on Ethereum is about $12. So you'd be $7.90 down, and the app marks the option: "Fees cost more than you'd earn".
- The same rate on Solana, where the estimate is about two cents, keeps about $4.08.
- That's why ranking uses yield after fees, so small deposits aren't sent to expensive networks.
Be precise: the screenshot uses demo data, and the Solana row is an illustration at the same rate. Network fees are fixed per-network estimates for one deposit and one withdrawal, not live gas prices. Bridging costs aren't counted yet.
Transition: Fees are one question. Here are four more the app now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about 35 seconds.
Key message: the app now answers the questions people ask right after "what's the rate?", before they move any money.
Talking points:
- Is money sitting idle? Paste any Solana address. StableSave reads its USDC and USDT, read-only, nothing to sign, and drops the amount into the calculator. Most people have stablecoins doing nothing.
- Can I get it out today? For lending pools it compares the cash that's free right now with your amount, using the pool's own supply and borrow numbers. Yes today, likely, tight, or wait.
- Is it worth the risk? Every list starts with US Treasury bills, straight from the US Treasury's data. If an option barely beats T-bills, the extra crypto risk may not be worth it.
- Can I show someone? "Share my estimate" copies a link that unfurls as a card with the estimate. That's how this spreads.
Honesty: demo data on the slide. The T-bill chart uses the demo figure (4.00%) and the same demo options as the screenshots; the live site uses the Treasury's latest average rate. The wallet result is a stand-in balance captured locally.
Transition: That's the comparison app, which is live. Now the second, separate part: the Solana vault.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about 5 seconds. Click straight through.
Say: Part two, the Solana vault. It's a separate devnet prototype, not part of the live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about 50 seconds.
SAY THIS CLEARLY: this is a separate component, and it's a devnet prototype. It splits deposits into practice pools, not real protocols, and it is not audited.
Key message: the rules of the vault are enforced on-chain by the program, not by the website.
Talking points:
- The vault is one Anchor program on Solana devnet with 16 instructions.
- It uses three kinds of account. These are PDAs: program-derived addresses, which only the program can sign for.
  - Vault: the settings. Who the admins are, the limits, the strategy weights, the share totals. One per token and risk level.
  - Reserve and practice pools: rebalance keeps 20% of the vault in the reserve for withdrawals and splits the rest into one practice pool per protocol, by the on-chain strategy weights. Anyone can call rebalance, but it can only move money toward the strategy. Only the vault can sign a transfer out.
  - UserPosition: one depositor's shares and any pending withdrawal.
- The user signs a deposit or a withdrawal from their wallet. The program checks it's not paused, the deposit is at least the minimum and under the cap, and the withdrawal fits the instant limits. Anything larger goes through a 30-minute timelock.
- Two admin roles: the authority changes settings and is the only one who can unpause. The guardian can only pause.
Do NOT claim: that deposits earn market yield, that funds go to Kamino, MarginFi, Drift or Save yet, or that it's audited. The practice pools pay fixed practice rates from a sponsor pot of test tokens; real protocol integration is next.
Transition: Here's that split working.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about 35 seconds.
Key message: the split into pools isn't a drawing. The program does it, and an automated test proves it on every change.
Talking points:
- Left: the Vault page reads the whole vault from the chain. 20% stays liquid for withdrawals; the rest sits in one practice pool per protocol, by the strategy weights: here 45, 30 and 25% of the invested part for Kamino, MarginFi and Save.
- Anyone can press "Collect interest &amp; rebalance". It pays each pool its practice interest from a sponsor pot, and it can only move money toward the on-chain strategy.
- Right: on every push, GitHub Actions deploys the program to a local Solana validator, deposits 100 test USDC, checks the 80/20 split, then withdraws 40. The reserve only had 20, so the program pulled the other 20 from the pools. The wallet ends at 940 and the pools at 60: the books match.
- Bottom left: the deposit Blink. The same deposit works from a link or a QR code, in any wallet or app that reads Solana Actions, without opening the site.
Honesty: these are practice pools with fixed practice rates, paid in worthless test tokens. Not market yield, not audited, devnet only. The pools card in the screenshot is the real component showing the rehearsal's numbers.
Transition: Each of those controls is a trade-off, so let me be explicit about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about 40 seconds.
Key message: every control buys safety with something else, and I can name the cost of each one.
Talking points (pick three, don't read all eight):
- Two instant-withdrawal limits: 2,000 per wallet and 50,000 per vault every 24 hours. They limit the damage from a stolen wallet and slow a bank run. The cost: large withdrawals are slower.
- Above the limits there's a 30-minute timelock: time to react before a big outflow. The cost: users wait.
- The guardian can pause; only the authority can unpause. A fast emergency stop that one key can't abuse. The cost: today there's no escape hatch if the vault stays paused.
- Shares use 1,000 virtual shares and 1 virtual asset, so the first depositor can't inflate the share price. The cost: tiny rounding losses.
- Only the program's upgrade authority can create vaults, so nobody can front-run vault creation. The cost: that's a single powerful key.
- Tests: 14 unit and 10 integration tests run against the compiled program on every change, and an automated job deploys it to a local test network, makes a real deposit, checks the split into practice pools and withdraws.
Do NOT call it audited or production-ready. Bottom line on the slide: devnet only.
Transition: Enough slides. Let's look at it working.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about 5 seconds. Click straight through.
Say: Finally, the demo, and an honest look at what's live, what's experimental and what comes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15 seconds for the slide; the live demo itself takes 3 to 4 minutes if there's time. If time is short, skip Part B and show this slide only.
SAY: Part A is live. Part B is a devnet prototype. Keep them separate.
PART A — live comparison app (stablesaver-web.vercel.app)
1. Open the site (no wallet or sign-up). Click "Find idle money in my wallet" and paste a wallet address: it reads the USDC and USDT on Solana, read-only, and fills the calculator.
2. Click Play it safe, then Balanced, then Go bigger. The recommendation and the list change.
3. Open the top option. Show the rate chart (drag across it), "Can I withdraw today?" and "How risky is it?": the grade and each factor.
4. Point at the "For comparison" row: US Treasury bills, from the US Treasury's own data, with no crypto risk.
5. Type $100 and pick the Ethereum chip. If the live data still shows it, an option is marked "Fees cost more than you'd earn". If it doesn't, say so and move on.
6. Click "Share my estimate": the link previews as a card with the estimate. The QR code on the last slide opens the same site.
PART B — devnet vault
Before the talk: Vercel has the three devnet variables set and redeployed; Solflare is on devnet with test tokens and a little devnet SOL; do one dry run.
1. Show the wallet is on devnet (Solflare: Settings, Network, Devnet), open Vault (the badge says Devnet, not Preview) and connect.
2. Deposit some test tokens; approve in the wallet. The same transaction splits the deposit into the practice pools.
3. "Where the vault's money is": 20% kept liquid, the rest in a pool per protocol, read from the chain.
4. Click "Collect interest &amp; rebalance": anyone can press it, and it can only move money toward the on-chain strategy.
5. Withdraw more than the reserve holds: the program pulls the difference back from the pools. Above 2,000 the rest waits 30 minutes; don't wait live.
6. Open the Blink from the Vault page: the same deposit, from a link or QR code.
Say out loud: devnet tokens have no value; the pools pay fixed practice rates, not market yield.
Backup if the network fails: use these screenshots and the recorded run if you made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about 35 seconds.
Key message: I know exactly what's real, what's experimental and what's missing. That's a strength, not an apology.
Talking points:
- Live today: the comparison on DefiLlama data, the grades with their reasons, fee-adjusted estimates, "Can I withdraw today?", the US Treasury bill comparison, the idle-money wallet scan, shareable estimate cards, and an optional API.
- Devnet prototype: the Anchor vault with deposits, shares, withdrawal limits, the timelock, pause and authority controls; a permissionless rebalance that splits deposits into practice pools by the on-chain strategy; and a deposit Blink.
- Not yet: CPI into the real protocols, so no market yield through the vault. Every balance the vault counts is already a real token in an account it owns, read on-chain, never reported by an admin. And no production security assurances: no audit.
- Other limits: one data source, fixed fee estimates, weights that are my judgement and not back-tested, ranking on today's APY rather than the 30-day average, bridging not modelled, and admin and upgrade-key risk.
Transition: Here's the order I'll fix them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about 30 seconds.
Key message: the roadmap goes straight at the weaknesses I just listed. Safety first, then the feature that makes the vault real.
Talking points:
- Phase 1, safety: an escape hatch so withdrawals reopen if a vault stays paused too long; close_position to refund account rent; fuzz testing the share math and withdrawal limits.
- Phase 2, recommendations: rank on the 30-day average instead of today's rate; flag options that need funds moved between networks; back-test the grades against past exploits.
- Phase 3, the vault: replace a practice pool with one real Kamino lending integration, tested against the real Kamino program on a local validator. The rebalance and the on-chain accounting stay the same.
- Phase 4: a multisig authority and a delay on strategy changes, then rate and grade alerts, a read-only portfolio view, and more tokens such as USDT and Token-2022.
All of this is planned, none of it is built yet. Don't give dates you can't commit to.
Transition: To wrap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about 25 seconds, then questions.
Key message: StableSave makes yield easier to understand before it makes yield easier to chase.
Talking points:
- Three things: simpler comparison across yield options; risk grades that show the trade-offs; and a separate Solana vault prototype that explores controlled deposits and withdrawals.
- Scan the code to try it. No wallet needed.
- I'd love feedback on three things: the risk scoring, the vault's security model, and which integration I should build next.
- Close: StableSave. Know the risk before you chase the yield. Thank you.
Likely questions and honest answers:
- Does the vault earn yield? Not market yield yet. On devnet it splits deposits into practice pools that pay fixed practice rates from a sponsor pot of test tokens; swapping one for a real Kamino strategy is the next build.
- Is it audited? No. It's a devnet prototype.
- Who controls the vault? One authority key today, plus a guardian that can only pause. A multisig and a delay on strategy changes are planned.
- Why trust the grades? They're transparent: every factor and its reason is shown, and unknowns lower the grade. The weights are my judgement and not back-tested yet.
- Why only DefiLlama? It covers every network without an API key. The trade-off is a single point of failure.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1C1C1C"/>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1C1C1C"/>
        </a:solidFill>
      </p:bgPr>
    </p:bg>
    <p:spTree>
      <p:nvGrpSpPr>
        <p:cNvPr id="1" name=""/>
        <p:cNvGrpSpPr/>
        <p:nvPr/>
      </p:nvGrpSpPr>
      <p:grpSpPr>
        <a:xfrm>
          <a:off x="0" y="0"/>
          <a:ext cx="0" cy="0"/>
          <a:chOff x="0" y="0"/>
          <a:chExt cx="0" cy="0"/>
        </a:xfrm>
      </p:grpSpPr>
      <p:pic>
        <p:nvPicPr>
          <p:cNvPr id="2" name="Image 0" descr="/home/user/Stablesaver/presentation/assets/graphics/logo-mark.png">    </p:cNvPr>
          <p:cNvPicPr>
            <a:picLocks noChangeAspect="1"/>
          </p:cNvPicPr>
          <p:nvPr/>
        </p:nvPicPr>
        <p:blipFill>
          <a:blip r:embed="rId1"/>
          <a:stretch>
            <a:fillRect/>
          </a:stretch>
        </p:blipFill>
        <p:spPr>
          <a:xfrm>
            <a:off x="685800" y="283464"/>
            <a:ext cx="201168" cy="201168"/>
          </a:xfrm>
          <a:prstGeom prst="rect">
            <a:avLst/>
          </a:prstGeom>
        </p:spPr>
      </p:pic>
      <p:sp>
        <p:nvSpPr>
          <p:cNvPr id="3" name="Text 0"/>
          <p:cNvSpPr/>
          <p:nvPr/>
        </p:nvSpPr>
        <p:spPr>
          <a:xfrm>
            <a:off x="996696" y="265176"/>
            <a:ext cx="1371600" cy="237744"/>
          </a:xfrm>
          <a:prstGeom prst="rect">
            <a:avLst/>
          </a:prstGeom>
          <a:noFill/>
          <a:ln/>
        </p:spPr>
        <p:txBody>
          <a:bodyPr wrap="square" lIns="0" tIns="0" rIns="0" bIns="0" rtlCol="0" anchor="ctr"/>
          <a:lstStyle/>
          <a:p>
            <a:pPr indent="0" marL="0">
              <a:buNone/>
            </a:pPr>
            <a:r>
              <a:rPr lang="en-US" sz="1050" spc="300" kern="0" dirty="0">
                <a:solidFill>
                  <a:schemeClr val="accent1"/>
                </a:solidFill>
                <a:latin typeface="IBM Plex Mono SemiBold" pitchFamily="34" charset="0"/>
                <a:ea typeface="IBM Plex Mono SemiBold" pitchFamily="34" charset="-122"/>
                <a:cs typeface="IBM Plex Mono SemiBold" pitchFamily="34" charset="-120"/>
              </a:rPr>
              <a:t>STABLESAVE</a:t>
            </a:r>
            <a:endParaRPr lang="en-US" sz="1050" dirty="0"/>
          </a:p>
        </p:txBody>
      </p:sp>
      <p:sp>
        <p:nvSpPr>
          <p:cNvPr id="4" name="Text 1"/>
          <p:cNvSpPr/>
          <p:nvPr/>
        </p:nvSpPr>
        <p:spPr>
          <a:xfrm>
            <a:off x="2276856" y="265176"/>
            <a:ext cx="2286000" cy="237744"/>
          </a:xfrm>
          <a:prstGeom prst="rect">
            <a:avLst/>
          </a:prstGeom>
          <a:noFill/>
          <a:ln/>
        </p:spPr>
        <p:txBody>
          <a:bodyPr wrap="square" lIns="0" tIns="0" rIns="0" bIns="0" rtlCol="0" anchor="ctr"/>
          <a:lstStyle/>
          <a:p>
            <a:pPr indent="0" marL="0">
              <a:buNone/>
            </a:pPr>
            <a:r>
              <a:rPr lang="en-US" sz="1050" spc="300" kern="0" dirty="0">
                <a:solidFill>
                  <a:schemeClr val="bg2"/>
                </a:solidFill>
                <a:latin typeface="IBM Plex Mono" pitchFamily="34" charset="0"/>
                <a:ea typeface="IBM Plex Mono" pitchFamily="34" charset="-122"/>
                <a:cs typeface="IBM Plex Mono" pitchFamily="34" charset="-120"/>
              </a:rPr>
              <a:t>·  DEMO DAY</a:t>
            </a:r>
            <a:endParaRPr lang="en-US" sz="1050" dirty="0"/>
          </a:p>
        </p:txBody>
      </p:sp>
      <p:sp>
        <p:nvSpPr>
          <p:cNvPr id="5" name="Text 2"/>
          <p:cNvSpPr/>
          <p:nvPr>
            <p:ph idx="103" type="title" hasCustomPrompt="1"/>
          </p:nvPr>
        </p:nvSpPr>
        <p:spPr>
          <a:xfrm>
            <a:off x="685800" y="640080"/>
            <a:ext cx="10820095" cy="603504"/>
          </a:xfrm>
          <a:prstGeom prst="rect">
            <a:avLst/>
          </a:prstGeom>
          <a:noFill/>
          <a:ln/>
        </p:spPr>
        <p:txBody>
          <a:bodyPr wrap="square" rtlCol="0"/>
          <a:lstStyle>
            <a:lvl1pPr algn="l" indent="0" marL="0">
              <a:buNone/>
              <a:defRPr lang="en-US" sz="3400" dirty="0">
                <a:solidFill>
                  <a:schemeClr val="bg1"/>
                </a:solidFill>
                <a:latin typeface="Anton" pitchFamily="34" charset="0"/>
                <a:ea typeface="Anton" pitchFamily="34" charset="-122"/>
                <a:cs typeface="Anton" pitchFamily="34" charset="-120"/>
              </a:defRPr>
            </a:lvl1pPr>
          </a:lstStyle>
          <a:p>
            <a:pPr algn="l" indent="0" marL="0">
              <a:buNone/>
            </a:pPr>
            <a:endParaRPr lang="en-US" sz="34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IVIDER">
    <p:bg>
      <p:bgPr>
        <a:solidFill>
          <a:srgbClr val="1C1C1C"/>
        </a:solidFill>
      </p:bgPr>
    </p:bg>
    <p:spTree>
      <p:nvGrpSpPr>
        <p:cNvPr id="1" name=""/>
        <p:cNvGrpSpPr/>
        <p:nvPr/>
      </p:nvGrpSpPr>
      <p:grpSpPr>
        <a:xfrm>
          <a:off x="0" y="0"/>
          <a:ext cx="0" cy="0"/>
          <a:chOff x="0" y="0"/>
          <a:chExt cx="0" cy="0"/>
        </a:xfrm>
      </p:grpSpPr>
      <p:pic>
        <p:nvPicPr>
          <p:cNvPr id="2" name="Image 0" descr="/home/user/Stablesaver/presentation/assets/graphics/logo-mark.png">    </p:cNvPr>
          <p:cNvPicPr>
            <a:picLocks noChangeAspect="1"/>
          </p:cNvPicPr>
          <p:nvPr/>
        </p:nvPicPr>
        <p:blipFill>
          <a:blip r:embed="rId1"/>
          <a:stretch>
            <a:fillRect/>
          </a:stretch>
        </p:blipFill>
        <p:spPr>
          <a:xfrm>
            <a:off x="685800" y="283464"/>
            <a:ext cx="201168" cy="201168"/>
          </a:xfrm>
          <a:prstGeom prst="rect">
            <a:avLst/>
          </a:prstGeom>
        </p:spPr>
      </p:pic>
      <p:sp>
        <p:nvSpPr>
          <p:cNvPr id="3" name="Text 0"/>
          <p:cNvSpPr/>
          <p:nvPr/>
        </p:nvSpPr>
        <p:spPr>
          <a:xfrm>
            <a:off x="996696" y="265176"/>
            <a:ext cx="1371600" cy="237744"/>
          </a:xfrm>
          <a:prstGeom prst="rect">
            <a:avLst/>
          </a:prstGeom>
          <a:noFill/>
          <a:ln/>
        </p:spPr>
        <p:txBody>
          <a:bodyPr wrap="square" lIns="0" tIns="0" rIns="0" bIns="0" rtlCol="0" anchor="ctr"/>
          <a:lstStyle/>
          <a:p>
            <a:pPr indent="0" marL="0">
              <a:buNone/>
            </a:pPr>
            <a:r>
              <a:rPr lang="en-US" sz="1050" spc="300" kern="0" dirty="0">
                <a:solidFill>
                  <a:schemeClr val="accent1"/>
                </a:solidFill>
                <a:latin typeface="IBM Plex Mono SemiBold" pitchFamily="34" charset="0"/>
                <a:ea typeface="IBM Plex Mono SemiBold" pitchFamily="34" charset="-122"/>
                <a:cs typeface="IBM Plex Mono SemiBold" pitchFamily="34" charset="-120"/>
              </a:rPr>
              <a:t>STABLESAVE</a:t>
            </a:r>
            <a:endParaRPr lang="en-US" sz="1050" dirty="0"/>
          </a:p>
        </p:txBody>
      </p:sp>
      <p:sp>
        <p:nvSpPr>
          <p:cNvPr id="4" name="Text 1"/>
          <p:cNvSpPr/>
          <p:nvPr/>
        </p:nvSpPr>
        <p:spPr>
          <a:xfrm>
            <a:off x="2276856" y="265176"/>
            <a:ext cx="2286000" cy="237744"/>
          </a:xfrm>
          <a:prstGeom prst="rect">
            <a:avLst/>
          </a:prstGeom>
          <a:noFill/>
          <a:ln/>
        </p:spPr>
        <p:txBody>
          <a:bodyPr wrap="square" lIns="0" tIns="0" rIns="0" bIns="0" rtlCol="0" anchor="ctr"/>
          <a:lstStyle/>
          <a:p>
            <a:pPr indent="0" marL="0">
              <a:buNone/>
            </a:pPr>
            <a:r>
              <a:rPr lang="en-US" sz="1050" spc="300" kern="0" dirty="0">
                <a:solidFill>
                  <a:schemeClr val="bg2"/>
                </a:solidFill>
                <a:latin typeface="IBM Plex Mono" pitchFamily="34" charset="0"/>
                <a:ea typeface="IBM Plex Mono" pitchFamily="34" charset="-122"/>
                <a:cs typeface="IBM Plex Mono" pitchFamily="34" charset="-120"/>
              </a:rPr>
              <a:t>·  DEMO DAY</a:t>
            </a:r>
            <a:endParaRPr lang="en-US" sz="1050" dirty="0"/>
          </a:p>
        </p:txBody>
      </p:sp>
      <p:sp>
        <p:nvSpPr>
          <p:cNvPr id="5" name="Text 2"/>
          <p:cNvSpPr/>
          <p:nvPr>
            <p:ph idx="103" type="title" hasCustomPrompt="1"/>
          </p:nvPr>
        </p:nvSpPr>
        <p:spPr>
          <a:xfrm>
            <a:off x="457200" y="2898648"/>
            <a:ext cx="11277295" cy="914400"/>
          </a:xfrm>
          <a:prstGeom prst="rect">
            <a:avLst/>
          </a:prstGeom>
          <a:noFill/>
          <a:ln/>
        </p:spPr>
        <p:txBody>
          <a:bodyPr wrap="square" rtlCol="0"/>
          <a:lstStyle>
            <a:lvl1pPr algn="ctr" indent="0" marL="0">
              <a:buNone/>
              <a:defRPr lang="en-US" sz="5400" dirty="0">
                <a:solidFill>
                  <a:schemeClr val="bg1"/>
                </a:solidFill>
                <a:latin typeface="Anton" pitchFamily="34" charset="0"/>
                <a:ea typeface="Anton" pitchFamily="34" charset="-122"/>
                <a:cs typeface="Anton" pitchFamily="34" charset="-120"/>
              </a:defRPr>
            </a:lvl1pPr>
          </a:lstStyle>
          <a:p>
            <a:pPr algn="ctr" indent="0" marL="0">
              <a:buNone/>
            </a:pPr>
            <a:endParaRPr lang="en-US" sz="540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LOSE">
    <p:bg>
      <p:bgPr>
        <a:solidFill>
          <a:srgbClr val="1C1C1C"/>
        </a:solidFill>
      </p:bgPr>
    </p:bg>
    <p:spTree>
      <p:nvGrpSpPr>
        <p:cNvPr id="1" name=""/>
        <p:cNvGrpSpPr/>
        <p:nvPr/>
      </p:nvGrpSpPr>
      <p:grpSpPr>
        <a:xfrm>
          <a:off x="0" y="0"/>
          <a:ext cx="0" cy="0"/>
          <a:chOff x="0" y="0"/>
          <a:chExt cx="0" cy="0"/>
        </a:xfrm>
      </p:grpSpPr>
      <p:pic>
        <p:nvPicPr>
          <p:cNvPr id="2" name="Image 0" descr="/home/user/Stablesaver/presentation/assets/graphics/logo-mark.png">    </p:cNvPr>
          <p:cNvPicPr>
            <a:picLocks noChangeAspect="1"/>
          </p:cNvPicPr>
          <p:nvPr/>
        </p:nvPicPr>
        <p:blipFill>
          <a:blip r:embed="rId1"/>
          <a:stretch>
            <a:fillRect/>
          </a:stretch>
        </p:blipFill>
        <p:spPr>
          <a:xfrm>
            <a:off x="685800" y="283464"/>
            <a:ext cx="201168" cy="201168"/>
          </a:xfrm>
          <a:prstGeom prst="rect">
            <a:avLst/>
          </a:prstGeom>
        </p:spPr>
      </p:pic>
      <p:sp>
        <p:nvSpPr>
          <p:cNvPr id="3" name="Text 0"/>
          <p:cNvSpPr/>
          <p:nvPr/>
        </p:nvSpPr>
        <p:spPr>
          <a:xfrm>
            <a:off x="996696" y="265176"/>
            <a:ext cx="1371600" cy="237744"/>
          </a:xfrm>
          <a:prstGeom prst="rect">
            <a:avLst/>
          </a:prstGeom>
          <a:noFill/>
          <a:ln/>
        </p:spPr>
        <p:txBody>
          <a:bodyPr wrap="square" lIns="0" tIns="0" rIns="0" bIns="0" rtlCol="0" anchor="ctr"/>
          <a:lstStyle/>
          <a:p>
            <a:pPr indent="0" marL="0">
              <a:buNone/>
            </a:pPr>
            <a:r>
              <a:rPr lang="en-US" sz="1050" spc="300" kern="0" dirty="0">
                <a:solidFill>
                  <a:schemeClr val="accent1"/>
                </a:solidFill>
                <a:latin typeface="IBM Plex Mono SemiBold" pitchFamily="34" charset="0"/>
                <a:ea typeface="IBM Plex Mono SemiBold" pitchFamily="34" charset="-122"/>
                <a:cs typeface="IBM Plex Mono SemiBold" pitchFamily="34" charset="-120"/>
              </a:rPr>
              <a:t>STABLESAVE</a:t>
            </a:r>
            <a:endParaRPr lang="en-US" sz="1050" dirty="0"/>
          </a:p>
        </p:txBody>
      </p:sp>
      <p:sp>
        <p:nvSpPr>
          <p:cNvPr id="4" name="Text 1"/>
          <p:cNvSpPr/>
          <p:nvPr/>
        </p:nvSpPr>
        <p:spPr>
          <a:xfrm>
            <a:off x="2276856" y="265176"/>
            <a:ext cx="2286000" cy="237744"/>
          </a:xfrm>
          <a:prstGeom prst="rect">
            <a:avLst/>
          </a:prstGeom>
          <a:noFill/>
          <a:ln/>
        </p:spPr>
        <p:txBody>
          <a:bodyPr wrap="square" lIns="0" tIns="0" rIns="0" bIns="0" rtlCol="0" anchor="ctr"/>
          <a:lstStyle/>
          <a:p>
            <a:pPr indent="0" marL="0">
              <a:buNone/>
            </a:pPr>
            <a:r>
              <a:rPr lang="en-US" sz="1050" spc="300" kern="0" dirty="0">
                <a:solidFill>
                  <a:schemeClr val="bg2"/>
                </a:solidFill>
                <a:latin typeface="IBM Plex Mono" pitchFamily="34" charset="0"/>
                <a:ea typeface="IBM Plex Mono" pitchFamily="34" charset="-122"/>
                <a:cs typeface="IBM Plex Mono" pitchFamily="34" charset="-120"/>
              </a:rPr>
              <a:t>·  DEMO DAY</a:t>
            </a:r>
            <a:endParaRPr lang="en-US" sz="1050" dirty="0"/>
          </a:p>
        </p:txBody>
      </p:sp>
      <p:sp>
        <p:nvSpPr>
          <p:cNvPr id="5" name="Text 2"/>
          <p:cNvSpPr/>
          <p:nvPr>
            <p:ph idx="103" type="title" hasCustomPrompt="1"/>
          </p:nvPr>
        </p:nvSpPr>
        <p:spPr>
          <a:xfrm>
            <a:off x="457200" y="987552"/>
            <a:ext cx="11277295" cy="1005840"/>
          </a:xfrm>
          <a:prstGeom prst="rect">
            <a:avLst/>
          </a:prstGeom>
          <a:noFill/>
          <a:ln/>
        </p:spPr>
        <p:txBody>
          <a:bodyPr wrap="square" rtlCol="0"/>
          <a:lstStyle>
            <a:lvl1pPr algn="ctr" indent="0" marL="0">
              <a:buNone/>
              <a:defRPr lang="en-US" sz="6200" dirty="0">
                <a:solidFill>
                  <a:schemeClr val="bg1"/>
                </a:solidFill>
                <a:latin typeface="Anton" pitchFamily="34" charset="0"/>
                <a:ea typeface="Anton" pitchFamily="34" charset="-122"/>
                <a:cs typeface="Anton" pitchFamily="34" charset="-120"/>
              </a:defRPr>
            </a:lvl1pPr>
          </a:lstStyle>
          <a:p>
            <a:pPr algn="ctr" indent="0" marL="0">
              <a:buNone/>
            </a:pPr>
            <a:endParaRPr lang="en-US" sz="62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3.png"/><Relationship Id="rId5" Type="http://schemas.openxmlformats.org/officeDocument/2006/relationships/image" Target="../media/image-2-3.png"/><Relationship Id="rId6" Type="http://schemas.openxmlformats.org/officeDocument/2006/relationships/image" Target="../media/image-2-3.png"/><Relationship Id="rId7" Type="http://schemas.openxmlformats.org/officeDocument/2006/relationships/image" Target="../media/image-2-3.png"/><Relationship Id="rId8" Type="http://schemas.openxmlformats.org/officeDocument/2006/relationships/slideLayout" Target="../slideLayouts/slideLayout3.xml"/><Relationship Id="rId9"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3.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4.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3.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3.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7-1.png"/><Relationship Id="rId3" Type="http://schemas.openxmlformats.org/officeDocument/2006/relationships/slideLayout" Target="../slideLayouts/slideLayout3.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3.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4" Type="http://schemas.openxmlformats.org/officeDocument/2006/relationships/chart" Target="/ppt/charts/chart2.xml"/><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5" Type="http://schemas.openxmlformats.org/officeDocument/2006/relationships/image" Target="../media/image-9-4.png"/><Relationship Id="rId6" Type="http://schemas.openxmlformats.org/officeDocument/2006/relationships/slideLayout" Target="../slideLayouts/slideLayout3.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4.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4.png"/><Relationship Id="rId6" Type="http://schemas.openxmlformats.org/officeDocument/2006/relationships/image" Target="../media/image-11-4.png"/><Relationship Id="rId7" Type="http://schemas.openxmlformats.org/officeDocument/2006/relationships/image" Target="../media/image-11-4.png"/><Relationship Id="rId8" Type="http://schemas.openxmlformats.org/officeDocument/2006/relationships/image" Target="../media/image-11-4.png"/><Relationship Id="rId9" Type="http://schemas.openxmlformats.org/officeDocument/2006/relationships/slideLayout" Target="../slideLayouts/slideLayout3.xml"/><Relationship Id="rId10"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4" Type="http://schemas.openxmlformats.org/officeDocument/2006/relationships/chart" Target="/ppt/charts/chart3.xml"/><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5" Type="http://schemas.openxmlformats.org/officeDocument/2006/relationships/image" Target="../media/image-12-4.png"/><Relationship Id="rId6" Type="http://schemas.openxmlformats.org/officeDocument/2006/relationships/image" Target="../media/image-12-5.png"/><Relationship Id="rId7" Type="http://schemas.openxmlformats.org/officeDocument/2006/relationships/image" Target="../media/image-12-6.png"/><Relationship Id="rId8" Type="http://schemas.openxmlformats.org/officeDocument/2006/relationships/slideLayout" Target="../slideLayouts/slideLayout3.xml"/><Relationship Id="rId9"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image" Target="../media/image-13-7.png"/><Relationship Id="rId8" Type="http://schemas.openxmlformats.org/officeDocument/2006/relationships/image" Target="../media/image-13-8.png"/><Relationship Id="rId9" Type="http://schemas.openxmlformats.org/officeDocument/2006/relationships/image" Target="../media/image-13-9.png"/><Relationship Id="rId10" Type="http://schemas.openxmlformats.org/officeDocument/2006/relationships/slideLayout" Target="../slideLayouts/slideLayout3.xml"/><Relationship Id="rId11"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4.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3.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2.png"/><Relationship Id="rId4" Type="http://schemas.openxmlformats.org/officeDocument/2006/relationships/image" Target="../media/image-16-2.png"/><Relationship Id="rId5" Type="http://schemas.openxmlformats.org/officeDocument/2006/relationships/image" Target="../media/image-16-2.png"/><Relationship Id="rId6" Type="http://schemas.openxmlformats.org/officeDocument/2006/relationships/image" Target="../media/image-16-2.png"/><Relationship Id="rId7" Type="http://schemas.openxmlformats.org/officeDocument/2006/relationships/image" Target="../media/image-16-2.png"/><Relationship Id="rId8" Type="http://schemas.openxmlformats.org/officeDocument/2006/relationships/image" Target="../media/image-16-2.png"/><Relationship Id="rId9" Type="http://schemas.openxmlformats.org/officeDocument/2006/relationships/image" Target="../media/image-16-2.png"/><Relationship Id="rId10" Type="http://schemas.openxmlformats.org/officeDocument/2006/relationships/image" Target="../media/image-16-2.png"/><Relationship Id="rId11" Type="http://schemas.openxmlformats.org/officeDocument/2006/relationships/image" Target="../media/image-16-2.png"/><Relationship Id="rId12" Type="http://schemas.openxmlformats.org/officeDocument/2006/relationships/image" Target="../media/image-16-2.png"/><Relationship Id="rId13" Type="http://schemas.openxmlformats.org/officeDocument/2006/relationships/image" Target="../media/image-16-2.png"/><Relationship Id="rId14" Type="http://schemas.openxmlformats.org/officeDocument/2006/relationships/image" Target="../media/image-16-2.png"/><Relationship Id="rId15" Type="http://schemas.openxmlformats.org/officeDocument/2006/relationships/slideLayout" Target="../slideLayouts/slideLayout3.xml"/><Relationship Id="rId1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image" Target="../media/image-18-7.png"/><Relationship Id="rId8" Type="http://schemas.openxmlformats.org/officeDocument/2006/relationships/slideLayout" Target="../slideLayouts/slideLayout5.xml"/><Relationship Id="rId9"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collage" descr="Collage: StableSave screens, a DEMO DAY label, code snippets and stickers">    </p:cNvPr>
          <p:cNvPicPr>
            <a:picLocks noChangeAspect="1"/>
          </p:cNvPicPr>
          <p:nvPr/>
        </p:nvPicPr>
        <p:blipFill>
          <a:blip r:embed="rId1"/>
          <a:stretch>
            <a:fillRect/>
          </a:stretch>
        </p:blipFill>
        <p:spPr>
          <a:xfrm>
            <a:off x="5897880" y="0"/>
            <a:ext cx="6293815" cy="6858000"/>
          </a:xfrm>
          <a:prstGeom prst="rect">
            <a:avLst/>
          </a:prstGeom>
        </p:spPr>
      </p:pic>
      <p:sp>
        <p:nvSpPr>
          <p:cNvPr id="3" name="Text 0"/>
          <p:cNvSpPr txBox="1"/>
          <p:nvPr/>
        </p:nvSpPr>
        <p:spPr>
          <a:xfrm rot="-150000">
            <a:off x="685800" y="960120"/>
            <a:ext cx="3246120" cy="347472"/>
          </a:xfrm>
          <a:prstGeom prst="rect">
            <a:avLst/>
          </a:prstGeom>
          <a:solidFill>
            <a:schemeClr val="accent2"/>
          </a:solidFill>
          <a:ln>
            <a:solidFill>
              <a:schemeClr val="accent2"/>
            </a:solidFill>
          </a:ln>
        </p:spPr>
        <p:txBody>
          <a:bodyPr wrap="square" lIns="0" tIns="0" rIns="0" bIns="0" rtlCol="0" anchor="ctr"/>
          <a:lstStyle/>
          <a:p>
            <a:pPr algn="ctr" indent="0" marL="0">
              <a:buNone/>
            </a:pPr>
            <a:r>
              <a:rPr lang="en-US" sz="1050" spc="250" kern="0" dirty="0">
                <a:solidFill>
                  <a:srgbClr val="141414"/>
                </a:solidFill>
                <a:latin typeface="IBM Plex Mono SemiBold" pitchFamily="34" charset="0"/>
                <a:ea typeface="IBM Plex Mono SemiBold" pitchFamily="34" charset="-122"/>
                <a:cs typeface="IBM Plex Mono SemiBold" pitchFamily="34" charset="-120"/>
              </a:rPr>
              <a:t>STABLESAVE  ·  DEMO DAY</a:t>
            </a:r>
            <a:endParaRPr lang="en-US" sz="1050" dirty="0"/>
          </a:p>
        </p:txBody>
      </p:sp>
      <p:sp>
        <p:nvSpPr>
          <p:cNvPr id="4" name="wordmark"/>
          <p:cNvSpPr txBox="1"/>
          <p:nvPr/>
        </p:nvSpPr>
        <p:spPr>
          <a:xfrm>
            <a:off x="685800" y="1627632"/>
            <a:ext cx="5120640" cy="2926080"/>
          </a:xfrm>
          <a:prstGeom prst="rect">
            <a:avLst/>
          </a:prstGeom>
          <a:noFill/>
          <a:ln/>
        </p:spPr>
        <p:txBody>
          <a:bodyPr wrap="square" lIns="0" tIns="0" rIns="0" bIns="0" rtlCol="0" anchor="t"/>
          <a:lstStyle/>
          <a:p>
            <a:pPr indent="0" marL="0">
              <a:lnSpc>
                <a:spcPct val="86000"/>
              </a:lnSpc>
              <a:buNone/>
            </a:pPr>
            <a:r>
              <a:rPr lang="en-US" sz="11800" dirty="0">
                <a:solidFill>
                  <a:schemeClr val="bg1"/>
                </a:solidFill>
                <a:latin typeface="Anton" pitchFamily="34" charset="0"/>
                <a:ea typeface="Anton" pitchFamily="34" charset="-122"/>
                <a:cs typeface="Anton" pitchFamily="34" charset="-120"/>
              </a:rPr>
              <a:t>STABLE</a:t>
            </a:r>
            <a:endParaRPr lang="en-US" sz="11800" dirty="0"/>
          </a:p>
          <a:p>
            <a:pPr indent="0" marL="0">
              <a:lnSpc>
                <a:spcPct val="86000"/>
              </a:lnSpc>
              <a:buNone/>
            </a:pPr>
            <a:r>
              <a:rPr lang="en-US" sz="11800" dirty="0">
                <a:solidFill>
                  <a:schemeClr val="accent1"/>
                </a:solidFill>
                <a:latin typeface="Anton" pitchFamily="34" charset="0"/>
                <a:ea typeface="Anton" pitchFamily="34" charset="-122"/>
                <a:cs typeface="Anton" pitchFamily="34" charset="-120"/>
              </a:rPr>
              <a:t>SAVE</a:t>
            </a:r>
            <a:endParaRPr lang="en-US" sz="11800" dirty="0"/>
          </a:p>
        </p:txBody>
      </p:sp>
      <p:sp>
        <p:nvSpPr>
          <p:cNvPr id="5" name="Text 2"/>
          <p:cNvSpPr txBox="1"/>
          <p:nvPr/>
        </p:nvSpPr>
        <p:spPr>
          <a:xfrm>
            <a:off x="685800" y="4617720"/>
            <a:ext cx="5120640" cy="274320"/>
          </a:xfrm>
          <a:prstGeom prst="rect">
            <a:avLst/>
          </a:prstGeom>
          <a:noFill/>
          <a:ln/>
        </p:spPr>
        <p:txBody>
          <a:bodyPr wrap="square" lIns="0" tIns="0" rIns="0" bIns="0" rtlCol="0" anchor="t"/>
          <a:lstStyle/>
          <a:p>
            <a:pPr indent="0" marL="0">
              <a:buNone/>
            </a:pPr>
            <a:r>
              <a:rPr lang="en-US" sz="1050" spc="250" kern="0" dirty="0">
                <a:solidFill>
                  <a:schemeClr val="accent1"/>
                </a:solidFill>
                <a:latin typeface="IBM Plex Mono SemiBold" pitchFamily="34" charset="0"/>
                <a:ea typeface="IBM Plex Mono SemiBold" pitchFamily="34" charset="-122"/>
                <a:cs typeface="IBM Plex Mono SemiBold" pitchFamily="34" charset="-120"/>
              </a:rPr>
              <a:t>STABLECOIN YIELD  ·  SOLANA VAULT PROTOTYPE</a:t>
            </a:r>
            <a:endParaRPr lang="en-US" sz="1050" dirty="0"/>
          </a:p>
        </p:txBody>
      </p:sp>
      <p:sp>
        <p:nvSpPr>
          <p:cNvPr id="6" name="Text 3"/>
          <p:cNvSpPr txBox="1"/>
          <p:nvPr/>
        </p:nvSpPr>
        <p:spPr>
          <a:xfrm>
            <a:off x="685800" y="4956048"/>
            <a:ext cx="5029200" cy="411480"/>
          </a:xfrm>
          <a:prstGeom prst="rect">
            <a:avLst/>
          </a:prstGeom>
          <a:noFill/>
          <a:ln/>
        </p:spPr>
        <p:txBody>
          <a:bodyPr wrap="square" lIns="0" tIns="0" rIns="0" bIns="0" rtlCol="0" anchor="t"/>
          <a:lstStyle/>
          <a:p>
            <a:pPr indent="0" marL="0">
              <a:buNone/>
            </a:pPr>
            <a:r>
              <a:rPr lang="en-US" sz="1900" dirty="0">
                <a:solidFill>
                  <a:srgbClr val="C9C9C9"/>
                </a:solidFill>
              </a:rPr>
              <a:t>Know the risk </a:t>
            </a:r>
            <a:pPr indent="0" marL="0">
              <a:buNone/>
            </a:pPr>
            <a:r>
              <a:rPr lang="en-US" sz="1900" b="1" dirty="0">
                <a:solidFill>
                  <a:schemeClr val="bg1"/>
                </a:solidFill>
              </a:rPr>
              <a:t>before you chase the yield.</a:t>
            </a:r>
            <a:endParaRPr lang="en-US" sz="1900" dirty="0"/>
          </a:p>
        </p:txBody>
      </p:sp>
      <p:sp>
        <p:nvSpPr>
          <p:cNvPr id="7" name="presenter"/>
          <p:cNvSpPr txBox="1"/>
          <p:nvPr/>
        </p:nvSpPr>
        <p:spPr>
          <a:xfrm>
            <a:off x="685800" y="5760720"/>
            <a:ext cx="5029200" cy="320040"/>
          </a:xfrm>
          <a:prstGeom prst="rect">
            <a:avLst/>
          </a:prstGeom>
          <a:noFill/>
          <a:ln/>
        </p:spPr>
        <p:txBody>
          <a:bodyPr wrap="square" lIns="0" tIns="0" rIns="0" bIns="0" rtlCol="0" anchor="ctr"/>
          <a:lstStyle/>
          <a:p>
            <a:pPr indent="0" marL="0">
              <a:buNone/>
            </a:pPr>
            <a:r>
              <a:rPr lang="en-US" sz="1400" b="1" dirty="0">
                <a:solidFill>
                  <a:schemeClr val="bg1"/>
                </a:solidFill>
              </a:rPr>
              <a:t>Theo</a:t>
            </a:r>
            <a:pPr indent="0" marL="0">
              <a:buNone/>
            </a:pPr>
            <a:r>
              <a:rPr lang="en-US" sz="1100" spc="100" kern="0" dirty="0">
                <a:solidFill>
                  <a:schemeClr val="bg2"/>
                </a:solidFill>
                <a:latin typeface="IBM Plex Mono" pitchFamily="34" charset="0"/>
                <a:ea typeface="IBM Plex Mono" pitchFamily="34" charset="-122"/>
                <a:cs typeface="IBM Plex Mono" pitchFamily="34" charset="-120"/>
              </a:rPr>
              <a:t>   stablesaver-web.vercel.app</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title-blob" descr="preencoded.png">    </p:cNvPr>
          <p:cNvPicPr>
            <a:picLocks noChangeAspect="1"/>
          </p:cNvPicPr>
          <p:nvPr/>
        </p:nvPicPr>
        <p:blipFill>
          <a:blip r:embed="rId1"/>
          <a:stretch>
            <a:fillRect/>
          </a:stretch>
        </p:blipFill>
        <p:spPr>
          <a:xfrm>
            <a:off x="51717" y="420624"/>
            <a:ext cx="4980921" cy="1024128"/>
          </a:xfrm>
          <a:prstGeom prst="rect">
            <a:avLst/>
          </a:prstGeom>
        </p:spPr>
      </p:pic>
      <p:sp>
        <p:nvSpPr>
          <p:cNvPr id="3" name="Text 2"/>
          <p:cNvSpPr/>
          <p:nvPr>
            <p:ph idx="103" type="title" hasCustomPrompt="1"/>
          </p:nvPr>
        </p:nvSpPr>
        <p:spPr>
          <a:xfrm>
            <a:off x="685800" y="640080"/>
            <a:ext cx="10820095" cy="603504"/>
          </a:xfrm>
          <a:prstGeom prst="rect">
            <a:avLst/>
          </a:prstGeom>
          <a:noFill/>
          <a:ln/>
        </p:spPr>
        <p:txBody>
          <a:bodyPr wrap="square" lIns="0" tIns="0" rIns="0" bIns="0" rtlCol="0" anchor="ctr"/>
          <a:lstStyle/>
          <a:p>
            <a:pPr algn="l" indent="0" marL="0">
              <a:buNone/>
            </a:pPr>
            <a:r>
              <a:rPr lang="en-US" sz="3400" dirty="0">
                <a:solidFill>
                  <a:schemeClr val="bg1"/>
                </a:solidFill>
                <a:latin typeface="Anton" pitchFamily="34" charset="0"/>
                <a:ea typeface="Anton" pitchFamily="34" charset="-122"/>
                <a:cs typeface="Anton" pitchFamily="34" charset="-120"/>
              </a:rPr>
              <a:t>YIELD IS EASY TO FIND</a:t>
            </a:r>
            <a:endParaRPr lang="en-US" sz="3400" dirty="0"/>
          </a:p>
        </p:txBody>
      </p:sp>
      <p:sp>
        <p:nvSpPr>
          <p:cNvPr id="4" name="Text 1"/>
          <p:cNvSpPr txBox="1"/>
          <p:nvPr/>
        </p:nvSpPr>
        <p:spPr>
          <a:xfrm>
            <a:off x="685800" y="1481328"/>
            <a:ext cx="7863840" cy="640080"/>
          </a:xfrm>
          <a:prstGeom prst="rect">
            <a:avLst/>
          </a:prstGeom>
          <a:noFill/>
          <a:ln/>
        </p:spPr>
        <p:txBody>
          <a:bodyPr wrap="square" lIns="0" tIns="0" rIns="0" bIns="0" rtlCol="0" anchor="t"/>
          <a:lstStyle/>
          <a:p>
            <a:pPr indent="0" marL="0">
              <a:lnSpc>
                <a:spcPct val="100000"/>
              </a:lnSpc>
              <a:buNone/>
            </a:pPr>
            <a:r>
              <a:rPr lang="en-US" sz="1700" dirty="0">
                <a:solidFill>
                  <a:srgbClr val="C9C9C9"/>
                </a:solidFill>
              </a:rPr>
              <a:t>Knowing </a:t>
            </a:r>
            <a:pPr indent="0" marL="0">
              <a:lnSpc>
                <a:spcPct val="100000"/>
              </a:lnSpc>
              <a:buNone/>
            </a:pPr>
            <a:r>
              <a:rPr lang="en-US" sz="1700" b="1" dirty="0">
                <a:solidFill>
                  <a:schemeClr val="bg1"/>
                </a:solidFill>
              </a:rPr>
              <a:t>what you're taking on</a:t>
            </a:r>
            <a:pPr indent="0" marL="0">
              <a:lnSpc>
                <a:spcPct val="100000"/>
              </a:lnSpc>
              <a:buNone/>
            </a:pPr>
            <a:r>
              <a:rPr lang="en-US" sz="1700" dirty="0">
                <a:solidFill>
                  <a:srgbClr val="C9C9C9"/>
                </a:solidFill>
              </a:rPr>
              <a:t> is the hard part.</a:t>
            </a:r>
            <a:endParaRPr lang="en-US" sz="1700" dirty="0"/>
          </a:p>
        </p:txBody>
      </p:sp>
      <p:sp>
        <p:nvSpPr>
          <p:cNvPr id="5" name="seen-card"/>
          <p:cNvSpPr txBox="1"/>
          <p:nvPr/>
        </p:nvSpPr>
        <p:spPr>
          <a:xfrm rot="-150000">
            <a:off x="822960" y="2514600"/>
            <a:ext cx="3931920" cy="3017520"/>
          </a:xfrm>
          <a:prstGeom prst="roundRect">
            <a:avLst>
              <a:gd name="adj" fmla="val 4242"/>
            </a:avLst>
          </a:prstGeom>
          <a:solidFill>
            <a:schemeClr val="tx2"/>
          </a:solidFill>
          <a:ln w="15875">
            <a:solidFill>
              <a:schemeClr val="accent6"/>
            </a:solidFill>
          </a:ln>
          <a:effectLst>
            <a:outerShdw sx="100000" sy="100000" kx="0" ky="0" algn="bl" rotWithShape="0" blurRad="101600" dist="63500" dir="2700000">
              <a:srgbClr val="080808">
                <a:alpha val="85000"/>
              </a:srgbClr>
            </a:outerShdw>
          </a:effectLst>
        </p:spPr>
        <p:txBody>
          <a:bodyPr wrap="square" lIns="228600" tIns="279400" rIns="279400" bIns="228600" rtlCol="0" anchor="ctr"/>
          <a:lstStyle/>
          <a:p>
            <a:pPr indent="0" marL="0">
              <a:buNone/>
            </a:pPr>
            <a:r>
              <a:rPr lang="en-US" sz="1000" spc="250" kern="0" dirty="0">
                <a:solidFill>
                  <a:schemeClr val="accent1"/>
                </a:solidFill>
                <a:latin typeface="IBM Plex Mono" pitchFamily="34" charset="0"/>
                <a:ea typeface="IBM Plex Mono" pitchFamily="34" charset="-122"/>
                <a:cs typeface="IBM Plex Mono" pitchFamily="34" charset="-120"/>
              </a:rPr>
              <a:t>WHAT YOU SEE</a:t>
            </a:r>
            <a:endParaRPr lang="en-US" sz="1000" dirty="0"/>
          </a:p>
          <a:p>
            <a:pPr indent="0" marL="0">
              <a:buNone/>
            </a:pPr>
            <a:r>
              <a:rPr lang="en-US" sz="6000" dirty="0">
                <a:solidFill>
                  <a:schemeClr val="accent1"/>
                </a:solidFill>
                <a:latin typeface="Anton" pitchFamily="34" charset="0"/>
                <a:ea typeface="Anton" pitchFamily="34" charset="-122"/>
                <a:cs typeface="Anton" pitchFamily="34" charset="-120"/>
              </a:rPr>
              <a:t>A BIG APY</a:t>
            </a:r>
            <a:endParaRPr lang="en-US" sz="1000" dirty="0"/>
          </a:p>
          <a:p>
            <a:pPr indent="0" marL="0">
              <a:buNone/>
            </a:pPr>
            <a:r>
              <a:rPr lang="en-US" sz="1500" dirty="0">
                <a:solidFill>
                  <a:schemeClr val="bg1"/>
                </a:solidFill>
              </a:rPr>
              <a:t>One number on a dashboard, usually the highest one.</a:t>
            </a:r>
            <a:endParaRPr lang="en-US" sz="1000" dirty="0"/>
          </a:p>
          <a:p>
            <a:pPr indent="0" marL="0">
              <a:buNone/>
            </a:pPr>
            <a:r>
              <a:rPr lang="en-US" sz="800" dirty="0">
                <a:solidFill>
                  <a:srgbClr val="000000"/>
                </a:solidFill>
              </a:rPr>
              <a:t> </a:t>
            </a:r>
            <a:endParaRPr lang="en-US" sz="1000" dirty="0"/>
          </a:p>
          <a:p>
            <a:pPr indent="0" marL="0">
              <a:buNone/>
            </a:pPr>
            <a:r>
              <a:rPr lang="en-US" sz="900" spc="200" kern="0" dirty="0">
                <a:solidFill>
                  <a:schemeClr val="bg2"/>
                </a:solidFill>
                <a:latin typeface="IBM Plex Mono" pitchFamily="34" charset="0"/>
                <a:ea typeface="IBM Plex Mono" pitchFamily="34" charset="-122"/>
                <a:cs typeface="IBM Plex Mono" pitchFamily="34" charset="-120"/>
              </a:rPr>
              <a:t>CONCEPTUAL ILLUSTRATION</a:t>
            </a:r>
            <a:endParaRPr lang="en-US" sz="1000" dirty="0"/>
          </a:p>
        </p:txBody>
      </p:sp>
      <p:pic>
        <p:nvPicPr>
          <p:cNvPr id="6" name="sticker-chart" descr="chart sticker">    </p:cNvPr>
          <p:cNvPicPr>
            <a:picLocks noChangeAspect="1"/>
          </p:cNvPicPr>
          <p:nvPr/>
        </p:nvPicPr>
        <p:blipFill>
          <a:blip r:embed="rId2"/>
          <a:stretch>
            <a:fillRect/>
          </a:stretch>
        </p:blipFill>
        <p:spPr>
          <a:xfrm rot="720000">
            <a:off x="4114800" y="2103120"/>
            <a:ext cx="1051560" cy="1051560"/>
          </a:xfrm>
          <a:prstGeom prst="rect">
            <a:avLst/>
          </a:prstGeom>
        </p:spPr>
      </p:pic>
      <p:sp>
        <p:nvSpPr>
          <p:cNvPr id="7" name="Text 3"/>
          <p:cNvSpPr txBox="1"/>
          <p:nvPr/>
        </p:nvSpPr>
        <p:spPr>
          <a:xfrm>
            <a:off x="5577840" y="2350008"/>
            <a:ext cx="5928055" cy="237744"/>
          </a:xfrm>
          <a:prstGeom prst="rect">
            <a:avLst/>
          </a:prstGeom>
          <a:noFill/>
          <a:ln/>
        </p:spPr>
        <p:txBody>
          <a:bodyPr wrap="square" lIns="0" tIns="0" rIns="0" bIns="0" rtlCol="0" anchor="t"/>
          <a:lstStyle/>
          <a:p>
            <a:pPr indent="0" marL="0">
              <a:buNone/>
            </a:pPr>
            <a:r>
              <a:rPr lang="en-US" sz="1000" spc="250" kern="0" dirty="0">
                <a:solidFill>
                  <a:schemeClr val="accent2"/>
                </a:solidFill>
                <a:latin typeface="IBM Plex Mono" pitchFamily="34" charset="0"/>
                <a:ea typeface="IBM Plex Mono" pitchFamily="34" charset="-122"/>
                <a:cs typeface="IBM Plex Mono" pitchFamily="34" charset="-120"/>
              </a:rPr>
              <a:t>WHAT YOU TAKE ON</a:t>
            </a:r>
            <a:endParaRPr lang="en-US" sz="1000" dirty="0"/>
          </a:p>
        </p:txBody>
      </p:sp>
      <p:pic>
        <p:nvPicPr>
          <p:cNvPr id="8" name="Image 2" descr="/home/user/Stablesaver/presentation/assets/graphics/star-bullet.png">    </p:cNvPr>
          <p:cNvPicPr>
            <a:picLocks noChangeAspect="1"/>
          </p:cNvPicPr>
          <p:nvPr/>
        </p:nvPicPr>
        <p:blipFill>
          <a:blip r:embed="rId3"/>
          <a:stretch>
            <a:fillRect/>
          </a:stretch>
        </p:blipFill>
        <p:spPr>
          <a:xfrm>
            <a:off x="5577840" y="2796540"/>
            <a:ext cx="155448" cy="155448"/>
          </a:xfrm>
          <a:prstGeom prst="rect">
            <a:avLst/>
          </a:prstGeom>
        </p:spPr>
      </p:pic>
      <p:sp>
        <p:nvSpPr>
          <p:cNvPr id="9" name="Text 4"/>
          <p:cNvSpPr txBox="1"/>
          <p:nvPr/>
        </p:nvSpPr>
        <p:spPr>
          <a:xfrm>
            <a:off x="5870448" y="2743200"/>
            <a:ext cx="5635447" cy="566928"/>
          </a:xfrm>
          <a:prstGeom prst="rect">
            <a:avLst/>
          </a:prstGeom>
          <a:noFill/>
          <a:ln/>
        </p:spPr>
        <p:txBody>
          <a:bodyPr wrap="square" lIns="0" tIns="0" rIns="0" bIns="0" rtlCol="0" anchor="t"/>
          <a:lstStyle/>
          <a:p>
            <a:pPr indent="0" marL="0">
              <a:lnSpc>
                <a:spcPct val="105000"/>
              </a:lnSpc>
              <a:buNone/>
            </a:pPr>
            <a:r>
              <a:rPr lang="en-US" sz="1500" b="1" dirty="0">
                <a:solidFill>
                  <a:schemeClr val="bg1"/>
                </a:solidFill>
              </a:rPr>
              <a:t>Scattered</a:t>
            </a:r>
            <a:pPr indent="0" marL="0">
              <a:lnSpc>
                <a:spcPct val="105000"/>
              </a:lnSpc>
              <a:buNone/>
            </a:pPr>
            <a:r>
              <a:rPr lang="en-US" sz="1500" dirty="0">
                <a:solidFill>
                  <a:schemeClr val="bg1"/>
                </a:solidFill>
              </a:rPr>
              <a:t>: options sit across many protocols and networks</a:t>
            </a:r>
            <a:endParaRPr lang="en-US" sz="1500" dirty="0"/>
          </a:p>
        </p:txBody>
      </p:sp>
      <p:pic>
        <p:nvPicPr>
          <p:cNvPr id="10" name="Image 3" descr="/home/user/Stablesaver/presentation/assets/graphics/star-bullet.png">    </p:cNvPr>
          <p:cNvPicPr>
            <a:picLocks noChangeAspect="1"/>
          </p:cNvPicPr>
          <p:nvPr/>
        </p:nvPicPr>
        <p:blipFill>
          <a:blip r:embed="rId4"/>
          <a:stretch>
            <a:fillRect/>
          </a:stretch>
        </p:blipFill>
        <p:spPr>
          <a:xfrm>
            <a:off x="5577840" y="3473196"/>
            <a:ext cx="155448" cy="155448"/>
          </a:xfrm>
          <a:prstGeom prst="rect">
            <a:avLst/>
          </a:prstGeom>
        </p:spPr>
      </p:pic>
      <p:sp>
        <p:nvSpPr>
          <p:cNvPr id="11" name="Text 5"/>
          <p:cNvSpPr txBox="1"/>
          <p:nvPr/>
        </p:nvSpPr>
        <p:spPr>
          <a:xfrm>
            <a:off x="5870448" y="3419856"/>
            <a:ext cx="5635447" cy="566928"/>
          </a:xfrm>
          <a:prstGeom prst="rect">
            <a:avLst/>
          </a:prstGeom>
          <a:noFill/>
          <a:ln/>
        </p:spPr>
        <p:txBody>
          <a:bodyPr wrap="square" lIns="0" tIns="0" rIns="0" bIns="0" rtlCol="0" anchor="t"/>
          <a:lstStyle/>
          <a:p>
            <a:pPr indent="0" marL="0">
              <a:lnSpc>
                <a:spcPct val="105000"/>
              </a:lnSpc>
              <a:buNone/>
            </a:pPr>
            <a:r>
              <a:rPr lang="en-US" sz="1500" b="1" dirty="0">
                <a:solidFill>
                  <a:schemeClr val="bg1"/>
                </a:solidFill>
              </a:rPr>
              <a:t>Higher isn't better</a:t>
            </a:r>
            <a:pPr indent="0" marL="0">
              <a:lnSpc>
                <a:spcPct val="105000"/>
              </a:lnSpc>
              <a:buNone/>
            </a:pPr>
            <a:r>
              <a:rPr lang="en-US" sz="1500" dirty="0">
                <a:solidFill>
                  <a:schemeClr val="bg1"/>
                </a:solidFill>
              </a:rPr>
              <a:t>: a higher APY can mean more risk, not a better deal</a:t>
            </a:r>
            <a:endParaRPr lang="en-US" sz="1500" dirty="0"/>
          </a:p>
        </p:txBody>
      </p:sp>
      <p:pic>
        <p:nvPicPr>
          <p:cNvPr id="12" name="Image 4" descr="/home/user/Stablesaver/presentation/assets/graphics/star-bullet.png">    </p:cNvPr>
          <p:cNvPicPr>
            <a:picLocks noChangeAspect="1"/>
          </p:cNvPicPr>
          <p:nvPr/>
        </p:nvPicPr>
        <p:blipFill>
          <a:blip r:embed="rId5"/>
          <a:stretch>
            <a:fillRect/>
          </a:stretch>
        </p:blipFill>
        <p:spPr>
          <a:xfrm>
            <a:off x="5577840" y="4149852"/>
            <a:ext cx="155448" cy="155448"/>
          </a:xfrm>
          <a:prstGeom prst="rect">
            <a:avLst/>
          </a:prstGeom>
        </p:spPr>
      </p:pic>
      <p:sp>
        <p:nvSpPr>
          <p:cNvPr id="13" name="Text 6"/>
          <p:cNvSpPr txBox="1"/>
          <p:nvPr/>
        </p:nvSpPr>
        <p:spPr>
          <a:xfrm>
            <a:off x="5870448" y="4096512"/>
            <a:ext cx="5635447" cy="566928"/>
          </a:xfrm>
          <a:prstGeom prst="rect">
            <a:avLst/>
          </a:prstGeom>
          <a:noFill/>
          <a:ln/>
        </p:spPr>
        <p:txBody>
          <a:bodyPr wrap="square" lIns="0" tIns="0" rIns="0" bIns="0" rtlCol="0" anchor="t"/>
          <a:lstStyle/>
          <a:p>
            <a:pPr indent="0" marL="0">
              <a:lnSpc>
                <a:spcPct val="105000"/>
              </a:lnSpc>
              <a:buNone/>
            </a:pPr>
            <a:r>
              <a:rPr lang="en-US" sz="1500" b="1" dirty="0">
                <a:solidFill>
                  <a:schemeClr val="bg1"/>
                </a:solidFill>
              </a:rPr>
              <a:t>Fees bite</a:t>
            </a:r>
            <a:pPr indent="0" marL="0">
              <a:lnSpc>
                <a:spcPct val="105000"/>
              </a:lnSpc>
              <a:buNone/>
            </a:pPr>
            <a:r>
              <a:rPr lang="en-US" sz="1500" dirty="0">
                <a:solidFill>
                  <a:schemeClr val="bg1"/>
                </a:solidFill>
              </a:rPr>
              <a:t>: network fees can wipe out the return on a small deposit</a:t>
            </a:r>
            <a:endParaRPr lang="en-US" sz="1500" dirty="0"/>
          </a:p>
        </p:txBody>
      </p:sp>
      <p:pic>
        <p:nvPicPr>
          <p:cNvPr id="14" name="Image 5" descr="/home/user/Stablesaver/presentation/assets/graphics/star-bullet.png">    </p:cNvPr>
          <p:cNvPicPr>
            <a:picLocks noChangeAspect="1"/>
          </p:cNvPicPr>
          <p:nvPr/>
        </p:nvPicPr>
        <p:blipFill>
          <a:blip r:embed="rId6"/>
          <a:stretch>
            <a:fillRect/>
          </a:stretch>
        </p:blipFill>
        <p:spPr>
          <a:xfrm>
            <a:off x="5577840" y="4826508"/>
            <a:ext cx="155448" cy="155448"/>
          </a:xfrm>
          <a:prstGeom prst="rect">
            <a:avLst/>
          </a:prstGeom>
        </p:spPr>
      </p:pic>
      <p:sp>
        <p:nvSpPr>
          <p:cNvPr id="15" name="Text 7"/>
          <p:cNvSpPr txBox="1"/>
          <p:nvPr/>
        </p:nvSpPr>
        <p:spPr>
          <a:xfrm>
            <a:off x="5870448" y="4773168"/>
            <a:ext cx="5635447" cy="566928"/>
          </a:xfrm>
          <a:prstGeom prst="rect">
            <a:avLst/>
          </a:prstGeom>
          <a:noFill/>
          <a:ln/>
        </p:spPr>
        <p:txBody>
          <a:bodyPr wrap="square" lIns="0" tIns="0" rIns="0" bIns="0" rtlCol="0" anchor="t"/>
          <a:lstStyle/>
          <a:p>
            <a:pPr indent="0" marL="0">
              <a:lnSpc>
                <a:spcPct val="105000"/>
              </a:lnSpc>
              <a:buNone/>
            </a:pPr>
            <a:r>
              <a:rPr lang="en-US" sz="1500" b="1" dirty="0">
                <a:solidFill>
                  <a:schemeClr val="bg1"/>
                </a:solidFill>
              </a:rPr>
              <a:t>Hard to compare</a:t>
            </a:r>
            <a:pPr indent="0" marL="0">
              <a:lnSpc>
                <a:spcPct val="105000"/>
              </a:lnSpc>
              <a:buNone/>
            </a:pPr>
            <a:r>
              <a:rPr lang="en-US" sz="1500" dirty="0">
                <a:solidFill>
                  <a:schemeClr val="bg1"/>
                </a:solidFill>
              </a:rPr>
              <a:t>: security, liquidity, maturity and strategy complexity hide in docs</a:t>
            </a:r>
            <a:endParaRPr lang="en-US" sz="1500" dirty="0"/>
          </a:p>
        </p:txBody>
      </p:sp>
      <p:pic>
        <p:nvPicPr>
          <p:cNvPr id="16" name="Image 6" descr="/home/user/Stablesaver/presentation/assets/graphics/star-bullet.png">    </p:cNvPr>
          <p:cNvPicPr>
            <a:picLocks noChangeAspect="1"/>
          </p:cNvPicPr>
          <p:nvPr/>
        </p:nvPicPr>
        <p:blipFill>
          <a:blip r:embed="rId7"/>
          <a:stretch>
            <a:fillRect/>
          </a:stretch>
        </p:blipFill>
        <p:spPr>
          <a:xfrm>
            <a:off x="5577840" y="5503164"/>
            <a:ext cx="155448" cy="155448"/>
          </a:xfrm>
          <a:prstGeom prst="rect">
            <a:avLst/>
          </a:prstGeom>
        </p:spPr>
      </p:pic>
      <p:sp>
        <p:nvSpPr>
          <p:cNvPr id="17" name="Text 8"/>
          <p:cNvSpPr txBox="1"/>
          <p:nvPr/>
        </p:nvSpPr>
        <p:spPr>
          <a:xfrm>
            <a:off x="5870448" y="5449824"/>
            <a:ext cx="5635447" cy="566928"/>
          </a:xfrm>
          <a:prstGeom prst="rect">
            <a:avLst/>
          </a:prstGeom>
          <a:noFill/>
          <a:ln/>
        </p:spPr>
        <p:txBody>
          <a:bodyPr wrap="square" lIns="0" tIns="0" rIns="0" bIns="0" rtlCol="0" anchor="t"/>
          <a:lstStyle/>
          <a:p>
            <a:pPr indent="0" marL="0">
              <a:lnSpc>
                <a:spcPct val="105000"/>
              </a:lnSpc>
              <a:buNone/>
            </a:pPr>
            <a:r>
              <a:rPr lang="en-US" sz="1500" b="1" dirty="0">
                <a:solidFill>
                  <a:schemeClr val="bg1"/>
                </a:solidFill>
              </a:rPr>
              <a:t>No framework</a:t>
            </a:r>
            <a:pPr indent="0" marL="0">
              <a:lnSpc>
                <a:spcPct val="105000"/>
              </a:lnSpc>
              <a:buNone/>
            </a:pPr>
            <a:r>
              <a:rPr lang="en-US" sz="1500" dirty="0">
                <a:solidFill>
                  <a:schemeClr val="bg1"/>
                </a:solidFill>
              </a:rPr>
              <a:t>: beginners have no clear way to weigh any of it</a:t>
            </a:r>
            <a:endParaRPr lang="en-US" sz="1500" dirty="0"/>
          </a:p>
        </p:txBody>
      </p:sp>
      <p:sp>
        <p:nvSpPr>
          <p:cNvPr id="18" name="Shape 9"/>
          <p:cNvSpPr/>
          <p:nvPr/>
        </p:nvSpPr>
        <p:spPr>
          <a:xfrm>
            <a:off x="5870448" y="3346704"/>
            <a:ext cx="5635447" cy="0"/>
          </a:xfrm>
          <a:prstGeom prst="line">
            <a:avLst/>
          </a:prstGeom>
          <a:noFill/>
          <a:ln w="12700">
            <a:solidFill>
              <a:srgbClr val="3D3D3D"/>
            </a:solidFill>
            <a:prstDash val="dash"/>
          </a:ln>
        </p:spPr>
      </p:sp>
      <p:sp>
        <p:nvSpPr>
          <p:cNvPr id="19" name="Shape 10"/>
          <p:cNvSpPr/>
          <p:nvPr/>
        </p:nvSpPr>
        <p:spPr>
          <a:xfrm>
            <a:off x="5870448" y="4023360"/>
            <a:ext cx="5635447" cy="0"/>
          </a:xfrm>
          <a:prstGeom prst="line">
            <a:avLst/>
          </a:prstGeom>
          <a:noFill/>
          <a:ln w="12700">
            <a:solidFill>
              <a:srgbClr val="3D3D3D"/>
            </a:solidFill>
            <a:prstDash val="dash"/>
          </a:ln>
        </p:spPr>
      </p:sp>
      <p:sp>
        <p:nvSpPr>
          <p:cNvPr id="20" name="Shape 11"/>
          <p:cNvSpPr/>
          <p:nvPr/>
        </p:nvSpPr>
        <p:spPr>
          <a:xfrm>
            <a:off x="5870448" y="4700016"/>
            <a:ext cx="5635447" cy="0"/>
          </a:xfrm>
          <a:prstGeom prst="line">
            <a:avLst/>
          </a:prstGeom>
          <a:noFill/>
          <a:ln w="12700">
            <a:solidFill>
              <a:srgbClr val="3D3D3D"/>
            </a:solidFill>
            <a:prstDash val="dash"/>
          </a:ln>
        </p:spPr>
      </p:sp>
      <p:sp>
        <p:nvSpPr>
          <p:cNvPr id="21" name="Shape 12"/>
          <p:cNvSpPr/>
          <p:nvPr/>
        </p:nvSpPr>
        <p:spPr>
          <a:xfrm>
            <a:off x="5870448" y="5376672"/>
            <a:ext cx="5635447" cy="0"/>
          </a:xfrm>
          <a:prstGeom prst="line">
            <a:avLst/>
          </a:prstGeom>
          <a:noFill/>
          <a:ln w="12700">
            <a:solidFill>
              <a:srgbClr val="3D3D3D"/>
            </a:solidFill>
            <a:prstDash val="dash"/>
          </a:ln>
        </p:spPr>
      </p:sp>
      <p:sp>
        <p:nvSpPr>
          <p:cNvPr id="22" name="Text 13"/>
          <p:cNvSpPr txBox="1"/>
          <p:nvPr/>
        </p:nvSpPr>
        <p:spPr>
          <a:xfrm>
            <a:off x="10225735" y="6382512"/>
            <a:ext cx="1280160" cy="237744"/>
          </a:xfrm>
          <a:prstGeom prst="rect">
            <a:avLst/>
          </a:prstGeom>
          <a:noFill/>
          <a:ln/>
        </p:spPr>
        <p:txBody>
          <a:bodyPr wrap="square" lIns="0" tIns="0" rIns="0" bIns="0" rtlCol="0" anchor="t"/>
          <a:lstStyle/>
          <a:p>
            <a:pPr algn="r" indent="0" marL="0">
              <a:buNone/>
            </a:pPr>
            <a:r>
              <a:rPr lang="en-US" sz="950" spc="200" kern="0" dirty="0">
                <a:solidFill>
                  <a:srgbClr val="6E6E6E"/>
                </a:solidFill>
                <a:latin typeface="IBM Plex Mono" pitchFamily="34" charset="0"/>
                <a:ea typeface="IBM Plex Mono" pitchFamily="34" charset="-122"/>
                <a:cs typeface="IBM Plex Mono" pitchFamily="34" charset="-120"/>
              </a:rPr>
              <a:t>02 / 18</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title-blob" descr="preencoded.png">    </p:cNvPr>
          <p:cNvPicPr>
            <a:picLocks noChangeAspect="1"/>
          </p:cNvPicPr>
          <p:nvPr/>
        </p:nvPicPr>
        <p:blipFill>
          <a:blip r:embed="rId1"/>
          <a:stretch>
            <a:fillRect/>
          </a:stretch>
        </p:blipFill>
        <p:spPr>
          <a:xfrm>
            <a:off x="348659" y="420624"/>
            <a:ext cx="2148534" cy="1024128"/>
          </a:xfrm>
          <a:prstGeom prst="rect">
            <a:avLst/>
          </a:prstGeom>
        </p:spPr>
      </p:pic>
      <p:sp>
        <p:nvSpPr>
          <p:cNvPr id="3" name="Text 2"/>
          <p:cNvSpPr/>
          <p:nvPr>
            <p:ph idx="103" type="title" hasCustomPrompt="1"/>
          </p:nvPr>
        </p:nvSpPr>
        <p:spPr>
          <a:xfrm>
            <a:off x="685800" y="640080"/>
            <a:ext cx="10820095" cy="603504"/>
          </a:xfrm>
          <a:prstGeom prst="rect">
            <a:avLst/>
          </a:prstGeom>
          <a:noFill/>
          <a:ln/>
        </p:spPr>
        <p:txBody>
          <a:bodyPr wrap="square" lIns="0" tIns="0" rIns="0" bIns="0" rtlCol="0" anchor="ctr"/>
          <a:lstStyle/>
          <a:p>
            <a:pPr algn="l" indent="0" marL="0">
              <a:buNone/>
            </a:pPr>
            <a:r>
              <a:rPr lang="en-US" sz="3400" dirty="0">
                <a:solidFill>
                  <a:schemeClr val="bg1"/>
                </a:solidFill>
                <a:latin typeface="Anton" pitchFamily="34" charset="0"/>
                <a:ea typeface="Anton" pitchFamily="34" charset="-122"/>
                <a:cs typeface="Anton" pitchFamily="34" charset="-120"/>
              </a:rPr>
              <a:t>AGENDA</a:t>
            </a:r>
            <a:endParaRPr lang="en-US" sz="3400" dirty="0"/>
          </a:p>
        </p:txBody>
      </p:sp>
      <p:sp>
        <p:nvSpPr>
          <p:cNvPr id="4" name="Text 1"/>
          <p:cNvSpPr txBox="1"/>
          <p:nvPr/>
        </p:nvSpPr>
        <p:spPr>
          <a:xfrm>
            <a:off x="685800" y="2295144"/>
            <a:ext cx="548640" cy="292608"/>
          </a:xfrm>
          <a:prstGeom prst="rect">
            <a:avLst/>
          </a:prstGeom>
          <a:noFill/>
          <a:ln/>
        </p:spPr>
        <p:txBody>
          <a:bodyPr wrap="square" lIns="0" tIns="0" rIns="0" bIns="0" rtlCol="0" anchor="t"/>
          <a:lstStyle/>
          <a:p>
            <a:pPr indent="0" marL="0">
              <a:buNone/>
            </a:pPr>
            <a:r>
              <a:rPr lang="en-US" sz="1400" spc="100" kern="0" dirty="0">
                <a:solidFill>
                  <a:schemeClr val="accent1"/>
                </a:solidFill>
                <a:latin typeface="IBM Plex Mono SemiBold" pitchFamily="34" charset="0"/>
                <a:ea typeface="IBM Plex Mono SemiBold" pitchFamily="34" charset="-122"/>
                <a:cs typeface="IBM Plex Mono SemiBold" pitchFamily="34" charset="-120"/>
              </a:rPr>
              <a:t>01</a:t>
            </a:r>
            <a:endParaRPr lang="en-US" sz="1400" dirty="0"/>
          </a:p>
        </p:txBody>
      </p:sp>
      <p:sp>
        <p:nvSpPr>
          <p:cNvPr id="5" name="Text 2"/>
          <p:cNvSpPr txBox="1"/>
          <p:nvPr/>
        </p:nvSpPr>
        <p:spPr>
          <a:xfrm>
            <a:off x="1371600" y="2240280"/>
            <a:ext cx="6080760" cy="384048"/>
          </a:xfrm>
          <a:prstGeom prst="rect">
            <a:avLst/>
          </a:prstGeom>
          <a:noFill/>
          <a:ln/>
        </p:spPr>
        <p:txBody>
          <a:bodyPr wrap="square" lIns="0" tIns="0" rIns="0" bIns="0" rtlCol="0" anchor="t"/>
          <a:lstStyle/>
          <a:p>
            <a:pPr indent="0" marL="0">
              <a:buNone/>
            </a:pPr>
            <a:r>
              <a:rPr lang="en-US" sz="2200" b="1" dirty="0">
                <a:solidFill>
                  <a:schemeClr val="bg1"/>
                </a:solidFill>
              </a:rPr>
              <a:t>The comparison app</a:t>
            </a:r>
            <a:endParaRPr lang="en-US" sz="2200" dirty="0"/>
          </a:p>
        </p:txBody>
      </p:sp>
      <p:sp>
        <p:nvSpPr>
          <p:cNvPr id="6" name="Text 3"/>
          <p:cNvSpPr txBox="1"/>
          <p:nvPr/>
        </p:nvSpPr>
        <p:spPr>
          <a:xfrm>
            <a:off x="1371600" y="2651760"/>
            <a:ext cx="6080760" cy="320040"/>
          </a:xfrm>
          <a:prstGeom prst="rect">
            <a:avLst/>
          </a:prstGeom>
          <a:noFill/>
          <a:ln/>
        </p:spPr>
        <p:txBody>
          <a:bodyPr wrap="square" lIns="0" tIns="0" rIns="0" bIns="0" rtlCol="0" anchor="t"/>
          <a:lstStyle/>
          <a:p>
            <a:pPr indent="0" marL="0">
              <a:buNone/>
            </a:pPr>
            <a:r>
              <a:rPr lang="en-US" sz="1400" dirty="0">
                <a:solidFill>
                  <a:srgbClr val="C9C9C9"/>
                </a:solidFill>
              </a:rPr>
              <a:t>Compare yield, risk and what you keep after fees. Live today.</a:t>
            </a:r>
            <a:endParaRPr lang="en-US" sz="1400" dirty="0"/>
          </a:p>
        </p:txBody>
      </p:sp>
      <p:sp>
        <p:nvSpPr>
          <p:cNvPr id="7" name="Shape 4"/>
          <p:cNvSpPr/>
          <p:nvPr/>
        </p:nvSpPr>
        <p:spPr>
          <a:xfrm>
            <a:off x="685800" y="3154680"/>
            <a:ext cx="6766560" cy="0"/>
          </a:xfrm>
          <a:prstGeom prst="line">
            <a:avLst/>
          </a:prstGeom>
          <a:noFill/>
          <a:ln w="12700">
            <a:solidFill>
              <a:srgbClr val="3D3D3D"/>
            </a:solidFill>
            <a:prstDash val="dash"/>
          </a:ln>
        </p:spPr>
      </p:sp>
      <p:sp>
        <p:nvSpPr>
          <p:cNvPr id="8" name="Text 5"/>
          <p:cNvSpPr txBox="1"/>
          <p:nvPr/>
        </p:nvSpPr>
        <p:spPr>
          <a:xfrm>
            <a:off x="685800" y="3410712"/>
            <a:ext cx="548640" cy="292608"/>
          </a:xfrm>
          <a:prstGeom prst="rect">
            <a:avLst/>
          </a:prstGeom>
          <a:noFill/>
          <a:ln/>
        </p:spPr>
        <p:txBody>
          <a:bodyPr wrap="square" lIns="0" tIns="0" rIns="0" bIns="0" rtlCol="0" anchor="t"/>
          <a:lstStyle/>
          <a:p>
            <a:pPr indent="0" marL="0">
              <a:buNone/>
            </a:pPr>
            <a:r>
              <a:rPr lang="en-US" sz="1400" spc="100" kern="0" dirty="0">
                <a:solidFill>
                  <a:schemeClr val="accent1"/>
                </a:solidFill>
                <a:latin typeface="IBM Plex Mono SemiBold" pitchFamily="34" charset="0"/>
                <a:ea typeface="IBM Plex Mono SemiBold" pitchFamily="34" charset="-122"/>
                <a:cs typeface="IBM Plex Mono SemiBold" pitchFamily="34" charset="-120"/>
              </a:rPr>
              <a:t>02</a:t>
            </a:r>
            <a:endParaRPr lang="en-US" sz="1400" dirty="0"/>
          </a:p>
        </p:txBody>
      </p:sp>
      <p:sp>
        <p:nvSpPr>
          <p:cNvPr id="9" name="Text 6"/>
          <p:cNvSpPr txBox="1"/>
          <p:nvPr/>
        </p:nvSpPr>
        <p:spPr>
          <a:xfrm>
            <a:off x="1371600" y="3355848"/>
            <a:ext cx="6080760" cy="384048"/>
          </a:xfrm>
          <a:prstGeom prst="rect">
            <a:avLst/>
          </a:prstGeom>
          <a:noFill/>
          <a:ln/>
        </p:spPr>
        <p:txBody>
          <a:bodyPr wrap="square" lIns="0" tIns="0" rIns="0" bIns="0" rtlCol="0" anchor="t"/>
          <a:lstStyle/>
          <a:p>
            <a:pPr indent="0" marL="0">
              <a:buNone/>
            </a:pPr>
            <a:r>
              <a:rPr lang="en-US" sz="2200" b="1" dirty="0">
                <a:solidFill>
                  <a:schemeClr val="bg1"/>
                </a:solidFill>
              </a:rPr>
              <a:t>The Solana vault</a:t>
            </a:r>
            <a:endParaRPr lang="en-US" sz="2200" dirty="0"/>
          </a:p>
        </p:txBody>
      </p:sp>
      <p:sp>
        <p:nvSpPr>
          <p:cNvPr id="10" name="Text 7"/>
          <p:cNvSpPr txBox="1"/>
          <p:nvPr/>
        </p:nvSpPr>
        <p:spPr>
          <a:xfrm>
            <a:off x="1371600" y="3767328"/>
            <a:ext cx="6080760" cy="320040"/>
          </a:xfrm>
          <a:prstGeom prst="rect">
            <a:avLst/>
          </a:prstGeom>
          <a:noFill/>
          <a:ln/>
        </p:spPr>
        <p:txBody>
          <a:bodyPr wrap="square" lIns="0" tIns="0" rIns="0" bIns="0" rtlCol="0" anchor="t"/>
          <a:lstStyle/>
          <a:p>
            <a:pPr indent="0" marL="0">
              <a:buNone/>
            </a:pPr>
            <a:r>
              <a:rPr lang="en-US" sz="1400" dirty="0">
                <a:solidFill>
                  <a:srgbClr val="C9C9C9"/>
                </a:solidFill>
              </a:rPr>
              <a:t>A separate devnet prototype where the program enforces the rules.</a:t>
            </a:r>
            <a:endParaRPr lang="en-US" sz="1400" dirty="0"/>
          </a:p>
        </p:txBody>
      </p:sp>
      <p:sp>
        <p:nvSpPr>
          <p:cNvPr id="11" name="Shape 8"/>
          <p:cNvSpPr/>
          <p:nvPr/>
        </p:nvSpPr>
        <p:spPr>
          <a:xfrm>
            <a:off x="685800" y="4270248"/>
            <a:ext cx="6766560" cy="0"/>
          </a:xfrm>
          <a:prstGeom prst="line">
            <a:avLst/>
          </a:prstGeom>
          <a:noFill/>
          <a:ln w="12700">
            <a:solidFill>
              <a:srgbClr val="3D3D3D"/>
            </a:solidFill>
            <a:prstDash val="dash"/>
          </a:ln>
        </p:spPr>
      </p:sp>
      <p:sp>
        <p:nvSpPr>
          <p:cNvPr id="12" name="Text 9"/>
          <p:cNvSpPr txBox="1"/>
          <p:nvPr/>
        </p:nvSpPr>
        <p:spPr>
          <a:xfrm>
            <a:off x="685800" y="4526280"/>
            <a:ext cx="548640" cy="292608"/>
          </a:xfrm>
          <a:prstGeom prst="rect">
            <a:avLst/>
          </a:prstGeom>
          <a:noFill/>
          <a:ln/>
        </p:spPr>
        <p:txBody>
          <a:bodyPr wrap="square" lIns="0" tIns="0" rIns="0" bIns="0" rtlCol="0" anchor="t"/>
          <a:lstStyle/>
          <a:p>
            <a:pPr indent="0" marL="0">
              <a:buNone/>
            </a:pPr>
            <a:r>
              <a:rPr lang="en-US" sz="1400" spc="100" kern="0" dirty="0">
                <a:solidFill>
                  <a:schemeClr val="accent1"/>
                </a:solidFill>
                <a:latin typeface="IBM Plex Mono SemiBold" pitchFamily="34" charset="0"/>
                <a:ea typeface="IBM Plex Mono SemiBold" pitchFamily="34" charset="-122"/>
                <a:cs typeface="IBM Plex Mono SemiBold" pitchFamily="34" charset="-120"/>
              </a:rPr>
              <a:t>03</a:t>
            </a:r>
            <a:endParaRPr lang="en-US" sz="1400" dirty="0"/>
          </a:p>
        </p:txBody>
      </p:sp>
      <p:sp>
        <p:nvSpPr>
          <p:cNvPr id="13" name="Text 10"/>
          <p:cNvSpPr txBox="1"/>
          <p:nvPr/>
        </p:nvSpPr>
        <p:spPr>
          <a:xfrm>
            <a:off x="1371600" y="4471416"/>
            <a:ext cx="6080760" cy="384048"/>
          </a:xfrm>
          <a:prstGeom prst="rect">
            <a:avLst/>
          </a:prstGeom>
          <a:noFill/>
          <a:ln/>
        </p:spPr>
        <p:txBody>
          <a:bodyPr wrap="square" lIns="0" tIns="0" rIns="0" bIns="0" rtlCol="0" anchor="t"/>
          <a:lstStyle/>
          <a:p>
            <a:pPr indent="0" marL="0">
              <a:buNone/>
            </a:pPr>
            <a:r>
              <a:rPr lang="en-US" sz="2200" b="1" dirty="0">
                <a:solidFill>
                  <a:schemeClr val="bg1"/>
                </a:solidFill>
              </a:rPr>
              <a:t>Demo and what's next</a:t>
            </a:r>
            <a:endParaRPr lang="en-US" sz="2200" dirty="0"/>
          </a:p>
        </p:txBody>
      </p:sp>
      <p:sp>
        <p:nvSpPr>
          <p:cNvPr id="14" name="Text 11"/>
          <p:cNvSpPr txBox="1"/>
          <p:nvPr/>
        </p:nvSpPr>
        <p:spPr>
          <a:xfrm>
            <a:off x="1371600" y="4882896"/>
            <a:ext cx="6080760" cy="320040"/>
          </a:xfrm>
          <a:prstGeom prst="rect">
            <a:avLst/>
          </a:prstGeom>
          <a:noFill/>
          <a:ln/>
        </p:spPr>
        <p:txBody>
          <a:bodyPr wrap="square" lIns="0" tIns="0" rIns="0" bIns="0" rtlCol="0" anchor="t"/>
          <a:lstStyle/>
          <a:p>
            <a:pPr indent="0" marL="0">
              <a:buNone/>
            </a:pPr>
            <a:r>
              <a:rPr lang="en-US" sz="1400" dirty="0">
                <a:solidFill>
                  <a:srgbClr val="C9C9C9"/>
                </a:solidFill>
              </a:rPr>
              <a:t>What works today, what's missing, and the order I'll fix it in.</a:t>
            </a:r>
            <a:endParaRPr lang="en-US" sz="1400" dirty="0"/>
          </a:p>
        </p:txBody>
      </p:sp>
      <p:sp>
        <p:nvSpPr>
          <p:cNvPr id="15" name="Shape 12"/>
          <p:cNvSpPr/>
          <p:nvPr/>
        </p:nvSpPr>
        <p:spPr>
          <a:xfrm>
            <a:off x="685800" y="5385816"/>
            <a:ext cx="6766560" cy="0"/>
          </a:xfrm>
          <a:prstGeom prst="line">
            <a:avLst/>
          </a:prstGeom>
          <a:noFill/>
          <a:ln w="12700">
            <a:solidFill>
              <a:srgbClr val="3D3D3D"/>
            </a:solidFill>
            <a:prstDash val="dash"/>
          </a:ln>
        </p:spPr>
      </p:sp>
      <p:pic>
        <p:nvPicPr>
          <p:cNvPr id="16" name="sticker-coin" descr="coin sticker">    </p:cNvPr>
          <p:cNvPicPr>
            <a:picLocks noChangeAspect="1"/>
          </p:cNvPicPr>
          <p:nvPr/>
        </p:nvPicPr>
        <p:blipFill>
          <a:blip r:embed="rId2"/>
          <a:stretch>
            <a:fillRect/>
          </a:stretch>
        </p:blipFill>
        <p:spPr>
          <a:xfrm rot="-600000">
            <a:off x="8549640" y="2011680"/>
            <a:ext cx="1600200" cy="1600200"/>
          </a:xfrm>
          <a:prstGeom prst="rect">
            <a:avLst/>
          </a:prstGeom>
        </p:spPr>
      </p:pic>
      <p:pic>
        <p:nvPicPr>
          <p:cNvPr id="17" name="sticker-sprout" descr="sprout sticker">    </p:cNvPr>
          <p:cNvPicPr>
            <a:picLocks noChangeAspect="1"/>
          </p:cNvPicPr>
          <p:nvPr/>
        </p:nvPicPr>
        <p:blipFill>
          <a:blip r:embed="rId3"/>
          <a:stretch>
            <a:fillRect/>
          </a:stretch>
        </p:blipFill>
        <p:spPr>
          <a:xfrm rot="720000">
            <a:off x="10058400" y="2926080"/>
            <a:ext cx="1234440" cy="1234440"/>
          </a:xfrm>
          <a:prstGeom prst="rect">
            <a:avLst/>
          </a:prstGeom>
        </p:spPr>
      </p:pic>
      <p:pic>
        <p:nvPicPr>
          <p:cNvPr id="18" name="sticker-shield" descr="shield sticker">    </p:cNvPr>
          <p:cNvPicPr>
            <a:picLocks noChangeAspect="1"/>
          </p:cNvPicPr>
          <p:nvPr/>
        </p:nvPicPr>
        <p:blipFill>
          <a:blip r:embed="rId4"/>
          <a:stretch>
            <a:fillRect/>
          </a:stretch>
        </p:blipFill>
        <p:spPr>
          <a:xfrm rot="360000">
            <a:off x="8915400" y="3977640"/>
            <a:ext cx="1234440" cy="1234440"/>
          </a:xfrm>
          <a:prstGeom prst="rect">
            <a:avLst/>
          </a:prstGeom>
        </p:spPr>
      </p:pic>
      <p:sp>
        <p:nvSpPr>
          <p:cNvPr id="19" name="Text 13"/>
          <p:cNvSpPr txBox="1"/>
          <p:nvPr/>
        </p:nvSpPr>
        <p:spPr>
          <a:xfrm rot="180000">
            <a:off x="8641080" y="5532120"/>
            <a:ext cx="2560320" cy="329184"/>
          </a:xfrm>
          <a:prstGeom prst="rect">
            <a:avLst/>
          </a:prstGeom>
          <a:solidFill>
            <a:schemeClr val="accent1"/>
          </a:solidFill>
          <a:ln>
            <a:solidFill>
              <a:schemeClr val="accent1"/>
            </a:solidFill>
          </a:ln>
        </p:spPr>
        <p:txBody>
          <a:bodyPr wrap="square" lIns="0" tIns="0" rIns="0" bIns="0" rtlCol="0" anchor="ctr"/>
          <a:lstStyle/>
          <a:p>
            <a:pPr algn="ctr" indent="0" marL="0">
              <a:buNone/>
            </a:pPr>
            <a:r>
              <a:rPr lang="en-US" sz="1000" spc="250" kern="0" dirty="0">
                <a:solidFill>
                  <a:srgbClr val="141414"/>
                </a:solidFill>
                <a:latin typeface="IBM Plex Mono SemiBold" pitchFamily="34" charset="0"/>
                <a:ea typeface="IBM Plex Mono SemiBold" pitchFamily="34" charset="-122"/>
                <a:cs typeface="IBM Plex Mono SemiBold" pitchFamily="34" charset="-120"/>
              </a:rPr>
              <a:t>3 PARTS · 1 LIVE DEMO</a:t>
            </a:r>
            <a:endParaRPr lang="en-US" sz="1000" dirty="0"/>
          </a:p>
        </p:txBody>
      </p:sp>
      <p:sp>
        <p:nvSpPr>
          <p:cNvPr id="20" name="Text 14"/>
          <p:cNvSpPr txBox="1"/>
          <p:nvPr/>
        </p:nvSpPr>
        <p:spPr>
          <a:xfrm>
            <a:off x="10225735" y="6382512"/>
            <a:ext cx="1280160" cy="237744"/>
          </a:xfrm>
          <a:prstGeom prst="rect">
            <a:avLst/>
          </a:prstGeom>
          <a:noFill/>
          <a:ln/>
        </p:spPr>
        <p:txBody>
          <a:bodyPr wrap="square" lIns="0" tIns="0" rIns="0" bIns="0" rtlCol="0" anchor="t"/>
          <a:lstStyle/>
          <a:p>
            <a:pPr algn="r" indent="0" marL="0">
              <a:buNone/>
            </a:pPr>
            <a:r>
              <a:rPr lang="en-US" sz="950" spc="200" kern="0" dirty="0">
                <a:solidFill>
                  <a:srgbClr val="6E6E6E"/>
                </a:solidFill>
                <a:latin typeface="IBM Plex Mono" pitchFamily="34" charset="0"/>
                <a:ea typeface="IBM Plex Mono" pitchFamily="34" charset="-122"/>
                <a:cs typeface="IBM Plex Mono" pitchFamily="34" charset="-120"/>
              </a:rPr>
              <a:t>03 / 18</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0" y="2395728"/>
            <a:ext cx="12191695" cy="274320"/>
          </a:xfrm>
          <a:prstGeom prst="rect">
            <a:avLst/>
          </a:prstGeom>
          <a:noFill/>
          <a:ln/>
        </p:spPr>
        <p:txBody>
          <a:bodyPr wrap="square" lIns="0" tIns="0" rIns="0" bIns="0" rtlCol="0" anchor="t"/>
          <a:lstStyle/>
          <a:p>
            <a:pPr algn="ctr" indent="0" marL="0">
              <a:buNone/>
            </a:pPr>
            <a:r>
              <a:rPr lang="en-US" sz="1100" spc="500" kern="0" dirty="0">
                <a:solidFill>
                  <a:schemeClr val="accent2"/>
                </a:solidFill>
                <a:latin typeface="IBM Plex Mono SemiBold" pitchFamily="34" charset="0"/>
                <a:ea typeface="IBM Plex Mono SemiBold" pitchFamily="34" charset="-122"/>
                <a:cs typeface="IBM Plex Mono SemiBold" pitchFamily="34" charset="-120"/>
              </a:rPr>
              <a:t>CHAPTER 01</a:t>
            </a:r>
            <a:endParaRPr lang="en-US" sz="1100" dirty="0"/>
          </a:p>
        </p:txBody>
      </p:sp>
      <p:pic>
        <p:nvPicPr>
          <p:cNvPr id="3" name="title-blob" descr="preencoded.png">    </p:cNvPr>
          <p:cNvPicPr>
            <a:picLocks noChangeAspect="1"/>
          </p:cNvPicPr>
          <p:nvPr/>
        </p:nvPicPr>
        <p:blipFill>
          <a:blip r:embed="rId1"/>
          <a:stretch>
            <a:fillRect/>
          </a:stretch>
        </p:blipFill>
        <p:spPr>
          <a:xfrm>
            <a:off x="2066482" y="2633472"/>
            <a:ext cx="9391822" cy="1463040"/>
          </a:xfrm>
          <a:prstGeom prst="rect">
            <a:avLst/>
          </a:prstGeom>
        </p:spPr>
      </p:pic>
      <p:sp>
        <p:nvSpPr>
          <p:cNvPr id="4" name="Text 2"/>
          <p:cNvSpPr/>
          <p:nvPr>
            <p:ph idx="103" type="title" hasCustomPrompt="1"/>
          </p:nvPr>
        </p:nvSpPr>
        <p:spPr>
          <a:xfrm>
            <a:off x="457200" y="2898648"/>
            <a:ext cx="11277295" cy="914400"/>
          </a:xfrm>
          <a:prstGeom prst="rect">
            <a:avLst/>
          </a:prstGeom>
          <a:noFill/>
          <a:ln/>
        </p:spPr>
        <p:txBody>
          <a:bodyPr wrap="square" lIns="0" tIns="0" rIns="0" bIns="0" rtlCol="0" anchor="ctr"/>
          <a:lstStyle/>
          <a:p>
            <a:pPr algn="ctr" indent="0" marL="0">
              <a:buNone/>
            </a:pPr>
            <a:r>
              <a:rPr lang="en-US" sz="5400" dirty="0">
                <a:solidFill>
                  <a:schemeClr val="bg1"/>
                </a:solidFill>
                <a:latin typeface="Anton" pitchFamily="34" charset="0"/>
                <a:ea typeface="Anton" pitchFamily="34" charset="-122"/>
                <a:cs typeface="Anton" pitchFamily="34" charset="-120"/>
              </a:rPr>
              <a:t>THE COMPARISON APP</a:t>
            </a:r>
            <a:endParaRPr lang="en-US" sz="5400" dirty="0"/>
          </a:p>
        </p:txBody>
      </p:sp>
      <p:sp>
        <p:nvSpPr>
          <p:cNvPr id="5" name="Text 2"/>
          <p:cNvSpPr txBox="1"/>
          <p:nvPr/>
        </p:nvSpPr>
        <p:spPr>
          <a:xfrm>
            <a:off x="2011680" y="4224528"/>
            <a:ext cx="8168335" cy="640080"/>
          </a:xfrm>
          <a:prstGeom prst="rect">
            <a:avLst/>
          </a:prstGeom>
          <a:noFill/>
          <a:ln/>
        </p:spPr>
        <p:txBody>
          <a:bodyPr wrap="square" lIns="0" tIns="0" rIns="0" bIns="0" rtlCol="0" anchor="t"/>
          <a:lstStyle/>
          <a:p>
            <a:pPr algn="ctr" indent="0" marL="0">
              <a:buNone/>
            </a:pPr>
            <a:r>
              <a:rPr lang="en-US" sz="1800" dirty="0">
                <a:solidFill>
                  <a:srgbClr val="C9C9C9"/>
                </a:solidFill>
              </a:rPr>
              <a:t>Live today: compare yield, risk and </a:t>
            </a:r>
            <a:pPr algn="ctr" indent="0" marL="0">
              <a:buNone/>
            </a:pPr>
            <a:r>
              <a:rPr lang="en-US" sz="1800" b="1" dirty="0">
                <a:solidFill>
                  <a:schemeClr val="bg1"/>
                </a:solidFill>
              </a:rPr>
              <a:t>what you keep after fees</a:t>
            </a:r>
            <a:pPr algn="ctr" indent="0" marL="0">
              <a:buNone/>
            </a:pPr>
            <a:r>
              <a:rPr lang="en-US" sz="1800" dirty="0">
                <a:solidFill>
                  <a:srgbClr val="C9C9C9"/>
                </a:solidFill>
              </a:rPr>
              <a:t>.</a:t>
            </a:r>
            <a:endParaRPr lang="en-US" sz="1800" dirty="0"/>
          </a:p>
        </p:txBody>
      </p:sp>
      <p:pic>
        <p:nvPicPr>
          <p:cNvPr id="6" name="sticker-sprout" descr="sprout sticker">    </p:cNvPr>
          <p:cNvPicPr>
            <a:picLocks noChangeAspect="1"/>
          </p:cNvPicPr>
          <p:nvPr/>
        </p:nvPicPr>
        <p:blipFill>
          <a:blip r:embed="rId2"/>
          <a:stretch>
            <a:fillRect/>
          </a:stretch>
        </p:blipFill>
        <p:spPr>
          <a:xfrm rot="840000">
            <a:off x="9829800" y="868680"/>
            <a:ext cx="1188720" cy="1188720"/>
          </a:xfrm>
          <a:prstGeom prst="rect">
            <a:avLst/>
          </a:prstGeom>
        </p:spPr>
      </p:pic>
      <p:pic>
        <p:nvPicPr>
          <p:cNvPr id="7" name="sticker-coin" descr="coin sticker">    </p:cNvPr>
          <p:cNvPicPr>
            <a:picLocks noChangeAspect="1"/>
          </p:cNvPicPr>
          <p:nvPr/>
        </p:nvPicPr>
        <p:blipFill>
          <a:blip r:embed="rId3"/>
          <a:stretch>
            <a:fillRect/>
          </a:stretch>
        </p:blipFill>
        <p:spPr>
          <a:xfrm rot="-720000">
            <a:off x="1097280" y="4160520"/>
            <a:ext cx="1325880" cy="1325880"/>
          </a:xfrm>
          <a:prstGeom prst="rect">
            <a:avLst/>
          </a:prstGeom>
        </p:spPr>
      </p:pic>
      <p:pic>
        <p:nvPicPr>
          <p:cNvPr id="8" name="sticker-sparkle" descr="sparkle sticker">    </p:cNvPr>
          <p:cNvPicPr>
            <a:picLocks noChangeAspect="1"/>
          </p:cNvPicPr>
          <p:nvPr/>
        </p:nvPicPr>
        <p:blipFill>
          <a:blip r:embed="rId4"/>
          <a:stretch>
            <a:fillRect/>
          </a:stretch>
        </p:blipFill>
        <p:spPr>
          <a:xfrm>
            <a:off x="9966960" y="4892040"/>
            <a:ext cx="868680" cy="868680"/>
          </a:xfrm>
          <a:prstGeom prst="rect">
            <a:avLst/>
          </a:prstGeom>
        </p:spPr>
      </p:pic>
      <p:sp>
        <p:nvSpPr>
          <p:cNvPr id="9" name="Text 3"/>
          <p:cNvSpPr txBox="1"/>
          <p:nvPr/>
        </p:nvSpPr>
        <p:spPr>
          <a:xfrm>
            <a:off x="10225735" y="6382512"/>
            <a:ext cx="1280160" cy="237744"/>
          </a:xfrm>
          <a:prstGeom prst="rect">
            <a:avLst/>
          </a:prstGeom>
          <a:noFill/>
          <a:ln/>
        </p:spPr>
        <p:txBody>
          <a:bodyPr wrap="square" lIns="0" tIns="0" rIns="0" bIns="0" rtlCol="0" anchor="t"/>
          <a:lstStyle/>
          <a:p>
            <a:pPr algn="r" indent="0" marL="0">
              <a:buNone/>
            </a:pPr>
            <a:r>
              <a:rPr lang="en-US" sz="950" spc="200" kern="0" dirty="0">
                <a:solidFill>
                  <a:srgbClr val="6E6E6E"/>
                </a:solidFill>
                <a:latin typeface="IBM Plex Mono" pitchFamily="34" charset="0"/>
                <a:ea typeface="IBM Plex Mono" pitchFamily="34" charset="-122"/>
                <a:cs typeface="IBM Plex Mono" pitchFamily="34" charset="-120"/>
              </a:rPr>
              <a:t>04 / 18</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title-blob" descr="preencoded.png">    </p:cNvPr>
          <p:cNvPicPr>
            <a:picLocks noChangeAspect="1"/>
          </p:cNvPicPr>
          <p:nvPr/>
        </p:nvPicPr>
        <p:blipFill>
          <a:blip r:embed="rId1"/>
          <a:stretch>
            <a:fillRect/>
          </a:stretch>
        </p:blipFill>
        <p:spPr>
          <a:xfrm>
            <a:off x="10352" y="420624"/>
            <a:ext cx="5832454" cy="1024128"/>
          </a:xfrm>
          <a:prstGeom prst="rect">
            <a:avLst/>
          </a:prstGeom>
        </p:spPr>
      </p:pic>
      <p:sp>
        <p:nvSpPr>
          <p:cNvPr id="3" name="Text 2"/>
          <p:cNvSpPr/>
          <p:nvPr>
            <p:ph idx="103" type="title" hasCustomPrompt="1"/>
          </p:nvPr>
        </p:nvSpPr>
        <p:spPr>
          <a:xfrm>
            <a:off x="685800" y="640080"/>
            <a:ext cx="10820095" cy="603504"/>
          </a:xfrm>
          <a:prstGeom prst="rect">
            <a:avLst/>
          </a:prstGeom>
          <a:noFill/>
          <a:ln/>
        </p:spPr>
        <p:txBody>
          <a:bodyPr wrap="square" lIns="0" tIns="0" rIns="0" bIns="0" rtlCol="0" anchor="ctr"/>
          <a:lstStyle/>
          <a:p>
            <a:pPr algn="l" indent="0" marL="0">
              <a:buNone/>
            </a:pPr>
            <a:r>
              <a:rPr lang="en-US" sz="3400" dirty="0">
                <a:solidFill>
                  <a:schemeClr val="bg1"/>
                </a:solidFill>
                <a:latin typeface="Anton" pitchFamily="34" charset="0"/>
                <a:ea typeface="Anton" pitchFamily="34" charset="-122"/>
                <a:cs typeface="Anton" pitchFamily="34" charset="-120"/>
              </a:rPr>
              <a:t>ONE PLACE TO COMPARE</a:t>
            </a:r>
            <a:endParaRPr lang="en-US" sz="3400" dirty="0"/>
          </a:p>
        </p:txBody>
      </p:sp>
      <p:sp>
        <p:nvSpPr>
          <p:cNvPr id="4" name="Text 1"/>
          <p:cNvSpPr txBox="1"/>
          <p:nvPr/>
        </p:nvSpPr>
        <p:spPr>
          <a:xfrm>
            <a:off x="685800" y="1481328"/>
            <a:ext cx="7863840" cy="640080"/>
          </a:xfrm>
          <a:prstGeom prst="rect">
            <a:avLst/>
          </a:prstGeom>
          <a:noFill/>
          <a:ln/>
        </p:spPr>
        <p:txBody>
          <a:bodyPr wrap="square" lIns="0" tIns="0" rIns="0" bIns="0" rtlCol="0" anchor="t"/>
          <a:lstStyle/>
          <a:p>
            <a:pPr indent="0" marL="0">
              <a:lnSpc>
                <a:spcPct val="100000"/>
              </a:lnSpc>
              <a:buNone/>
            </a:pPr>
            <a:r>
              <a:rPr lang="en-US" sz="1700" dirty="0">
                <a:solidFill>
                  <a:srgbClr val="C9C9C9"/>
                </a:solidFill>
              </a:rPr>
              <a:t>Yield, risk and </a:t>
            </a:r>
            <a:pPr indent="0" marL="0">
              <a:lnSpc>
                <a:spcPct val="100000"/>
              </a:lnSpc>
              <a:buNone/>
            </a:pPr>
            <a:r>
              <a:rPr lang="en-US" sz="1700" b="1" dirty="0">
                <a:solidFill>
                  <a:schemeClr val="bg1"/>
                </a:solidFill>
              </a:rPr>
              <a:t>what you keep after fees</a:t>
            </a:r>
            <a:pPr indent="0" marL="0">
              <a:lnSpc>
                <a:spcPct val="100000"/>
              </a:lnSpc>
              <a:buNone/>
            </a:pPr>
            <a:r>
              <a:rPr lang="en-US" sz="1700" dirty="0">
                <a:solidFill>
                  <a:srgbClr val="C9C9C9"/>
                </a:solidFill>
              </a:rPr>
              <a:t>, side by side.</a:t>
            </a:r>
            <a:endParaRPr lang="en-US" sz="1700" dirty="0"/>
          </a:p>
        </p:txBody>
      </p:sp>
      <p:sp>
        <p:nvSpPr>
          <p:cNvPr id="5" name="shot-home-frame"/>
          <p:cNvSpPr/>
          <p:nvPr/>
        </p:nvSpPr>
        <p:spPr>
          <a:xfrm rot="-120000">
            <a:off x="1111928" y="2240280"/>
            <a:ext cx="2073824" cy="3611880"/>
          </a:xfrm>
          <a:prstGeom prst="roundRect">
            <a:avLst>
              <a:gd name="adj" fmla="val 3527"/>
            </a:avLst>
          </a:prstGeom>
          <a:solidFill>
            <a:srgbClr val="0E0E0E"/>
          </a:solidFill>
          <a:ln w="15875">
            <a:solidFill>
              <a:schemeClr val="accent6"/>
            </a:solidFill>
            <a:prstDash val="solid"/>
          </a:ln>
          <a:effectLst>
            <a:outerShdw sx="100000" sy="100000" kx="0" ky="0" algn="bl" rotWithShape="0" blurRad="101600" dist="63500" dir="2700000">
              <a:srgbClr val="080808">
                <a:alpha val="85000"/>
              </a:srgbClr>
            </a:outerShdw>
          </a:effectLst>
        </p:spPr>
      </p:sp>
      <p:pic>
        <p:nvPicPr>
          <p:cNvPr id="6" name="shot-home" descr="StableSave home screen: amount entry, estimated yearly earnings, and the risk preference selector">    </p:cNvPr>
          <p:cNvPicPr>
            <a:picLocks noChangeAspect="1"/>
          </p:cNvPicPr>
          <p:nvPr/>
        </p:nvPicPr>
        <p:blipFill>
          <a:blip r:embed="rId2"/>
          <a:stretch>
            <a:fillRect/>
          </a:stretch>
        </p:blipFill>
        <p:spPr>
          <a:xfrm rot="-120000">
            <a:off x="1157648" y="2286000"/>
            <a:ext cx="1982384" cy="3520440"/>
          </a:xfrm>
          <a:prstGeom prst="rect">
            <a:avLst/>
          </a:prstGeom>
        </p:spPr>
      </p:pic>
      <p:sp>
        <p:nvSpPr>
          <p:cNvPr id="7" name="Text 3"/>
          <p:cNvSpPr txBox="1"/>
          <p:nvPr/>
        </p:nvSpPr>
        <p:spPr>
          <a:xfrm>
            <a:off x="685800" y="6007608"/>
            <a:ext cx="3108960" cy="228600"/>
          </a:xfrm>
          <a:prstGeom prst="rect">
            <a:avLst/>
          </a:prstGeom>
          <a:noFill/>
          <a:ln/>
        </p:spPr>
        <p:txBody>
          <a:bodyPr wrap="square" lIns="0" tIns="0" rIns="0" bIns="0" rtlCol="0" anchor="t"/>
          <a:lstStyle/>
          <a:p>
            <a:pPr algn="ctr" indent="0" marL="0">
              <a:buNone/>
            </a:pPr>
            <a:r>
              <a:rPr lang="en-US" sz="850" spc="150" kern="0" dirty="0">
                <a:solidFill>
                  <a:srgbClr val="7A7A7A"/>
                </a:solidFill>
                <a:latin typeface="IBM Plex Mono" pitchFamily="34" charset="0"/>
                <a:ea typeface="IBM Plex Mono" pitchFamily="34" charset="-122"/>
                <a:cs typeface="IBM Plex Mono" pitchFamily="34" charset="-120"/>
              </a:rPr>
              <a:t>REAL INTERFACE · DEMO DATA</a:t>
            </a:r>
            <a:endParaRPr lang="en-US" sz="850" dirty="0"/>
          </a:p>
        </p:txBody>
      </p:sp>
      <p:sp>
        <p:nvSpPr>
          <p:cNvPr id="8" name="Text 4"/>
          <p:cNvSpPr txBox="1"/>
          <p:nvPr/>
        </p:nvSpPr>
        <p:spPr>
          <a:xfrm>
            <a:off x="4023360" y="2331720"/>
            <a:ext cx="3611880" cy="237744"/>
          </a:xfrm>
          <a:prstGeom prst="rect">
            <a:avLst/>
          </a:prstGeom>
          <a:noFill/>
          <a:ln/>
        </p:spPr>
        <p:txBody>
          <a:bodyPr wrap="square" lIns="0" tIns="0" rIns="0" bIns="0" rtlCol="0" anchor="t"/>
          <a:lstStyle/>
          <a:p>
            <a:pPr indent="0" marL="0">
              <a:buNone/>
            </a:pPr>
            <a:r>
              <a:rPr lang="en-US" sz="1000" spc="250" kern="0" dirty="0">
                <a:solidFill>
                  <a:schemeClr val="accent1"/>
                </a:solidFill>
                <a:latin typeface="IBM Plex Mono" pitchFamily="34" charset="0"/>
                <a:ea typeface="IBM Plex Mono" pitchFamily="34" charset="-122"/>
                <a:cs typeface="IBM Plex Mono" pitchFamily="34" charset="-120"/>
              </a:rPr>
              <a:t>HOW IT WORKS</a:t>
            </a:r>
            <a:endParaRPr lang="en-US" sz="1000" dirty="0"/>
          </a:p>
        </p:txBody>
      </p:sp>
      <p:sp>
        <p:nvSpPr>
          <p:cNvPr id="9" name="Text 5"/>
          <p:cNvSpPr txBox="1"/>
          <p:nvPr/>
        </p:nvSpPr>
        <p:spPr>
          <a:xfrm>
            <a:off x="4023360" y="2743200"/>
            <a:ext cx="457200" cy="274320"/>
          </a:xfrm>
          <a:prstGeom prst="rect">
            <a:avLst/>
          </a:prstGeom>
          <a:noFill/>
          <a:ln/>
        </p:spPr>
        <p:txBody>
          <a:bodyPr wrap="square" lIns="0" tIns="0" rIns="0" bIns="0" rtlCol="0" anchor="t"/>
          <a:lstStyle/>
          <a:p>
            <a:pPr indent="0" marL="0">
              <a:buNone/>
            </a:pPr>
            <a:r>
              <a:rPr lang="en-US" sz="1200" spc="100" kern="0" dirty="0">
                <a:solidFill>
                  <a:schemeClr val="accent1"/>
                </a:solidFill>
                <a:latin typeface="IBM Plex Mono SemiBold" pitchFamily="34" charset="0"/>
                <a:ea typeface="IBM Plex Mono SemiBold" pitchFamily="34" charset="-122"/>
                <a:cs typeface="IBM Plex Mono SemiBold" pitchFamily="34" charset="-120"/>
              </a:rPr>
              <a:t>01</a:t>
            </a:r>
            <a:endParaRPr lang="en-US" sz="1200" dirty="0"/>
          </a:p>
        </p:txBody>
      </p:sp>
      <p:sp>
        <p:nvSpPr>
          <p:cNvPr id="10" name="Text 6"/>
          <p:cNvSpPr txBox="1"/>
          <p:nvPr/>
        </p:nvSpPr>
        <p:spPr>
          <a:xfrm>
            <a:off x="4526280" y="2715768"/>
            <a:ext cx="3108960" cy="329184"/>
          </a:xfrm>
          <a:prstGeom prst="rect">
            <a:avLst/>
          </a:prstGeom>
          <a:noFill/>
          <a:ln/>
        </p:spPr>
        <p:txBody>
          <a:bodyPr wrap="square" lIns="0" tIns="0" rIns="0" bIns="0" rtlCol="0" anchor="ctr"/>
          <a:lstStyle/>
          <a:p>
            <a:pPr indent="0" marL="0">
              <a:buNone/>
            </a:pPr>
            <a:r>
              <a:rPr lang="en-US" sz="1500" b="1" dirty="0">
                <a:solidFill>
                  <a:schemeClr val="bg1"/>
                </a:solidFill>
              </a:rPr>
              <a:t>Enter a stablecoin amount</a:t>
            </a:r>
            <a:endParaRPr lang="en-US" sz="1500" dirty="0"/>
          </a:p>
        </p:txBody>
      </p:sp>
      <p:sp>
        <p:nvSpPr>
          <p:cNvPr id="11" name="Shape 7"/>
          <p:cNvSpPr/>
          <p:nvPr/>
        </p:nvSpPr>
        <p:spPr>
          <a:xfrm>
            <a:off x="4023360" y="3154680"/>
            <a:ext cx="3611880" cy="0"/>
          </a:xfrm>
          <a:prstGeom prst="line">
            <a:avLst/>
          </a:prstGeom>
          <a:noFill/>
          <a:ln w="12700">
            <a:solidFill>
              <a:srgbClr val="3D3D3D"/>
            </a:solidFill>
            <a:prstDash val="dash"/>
          </a:ln>
        </p:spPr>
      </p:sp>
      <p:sp>
        <p:nvSpPr>
          <p:cNvPr id="12" name="Text 8"/>
          <p:cNvSpPr txBox="1"/>
          <p:nvPr/>
        </p:nvSpPr>
        <p:spPr>
          <a:xfrm>
            <a:off x="4023360" y="3291840"/>
            <a:ext cx="457200" cy="274320"/>
          </a:xfrm>
          <a:prstGeom prst="rect">
            <a:avLst/>
          </a:prstGeom>
          <a:noFill/>
          <a:ln/>
        </p:spPr>
        <p:txBody>
          <a:bodyPr wrap="square" lIns="0" tIns="0" rIns="0" bIns="0" rtlCol="0" anchor="t"/>
          <a:lstStyle/>
          <a:p>
            <a:pPr indent="0" marL="0">
              <a:buNone/>
            </a:pPr>
            <a:r>
              <a:rPr lang="en-US" sz="1200" spc="100" kern="0" dirty="0">
                <a:solidFill>
                  <a:schemeClr val="accent1"/>
                </a:solidFill>
                <a:latin typeface="IBM Plex Mono SemiBold" pitchFamily="34" charset="0"/>
                <a:ea typeface="IBM Plex Mono SemiBold" pitchFamily="34" charset="-122"/>
                <a:cs typeface="IBM Plex Mono SemiBold" pitchFamily="34" charset="-120"/>
              </a:rPr>
              <a:t>02</a:t>
            </a:r>
            <a:endParaRPr lang="en-US" sz="1200" dirty="0"/>
          </a:p>
        </p:txBody>
      </p:sp>
      <p:sp>
        <p:nvSpPr>
          <p:cNvPr id="13" name="Text 9"/>
          <p:cNvSpPr txBox="1"/>
          <p:nvPr/>
        </p:nvSpPr>
        <p:spPr>
          <a:xfrm>
            <a:off x="4526280" y="3264408"/>
            <a:ext cx="3108960" cy="329184"/>
          </a:xfrm>
          <a:prstGeom prst="rect">
            <a:avLst/>
          </a:prstGeom>
          <a:noFill/>
          <a:ln/>
        </p:spPr>
        <p:txBody>
          <a:bodyPr wrap="square" lIns="0" tIns="0" rIns="0" bIns="0" rtlCol="0" anchor="ctr"/>
          <a:lstStyle/>
          <a:p>
            <a:pPr indent="0" marL="0">
              <a:buNone/>
            </a:pPr>
            <a:r>
              <a:rPr lang="en-US" sz="1500" b="1" dirty="0">
                <a:solidFill>
                  <a:schemeClr val="bg1"/>
                </a:solidFill>
              </a:rPr>
              <a:t>Pick a risk preference</a:t>
            </a:r>
            <a:endParaRPr lang="en-US" sz="1500" dirty="0"/>
          </a:p>
        </p:txBody>
      </p:sp>
      <p:sp>
        <p:nvSpPr>
          <p:cNvPr id="14" name="Shape 10"/>
          <p:cNvSpPr/>
          <p:nvPr/>
        </p:nvSpPr>
        <p:spPr>
          <a:xfrm>
            <a:off x="4023360" y="3703320"/>
            <a:ext cx="3611880" cy="0"/>
          </a:xfrm>
          <a:prstGeom prst="line">
            <a:avLst/>
          </a:prstGeom>
          <a:noFill/>
          <a:ln w="12700">
            <a:solidFill>
              <a:srgbClr val="3D3D3D"/>
            </a:solidFill>
            <a:prstDash val="dash"/>
          </a:ln>
        </p:spPr>
      </p:sp>
      <p:sp>
        <p:nvSpPr>
          <p:cNvPr id="15" name="Text 11"/>
          <p:cNvSpPr txBox="1"/>
          <p:nvPr/>
        </p:nvSpPr>
        <p:spPr>
          <a:xfrm>
            <a:off x="4023360" y="3840480"/>
            <a:ext cx="457200" cy="274320"/>
          </a:xfrm>
          <a:prstGeom prst="rect">
            <a:avLst/>
          </a:prstGeom>
          <a:noFill/>
          <a:ln/>
        </p:spPr>
        <p:txBody>
          <a:bodyPr wrap="square" lIns="0" tIns="0" rIns="0" bIns="0" rtlCol="0" anchor="t"/>
          <a:lstStyle/>
          <a:p>
            <a:pPr indent="0" marL="0">
              <a:buNone/>
            </a:pPr>
            <a:r>
              <a:rPr lang="en-US" sz="1200" spc="100" kern="0" dirty="0">
                <a:solidFill>
                  <a:schemeClr val="accent1"/>
                </a:solidFill>
                <a:latin typeface="IBM Plex Mono SemiBold" pitchFamily="34" charset="0"/>
                <a:ea typeface="IBM Plex Mono SemiBold" pitchFamily="34" charset="-122"/>
                <a:cs typeface="IBM Plex Mono SemiBold" pitchFamily="34" charset="-120"/>
              </a:rPr>
              <a:t>03</a:t>
            </a:r>
            <a:endParaRPr lang="en-US" sz="1200" dirty="0"/>
          </a:p>
        </p:txBody>
      </p:sp>
      <p:sp>
        <p:nvSpPr>
          <p:cNvPr id="16" name="Text 12"/>
          <p:cNvSpPr txBox="1"/>
          <p:nvPr/>
        </p:nvSpPr>
        <p:spPr>
          <a:xfrm>
            <a:off x="4526280" y="3813048"/>
            <a:ext cx="3108960" cy="329184"/>
          </a:xfrm>
          <a:prstGeom prst="rect">
            <a:avLst/>
          </a:prstGeom>
          <a:noFill/>
          <a:ln/>
        </p:spPr>
        <p:txBody>
          <a:bodyPr wrap="square" lIns="0" tIns="0" rIns="0" bIns="0" rtlCol="0" anchor="ctr"/>
          <a:lstStyle/>
          <a:p>
            <a:pPr indent="0" marL="0">
              <a:buNone/>
            </a:pPr>
            <a:r>
              <a:rPr lang="en-US" sz="1500" b="1" dirty="0">
                <a:solidFill>
                  <a:schemeClr val="bg1"/>
                </a:solidFill>
              </a:rPr>
              <a:t>Compare the options</a:t>
            </a:r>
            <a:endParaRPr lang="en-US" sz="1500" dirty="0"/>
          </a:p>
        </p:txBody>
      </p:sp>
      <p:sp>
        <p:nvSpPr>
          <p:cNvPr id="17" name="Shape 13"/>
          <p:cNvSpPr/>
          <p:nvPr/>
        </p:nvSpPr>
        <p:spPr>
          <a:xfrm>
            <a:off x="4023360" y="4251960"/>
            <a:ext cx="3611880" cy="0"/>
          </a:xfrm>
          <a:prstGeom prst="line">
            <a:avLst/>
          </a:prstGeom>
          <a:noFill/>
          <a:ln w="12700">
            <a:solidFill>
              <a:srgbClr val="3D3D3D"/>
            </a:solidFill>
            <a:prstDash val="dash"/>
          </a:ln>
        </p:spPr>
      </p:sp>
      <p:sp>
        <p:nvSpPr>
          <p:cNvPr id="18" name="Text 14"/>
          <p:cNvSpPr txBox="1"/>
          <p:nvPr/>
        </p:nvSpPr>
        <p:spPr>
          <a:xfrm>
            <a:off x="4023360" y="4389120"/>
            <a:ext cx="457200" cy="274320"/>
          </a:xfrm>
          <a:prstGeom prst="rect">
            <a:avLst/>
          </a:prstGeom>
          <a:noFill/>
          <a:ln/>
        </p:spPr>
        <p:txBody>
          <a:bodyPr wrap="square" lIns="0" tIns="0" rIns="0" bIns="0" rtlCol="0" anchor="t"/>
          <a:lstStyle/>
          <a:p>
            <a:pPr indent="0" marL="0">
              <a:buNone/>
            </a:pPr>
            <a:r>
              <a:rPr lang="en-US" sz="1200" spc="100" kern="0" dirty="0">
                <a:solidFill>
                  <a:schemeClr val="accent1"/>
                </a:solidFill>
                <a:latin typeface="IBM Plex Mono SemiBold" pitchFamily="34" charset="0"/>
                <a:ea typeface="IBM Plex Mono SemiBold" pitchFamily="34" charset="-122"/>
                <a:cs typeface="IBM Plex Mono SemiBold" pitchFamily="34" charset="-120"/>
              </a:rPr>
              <a:t>04</a:t>
            </a:r>
            <a:endParaRPr lang="en-US" sz="1200" dirty="0"/>
          </a:p>
        </p:txBody>
      </p:sp>
      <p:sp>
        <p:nvSpPr>
          <p:cNvPr id="19" name="Text 15"/>
          <p:cNvSpPr txBox="1"/>
          <p:nvPr/>
        </p:nvSpPr>
        <p:spPr>
          <a:xfrm>
            <a:off x="4526280" y="4361688"/>
            <a:ext cx="3108960" cy="329184"/>
          </a:xfrm>
          <a:prstGeom prst="rect">
            <a:avLst/>
          </a:prstGeom>
          <a:noFill/>
          <a:ln/>
        </p:spPr>
        <p:txBody>
          <a:bodyPr wrap="square" lIns="0" tIns="0" rIns="0" bIns="0" rtlCol="0" anchor="ctr"/>
          <a:lstStyle/>
          <a:p>
            <a:pPr indent="0" marL="0">
              <a:buNone/>
            </a:pPr>
            <a:r>
              <a:rPr lang="en-US" sz="1500" b="1" dirty="0">
                <a:solidFill>
                  <a:schemeClr val="bg1"/>
                </a:solidFill>
              </a:rPr>
              <a:t>Check the grade and its reasons</a:t>
            </a:r>
            <a:endParaRPr lang="en-US" sz="1500" dirty="0"/>
          </a:p>
        </p:txBody>
      </p:sp>
      <p:sp>
        <p:nvSpPr>
          <p:cNvPr id="20" name="Shape 16"/>
          <p:cNvSpPr/>
          <p:nvPr/>
        </p:nvSpPr>
        <p:spPr>
          <a:xfrm>
            <a:off x="4023360" y="4800600"/>
            <a:ext cx="3611880" cy="0"/>
          </a:xfrm>
          <a:prstGeom prst="line">
            <a:avLst/>
          </a:prstGeom>
          <a:noFill/>
          <a:ln w="12700">
            <a:solidFill>
              <a:srgbClr val="3D3D3D"/>
            </a:solidFill>
            <a:prstDash val="dash"/>
          </a:ln>
        </p:spPr>
      </p:sp>
      <p:sp>
        <p:nvSpPr>
          <p:cNvPr id="21" name="Text 17"/>
          <p:cNvSpPr txBox="1"/>
          <p:nvPr/>
        </p:nvSpPr>
        <p:spPr>
          <a:xfrm>
            <a:off x="4023360" y="4937760"/>
            <a:ext cx="457200" cy="274320"/>
          </a:xfrm>
          <a:prstGeom prst="rect">
            <a:avLst/>
          </a:prstGeom>
          <a:noFill/>
          <a:ln/>
        </p:spPr>
        <p:txBody>
          <a:bodyPr wrap="square" lIns="0" tIns="0" rIns="0" bIns="0" rtlCol="0" anchor="t"/>
          <a:lstStyle/>
          <a:p>
            <a:pPr indent="0" marL="0">
              <a:buNone/>
            </a:pPr>
            <a:r>
              <a:rPr lang="en-US" sz="1200" spc="100" kern="0" dirty="0">
                <a:solidFill>
                  <a:schemeClr val="accent1"/>
                </a:solidFill>
                <a:latin typeface="IBM Plex Mono SemiBold" pitchFamily="34" charset="0"/>
                <a:ea typeface="IBM Plex Mono SemiBold" pitchFamily="34" charset="-122"/>
                <a:cs typeface="IBM Plex Mono SemiBold" pitchFamily="34" charset="-120"/>
              </a:rPr>
              <a:t>05</a:t>
            </a:r>
            <a:endParaRPr lang="en-US" sz="1200" dirty="0"/>
          </a:p>
        </p:txBody>
      </p:sp>
      <p:sp>
        <p:nvSpPr>
          <p:cNvPr id="22" name="Text 18"/>
          <p:cNvSpPr txBox="1"/>
          <p:nvPr/>
        </p:nvSpPr>
        <p:spPr>
          <a:xfrm>
            <a:off x="4526280" y="4910328"/>
            <a:ext cx="3108960" cy="329184"/>
          </a:xfrm>
          <a:prstGeom prst="rect">
            <a:avLst/>
          </a:prstGeom>
          <a:noFill/>
          <a:ln/>
        </p:spPr>
        <p:txBody>
          <a:bodyPr wrap="square" lIns="0" tIns="0" rIns="0" bIns="0" rtlCol="0" anchor="ctr"/>
          <a:lstStyle/>
          <a:p>
            <a:pPr indent="0" marL="0">
              <a:buNone/>
            </a:pPr>
            <a:r>
              <a:rPr lang="en-US" sz="1500" b="1" dirty="0">
                <a:solidFill>
                  <a:schemeClr val="bg1"/>
                </a:solidFill>
              </a:rPr>
              <a:t>See earnings after fees</a:t>
            </a:r>
            <a:endParaRPr lang="en-US" sz="1500" dirty="0"/>
          </a:p>
        </p:txBody>
      </p:sp>
      <p:sp>
        <p:nvSpPr>
          <p:cNvPr id="23" name="Shape 19"/>
          <p:cNvSpPr/>
          <p:nvPr/>
        </p:nvSpPr>
        <p:spPr>
          <a:xfrm>
            <a:off x="4023360" y="5349240"/>
            <a:ext cx="3611880" cy="0"/>
          </a:xfrm>
          <a:prstGeom prst="line">
            <a:avLst/>
          </a:prstGeom>
          <a:noFill/>
          <a:ln w="12700">
            <a:solidFill>
              <a:srgbClr val="3D3D3D"/>
            </a:solidFill>
            <a:prstDash val="dash"/>
          </a:ln>
        </p:spPr>
      </p:sp>
      <p:sp>
        <p:nvSpPr>
          <p:cNvPr id="24" name="Text 20"/>
          <p:cNvSpPr txBox="1"/>
          <p:nvPr/>
        </p:nvSpPr>
        <p:spPr>
          <a:xfrm>
            <a:off x="4023360" y="5486400"/>
            <a:ext cx="457200" cy="274320"/>
          </a:xfrm>
          <a:prstGeom prst="rect">
            <a:avLst/>
          </a:prstGeom>
          <a:noFill/>
          <a:ln/>
        </p:spPr>
        <p:txBody>
          <a:bodyPr wrap="square" lIns="0" tIns="0" rIns="0" bIns="0" rtlCol="0" anchor="t"/>
          <a:lstStyle/>
          <a:p>
            <a:pPr indent="0" marL="0">
              <a:buNone/>
            </a:pPr>
            <a:r>
              <a:rPr lang="en-US" sz="1200" spc="100" kern="0" dirty="0">
                <a:solidFill>
                  <a:schemeClr val="accent1"/>
                </a:solidFill>
                <a:latin typeface="IBM Plex Mono SemiBold" pitchFamily="34" charset="0"/>
                <a:ea typeface="IBM Plex Mono SemiBold" pitchFamily="34" charset="-122"/>
                <a:cs typeface="IBM Plex Mono SemiBold" pitchFamily="34" charset="-120"/>
              </a:rPr>
              <a:t>06</a:t>
            </a:r>
            <a:endParaRPr lang="en-US" sz="1200" dirty="0"/>
          </a:p>
        </p:txBody>
      </p:sp>
      <p:sp>
        <p:nvSpPr>
          <p:cNvPr id="25" name="Text 21"/>
          <p:cNvSpPr txBox="1"/>
          <p:nvPr/>
        </p:nvSpPr>
        <p:spPr>
          <a:xfrm>
            <a:off x="4526280" y="5458968"/>
            <a:ext cx="3108960" cy="329184"/>
          </a:xfrm>
          <a:prstGeom prst="rect">
            <a:avLst/>
          </a:prstGeom>
          <a:noFill/>
          <a:ln/>
        </p:spPr>
        <p:txBody>
          <a:bodyPr wrap="square" lIns="0" tIns="0" rIns="0" bIns="0" rtlCol="0" anchor="ctr"/>
          <a:lstStyle/>
          <a:p>
            <a:pPr indent="0" marL="0">
              <a:buNone/>
            </a:pPr>
            <a:r>
              <a:rPr lang="en-US" sz="1500" b="1" dirty="0">
                <a:solidFill>
                  <a:schemeClr val="bg1"/>
                </a:solidFill>
              </a:rPr>
              <a:t>Continue to the official app</a:t>
            </a:r>
            <a:endParaRPr lang="en-US" sz="1500" dirty="0"/>
          </a:p>
        </p:txBody>
      </p:sp>
      <p:sp>
        <p:nvSpPr>
          <p:cNvPr id="26" name="promise-0"/>
          <p:cNvSpPr/>
          <p:nvPr/>
        </p:nvSpPr>
        <p:spPr>
          <a:xfrm>
            <a:off x="8001000" y="2331720"/>
            <a:ext cx="3504895" cy="1600200"/>
          </a:xfrm>
          <a:prstGeom prst="roundRect">
            <a:avLst>
              <a:gd name="adj" fmla="val 6857"/>
            </a:avLst>
          </a:prstGeom>
          <a:solidFill>
            <a:schemeClr val="tx2"/>
          </a:solidFill>
          <a:ln w="15875">
            <a:solidFill>
              <a:schemeClr val="accent6"/>
            </a:solidFill>
            <a:prstDash val="solid"/>
          </a:ln>
        </p:spPr>
      </p:sp>
      <p:sp>
        <p:nvSpPr>
          <p:cNvPr id="27" name="Text 23"/>
          <p:cNvSpPr txBox="1"/>
          <p:nvPr/>
        </p:nvSpPr>
        <p:spPr>
          <a:xfrm>
            <a:off x="8275320" y="2606040"/>
            <a:ext cx="2956255" cy="237744"/>
          </a:xfrm>
          <a:prstGeom prst="rect">
            <a:avLst/>
          </a:prstGeom>
          <a:noFill/>
          <a:ln/>
        </p:spPr>
        <p:txBody>
          <a:bodyPr wrap="square" lIns="0" tIns="0" rIns="0" bIns="0" rtlCol="0" anchor="t"/>
          <a:lstStyle/>
          <a:p>
            <a:pPr indent="0" marL="0">
              <a:buNone/>
            </a:pPr>
            <a:r>
              <a:rPr lang="en-US" sz="1000" spc="250" kern="0" dirty="0">
                <a:solidFill>
                  <a:schemeClr val="accent1"/>
                </a:solidFill>
                <a:latin typeface="IBM Plex Mono" pitchFamily="34" charset="0"/>
                <a:ea typeface="IBM Plex Mono" pitchFamily="34" charset="-122"/>
                <a:cs typeface="IBM Plex Mono" pitchFamily="34" charset="-120"/>
              </a:rPr>
              <a:t>NO WALLET OR SIGN-UP</a:t>
            </a:r>
            <a:endParaRPr lang="en-US" sz="1000" dirty="0"/>
          </a:p>
        </p:txBody>
      </p:sp>
      <p:sp>
        <p:nvSpPr>
          <p:cNvPr id="28" name="Text 24"/>
          <p:cNvSpPr txBox="1"/>
          <p:nvPr/>
        </p:nvSpPr>
        <p:spPr>
          <a:xfrm>
            <a:off x="8275320" y="2971800"/>
            <a:ext cx="2956255" cy="777240"/>
          </a:xfrm>
          <a:prstGeom prst="rect">
            <a:avLst/>
          </a:prstGeom>
          <a:noFill/>
          <a:ln/>
        </p:spPr>
        <p:txBody>
          <a:bodyPr wrap="square" lIns="0" tIns="0" rIns="0" bIns="0" rtlCol="0" anchor="t"/>
          <a:lstStyle/>
          <a:p>
            <a:pPr indent="0" marL="0">
              <a:buNone/>
            </a:pPr>
            <a:r>
              <a:rPr lang="en-US" sz="1500" dirty="0">
                <a:solidFill>
                  <a:schemeClr val="bg1"/>
                </a:solidFill>
              </a:rPr>
              <a:t>Comparing needs nothing but an amount.</a:t>
            </a:r>
            <a:endParaRPr lang="en-US" sz="1500" dirty="0"/>
          </a:p>
        </p:txBody>
      </p:sp>
      <p:sp>
        <p:nvSpPr>
          <p:cNvPr id="29" name="promise-1"/>
          <p:cNvSpPr/>
          <p:nvPr/>
        </p:nvSpPr>
        <p:spPr>
          <a:xfrm>
            <a:off x="8001000" y="4142232"/>
            <a:ext cx="3504895" cy="1600200"/>
          </a:xfrm>
          <a:prstGeom prst="roundRect">
            <a:avLst>
              <a:gd name="adj" fmla="val 6857"/>
            </a:avLst>
          </a:prstGeom>
          <a:solidFill>
            <a:schemeClr val="tx2"/>
          </a:solidFill>
          <a:ln w="15875">
            <a:solidFill>
              <a:schemeClr val="accent6"/>
            </a:solidFill>
            <a:prstDash val="solid"/>
          </a:ln>
        </p:spPr>
      </p:sp>
      <p:sp>
        <p:nvSpPr>
          <p:cNvPr id="30" name="Text 26"/>
          <p:cNvSpPr txBox="1"/>
          <p:nvPr/>
        </p:nvSpPr>
        <p:spPr>
          <a:xfrm>
            <a:off x="8275320" y="4416552"/>
            <a:ext cx="2956255" cy="237744"/>
          </a:xfrm>
          <a:prstGeom prst="rect">
            <a:avLst/>
          </a:prstGeom>
          <a:noFill/>
          <a:ln/>
        </p:spPr>
        <p:txBody>
          <a:bodyPr wrap="square" lIns="0" tIns="0" rIns="0" bIns="0" rtlCol="0" anchor="t"/>
          <a:lstStyle/>
          <a:p>
            <a:pPr indent="0" marL="0">
              <a:buNone/>
            </a:pPr>
            <a:r>
              <a:rPr lang="en-US" sz="1000" spc="250" kern="0" dirty="0">
                <a:solidFill>
                  <a:schemeClr val="accent2"/>
                </a:solidFill>
                <a:latin typeface="IBM Plex Mono" pitchFamily="34" charset="0"/>
                <a:ea typeface="IBM Plex Mono" pitchFamily="34" charset="-122"/>
                <a:cs typeface="IBM Plex Mono" pitchFamily="34" charset="-120"/>
              </a:rPr>
              <a:t>NEVER HOLDS YOUR FUNDS</a:t>
            </a:r>
            <a:endParaRPr lang="en-US" sz="1000" dirty="0"/>
          </a:p>
        </p:txBody>
      </p:sp>
      <p:sp>
        <p:nvSpPr>
          <p:cNvPr id="31" name="Text 27"/>
          <p:cNvSpPr txBox="1"/>
          <p:nvPr/>
        </p:nvSpPr>
        <p:spPr>
          <a:xfrm>
            <a:off x="8275320" y="4782312"/>
            <a:ext cx="2956255" cy="777240"/>
          </a:xfrm>
          <a:prstGeom prst="rect">
            <a:avLst/>
          </a:prstGeom>
          <a:noFill/>
          <a:ln/>
        </p:spPr>
        <p:txBody>
          <a:bodyPr wrap="square" lIns="0" tIns="0" rIns="0" bIns="0" rtlCol="0" anchor="t"/>
          <a:lstStyle/>
          <a:p>
            <a:pPr indent="0" marL="0">
              <a:buNone/>
            </a:pPr>
            <a:r>
              <a:rPr lang="en-US" sz="1500" dirty="0">
                <a:solidFill>
                  <a:schemeClr val="bg1"/>
                </a:solidFill>
              </a:rPr>
              <a:t>You deposit from your own wallet, on the protocol's own app.</a:t>
            </a:r>
            <a:endParaRPr lang="en-US" sz="1500" dirty="0"/>
          </a:p>
        </p:txBody>
      </p:sp>
      <p:sp>
        <p:nvSpPr>
          <p:cNvPr id="32" name="Text 28"/>
          <p:cNvSpPr txBox="1"/>
          <p:nvPr/>
        </p:nvSpPr>
        <p:spPr>
          <a:xfrm>
            <a:off x="10225735" y="6382512"/>
            <a:ext cx="1280160" cy="237744"/>
          </a:xfrm>
          <a:prstGeom prst="rect">
            <a:avLst/>
          </a:prstGeom>
          <a:noFill/>
          <a:ln/>
        </p:spPr>
        <p:txBody>
          <a:bodyPr wrap="square" lIns="0" tIns="0" rIns="0" bIns="0" rtlCol="0" anchor="t"/>
          <a:lstStyle/>
          <a:p>
            <a:pPr algn="r" indent="0" marL="0">
              <a:buNone/>
            </a:pPr>
            <a:r>
              <a:rPr lang="en-US" sz="950" spc="200" kern="0" dirty="0">
                <a:solidFill>
                  <a:srgbClr val="6E6E6E"/>
                </a:solidFill>
                <a:latin typeface="IBM Plex Mono" pitchFamily="34" charset="0"/>
                <a:ea typeface="IBM Plex Mono" pitchFamily="34" charset="-122"/>
                <a:cs typeface="IBM Plex Mono" pitchFamily="34" charset="-120"/>
              </a:rPr>
              <a:t>05 / 18</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title-blob" descr="preencoded.png">    </p:cNvPr>
          <p:cNvPicPr>
            <a:picLocks noChangeAspect="1"/>
          </p:cNvPicPr>
          <p:nvPr/>
        </p:nvPicPr>
        <p:blipFill>
          <a:blip r:embed="rId1"/>
          <a:stretch>
            <a:fillRect/>
          </a:stretch>
        </p:blipFill>
        <p:spPr>
          <a:xfrm>
            <a:off x="-1053162" y="420624"/>
            <a:ext cx="7916188" cy="1024128"/>
          </a:xfrm>
          <a:prstGeom prst="rect">
            <a:avLst/>
          </a:prstGeom>
        </p:spPr>
      </p:pic>
      <p:sp>
        <p:nvSpPr>
          <p:cNvPr id="3" name="Text 2"/>
          <p:cNvSpPr/>
          <p:nvPr>
            <p:ph idx="103" type="title" hasCustomPrompt="1"/>
          </p:nvPr>
        </p:nvSpPr>
        <p:spPr>
          <a:xfrm>
            <a:off x="685800" y="640080"/>
            <a:ext cx="10820095" cy="603504"/>
          </a:xfrm>
          <a:prstGeom prst="rect">
            <a:avLst/>
          </a:prstGeom>
          <a:noFill/>
          <a:ln/>
        </p:spPr>
        <p:txBody>
          <a:bodyPr wrap="square" lIns="0" tIns="0" rIns="0" bIns="0" rtlCol="0" anchor="ctr"/>
          <a:lstStyle/>
          <a:p>
            <a:pPr algn="l" indent="0" marL="0">
              <a:buNone/>
            </a:pPr>
            <a:r>
              <a:rPr lang="en-US" sz="3400" dirty="0">
                <a:solidFill>
                  <a:schemeClr val="bg1"/>
                </a:solidFill>
                <a:latin typeface="Anton" pitchFamily="34" charset="0"/>
                <a:ea typeface="Anton" pitchFamily="34" charset="-122"/>
                <a:cs typeface="Anton" pitchFamily="34" charset="-120"/>
              </a:rPr>
              <a:t>FROM BALANCE TO DECISION</a:t>
            </a:r>
            <a:endParaRPr lang="en-US" sz="3400" dirty="0"/>
          </a:p>
        </p:txBody>
      </p:sp>
      <p:sp>
        <p:nvSpPr>
          <p:cNvPr id="4" name="Text 1"/>
          <p:cNvSpPr txBox="1"/>
          <p:nvPr/>
        </p:nvSpPr>
        <p:spPr>
          <a:xfrm>
            <a:off x="685800" y="1481328"/>
            <a:ext cx="7863840" cy="640080"/>
          </a:xfrm>
          <a:prstGeom prst="rect">
            <a:avLst/>
          </a:prstGeom>
          <a:noFill/>
          <a:ln/>
        </p:spPr>
        <p:txBody>
          <a:bodyPr wrap="square" lIns="0" tIns="0" rIns="0" bIns="0" rtlCol="0" anchor="t"/>
          <a:lstStyle/>
          <a:p>
            <a:pPr indent="0" marL="0">
              <a:lnSpc>
                <a:spcPct val="100000"/>
              </a:lnSpc>
              <a:buNone/>
            </a:pPr>
            <a:r>
              <a:rPr lang="en-US" sz="1700" dirty="0">
                <a:solidFill>
                  <a:srgbClr val="C9C9C9"/>
                </a:solidFill>
              </a:rPr>
              <a:t>In a few clicks: </a:t>
            </a:r>
            <a:pPr indent="0" marL="0">
              <a:lnSpc>
                <a:spcPct val="100000"/>
              </a:lnSpc>
              <a:buNone/>
            </a:pPr>
            <a:r>
              <a:rPr lang="en-US" sz="1700" b="1" dirty="0">
                <a:solidFill>
                  <a:schemeClr val="bg1"/>
                </a:solidFill>
              </a:rPr>
              <a:t>ranked, graded and after fees</a:t>
            </a:r>
            <a:pPr indent="0" marL="0">
              <a:lnSpc>
                <a:spcPct val="100000"/>
              </a:lnSpc>
              <a:buNone/>
            </a:pPr>
            <a:r>
              <a:rPr lang="en-US" sz="1700" dirty="0">
                <a:solidFill>
                  <a:srgbClr val="C9C9C9"/>
                </a:solidFill>
              </a:rPr>
              <a:t>.</a:t>
            </a:r>
            <a:endParaRPr lang="en-US" sz="1700" dirty="0"/>
          </a:p>
        </p:txBody>
      </p:sp>
      <p:sp>
        <p:nvSpPr>
          <p:cNvPr id="5" name="walk-home-frame"/>
          <p:cNvSpPr/>
          <p:nvPr/>
        </p:nvSpPr>
        <p:spPr>
          <a:xfrm>
            <a:off x="960564" y="2240280"/>
            <a:ext cx="1919352" cy="3337560"/>
          </a:xfrm>
          <a:prstGeom prst="roundRect">
            <a:avLst>
              <a:gd name="adj" fmla="val 3811"/>
            </a:avLst>
          </a:prstGeom>
          <a:solidFill>
            <a:srgbClr val="0E0E0E"/>
          </a:solidFill>
          <a:ln w="15875">
            <a:solidFill>
              <a:schemeClr val="accent6"/>
            </a:solidFill>
            <a:prstDash val="solid"/>
          </a:ln>
          <a:effectLst>
            <a:outerShdw sx="100000" sy="100000" kx="0" ky="0" algn="bl" rotWithShape="0" blurRad="101600" dist="63500" dir="2700000">
              <a:srgbClr val="080808">
                <a:alpha val="85000"/>
              </a:srgbClr>
            </a:outerShdw>
          </a:effectLst>
        </p:spPr>
      </p:sp>
      <p:pic>
        <p:nvPicPr>
          <p:cNvPr id="6" name="walk-home" descr="Amount, stablecoin and risk preference">    </p:cNvPr>
          <p:cNvPicPr>
            <a:picLocks noChangeAspect="1"/>
          </p:cNvPicPr>
          <p:nvPr/>
        </p:nvPicPr>
        <p:blipFill>
          <a:blip r:embed="rId2"/>
          <a:stretch>
            <a:fillRect/>
          </a:stretch>
        </p:blipFill>
        <p:spPr>
          <a:xfrm>
            <a:off x="1006284" y="2286000"/>
            <a:ext cx="1827912" cy="3246120"/>
          </a:xfrm>
          <a:prstGeom prst="rect">
            <a:avLst/>
          </a:prstGeom>
        </p:spPr>
      </p:pic>
      <p:sp>
        <p:nvSpPr>
          <p:cNvPr id="7" name="walk-list-frame"/>
          <p:cNvSpPr/>
          <p:nvPr/>
        </p:nvSpPr>
        <p:spPr>
          <a:xfrm>
            <a:off x="3593592" y="2240280"/>
            <a:ext cx="2688336" cy="3337560"/>
          </a:xfrm>
          <a:prstGeom prst="roundRect">
            <a:avLst>
              <a:gd name="adj" fmla="val 2721"/>
            </a:avLst>
          </a:prstGeom>
          <a:solidFill>
            <a:srgbClr val="0E0E0E"/>
          </a:solidFill>
          <a:ln w="15875">
            <a:solidFill>
              <a:schemeClr val="accent6"/>
            </a:solidFill>
            <a:prstDash val="solid"/>
          </a:ln>
          <a:effectLst>
            <a:outerShdw sx="100000" sy="100000" kx="0" ky="0" algn="bl" rotWithShape="0" blurRad="101600" dist="63500" dir="2700000">
              <a:srgbClr val="080808">
                <a:alpha val="85000"/>
              </a:srgbClr>
            </a:outerShdw>
          </a:effectLst>
        </p:spPr>
      </p:sp>
      <p:pic>
        <p:nvPicPr>
          <p:cNvPr id="8" name="walk-list" descr="Ranked options with grade, network, deposits, rate and yearly estimate">    </p:cNvPr>
          <p:cNvPicPr>
            <a:picLocks noChangeAspect="1"/>
          </p:cNvPicPr>
          <p:nvPr/>
        </p:nvPicPr>
        <p:blipFill>
          <a:blip r:embed="rId3"/>
          <a:stretch>
            <a:fillRect/>
          </a:stretch>
        </p:blipFill>
        <p:spPr>
          <a:xfrm>
            <a:off x="3639312" y="2286000"/>
            <a:ext cx="2596896" cy="3246120"/>
          </a:xfrm>
          <a:prstGeom prst="rect">
            <a:avLst/>
          </a:prstGeom>
        </p:spPr>
      </p:pic>
      <p:sp>
        <p:nvSpPr>
          <p:cNvPr id="9" name="walk-detail-frame"/>
          <p:cNvSpPr/>
          <p:nvPr/>
        </p:nvSpPr>
        <p:spPr>
          <a:xfrm>
            <a:off x="6928454" y="2240280"/>
            <a:ext cx="1687892" cy="3337560"/>
          </a:xfrm>
          <a:prstGeom prst="roundRect">
            <a:avLst>
              <a:gd name="adj" fmla="val 4334"/>
            </a:avLst>
          </a:prstGeom>
          <a:solidFill>
            <a:srgbClr val="0E0E0E"/>
          </a:solidFill>
          <a:ln w="15875">
            <a:solidFill>
              <a:schemeClr val="accent6"/>
            </a:solidFill>
            <a:prstDash val="solid"/>
          </a:ln>
          <a:effectLst>
            <a:outerShdw sx="100000" sy="100000" kx="0" ky="0" algn="bl" rotWithShape="0" blurRad="101600" dist="63500" dir="2700000">
              <a:srgbClr val="080808">
                <a:alpha val="85000"/>
              </a:srgbClr>
            </a:outerShdw>
          </a:effectLst>
        </p:spPr>
      </p:sp>
      <p:pic>
        <p:nvPicPr>
          <p:cNvPr id="10" name="walk-detail" descr="Option detail: rate history, and what $1,000 could earn after fees">    </p:cNvPr>
          <p:cNvPicPr>
            <a:picLocks noChangeAspect="1"/>
          </p:cNvPicPr>
          <p:nvPr/>
        </p:nvPicPr>
        <p:blipFill>
          <a:blip r:embed="rId4"/>
          <a:stretch>
            <a:fillRect/>
          </a:stretch>
        </p:blipFill>
        <p:spPr>
          <a:xfrm>
            <a:off x="6974174" y="2286000"/>
            <a:ext cx="1596452" cy="3246120"/>
          </a:xfrm>
          <a:prstGeom prst="rect">
            <a:avLst/>
          </a:prstGeom>
        </p:spPr>
      </p:pic>
      <p:sp>
        <p:nvSpPr>
          <p:cNvPr id="11" name="badge-1"/>
          <p:cNvSpPr txBox="1"/>
          <p:nvPr/>
        </p:nvSpPr>
        <p:spPr>
          <a:xfrm>
            <a:off x="786828" y="3373450"/>
            <a:ext cx="329184" cy="329184"/>
          </a:xfrm>
          <a:prstGeom prst="ellipse">
            <a:avLst/>
          </a:prstGeom>
          <a:solidFill>
            <a:schemeClr val="accent1"/>
          </a:solidFill>
          <a:ln w="19050">
            <a:solidFill>
              <a:schemeClr val="tx1"/>
            </a:solidFill>
          </a:ln>
        </p:spPr>
        <p:txBody>
          <a:bodyPr wrap="square" lIns="0" tIns="0" rIns="0" bIns="0" rtlCol="0" anchor="ctr"/>
          <a:lstStyle/>
          <a:p>
            <a:pPr algn="ctr" indent="0" marL="0">
              <a:buNone/>
            </a:pPr>
            <a:r>
              <a:rPr lang="en-US" sz="1100" dirty="0">
                <a:solidFill>
                  <a:srgbClr val="141414"/>
                </a:solidFill>
                <a:latin typeface="IBM Plex Mono SemiBold" pitchFamily="34" charset="0"/>
                <a:ea typeface="IBM Plex Mono SemiBold" pitchFamily="34" charset="-122"/>
                <a:cs typeface="IBM Plex Mono SemiBold" pitchFamily="34" charset="-120"/>
              </a:rPr>
              <a:t>1</a:t>
            </a:r>
            <a:endParaRPr lang="en-US" sz="1100" dirty="0"/>
          </a:p>
        </p:txBody>
      </p:sp>
      <p:sp>
        <p:nvSpPr>
          <p:cNvPr id="12" name="badge-2"/>
          <p:cNvSpPr txBox="1"/>
          <p:nvPr/>
        </p:nvSpPr>
        <p:spPr>
          <a:xfrm>
            <a:off x="786828" y="5191277"/>
            <a:ext cx="329184" cy="329184"/>
          </a:xfrm>
          <a:prstGeom prst="ellipse">
            <a:avLst/>
          </a:prstGeom>
          <a:solidFill>
            <a:schemeClr val="accent1"/>
          </a:solidFill>
          <a:ln w="19050">
            <a:solidFill>
              <a:schemeClr val="tx1"/>
            </a:solidFill>
          </a:ln>
        </p:spPr>
        <p:txBody>
          <a:bodyPr wrap="square" lIns="0" tIns="0" rIns="0" bIns="0" rtlCol="0" anchor="ctr"/>
          <a:lstStyle/>
          <a:p>
            <a:pPr algn="ctr" indent="0" marL="0">
              <a:buNone/>
            </a:pPr>
            <a:r>
              <a:rPr lang="en-US" sz="1100" dirty="0">
                <a:solidFill>
                  <a:srgbClr val="141414"/>
                </a:solidFill>
                <a:latin typeface="IBM Plex Mono SemiBold" pitchFamily="34" charset="0"/>
                <a:ea typeface="IBM Plex Mono SemiBold" pitchFamily="34" charset="-122"/>
                <a:cs typeface="IBM Plex Mono SemiBold" pitchFamily="34" charset="-120"/>
              </a:rPr>
              <a:t>2</a:t>
            </a:r>
            <a:endParaRPr lang="en-US" sz="1100" dirty="0"/>
          </a:p>
        </p:txBody>
      </p:sp>
      <p:sp>
        <p:nvSpPr>
          <p:cNvPr id="13" name="badge-3"/>
          <p:cNvSpPr txBox="1"/>
          <p:nvPr/>
        </p:nvSpPr>
        <p:spPr>
          <a:xfrm>
            <a:off x="6108192" y="2139696"/>
            <a:ext cx="329184" cy="329184"/>
          </a:xfrm>
          <a:prstGeom prst="ellipse">
            <a:avLst/>
          </a:prstGeom>
          <a:solidFill>
            <a:schemeClr val="accent1"/>
          </a:solidFill>
          <a:ln w="19050">
            <a:solidFill>
              <a:schemeClr val="tx1"/>
            </a:solidFill>
          </a:ln>
        </p:spPr>
        <p:txBody>
          <a:bodyPr wrap="square" lIns="0" tIns="0" rIns="0" bIns="0" rtlCol="0" anchor="ctr"/>
          <a:lstStyle/>
          <a:p>
            <a:pPr algn="ctr" indent="0" marL="0">
              <a:buNone/>
            </a:pPr>
            <a:r>
              <a:rPr lang="en-US" sz="1100" dirty="0">
                <a:solidFill>
                  <a:srgbClr val="141414"/>
                </a:solidFill>
                <a:latin typeface="IBM Plex Mono SemiBold" pitchFamily="34" charset="0"/>
                <a:ea typeface="IBM Plex Mono SemiBold" pitchFamily="34" charset="-122"/>
                <a:cs typeface="IBM Plex Mono SemiBold" pitchFamily="34" charset="-120"/>
              </a:rPr>
              <a:t>3</a:t>
            </a:r>
            <a:endParaRPr lang="en-US" sz="1100" dirty="0"/>
          </a:p>
        </p:txBody>
      </p:sp>
      <p:sp>
        <p:nvSpPr>
          <p:cNvPr id="14" name="badge-4"/>
          <p:cNvSpPr txBox="1"/>
          <p:nvPr/>
        </p:nvSpPr>
        <p:spPr>
          <a:xfrm>
            <a:off x="3419856" y="2659304"/>
            <a:ext cx="329184" cy="329184"/>
          </a:xfrm>
          <a:prstGeom prst="ellipse">
            <a:avLst/>
          </a:prstGeom>
          <a:solidFill>
            <a:schemeClr val="accent1"/>
          </a:solidFill>
          <a:ln w="19050">
            <a:solidFill>
              <a:schemeClr val="tx1"/>
            </a:solidFill>
          </a:ln>
        </p:spPr>
        <p:txBody>
          <a:bodyPr wrap="square" lIns="0" tIns="0" rIns="0" bIns="0" rtlCol="0" anchor="ctr"/>
          <a:lstStyle/>
          <a:p>
            <a:pPr algn="ctr" indent="0" marL="0">
              <a:buNone/>
            </a:pPr>
            <a:r>
              <a:rPr lang="en-US" sz="1100" dirty="0">
                <a:solidFill>
                  <a:srgbClr val="141414"/>
                </a:solidFill>
                <a:latin typeface="IBM Plex Mono SemiBold" pitchFamily="34" charset="0"/>
                <a:ea typeface="IBM Plex Mono SemiBold" pitchFamily="34" charset="-122"/>
                <a:cs typeface="IBM Plex Mono SemiBold" pitchFamily="34" charset="-120"/>
              </a:rPr>
              <a:t>4</a:t>
            </a:r>
            <a:endParaRPr lang="en-US" sz="1100" dirty="0"/>
          </a:p>
        </p:txBody>
      </p:sp>
      <p:sp>
        <p:nvSpPr>
          <p:cNvPr id="15" name="badge-5"/>
          <p:cNvSpPr txBox="1"/>
          <p:nvPr/>
        </p:nvSpPr>
        <p:spPr>
          <a:xfrm>
            <a:off x="6754718" y="3487064"/>
            <a:ext cx="329184" cy="329184"/>
          </a:xfrm>
          <a:prstGeom prst="ellipse">
            <a:avLst/>
          </a:prstGeom>
          <a:solidFill>
            <a:schemeClr val="accent1"/>
          </a:solidFill>
          <a:ln w="19050">
            <a:solidFill>
              <a:schemeClr val="tx1"/>
            </a:solidFill>
          </a:ln>
        </p:spPr>
        <p:txBody>
          <a:bodyPr wrap="square" lIns="0" tIns="0" rIns="0" bIns="0" rtlCol="0" anchor="ctr"/>
          <a:lstStyle/>
          <a:p>
            <a:pPr algn="ctr" indent="0" marL="0">
              <a:buNone/>
            </a:pPr>
            <a:r>
              <a:rPr lang="en-US" sz="1100" dirty="0">
                <a:solidFill>
                  <a:srgbClr val="141414"/>
                </a:solidFill>
                <a:latin typeface="IBM Plex Mono SemiBold" pitchFamily="34" charset="0"/>
                <a:ea typeface="IBM Plex Mono SemiBold" pitchFamily="34" charset="-122"/>
                <a:cs typeface="IBM Plex Mono SemiBold" pitchFamily="34" charset="-120"/>
              </a:rPr>
              <a:t>5</a:t>
            </a:r>
            <a:endParaRPr lang="en-US" sz="1100" dirty="0"/>
          </a:p>
        </p:txBody>
      </p:sp>
      <p:sp>
        <p:nvSpPr>
          <p:cNvPr id="16" name="badge-6"/>
          <p:cNvSpPr txBox="1"/>
          <p:nvPr/>
        </p:nvSpPr>
        <p:spPr>
          <a:xfrm>
            <a:off x="6754718" y="4623206"/>
            <a:ext cx="329184" cy="329184"/>
          </a:xfrm>
          <a:prstGeom prst="ellipse">
            <a:avLst/>
          </a:prstGeom>
          <a:solidFill>
            <a:schemeClr val="accent1"/>
          </a:solidFill>
          <a:ln w="19050">
            <a:solidFill>
              <a:schemeClr val="tx1"/>
            </a:solidFill>
          </a:ln>
        </p:spPr>
        <p:txBody>
          <a:bodyPr wrap="square" lIns="0" tIns="0" rIns="0" bIns="0" rtlCol="0" anchor="ctr"/>
          <a:lstStyle/>
          <a:p>
            <a:pPr algn="ctr" indent="0" marL="0">
              <a:buNone/>
            </a:pPr>
            <a:r>
              <a:rPr lang="en-US" sz="1100" dirty="0">
                <a:solidFill>
                  <a:srgbClr val="141414"/>
                </a:solidFill>
                <a:latin typeface="IBM Plex Mono SemiBold" pitchFamily="34" charset="0"/>
                <a:ea typeface="IBM Plex Mono SemiBold" pitchFamily="34" charset="-122"/>
                <a:cs typeface="IBM Plex Mono SemiBold" pitchFamily="34" charset="-120"/>
              </a:rPr>
              <a:t>6</a:t>
            </a:r>
            <a:endParaRPr lang="en-US" sz="1100" dirty="0"/>
          </a:p>
        </p:txBody>
      </p:sp>
      <p:sp>
        <p:nvSpPr>
          <p:cNvPr id="17" name="badge-1"/>
          <p:cNvSpPr txBox="1"/>
          <p:nvPr/>
        </p:nvSpPr>
        <p:spPr>
          <a:xfrm>
            <a:off x="9098280" y="2313432"/>
            <a:ext cx="274320" cy="274320"/>
          </a:xfrm>
          <a:prstGeom prst="ellipse">
            <a:avLst/>
          </a:prstGeom>
          <a:solidFill>
            <a:schemeClr val="accent1"/>
          </a:solidFill>
          <a:ln w="19050">
            <a:solidFill>
              <a:schemeClr val="tx1"/>
            </a:solidFill>
          </a:ln>
        </p:spPr>
        <p:txBody>
          <a:bodyPr wrap="square" lIns="0" tIns="0" rIns="0" bIns="0" rtlCol="0" anchor="ctr"/>
          <a:lstStyle/>
          <a:p>
            <a:pPr algn="ctr" indent="0" marL="0">
              <a:buNone/>
            </a:pPr>
            <a:r>
              <a:rPr lang="en-US" sz="1000" dirty="0">
                <a:solidFill>
                  <a:srgbClr val="141414"/>
                </a:solidFill>
                <a:latin typeface="IBM Plex Mono SemiBold" pitchFamily="34" charset="0"/>
                <a:ea typeface="IBM Plex Mono SemiBold" pitchFamily="34" charset="-122"/>
                <a:cs typeface="IBM Plex Mono SemiBold" pitchFamily="34" charset="-120"/>
              </a:rPr>
              <a:t>1</a:t>
            </a:r>
            <a:endParaRPr lang="en-US" sz="1000" dirty="0"/>
          </a:p>
        </p:txBody>
      </p:sp>
      <p:sp>
        <p:nvSpPr>
          <p:cNvPr id="18" name="Text 12"/>
          <p:cNvSpPr txBox="1"/>
          <p:nvPr/>
        </p:nvSpPr>
        <p:spPr>
          <a:xfrm>
            <a:off x="9482328" y="2286000"/>
            <a:ext cx="2011680" cy="256032"/>
          </a:xfrm>
          <a:prstGeom prst="rect">
            <a:avLst/>
          </a:prstGeom>
          <a:noFill/>
          <a:ln/>
        </p:spPr>
        <p:txBody>
          <a:bodyPr wrap="square" lIns="0" tIns="0" rIns="0" bIns="0" rtlCol="0" anchor="t"/>
          <a:lstStyle/>
          <a:p>
            <a:pPr indent="0" marL="0">
              <a:buNone/>
            </a:pPr>
            <a:r>
              <a:rPr lang="en-US" sz="1300" b="1" dirty="0">
                <a:solidFill>
                  <a:schemeClr val="bg1"/>
                </a:solidFill>
              </a:rPr>
              <a:t>Amount</a:t>
            </a:r>
            <a:endParaRPr lang="en-US" sz="1300" dirty="0"/>
          </a:p>
        </p:txBody>
      </p:sp>
      <p:sp>
        <p:nvSpPr>
          <p:cNvPr id="19" name="Text 13"/>
          <p:cNvSpPr txBox="1"/>
          <p:nvPr/>
        </p:nvSpPr>
        <p:spPr>
          <a:xfrm>
            <a:off x="9482328" y="2532888"/>
            <a:ext cx="2011680" cy="237744"/>
          </a:xfrm>
          <a:prstGeom prst="rect">
            <a:avLst/>
          </a:prstGeom>
          <a:noFill/>
          <a:ln/>
        </p:spPr>
        <p:txBody>
          <a:bodyPr wrap="square" lIns="0" tIns="0" rIns="0" bIns="0" rtlCol="0" anchor="t"/>
          <a:lstStyle/>
          <a:p>
            <a:pPr indent="0" marL="0">
              <a:buNone/>
            </a:pPr>
            <a:r>
              <a:rPr lang="en-US" sz="1100" dirty="0">
                <a:solidFill>
                  <a:schemeClr val="bg2"/>
                </a:solidFill>
              </a:rPr>
              <a:t>$1,000 of USDC here</a:t>
            </a:r>
            <a:endParaRPr lang="en-US" sz="1100" dirty="0"/>
          </a:p>
        </p:txBody>
      </p:sp>
      <p:sp>
        <p:nvSpPr>
          <p:cNvPr id="20" name="badge-2"/>
          <p:cNvSpPr txBox="1"/>
          <p:nvPr/>
        </p:nvSpPr>
        <p:spPr>
          <a:xfrm>
            <a:off x="9098280" y="2862072"/>
            <a:ext cx="274320" cy="274320"/>
          </a:xfrm>
          <a:prstGeom prst="ellipse">
            <a:avLst/>
          </a:prstGeom>
          <a:solidFill>
            <a:schemeClr val="accent1"/>
          </a:solidFill>
          <a:ln w="19050">
            <a:solidFill>
              <a:schemeClr val="tx1"/>
            </a:solidFill>
          </a:ln>
        </p:spPr>
        <p:txBody>
          <a:bodyPr wrap="square" lIns="0" tIns="0" rIns="0" bIns="0" rtlCol="0" anchor="ctr"/>
          <a:lstStyle/>
          <a:p>
            <a:pPr algn="ctr" indent="0" marL="0">
              <a:buNone/>
            </a:pPr>
            <a:r>
              <a:rPr lang="en-US" sz="1000" dirty="0">
                <a:solidFill>
                  <a:srgbClr val="141414"/>
                </a:solidFill>
                <a:latin typeface="IBM Plex Mono SemiBold" pitchFamily="34" charset="0"/>
                <a:ea typeface="IBM Plex Mono SemiBold" pitchFamily="34" charset="-122"/>
                <a:cs typeface="IBM Plex Mono SemiBold" pitchFamily="34" charset="-120"/>
              </a:rPr>
              <a:t>2</a:t>
            </a:r>
            <a:endParaRPr lang="en-US" sz="1000" dirty="0"/>
          </a:p>
        </p:txBody>
      </p:sp>
      <p:sp>
        <p:nvSpPr>
          <p:cNvPr id="21" name="Text 15"/>
          <p:cNvSpPr txBox="1"/>
          <p:nvPr/>
        </p:nvSpPr>
        <p:spPr>
          <a:xfrm>
            <a:off x="9482328" y="2834640"/>
            <a:ext cx="2011680" cy="256032"/>
          </a:xfrm>
          <a:prstGeom prst="rect">
            <a:avLst/>
          </a:prstGeom>
          <a:noFill/>
          <a:ln/>
        </p:spPr>
        <p:txBody>
          <a:bodyPr wrap="square" lIns="0" tIns="0" rIns="0" bIns="0" rtlCol="0" anchor="t"/>
          <a:lstStyle/>
          <a:p>
            <a:pPr indent="0" marL="0">
              <a:buNone/>
            </a:pPr>
            <a:r>
              <a:rPr lang="en-US" sz="1300" b="1" dirty="0">
                <a:solidFill>
                  <a:schemeClr val="bg1"/>
                </a:solidFill>
              </a:rPr>
              <a:t>Risk preference</a:t>
            </a:r>
            <a:endParaRPr lang="en-US" sz="1300" dirty="0"/>
          </a:p>
        </p:txBody>
      </p:sp>
      <p:sp>
        <p:nvSpPr>
          <p:cNvPr id="22" name="Text 16"/>
          <p:cNvSpPr txBox="1"/>
          <p:nvPr/>
        </p:nvSpPr>
        <p:spPr>
          <a:xfrm>
            <a:off x="9482328" y="3081528"/>
            <a:ext cx="2011680" cy="237744"/>
          </a:xfrm>
          <a:prstGeom prst="rect">
            <a:avLst/>
          </a:prstGeom>
          <a:noFill/>
          <a:ln/>
        </p:spPr>
        <p:txBody>
          <a:bodyPr wrap="square" lIns="0" tIns="0" rIns="0" bIns="0" rtlCol="0" anchor="t"/>
          <a:lstStyle/>
          <a:p>
            <a:pPr indent="0" marL="0">
              <a:buNone/>
            </a:pPr>
            <a:r>
              <a:rPr lang="en-US" sz="1100" dirty="0">
                <a:solidFill>
                  <a:schemeClr val="bg2"/>
                </a:solidFill>
              </a:rPr>
              <a:t>Safe, Balanced or Bigger</a:t>
            </a:r>
            <a:endParaRPr lang="en-US" sz="1100" dirty="0"/>
          </a:p>
        </p:txBody>
      </p:sp>
      <p:sp>
        <p:nvSpPr>
          <p:cNvPr id="23" name="badge-3"/>
          <p:cNvSpPr txBox="1"/>
          <p:nvPr/>
        </p:nvSpPr>
        <p:spPr>
          <a:xfrm>
            <a:off x="9098280" y="3410712"/>
            <a:ext cx="274320" cy="274320"/>
          </a:xfrm>
          <a:prstGeom prst="ellipse">
            <a:avLst/>
          </a:prstGeom>
          <a:solidFill>
            <a:schemeClr val="accent1"/>
          </a:solidFill>
          <a:ln w="19050">
            <a:solidFill>
              <a:schemeClr val="tx1"/>
            </a:solidFill>
          </a:ln>
        </p:spPr>
        <p:txBody>
          <a:bodyPr wrap="square" lIns="0" tIns="0" rIns="0" bIns="0" rtlCol="0" anchor="ctr"/>
          <a:lstStyle/>
          <a:p>
            <a:pPr algn="ctr" indent="0" marL="0">
              <a:buNone/>
            </a:pPr>
            <a:r>
              <a:rPr lang="en-US" sz="1000" dirty="0">
                <a:solidFill>
                  <a:srgbClr val="141414"/>
                </a:solidFill>
                <a:latin typeface="IBM Plex Mono SemiBold" pitchFamily="34" charset="0"/>
                <a:ea typeface="IBM Plex Mono SemiBold" pitchFamily="34" charset="-122"/>
                <a:cs typeface="IBM Plex Mono SemiBold" pitchFamily="34" charset="-120"/>
              </a:rPr>
              <a:t>3</a:t>
            </a:r>
            <a:endParaRPr lang="en-US" sz="1000" dirty="0"/>
          </a:p>
        </p:txBody>
      </p:sp>
      <p:sp>
        <p:nvSpPr>
          <p:cNvPr id="24" name="Text 18"/>
          <p:cNvSpPr txBox="1"/>
          <p:nvPr/>
        </p:nvSpPr>
        <p:spPr>
          <a:xfrm>
            <a:off x="9482328" y="3383280"/>
            <a:ext cx="2011680" cy="256032"/>
          </a:xfrm>
          <a:prstGeom prst="rect">
            <a:avLst/>
          </a:prstGeom>
          <a:noFill/>
          <a:ln/>
        </p:spPr>
        <p:txBody>
          <a:bodyPr wrap="square" lIns="0" tIns="0" rIns="0" bIns="0" rtlCol="0" anchor="t"/>
          <a:lstStyle/>
          <a:p>
            <a:pPr indent="0" marL="0">
              <a:buNone/>
            </a:pPr>
            <a:r>
              <a:rPr lang="en-US" sz="1300" b="1" dirty="0">
                <a:solidFill>
                  <a:schemeClr val="bg1"/>
                </a:solidFill>
              </a:rPr>
              <a:t>Ranked options</a:t>
            </a:r>
            <a:endParaRPr lang="en-US" sz="1300" dirty="0"/>
          </a:p>
        </p:txBody>
      </p:sp>
      <p:sp>
        <p:nvSpPr>
          <p:cNvPr id="25" name="Text 19"/>
          <p:cNvSpPr txBox="1"/>
          <p:nvPr/>
        </p:nvSpPr>
        <p:spPr>
          <a:xfrm>
            <a:off x="9482328" y="3630168"/>
            <a:ext cx="2011680" cy="237744"/>
          </a:xfrm>
          <a:prstGeom prst="rect">
            <a:avLst/>
          </a:prstGeom>
          <a:noFill/>
          <a:ln/>
        </p:spPr>
        <p:txBody>
          <a:bodyPr wrap="square" lIns="0" tIns="0" rIns="0" bIns="0" rtlCol="0" anchor="t"/>
          <a:lstStyle/>
          <a:p>
            <a:pPr indent="0" marL="0">
              <a:buNone/>
            </a:pPr>
            <a:r>
              <a:rPr lang="en-US" sz="1100" dirty="0">
                <a:solidFill>
                  <a:schemeClr val="bg2"/>
                </a:solidFill>
              </a:rPr>
              <a:t>Best fit, rate or safety</a:t>
            </a:r>
            <a:endParaRPr lang="en-US" sz="1100" dirty="0"/>
          </a:p>
        </p:txBody>
      </p:sp>
      <p:sp>
        <p:nvSpPr>
          <p:cNvPr id="26" name="badge-4"/>
          <p:cNvSpPr txBox="1"/>
          <p:nvPr/>
        </p:nvSpPr>
        <p:spPr>
          <a:xfrm>
            <a:off x="9098280" y="3959352"/>
            <a:ext cx="274320" cy="274320"/>
          </a:xfrm>
          <a:prstGeom prst="ellipse">
            <a:avLst/>
          </a:prstGeom>
          <a:solidFill>
            <a:schemeClr val="accent1"/>
          </a:solidFill>
          <a:ln w="19050">
            <a:solidFill>
              <a:schemeClr val="tx1"/>
            </a:solidFill>
          </a:ln>
        </p:spPr>
        <p:txBody>
          <a:bodyPr wrap="square" lIns="0" tIns="0" rIns="0" bIns="0" rtlCol="0" anchor="ctr"/>
          <a:lstStyle/>
          <a:p>
            <a:pPr algn="ctr" indent="0" marL="0">
              <a:buNone/>
            </a:pPr>
            <a:r>
              <a:rPr lang="en-US" sz="1000" dirty="0">
                <a:solidFill>
                  <a:srgbClr val="141414"/>
                </a:solidFill>
                <a:latin typeface="IBM Plex Mono SemiBold" pitchFamily="34" charset="0"/>
                <a:ea typeface="IBM Plex Mono SemiBold" pitchFamily="34" charset="-122"/>
                <a:cs typeface="IBM Plex Mono SemiBold" pitchFamily="34" charset="-120"/>
              </a:rPr>
              <a:t>4</a:t>
            </a:r>
            <a:endParaRPr lang="en-US" sz="1000" dirty="0"/>
          </a:p>
        </p:txBody>
      </p:sp>
      <p:sp>
        <p:nvSpPr>
          <p:cNvPr id="27" name="Text 21"/>
          <p:cNvSpPr txBox="1"/>
          <p:nvPr/>
        </p:nvSpPr>
        <p:spPr>
          <a:xfrm>
            <a:off x="9482328" y="3931920"/>
            <a:ext cx="2011680" cy="256032"/>
          </a:xfrm>
          <a:prstGeom prst="rect">
            <a:avLst/>
          </a:prstGeom>
          <a:noFill/>
          <a:ln/>
        </p:spPr>
        <p:txBody>
          <a:bodyPr wrap="square" lIns="0" tIns="0" rIns="0" bIns="0" rtlCol="0" anchor="t"/>
          <a:lstStyle/>
          <a:p>
            <a:pPr indent="0" marL="0">
              <a:buNone/>
            </a:pPr>
            <a:r>
              <a:rPr lang="en-US" sz="1300" b="1" dirty="0">
                <a:solidFill>
                  <a:schemeClr val="bg1"/>
                </a:solidFill>
              </a:rPr>
              <a:t>A–D grade</a:t>
            </a:r>
            <a:endParaRPr lang="en-US" sz="1300" dirty="0"/>
          </a:p>
        </p:txBody>
      </p:sp>
      <p:sp>
        <p:nvSpPr>
          <p:cNvPr id="28" name="Text 22"/>
          <p:cNvSpPr txBox="1"/>
          <p:nvPr/>
        </p:nvSpPr>
        <p:spPr>
          <a:xfrm>
            <a:off x="9482328" y="4178808"/>
            <a:ext cx="2011680" cy="237744"/>
          </a:xfrm>
          <a:prstGeom prst="rect">
            <a:avLst/>
          </a:prstGeom>
          <a:noFill/>
          <a:ln/>
        </p:spPr>
        <p:txBody>
          <a:bodyPr wrap="square" lIns="0" tIns="0" rIns="0" bIns="0" rtlCol="0" anchor="t"/>
          <a:lstStyle/>
          <a:p>
            <a:pPr indent="0" marL="0">
              <a:buNone/>
            </a:pPr>
            <a:r>
              <a:rPr lang="en-US" sz="1100" dirty="0">
                <a:solidFill>
                  <a:schemeClr val="bg2"/>
                </a:solidFill>
              </a:rPr>
              <a:t>Next to network, deposits</a:t>
            </a:r>
            <a:endParaRPr lang="en-US" sz="1100" dirty="0"/>
          </a:p>
        </p:txBody>
      </p:sp>
      <p:sp>
        <p:nvSpPr>
          <p:cNvPr id="29" name="badge-5"/>
          <p:cNvSpPr txBox="1"/>
          <p:nvPr/>
        </p:nvSpPr>
        <p:spPr>
          <a:xfrm>
            <a:off x="9098280" y="4507992"/>
            <a:ext cx="274320" cy="274320"/>
          </a:xfrm>
          <a:prstGeom prst="ellipse">
            <a:avLst/>
          </a:prstGeom>
          <a:solidFill>
            <a:schemeClr val="accent1"/>
          </a:solidFill>
          <a:ln w="19050">
            <a:solidFill>
              <a:schemeClr val="tx1"/>
            </a:solidFill>
          </a:ln>
        </p:spPr>
        <p:txBody>
          <a:bodyPr wrap="square" lIns="0" tIns="0" rIns="0" bIns="0" rtlCol="0" anchor="ctr"/>
          <a:lstStyle/>
          <a:p>
            <a:pPr algn="ctr" indent="0" marL="0">
              <a:buNone/>
            </a:pPr>
            <a:r>
              <a:rPr lang="en-US" sz="1000" dirty="0">
                <a:solidFill>
                  <a:srgbClr val="141414"/>
                </a:solidFill>
                <a:latin typeface="IBM Plex Mono SemiBold" pitchFamily="34" charset="0"/>
                <a:ea typeface="IBM Plex Mono SemiBold" pitchFamily="34" charset="-122"/>
                <a:cs typeface="IBM Plex Mono SemiBold" pitchFamily="34" charset="-120"/>
              </a:rPr>
              <a:t>5</a:t>
            </a:r>
            <a:endParaRPr lang="en-US" sz="1000" dirty="0"/>
          </a:p>
        </p:txBody>
      </p:sp>
      <p:sp>
        <p:nvSpPr>
          <p:cNvPr id="30" name="Text 24"/>
          <p:cNvSpPr txBox="1"/>
          <p:nvPr/>
        </p:nvSpPr>
        <p:spPr>
          <a:xfrm>
            <a:off x="9482328" y="4480560"/>
            <a:ext cx="2011680" cy="256032"/>
          </a:xfrm>
          <a:prstGeom prst="rect">
            <a:avLst/>
          </a:prstGeom>
          <a:noFill/>
          <a:ln/>
        </p:spPr>
        <p:txBody>
          <a:bodyPr wrap="square" lIns="0" tIns="0" rIns="0" bIns="0" rtlCol="0" anchor="t"/>
          <a:lstStyle/>
          <a:p>
            <a:pPr indent="0" marL="0">
              <a:buNone/>
            </a:pPr>
            <a:r>
              <a:rPr lang="en-US" sz="1300" b="1" dirty="0">
                <a:solidFill>
                  <a:schemeClr val="bg1"/>
                </a:solidFill>
              </a:rPr>
              <a:t>Rate history</a:t>
            </a:r>
            <a:endParaRPr lang="en-US" sz="1300" dirty="0"/>
          </a:p>
        </p:txBody>
      </p:sp>
      <p:sp>
        <p:nvSpPr>
          <p:cNvPr id="31" name="Text 25"/>
          <p:cNvSpPr txBox="1"/>
          <p:nvPr/>
        </p:nvSpPr>
        <p:spPr>
          <a:xfrm>
            <a:off x="9482328" y="4727448"/>
            <a:ext cx="2011680" cy="237744"/>
          </a:xfrm>
          <a:prstGeom prst="rect">
            <a:avLst/>
          </a:prstGeom>
          <a:noFill/>
          <a:ln/>
        </p:spPr>
        <p:txBody>
          <a:bodyPr wrap="square" lIns="0" tIns="0" rIns="0" bIns="0" rtlCol="0" anchor="t"/>
          <a:lstStyle/>
          <a:p>
            <a:pPr indent="0" marL="0">
              <a:buNone/>
            </a:pPr>
            <a:r>
              <a:rPr lang="en-US" sz="1100" dirty="0">
                <a:solidFill>
                  <a:schemeClr val="bg2"/>
                </a:solidFill>
              </a:rPr>
              <a:t>30 or 90 days, daily</a:t>
            </a:r>
            <a:endParaRPr lang="en-US" sz="1100" dirty="0"/>
          </a:p>
        </p:txBody>
      </p:sp>
      <p:sp>
        <p:nvSpPr>
          <p:cNvPr id="32" name="badge-6"/>
          <p:cNvSpPr txBox="1"/>
          <p:nvPr/>
        </p:nvSpPr>
        <p:spPr>
          <a:xfrm>
            <a:off x="9098280" y="5056632"/>
            <a:ext cx="274320" cy="274320"/>
          </a:xfrm>
          <a:prstGeom prst="ellipse">
            <a:avLst/>
          </a:prstGeom>
          <a:solidFill>
            <a:schemeClr val="accent1"/>
          </a:solidFill>
          <a:ln w="19050">
            <a:solidFill>
              <a:schemeClr val="tx1"/>
            </a:solidFill>
          </a:ln>
        </p:spPr>
        <p:txBody>
          <a:bodyPr wrap="square" lIns="0" tIns="0" rIns="0" bIns="0" rtlCol="0" anchor="ctr"/>
          <a:lstStyle/>
          <a:p>
            <a:pPr algn="ctr" indent="0" marL="0">
              <a:buNone/>
            </a:pPr>
            <a:r>
              <a:rPr lang="en-US" sz="1000" dirty="0">
                <a:solidFill>
                  <a:srgbClr val="141414"/>
                </a:solidFill>
                <a:latin typeface="IBM Plex Mono SemiBold" pitchFamily="34" charset="0"/>
                <a:ea typeface="IBM Plex Mono SemiBold" pitchFamily="34" charset="-122"/>
                <a:cs typeface="IBM Plex Mono SemiBold" pitchFamily="34" charset="-120"/>
              </a:rPr>
              <a:t>6</a:t>
            </a:r>
            <a:endParaRPr lang="en-US" sz="1000" dirty="0"/>
          </a:p>
        </p:txBody>
      </p:sp>
      <p:sp>
        <p:nvSpPr>
          <p:cNvPr id="33" name="Text 27"/>
          <p:cNvSpPr txBox="1"/>
          <p:nvPr/>
        </p:nvSpPr>
        <p:spPr>
          <a:xfrm>
            <a:off x="9482328" y="5029200"/>
            <a:ext cx="2011680" cy="256032"/>
          </a:xfrm>
          <a:prstGeom prst="rect">
            <a:avLst/>
          </a:prstGeom>
          <a:noFill/>
          <a:ln/>
        </p:spPr>
        <p:txBody>
          <a:bodyPr wrap="square" lIns="0" tIns="0" rIns="0" bIns="0" rtlCol="0" anchor="t"/>
          <a:lstStyle/>
          <a:p>
            <a:pPr indent="0" marL="0">
              <a:buNone/>
            </a:pPr>
            <a:r>
              <a:rPr lang="en-US" sz="1300" b="1" dirty="0">
                <a:solidFill>
                  <a:schemeClr val="bg1"/>
                </a:solidFill>
              </a:rPr>
              <a:t>After fees</a:t>
            </a:r>
            <a:endParaRPr lang="en-US" sz="1300" dirty="0"/>
          </a:p>
        </p:txBody>
      </p:sp>
      <p:sp>
        <p:nvSpPr>
          <p:cNvPr id="34" name="Text 28"/>
          <p:cNvSpPr txBox="1"/>
          <p:nvPr/>
        </p:nvSpPr>
        <p:spPr>
          <a:xfrm>
            <a:off x="9482328" y="5276088"/>
            <a:ext cx="2011680" cy="237744"/>
          </a:xfrm>
          <a:prstGeom prst="rect">
            <a:avLst/>
          </a:prstGeom>
          <a:noFill/>
          <a:ln/>
        </p:spPr>
        <p:txBody>
          <a:bodyPr wrap="square" lIns="0" tIns="0" rIns="0" bIns="0" rtlCol="0" anchor="t"/>
          <a:lstStyle/>
          <a:p>
            <a:pPr indent="0" marL="0">
              <a:buNone/>
            </a:pPr>
            <a:r>
              <a:rPr lang="en-US" sz="1100" dirty="0">
                <a:solidFill>
                  <a:schemeClr val="bg2"/>
                </a:solidFill>
              </a:rPr>
              <a:t>What you'd keep a year</a:t>
            </a:r>
            <a:endParaRPr lang="en-US" sz="1100" dirty="0"/>
          </a:p>
        </p:txBody>
      </p:sp>
      <p:sp>
        <p:nvSpPr>
          <p:cNvPr id="35" name="callout-green"/>
          <p:cNvSpPr/>
          <p:nvPr/>
        </p:nvSpPr>
        <p:spPr>
          <a:xfrm>
            <a:off x="685800" y="5806440"/>
            <a:ext cx="10820095" cy="457200"/>
          </a:xfrm>
          <a:prstGeom prst="rect">
            <a:avLst/>
          </a:prstGeom>
          <a:solidFill>
            <a:srgbClr val="1F2B25"/>
          </a:solidFill>
          <a:ln w="12700">
            <a:solidFill>
              <a:srgbClr val="1F2B25"/>
            </a:solidFill>
            <a:prstDash val="solid"/>
          </a:ln>
        </p:spPr>
      </p:sp>
      <p:sp>
        <p:nvSpPr>
          <p:cNvPr id="36" name="Shape 30"/>
          <p:cNvSpPr/>
          <p:nvPr/>
        </p:nvSpPr>
        <p:spPr>
          <a:xfrm>
            <a:off x="685800" y="5806440"/>
            <a:ext cx="45720" cy="457200"/>
          </a:xfrm>
          <a:prstGeom prst="rect">
            <a:avLst/>
          </a:prstGeom>
          <a:solidFill>
            <a:schemeClr val="accent1"/>
          </a:solidFill>
          <a:ln w="12700">
            <a:solidFill>
              <a:schemeClr val="accent1"/>
            </a:solidFill>
            <a:prstDash val="solid"/>
          </a:ln>
        </p:spPr>
      </p:sp>
      <p:sp>
        <p:nvSpPr>
          <p:cNvPr id="37" name="Text 31"/>
          <p:cNvSpPr txBox="1"/>
          <p:nvPr/>
        </p:nvSpPr>
        <p:spPr>
          <a:xfrm>
            <a:off x="914400" y="5861304"/>
            <a:ext cx="10408615" cy="347472"/>
          </a:xfrm>
          <a:prstGeom prst="rect">
            <a:avLst/>
          </a:prstGeom>
          <a:noFill/>
          <a:ln/>
        </p:spPr>
        <p:txBody>
          <a:bodyPr wrap="square" lIns="0" tIns="0" rIns="0" bIns="0" rtlCol="0" anchor="ctr"/>
          <a:lstStyle/>
          <a:p>
            <a:pPr indent="0" marL="0">
              <a:lnSpc>
                <a:spcPct val="115000"/>
              </a:lnSpc>
              <a:buNone/>
            </a:pPr>
            <a:r>
              <a:rPr lang="en-US" sz="1050" b="1" dirty="0">
                <a:solidFill>
                  <a:schemeClr val="bg1"/>
                </a:solidFill>
                <a:latin typeface="IBM Plex Mono" pitchFamily="34" charset="0"/>
                <a:ea typeface="IBM Plex Mono" pitchFamily="34" charset="-122"/>
                <a:cs typeface="IBM Plex Mono" pitchFamily="34" charset="-120"/>
              </a:rPr>
              <a:t>Worked example (demo data): </a:t>
            </a:r>
            <a:pPr indent="0" marL="0">
              <a:lnSpc>
                <a:spcPct val="115000"/>
              </a:lnSpc>
              <a:buNone/>
            </a:pPr>
            <a:r>
              <a:rPr lang="en-US" sz="1050" dirty="0">
                <a:solidFill>
                  <a:srgbClr val="C9C9C9"/>
                </a:solidFill>
                <a:latin typeface="IBM Plex Mono" pitchFamily="34" charset="0"/>
                <a:ea typeface="IBM Plex Mono" pitchFamily="34" charset="-122"/>
                <a:cs typeface="IBM Plex Mono" pitchFamily="34" charset="-120"/>
              </a:rPr>
              <a:t>$1,000 USDC, Balanced, 8.33%: </a:t>
            </a:r>
            <a:pPr indent="0" marL="0">
              <a:lnSpc>
                <a:spcPct val="115000"/>
              </a:lnSpc>
              <a:buNone/>
            </a:pPr>
            <a:r>
              <a:rPr lang="en-US" sz="1050" b="1" dirty="0">
                <a:solidFill>
                  <a:schemeClr val="accent1"/>
                </a:solidFill>
                <a:latin typeface="IBM Plex Mono" pitchFamily="34" charset="0"/>
                <a:ea typeface="IBM Plex Mono" pitchFamily="34" charset="-122"/>
                <a:cs typeface="IBM Plex Mono" pitchFamily="34" charset="-120"/>
              </a:rPr>
              <a:t>about +$83 a year after fees</a:t>
            </a:r>
            <a:pPr indent="0" marL="0">
              <a:lnSpc>
                <a:spcPct val="115000"/>
              </a:lnSpc>
              <a:buNone/>
            </a:pPr>
            <a:r>
              <a:rPr lang="en-US" sz="1050" dirty="0">
                <a:solidFill>
                  <a:srgbClr val="C9C9C9"/>
                </a:solidFill>
                <a:latin typeface="IBM Plex Mono" pitchFamily="34" charset="0"/>
                <a:ea typeface="IBM Plex Mono" pitchFamily="34" charset="-122"/>
                <a:cs typeface="IBM Plex Mono" pitchFamily="34" charset="-120"/>
              </a:rPr>
              <a:t>. Estimated, not promised.</a:t>
            </a:r>
            <a:endParaRPr lang="en-US" sz="1050" dirty="0"/>
          </a:p>
        </p:txBody>
      </p:sp>
      <p:sp>
        <p:nvSpPr>
          <p:cNvPr id="38" name="Text 32"/>
          <p:cNvSpPr txBox="1"/>
          <p:nvPr/>
        </p:nvSpPr>
        <p:spPr>
          <a:xfrm>
            <a:off x="10225735" y="6382512"/>
            <a:ext cx="1280160" cy="237744"/>
          </a:xfrm>
          <a:prstGeom prst="rect">
            <a:avLst/>
          </a:prstGeom>
          <a:noFill/>
          <a:ln/>
        </p:spPr>
        <p:txBody>
          <a:bodyPr wrap="square" lIns="0" tIns="0" rIns="0" bIns="0" rtlCol="0" anchor="t"/>
          <a:lstStyle/>
          <a:p>
            <a:pPr algn="r" indent="0" marL="0">
              <a:buNone/>
            </a:pPr>
            <a:r>
              <a:rPr lang="en-US" sz="950" spc="200" kern="0" dirty="0">
                <a:solidFill>
                  <a:srgbClr val="6E6E6E"/>
                </a:solidFill>
                <a:latin typeface="IBM Plex Mono" pitchFamily="34" charset="0"/>
                <a:ea typeface="IBM Plex Mono" pitchFamily="34" charset="-122"/>
                <a:cs typeface="IBM Plex Mono" pitchFamily="34" charset="-120"/>
              </a:rPr>
              <a:t>06 / 18</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title-blob" descr="preencoded.png">    </p:cNvPr>
          <p:cNvPicPr>
            <a:picLocks noChangeAspect="1"/>
          </p:cNvPicPr>
          <p:nvPr/>
        </p:nvPicPr>
        <p:blipFill>
          <a:blip r:embed="rId1"/>
          <a:stretch>
            <a:fillRect/>
          </a:stretch>
        </p:blipFill>
        <p:spPr>
          <a:xfrm>
            <a:off x="-667271" y="420624"/>
            <a:ext cx="6724998" cy="1024128"/>
          </a:xfrm>
          <a:prstGeom prst="rect">
            <a:avLst/>
          </a:prstGeom>
        </p:spPr>
      </p:pic>
      <p:sp>
        <p:nvSpPr>
          <p:cNvPr id="3" name="Text 2"/>
          <p:cNvSpPr/>
          <p:nvPr>
            <p:ph idx="103" type="title" hasCustomPrompt="1"/>
          </p:nvPr>
        </p:nvSpPr>
        <p:spPr>
          <a:xfrm>
            <a:off x="685800" y="640080"/>
            <a:ext cx="10820095" cy="603504"/>
          </a:xfrm>
          <a:prstGeom prst="rect">
            <a:avLst/>
          </a:prstGeom>
          <a:noFill/>
          <a:ln/>
        </p:spPr>
        <p:txBody>
          <a:bodyPr wrap="square" lIns="0" tIns="0" rIns="0" bIns="0" rtlCol="0" anchor="ctr"/>
          <a:lstStyle/>
          <a:p>
            <a:pPr algn="l" indent="0" marL="0">
              <a:buNone/>
            </a:pPr>
            <a:r>
              <a:rPr lang="en-US" sz="3400" dirty="0">
                <a:solidFill>
                  <a:schemeClr val="bg1"/>
                </a:solidFill>
                <a:latin typeface="Anton" pitchFamily="34" charset="0"/>
                <a:ea typeface="Anton" pitchFamily="34" charset="-122"/>
                <a:cs typeface="Anton" pitchFamily="34" charset="-120"/>
              </a:rPr>
              <a:t>HOW THE GRADE WORKS</a:t>
            </a:r>
            <a:endParaRPr lang="en-US" sz="3400" dirty="0"/>
          </a:p>
        </p:txBody>
      </p:sp>
      <p:sp>
        <p:nvSpPr>
          <p:cNvPr id="4" name="Text 1"/>
          <p:cNvSpPr txBox="1"/>
          <p:nvPr/>
        </p:nvSpPr>
        <p:spPr>
          <a:xfrm>
            <a:off x="685800" y="1481328"/>
            <a:ext cx="7863840" cy="640080"/>
          </a:xfrm>
          <a:prstGeom prst="rect">
            <a:avLst/>
          </a:prstGeom>
          <a:noFill/>
          <a:ln/>
        </p:spPr>
        <p:txBody>
          <a:bodyPr wrap="square" lIns="0" tIns="0" rIns="0" bIns="0" rtlCol="0" anchor="t"/>
          <a:lstStyle/>
          <a:p>
            <a:pPr indent="0" marL="0">
              <a:lnSpc>
                <a:spcPct val="100000"/>
              </a:lnSpc>
              <a:buNone/>
            </a:pPr>
            <a:r>
              <a:rPr lang="en-US" sz="1700" dirty="0">
                <a:solidFill>
                  <a:srgbClr val="C9C9C9"/>
                </a:solidFill>
              </a:rPr>
              <a:t>A high APY should never tell the whole story: </a:t>
            </a:r>
            <a:pPr indent="0" marL="0">
              <a:lnSpc>
                <a:spcPct val="100000"/>
              </a:lnSpc>
              <a:buNone/>
            </a:pPr>
            <a:r>
              <a:rPr lang="en-US" sz="1700" b="1" dirty="0">
                <a:solidFill>
                  <a:schemeClr val="bg1"/>
                </a:solidFill>
              </a:rPr>
              <a:t>the weakest factor always counts</a:t>
            </a:r>
            <a:pPr indent="0" marL="0">
              <a:lnSpc>
                <a:spcPct val="100000"/>
              </a:lnSpc>
              <a:buNone/>
            </a:pPr>
            <a:r>
              <a:rPr lang="en-US" sz="1700" dirty="0">
                <a:solidFill>
                  <a:srgbClr val="C9C9C9"/>
                </a:solidFill>
              </a:rPr>
              <a:t>.</a:t>
            </a:r>
            <a:endParaRPr lang="en-US" sz="1700" dirty="0"/>
          </a:p>
        </p:txBody>
      </p:sp>
      <p:sp>
        <p:nvSpPr>
          <p:cNvPr id="5" name="weights-card"/>
          <p:cNvSpPr/>
          <p:nvPr/>
        </p:nvSpPr>
        <p:spPr>
          <a:xfrm>
            <a:off x="685800" y="2331720"/>
            <a:ext cx="5257800" cy="3794760"/>
          </a:xfrm>
          <a:prstGeom prst="roundRect">
            <a:avLst>
              <a:gd name="adj" fmla="val 2892"/>
            </a:avLst>
          </a:prstGeom>
          <a:solidFill>
            <a:schemeClr val="tx2"/>
          </a:solidFill>
          <a:ln w="15875">
            <a:solidFill>
              <a:schemeClr val="accent6"/>
            </a:solidFill>
            <a:prstDash val="solid"/>
          </a:ln>
        </p:spPr>
      </p:sp>
      <p:sp>
        <p:nvSpPr>
          <p:cNvPr id="6" name="Text 3"/>
          <p:cNvSpPr txBox="1"/>
          <p:nvPr/>
        </p:nvSpPr>
        <p:spPr>
          <a:xfrm>
            <a:off x="960120" y="2560320"/>
            <a:ext cx="4754880" cy="237744"/>
          </a:xfrm>
          <a:prstGeom prst="rect">
            <a:avLst/>
          </a:prstGeom>
          <a:noFill/>
          <a:ln/>
        </p:spPr>
        <p:txBody>
          <a:bodyPr wrap="square" lIns="0" tIns="0" rIns="0" bIns="0" rtlCol="0" anchor="t"/>
          <a:lstStyle/>
          <a:p>
            <a:pPr indent="0" marL="0">
              <a:buNone/>
            </a:pPr>
            <a:r>
              <a:rPr lang="en-US" sz="1000" spc="250" kern="0" dirty="0">
                <a:solidFill>
                  <a:schemeClr val="accent1"/>
                </a:solidFill>
                <a:latin typeface="IBM Plex Mono" pitchFamily="34" charset="0"/>
                <a:ea typeface="IBM Plex Mono" pitchFamily="34" charset="-122"/>
                <a:cs typeface="IBM Plex Mono" pitchFamily="34" charset="-120"/>
              </a:rPr>
              <a:t>NINE FACTORS · % OF THE SCORE</a:t>
            </a:r>
            <a:endParaRPr lang="en-US" sz="1000" dirty="0"/>
          </a:p>
        </p:txBody>
      </p:sp>
      <p:graphicFrame>
        <p:nvGraphicFramePr>
          <p:cNvPr id="7" name="weights-chart" descr=""/>
          <p:cNvGraphicFramePr/>
          <p:nvPr/>
        </p:nvGraphicFramePr>
        <p:xfrm>
          <a:off x="795528" y="2834640"/>
          <a:ext cx="5029200" cy="3200400"/>
        </p:xfrm>
        <a:graphic xmlns:a="http://schemas.openxmlformats.org/drawingml/2006/main">
          <a:graphicData uri="http://schemas.openxmlformats.org/drawingml/2006/chart">
            <c:chart xmlns:c="http://schemas.openxmlformats.org/drawingml/2006/chart" r:id="rId2"/>
          </a:graphicData>
        </a:graphic>
      </p:graphicFrame>
      <p:sp>
        <p:nvSpPr>
          <p:cNvPr id="8" name="formula-card"/>
          <p:cNvSpPr/>
          <p:nvPr/>
        </p:nvSpPr>
        <p:spPr>
          <a:xfrm>
            <a:off x="6263640" y="2331720"/>
            <a:ext cx="5242255" cy="1188720"/>
          </a:xfrm>
          <a:prstGeom prst="roundRect">
            <a:avLst>
              <a:gd name="adj" fmla="val 9231"/>
            </a:avLst>
          </a:prstGeom>
          <a:solidFill>
            <a:schemeClr val="tx2"/>
          </a:solidFill>
          <a:ln w="15875">
            <a:solidFill>
              <a:schemeClr val="accent6"/>
            </a:solidFill>
            <a:prstDash val="solid"/>
          </a:ln>
        </p:spPr>
      </p:sp>
      <p:sp>
        <p:nvSpPr>
          <p:cNvPr id="9" name="Text 5"/>
          <p:cNvSpPr txBox="1"/>
          <p:nvPr/>
        </p:nvSpPr>
        <p:spPr>
          <a:xfrm>
            <a:off x="6537960" y="2514600"/>
            <a:ext cx="4693615" cy="237744"/>
          </a:xfrm>
          <a:prstGeom prst="rect">
            <a:avLst/>
          </a:prstGeom>
          <a:noFill/>
          <a:ln/>
        </p:spPr>
        <p:txBody>
          <a:bodyPr wrap="square" lIns="0" tIns="0" rIns="0" bIns="0" rtlCol="0" anchor="t"/>
          <a:lstStyle/>
          <a:p>
            <a:pPr indent="0" marL="0">
              <a:buNone/>
            </a:pPr>
            <a:r>
              <a:rPr lang="en-US" sz="1000" spc="250" kern="0" dirty="0">
                <a:solidFill>
                  <a:schemeClr val="accent2"/>
                </a:solidFill>
                <a:latin typeface="IBM Plex Mono" pitchFamily="34" charset="0"/>
                <a:ea typeface="IBM Plex Mono" pitchFamily="34" charset="-122"/>
                <a:cs typeface="IBM Plex Mono" pitchFamily="34" charset="-120"/>
              </a:rPr>
              <a:t>HOW THE SCORE IS BUILT</a:t>
            </a:r>
            <a:endParaRPr lang="en-US" sz="1000" dirty="0"/>
          </a:p>
        </p:txBody>
      </p:sp>
      <p:sp>
        <p:nvSpPr>
          <p:cNvPr id="10" name="Text 6"/>
          <p:cNvSpPr txBox="1"/>
          <p:nvPr/>
        </p:nvSpPr>
        <p:spPr>
          <a:xfrm>
            <a:off x="6537960" y="2788920"/>
            <a:ext cx="4693615" cy="621792"/>
          </a:xfrm>
          <a:prstGeom prst="rect">
            <a:avLst/>
          </a:prstGeom>
          <a:noFill/>
          <a:ln/>
        </p:spPr>
        <p:txBody>
          <a:bodyPr wrap="square" lIns="0" tIns="0" rIns="0" bIns="0" rtlCol="0" anchor="ctr"/>
          <a:lstStyle/>
          <a:p>
            <a:pPr indent="0" marL="0">
              <a:buNone/>
            </a:pPr>
            <a:r>
              <a:rPr lang="en-US" sz="1700" b="1" dirty="0">
                <a:solidFill>
                  <a:schemeClr val="bg1"/>
                </a:solidFill>
              </a:rPr>
              <a:t>Score = </a:t>
            </a:r>
            <a:pPr indent="0" marL="0">
              <a:buNone/>
            </a:pPr>
            <a:r>
              <a:rPr lang="en-US" sz="1700" b="1" dirty="0">
                <a:solidFill>
                  <a:schemeClr val="accent1"/>
                </a:solidFill>
              </a:rPr>
              <a:t>75%</a:t>
            </a:r>
            <a:pPr indent="0" marL="0">
              <a:buNone/>
            </a:pPr>
            <a:r>
              <a:rPr lang="en-US" sz="1700" b="1" dirty="0">
                <a:solidFill>
                  <a:schemeClr val="bg1"/>
                </a:solidFill>
              </a:rPr>
              <a:t> weighted average</a:t>
            </a:r>
            <a:endParaRPr lang="en-US" sz="1700" dirty="0"/>
          </a:p>
          <a:p>
            <a:pPr indent="0" marL="0">
              <a:buNone/>
            </a:pPr>
            <a:r>
              <a:rPr lang="en-US" sz="1700" b="1" dirty="0">
                <a:solidFill>
                  <a:schemeClr val="bg1"/>
                </a:solidFill>
              </a:rPr>
              <a:t>          + </a:t>
            </a:r>
            <a:pPr indent="0" marL="0">
              <a:buNone/>
            </a:pPr>
            <a:r>
              <a:rPr lang="en-US" sz="1700" b="1" dirty="0">
                <a:solidFill>
                  <a:schemeClr val="accent3"/>
                </a:solidFill>
              </a:rPr>
              <a:t>25%</a:t>
            </a:r>
            <a:pPr indent="0" marL="0">
              <a:buNone/>
            </a:pPr>
            <a:r>
              <a:rPr lang="en-US" sz="1700" b="1" dirty="0">
                <a:solidFill>
                  <a:schemeClr val="bg1"/>
                </a:solidFill>
              </a:rPr>
              <a:t> weakest factor</a:t>
            </a:r>
            <a:endParaRPr lang="en-US" sz="1700" dirty="0"/>
          </a:p>
        </p:txBody>
      </p:sp>
      <p:sp>
        <p:nvSpPr>
          <p:cNvPr id="11" name="band-A"/>
          <p:cNvSpPr txBox="1"/>
          <p:nvPr/>
        </p:nvSpPr>
        <p:spPr>
          <a:xfrm rot="-120000">
            <a:off x="6263640" y="3749040"/>
            <a:ext cx="1207694" cy="932688"/>
          </a:xfrm>
          <a:prstGeom prst="roundRect">
            <a:avLst>
              <a:gd name="adj" fmla="val 9804"/>
            </a:avLst>
          </a:prstGeom>
          <a:solidFill>
            <a:schemeClr val="tx2"/>
          </a:solidFill>
          <a:ln w="15875">
            <a:solidFill>
              <a:schemeClr val="accent6"/>
            </a:solidFill>
          </a:ln>
          <a:effectLst>
            <a:outerShdw sx="100000" sy="100000" kx="0" ky="0" algn="bl" rotWithShape="0" blurRad="101600" dist="63500" dir="2700000">
              <a:srgbClr val="080808">
                <a:alpha val="85000"/>
              </a:srgbClr>
            </a:outerShdw>
          </a:effectLst>
        </p:spPr>
        <p:txBody>
          <a:bodyPr wrap="square" lIns="25400" tIns="25400" rIns="25400" bIns="25400" rtlCol="0" anchor="ctr"/>
          <a:lstStyle/>
          <a:p>
            <a:pPr algn="ctr" indent="0" marL="0">
              <a:lnSpc>
                <a:spcPct val="90000"/>
              </a:lnSpc>
              <a:buNone/>
            </a:pPr>
            <a:r>
              <a:rPr lang="en-US" sz="3800" dirty="0">
                <a:solidFill>
                  <a:schemeClr val="accent1"/>
                </a:solidFill>
                <a:latin typeface="Anton" pitchFamily="34" charset="0"/>
                <a:ea typeface="Anton" pitchFamily="34" charset="-122"/>
                <a:cs typeface="Anton" pitchFamily="34" charset="-120"/>
              </a:rPr>
              <a:t>A</a:t>
            </a:r>
            <a:endParaRPr lang="en-US" sz="3800" dirty="0"/>
          </a:p>
          <a:p>
            <a:pPr algn="ctr" indent="0" marL="0">
              <a:lnSpc>
                <a:spcPct val="90000"/>
              </a:lnSpc>
              <a:buNone/>
            </a:pPr>
            <a:r>
              <a:rPr lang="en-US" sz="1000" spc="150" kern="0" dirty="0">
                <a:solidFill>
                  <a:srgbClr val="C9C9C9"/>
                </a:solidFill>
                <a:latin typeface="IBM Plex Mono" pitchFamily="34" charset="0"/>
                <a:ea typeface="IBM Plex Mono" pitchFamily="34" charset="-122"/>
                <a:cs typeface="IBM Plex Mono" pitchFamily="34" charset="-120"/>
              </a:rPr>
              <a:t>80+</a:t>
            </a:r>
            <a:endParaRPr lang="en-US" sz="3800" dirty="0"/>
          </a:p>
        </p:txBody>
      </p:sp>
      <p:sp>
        <p:nvSpPr>
          <p:cNvPr id="12" name="band-B"/>
          <p:cNvSpPr txBox="1"/>
          <p:nvPr/>
        </p:nvSpPr>
        <p:spPr>
          <a:xfrm rot="90000">
            <a:off x="7608494" y="3749040"/>
            <a:ext cx="1207694" cy="932688"/>
          </a:xfrm>
          <a:prstGeom prst="roundRect">
            <a:avLst>
              <a:gd name="adj" fmla="val 9804"/>
            </a:avLst>
          </a:prstGeom>
          <a:solidFill>
            <a:schemeClr val="tx2"/>
          </a:solidFill>
          <a:ln w="15875">
            <a:solidFill>
              <a:schemeClr val="accent6"/>
            </a:solidFill>
          </a:ln>
          <a:effectLst>
            <a:outerShdw sx="100000" sy="100000" kx="0" ky="0" algn="bl" rotWithShape="0" blurRad="101600" dist="63500" dir="2700000">
              <a:srgbClr val="080808">
                <a:alpha val="85000"/>
              </a:srgbClr>
            </a:outerShdw>
          </a:effectLst>
        </p:spPr>
        <p:txBody>
          <a:bodyPr wrap="square" lIns="25400" tIns="25400" rIns="25400" bIns="25400" rtlCol="0" anchor="ctr"/>
          <a:lstStyle/>
          <a:p>
            <a:pPr algn="ctr" indent="0" marL="0">
              <a:lnSpc>
                <a:spcPct val="90000"/>
              </a:lnSpc>
              <a:buNone/>
            </a:pPr>
            <a:r>
              <a:rPr lang="en-US" sz="3800" dirty="0">
                <a:solidFill>
                  <a:schemeClr val="accent2"/>
                </a:solidFill>
                <a:latin typeface="Anton" pitchFamily="34" charset="0"/>
                <a:ea typeface="Anton" pitchFamily="34" charset="-122"/>
                <a:cs typeface="Anton" pitchFamily="34" charset="-120"/>
              </a:rPr>
              <a:t>B</a:t>
            </a:r>
            <a:endParaRPr lang="en-US" sz="3800" dirty="0"/>
          </a:p>
          <a:p>
            <a:pPr algn="ctr" indent="0" marL="0">
              <a:lnSpc>
                <a:spcPct val="90000"/>
              </a:lnSpc>
              <a:buNone/>
            </a:pPr>
            <a:r>
              <a:rPr lang="en-US" sz="1000" spc="150" kern="0" dirty="0">
                <a:solidFill>
                  <a:srgbClr val="C9C9C9"/>
                </a:solidFill>
                <a:latin typeface="IBM Plex Mono" pitchFamily="34" charset="0"/>
                <a:ea typeface="IBM Plex Mono" pitchFamily="34" charset="-122"/>
                <a:cs typeface="IBM Plex Mono" pitchFamily="34" charset="-120"/>
              </a:rPr>
              <a:t>65–79</a:t>
            </a:r>
            <a:endParaRPr lang="en-US" sz="3800" dirty="0"/>
          </a:p>
        </p:txBody>
      </p:sp>
      <p:sp>
        <p:nvSpPr>
          <p:cNvPr id="13" name="band-C"/>
          <p:cNvSpPr txBox="1"/>
          <p:nvPr/>
        </p:nvSpPr>
        <p:spPr>
          <a:xfrm rot="-60000">
            <a:off x="8953348" y="3749040"/>
            <a:ext cx="1207694" cy="932688"/>
          </a:xfrm>
          <a:prstGeom prst="roundRect">
            <a:avLst>
              <a:gd name="adj" fmla="val 9804"/>
            </a:avLst>
          </a:prstGeom>
          <a:solidFill>
            <a:schemeClr val="tx2"/>
          </a:solidFill>
          <a:ln w="15875">
            <a:solidFill>
              <a:schemeClr val="accent6"/>
            </a:solidFill>
          </a:ln>
          <a:effectLst>
            <a:outerShdw sx="100000" sy="100000" kx="0" ky="0" algn="bl" rotWithShape="0" blurRad="101600" dist="63500" dir="2700000">
              <a:srgbClr val="080808">
                <a:alpha val="85000"/>
              </a:srgbClr>
            </a:outerShdw>
          </a:effectLst>
        </p:spPr>
        <p:txBody>
          <a:bodyPr wrap="square" lIns="25400" tIns="25400" rIns="25400" bIns="25400" rtlCol="0" anchor="ctr"/>
          <a:lstStyle/>
          <a:p>
            <a:pPr algn="ctr" indent="0" marL="0">
              <a:lnSpc>
                <a:spcPct val="90000"/>
              </a:lnSpc>
              <a:buNone/>
            </a:pPr>
            <a:r>
              <a:rPr lang="en-US" sz="3800" dirty="0">
                <a:solidFill>
                  <a:schemeClr val="accent3"/>
                </a:solidFill>
                <a:latin typeface="Anton" pitchFamily="34" charset="0"/>
                <a:ea typeface="Anton" pitchFamily="34" charset="-122"/>
                <a:cs typeface="Anton" pitchFamily="34" charset="-120"/>
              </a:rPr>
              <a:t>C</a:t>
            </a:r>
            <a:endParaRPr lang="en-US" sz="3800" dirty="0"/>
          </a:p>
          <a:p>
            <a:pPr algn="ctr" indent="0" marL="0">
              <a:lnSpc>
                <a:spcPct val="90000"/>
              </a:lnSpc>
              <a:buNone/>
            </a:pPr>
            <a:r>
              <a:rPr lang="en-US" sz="1000" spc="150" kern="0" dirty="0">
                <a:solidFill>
                  <a:srgbClr val="C9C9C9"/>
                </a:solidFill>
                <a:latin typeface="IBM Plex Mono" pitchFamily="34" charset="0"/>
                <a:ea typeface="IBM Plex Mono" pitchFamily="34" charset="-122"/>
                <a:cs typeface="IBM Plex Mono" pitchFamily="34" charset="-120"/>
              </a:rPr>
              <a:t>50–64</a:t>
            </a:r>
            <a:endParaRPr lang="en-US" sz="3800" dirty="0"/>
          </a:p>
        </p:txBody>
      </p:sp>
      <p:sp>
        <p:nvSpPr>
          <p:cNvPr id="14" name="band-D"/>
          <p:cNvSpPr txBox="1"/>
          <p:nvPr/>
        </p:nvSpPr>
        <p:spPr>
          <a:xfrm rot="120000">
            <a:off x="10298201" y="3749040"/>
            <a:ext cx="1207694" cy="932688"/>
          </a:xfrm>
          <a:prstGeom prst="roundRect">
            <a:avLst>
              <a:gd name="adj" fmla="val 9804"/>
            </a:avLst>
          </a:prstGeom>
          <a:solidFill>
            <a:schemeClr val="tx2"/>
          </a:solidFill>
          <a:ln w="15875">
            <a:solidFill>
              <a:schemeClr val="accent6"/>
            </a:solidFill>
          </a:ln>
          <a:effectLst>
            <a:outerShdw sx="100000" sy="100000" kx="0" ky="0" algn="bl" rotWithShape="0" blurRad="101600" dist="63500" dir="2700000">
              <a:srgbClr val="080808">
                <a:alpha val="85000"/>
              </a:srgbClr>
            </a:outerShdw>
          </a:effectLst>
        </p:spPr>
        <p:txBody>
          <a:bodyPr wrap="square" lIns="25400" tIns="25400" rIns="25400" bIns="25400" rtlCol="0" anchor="ctr"/>
          <a:lstStyle/>
          <a:p>
            <a:pPr algn="ctr" indent="0" marL="0">
              <a:lnSpc>
                <a:spcPct val="90000"/>
              </a:lnSpc>
              <a:buNone/>
            </a:pPr>
            <a:r>
              <a:rPr lang="en-US" sz="3800" dirty="0">
                <a:solidFill>
                  <a:srgbClr val="F0616D"/>
                </a:solidFill>
                <a:latin typeface="Anton" pitchFamily="34" charset="0"/>
                <a:ea typeface="Anton" pitchFamily="34" charset="-122"/>
                <a:cs typeface="Anton" pitchFamily="34" charset="-120"/>
              </a:rPr>
              <a:t>D</a:t>
            </a:r>
            <a:endParaRPr lang="en-US" sz="3800" dirty="0"/>
          </a:p>
          <a:p>
            <a:pPr algn="ctr" indent="0" marL="0">
              <a:lnSpc>
                <a:spcPct val="90000"/>
              </a:lnSpc>
              <a:buNone/>
            </a:pPr>
            <a:r>
              <a:rPr lang="en-US" sz="1000" spc="150" kern="0" dirty="0">
                <a:solidFill>
                  <a:srgbClr val="C9C9C9"/>
                </a:solidFill>
                <a:latin typeface="IBM Plex Mono" pitchFamily="34" charset="0"/>
                <a:ea typeface="IBM Plex Mono" pitchFamily="34" charset="-122"/>
                <a:cs typeface="IBM Plex Mono" pitchFamily="34" charset="-120"/>
              </a:rPr>
              <a:t>&lt;50</a:t>
            </a:r>
            <a:endParaRPr lang="en-US" sz="3800" dirty="0"/>
          </a:p>
        </p:txBody>
      </p:sp>
      <p:sp>
        <p:nvSpPr>
          <p:cNvPr id="15" name="callout-yellow"/>
          <p:cNvSpPr/>
          <p:nvPr/>
        </p:nvSpPr>
        <p:spPr>
          <a:xfrm>
            <a:off x="6263640" y="4937760"/>
            <a:ext cx="5242255" cy="731520"/>
          </a:xfrm>
          <a:prstGeom prst="rect">
            <a:avLst/>
          </a:prstGeom>
          <a:solidFill>
            <a:srgbClr val="2B2719"/>
          </a:solidFill>
          <a:ln w="12700">
            <a:solidFill>
              <a:srgbClr val="2B2719"/>
            </a:solidFill>
            <a:prstDash val="solid"/>
          </a:ln>
        </p:spPr>
      </p:sp>
      <p:sp>
        <p:nvSpPr>
          <p:cNvPr id="16" name="Shape 12"/>
          <p:cNvSpPr/>
          <p:nvPr/>
        </p:nvSpPr>
        <p:spPr>
          <a:xfrm>
            <a:off x="6263640" y="4937760"/>
            <a:ext cx="45720" cy="731520"/>
          </a:xfrm>
          <a:prstGeom prst="rect">
            <a:avLst/>
          </a:prstGeom>
          <a:solidFill>
            <a:schemeClr val="accent2"/>
          </a:solidFill>
          <a:ln w="12700">
            <a:solidFill>
              <a:schemeClr val="accent2"/>
            </a:solidFill>
            <a:prstDash val="solid"/>
          </a:ln>
        </p:spPr>
      </p:sp>
      <p:sp>
        <p:nvSpPr>
          <p:cNvPr id="17" name="Text 13"/>
          <p:cNvSpPr txBox="1"/>
          <p:nvPr/>
        </p:nvSpPr>
        <p:spPr>
          <a:xfrm>
            <a:off x="6492240" y="4992624"/>
            <a:ext cx="4830775" cy="621792"/>
          </a:xfrm>
          <a:prstGeom prst="rect">
            <a:avLst/>
          </a:prstGeom>
          <a:noFill/>
          <a:ln/>
        </p:spPr>
        <p:txBody>
          <a:bodyPr wrap="square" lIns="0" tIns="0" rIns="0" bIns="0" rtlCol="0" anchor="ctr"/>
          <a:lstStyle/>
          <a:p>
            <a:pPr indent="0" marL="0">
              <a:lnSpc>
                <a:spcPct val="115000"/>
              </a:lnSpc>
              <a:buNone/>
            </a:pPr>
            <a:r>
              <a:rPr lang="en-US" sz="1050" b="1" dirty="0">
                <a:solidFill>
                  <a:schemeClr val="bg1"/>
                </a:solidFill>
                <a:latin typeface="IBM Plex Mono" pitchFamily="34" charset="0"/>
                <a:ea typeface="IBM Plex Mono" pitchFamily="34" charset="-122"/>
                <a:cs typeface="IBM Plex Mono" pitchFamily="34" charset="-120"/>
              </a:rPr>
              <a:t>One weak factor (demo data): </a:t>
            </a:r>
            <a:pPr indent="0" marL="0">
              <a:lnSpc>
                <a:spcPct val="115000"/>
              </a:lnSpc>
              <a:buNone/>
            </a:pPr>
            <a:r>
              <a:rPr lang="en-US" sz="1050" dirty="0">
                <a:solidFill>
                  <a:srgbClr val="C9C9C9"/>
                </a:solidFill>
                <a:latin typeface="IBM Plex Mono" pitchFamily="34" charset="0"/>
                <a:ea typeface="IBM Plex Mono" pitchFamily="34" charset="-122"/>
                <a:cs typeface="IBM Plex Mono" pitchFamily="34" charset="-120"/>
              </a:rPr>
              <a:t>Kamino JLP Market averages </a:t>
            </a:r>
            <a:pPr indent="0" marL="0">
              <a:lnSpc>
                <a:spcPct val="115000"/>
              </a:lnSpc>
              <a:buNone/>
            </a:pPr>
            <a:r>
              <a:rPr lang="en-US" sz="1050" b="1" dirty="0">
                <a:solidFill>
                  <a:schemeClr val="accent1"/>
                </a:solidFill>
                <a:latin typeface="IBM Plex Mono" pitchFamily="34" charset="0"/>
                <a:ea typeface="IBM Plex Mono" pitchFamily="34" charset="-122"/>
                <a:cs typeface="IBM Plex Mono" pitchFamily="34" charset="-120"/>
              </a:rPr>
              <a:t>81</a:t>
            </a:r>
            <a:pPr indent="0" marL="0">
              <a:lnSpc>
                <a:spcPct val="115000"/>
              </a:lnSpc>
              <a:buNone/>
            </a:pPr>
            <a:r>
              <a:rPr lang="en-US" sz="1050" dirty="0">
                <a:solidFill>
                  <a:srgbClr val="C9C9C9"/>
                </a:solidFill>
                <a:latin typeface="IBM Plex Mono" pitchFamily="34" charset="0"/>
                <a:ea typeface="IBM Plex Mono" pitchFamily="34" charset="-122"/>
                <a:cs typeface="IBM Plex Mono" pitchFamily="34" charset="-120"/>
              </a:rPr>
              <a:t>, an A on its own. Concentration scores </a:t>
            </a:r>
            <a:pPr indent="0" marL="0">
              <a:lnSpc>
                <a:spcPct val="115000"/>
              </a:lnSpc>
              <a:buNone/>
            </a:pPr>
            <a:r>
              <a:rPr lang="en-US" sz="1050" b="1" dirty="0">
                <a:solidFill>
                  <a:srgbClr val="F0616D"/>
                </a:solidFill>
                <a:latin typeface="IBM Plex Mono" pitchFamily="34" charset="0"/>
                <a:ea typeface="IBM Plex Mono" pitchFamily="34" charset="-122"/>
                <a:cs typeface="IBM Plex Mono" pitchFamily="34" charset="-120"/>
              </a:rPr>
              <a:t>37</a:t>
            </a:r>
            <a:pPr indent="0" marL="0">
              <a:lnSpc>
                <a:spcPct val="115000"/>
              </a:lnSpc>
              <a:buNone/>
            </a:pPr>
            <a:r>
              <a:rPr lang="en-US" sz="1050" dirty="0">
                <a:solidFill>
                  <a:srgbClr val="C9C9C9"/>
                </a:solidFill>
                <a:latin typeface="IBM Plex Mono" pitchFamily="34" charset="0"/>
                <a:ea typeface="IBM Plex Mono" pitchFamily="34" charset="-122"/>
                <a:cs typeface="IBM Plex Mono" pitchFamily="34" charset="-120"/>
              </a:rPr>
              <a:t>, so the final score is </a:t>
            </a:r>
            <a:pPr indent="0" marL="0">
              <a:lnSpc>
                <a:spcPct val="115000"/>
              </a:lnSpc>
              <a:buNone/>
            </a:pPr>
            <a:r>
              <a:rPr lang="en-US" sz="1050" b="1" dirty="0">
                <a:solidFill>
                  <a:schemeClr val="bg1"/>
                </a:solidFill>
                <a:latin typeface="IBM Plex Mono" pitchFamily="34" charset="0"/>
                <a:ea typeface="IBM Plex Mono" pitchFamily="34" charset="-122"/>
                <a:cs typeface="IBM Plex Mono" pitchFamily="34" charset="-120"/>
              </a:rPr>
              <a:t>70: grade B</a:t>
            </a:r>
            <a:pPr indent="0" marL="0">
              <a:lnSpc>
                <a:spcPct val="115000"/>
              </a:lnSpc>
              <a:buNone/>
            </a:pPr>
            <a:r>
              <a:rPr lang="en-US" sz="1050" dirty="0">
                <a:solidFill>
                  <a:srgbClr val="C9C9C9"/>
                </a:solidFill>
                <a:latin typeface="IBM Plex Mono" pitchFamily="34" charset="0"/>
                <a:ea typeface="IBM Plex Mono" pitchFamily="34" charset="-122"/>
                <a:cs typeface="IBM Plex Mono" pitchFamily="34" charset="-120"/>
              </a:rPr>
              <a:t>.</a:t>
            </a:r>
            <a:endParaRPr lang="en-US" sz="1050" dirty="0"/>
          </a:p>
        </p:txBody>
      </p:sp>
      <p:sp>
        <p:nvSpPr>
          <p:cNvPr id="18" name="Text 14"/>
          <p:cNvSpPr txBox="1"/>
          <p:nvPr/>
        </p:nvSpPr>
        <p:spPr>
          <a:xfrm>
            <a:off x="6263640" y="5760720"/>
            <a:ext cx="5242255" cy="411480"/>
          </a:xfrm>
          <a:prstGeom prst="rect">
            <a:avLst/>
          </a:prstGeom>
          <a:noFill/>
          <a:ln/>
        </p:spPr>
        <p:txBody>
          <a:bodyPr wrap="square" lIns="0" tIns="0" rIns="0" bIns="0" rtlCol="0" anchor="t"/>
          <a:lstStyle/>
          <a:p>
            <a:pPr indent="0" marL="0">
              <a:buNone/>
            </a:pPr>
            <a:r>
              <a:rPr lang="en-US" sz="1100" b="1" dirty="0">
                <a:solidFill>
                  <a:schemeClr val="bg1"/>
                </a:solidFill>
              </a:rPr>
              <a:t>Hard caps</a:t>
            </a:r>
            <a:pPr indent="0" marL="0">
              <a:buNone/>
            </a:pPr>
            <a:r>
              <a:rPr lang="en-US" sz="1100" dirty="0">
                <a:solidFill>
                  <a:schemeClr val="bg2"/>
                </a:solidFill>
              </a:rPr>
              <a:t> can override the score (no public audits: at most C). Inputs the data doesn't cover are marked "Not verified" and scored cautiously, never guessed.</a:t>
            </a:r>
            <a:endParaRPr lang="en-US" sz="1100" dirty="0"/>
          </a:p>
        </p:txBody>
      </p:sp>
      <p:sp>
        <p:nvSpPr>
          <p:cNvPr id="19" name="Text 15"/>
          <p:cNvSpPr txBox="1"/>
          <p:nvPr/>
        </p:nvSpPr>
        <p:spPr>
          <a:xfrm>
            <a:off x="10225735" y="6382512"/>
            <a:ext cx="1280160" cy="237744"/>
          </a:xfrm>
          <a:prstGeom prst="rect">
            <a:avLst/>
          </a:prstGeom>
          <a:noFill/>
          <a:ln/>
        </p:spPr>
        <p:txBody>
          <a:bodyPr wrap="square" lIns="0" tIns="0" rIns="0" bIns="0" rtlCol="0" anchor="t"/>
          <a:lstStyle/>
          <a:p>
            <a:pPr algn="r" indent="0" marL="0">
              <a:buNone/>
            </a:pPr>
            <a:r>
              <a:rPr lang="en-US" sz="950" spc="200" kern="0" dirty="0">
                <a:solidFill>
                  <a:srgbClr val="6E6E6E"/>
                </a:solidFill>
                <a:latin typeface="IBM Plex Mono" pitchFamily="34" charset="0"/>
                <a:ea typeface="IBM Plex Mono" pitchFamily="34" charset="-122"/>
                <a:cs typeface="IBM Plex Mono" pitchFamily="34" charset="-120"/>
              </a:rPr>
              <a:t>07 / 18</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title-blob" descr="preencoded.png">    </p:cNvPr>
          <p:cNvPicPr>
            <a:picLocks noChangeAspect="1"/>
          </p:cNvPicPr>
          <p:nvPr/>
        </p:nvPicPr>
        <p:blipFill>
          <a:blip r:embed="rId1"/>
          <a:stretch>
            <a:fillRect/>
          </a:stretch>
        </p:blipFill>
        <p:spPr>
          <a:xfrm>
            <a:off x="-736088" y="420624"/>
            <a:ext cx="7047126" cy="1024128"/>
          </a:xfrm>
          <a:prstGeom prst="rect">
            <a:avLst/>
          </a:prstGeom>
        </p:spPr>
      </p:pic>
      <p:sp>
        <p:nvSpPr>
          <p:cNvPr id="3" name="Text 2"/>
          <p:cNvSpPr/>
          <p:nvPr>
            <p:ph idx="103" type="title" hasCustomPrompt="1"/>
          </p:nvPr>
        </p:nvSpPr>
        <p:spPr>
          <a:xfrm>
            <a:off x="685800" y="640080"/>
            <a:ext cx="10820095" cy="603504"/>
          </a:xfrm>
          <a:prstGeom prst="rect">
            <a:avLst/>
          </a:prstGeom>
          <a:noFill/>
          <a:ln/>
        </p:spPr>
        <p:txBody>
          <a:bodyPr wrap="square" lIns="0" tIns="0" rIns="0" bIns="0" rtlCol="0" anchor="ctr"/>
          <a:lstStyle/>
          <a:p>
            <a:pPr algn="l" indent="0" marL="0">
              <a:buNone/>
            </a:pPr>
            <a:r>
              <a:rPr lang="en-US" sz="3400" dirty="0">
                <a:solidFill>
                  <a:schemeClr val="bg1"/>
                </a:solidFill>
                <a:latin typeface="Anton" pitchFamily="34" charset="0"/>
                <a:ea typeface="Anton" pitchFamily="34" charset="-122"/>
                <a:cs typeface="Anton" pitchFamily="34" charset="-120"/>
              </a:rPr>
              <a:t>THE RETURN AFTER COSTS</a:t>
            </a:r>
            <a:endParaRPr lang="en-US" sz="3400" dirty="0"/>
          </a:p>
        </p:txBody>
      </p:sp>
      <p:sp>
        <p:nvSpPr>
          <p:cNvPr id="4" name="Text 1"/>
          <p:cNvSpPr txBox="1"/>
          <p:nvPr/>
        </p:nvSpPr>
        <p:spPr>
          <a:xfrm>
            <a:off x="685800" y="1481328"/>
            <a:ext cx="7863840" cy="640080"/>
          </a:xfrm>
          <a:prstGeom prst="rect">
            <a:avLst/>
          </a:prstGeom>
          <a:noFill/>
          <a:ln/>
        </p:spPr>
        <p:txBody>
          <a:bodyPr wrap="square" lIns="0" tIns="0" rIns="0" bIns="0" rtlCol="0" anchor="t"/>
          <a:lstStyle/>
          <a:p>
            <a:pPr indent="0" marL="0">
              <a:lnSpc>
                <a:spcPct val="100000"/>
              </a:lnSpc>
              <a:buNone/>
            </a:pPr>
            <a:r>
              <a:rPr lang="en-US" sz="1700" dirty="0">
                <a:solidFill>
                  <a:srgbClr val="C9C9C9"/>
                </a:solidFill>
              </a:rPr>
              <a:t>On a small deposit, </a:t>
            </a:r>
            <a:pPr indent="0" marL="0">
              <a:lnSpc>
                <a:spcPct val="100000"/>
              </a:lnSpc>
              <a:buNone/>
            </a:pPr>
            <a:r>
              <a:rPr lang="en-US" sz="1700" b="1" dirty="0">
                <a:solidFill>
                  <a:schemeClr val="bg1"/>
                </a:solidFill>
              </a:rPr>
              <a:t>fees can cost more than you earn</a:t>
            </a:r>
            <a:pPr indent="0" marL="0">
              <a:lnSpc>
                <a:spcPct val="100000"/>
              </a:lnSpc>
              <a:buNone/>
            </a:pPr>
            <a:r>
              <a:rPr lang="en-US" sz="1700" dirty="0">
                <a:solidFill>
                  <a:srgbClr val="C9C9C9"/>
                </a:solidFill>
              </a:rPr>
              <a:t>.</a:t>
            </a:r>
            <a:endParaRPr lang="en-US" sz="1700" dirty="0"/>
          </a:p>
        </p:txBody>
      </p:sp>
      <p:sp>
        <p:nvSpPr>
          <p:cNvPr id="5" name="shot-fees-frame"/>
          <p:cNvSpPr/>
          <p:nvPr/>
        </p:nvSpPr>
        <p:spPr>
          <a:xfrm rot="-72000">
            <a:off x="685800" y="2351338"/>
            <a:ext cx="6080760" cy="2063884"/>
          </a:xfrm>
          <a:prstGeom prst="roundRect">
            <a:avLst>
              <a:gd name="adj" fmla="val 3544"/>
            </a:avLst>
          </a:prstGeom>
          <a:solidFill>
            <a:srgbClr val="0E0E0E"/>
          </a:solidFill>
          <a:ln w="15875">
            <a:solidFill>
              <a:schemeClr val="accent6"/>
            </a:solidFill>
            <a:prstDash val="solid"/>
          </a:ln>
          <a:effectLst>
            <a:outerShdw sx="100000" sy="100000" kx="0" ky="0" algn="bl" rotWithShape="0" blurRad="101600" dist="63500" dir="2700000">
              <a:srgbClr val="080808">
                <a:alpha val="85000"/>
              </a:srgbClr>
            </a:outerShdw>
          </a:effectLst>
        </p:spPr>
      </p:sp>
      <p:pic>
        <p:nvPicPr>
          <p:cNvPr id="6" name="shot-fees" descr="Filtered to Ethereum with $100: Aave V3 at 4.10% shows minus $7.90 a year and the note 'Fees cost more than you'd earn'">    </p:cNvPr>
          <p:cNvPicPr>
            <a:picLocks noChangeAspect="1"/>
          </p:cNvPicPr>
          <p:nvPr/>
        </p:nvPicPr>
        <p:blipFill>
          <a:blip r:embed="rId2"/>
          <a:stretch>
            <a:fillRect/>
          </a:stretch>
        </p:blipFill>
        <p:spPr>
          <a:xfrm rot="-72000">
            <a:off x="731520" y="2397058"/>
            <a:ext cx="5989320" cy="1972444"/>
          </a:xfrm>
          <a:prstGeom prst="rect">
            <a:avLst/>
          </a:prstGeom>
        </p:spPr>
      </p:pic>
      <p:sp>
        <p:nvSpPr>
          <p:cNvPr id="7" name="Text 3"/>
          <p:cNvSpPr txBox="1"/>
          <p:nvPr/>
        </p:nvSpPr>
        <p:spPr>
          <a:xfrm>
            <a:off x="685800" y="4552382"/>
            <a:ext cx="6035040" cy="228600"/>
          </a:xfrm>
          <a:prstGeom prst="rect">
            <a:avLst/>
          </a:prstGeom>
          <a:noFill/>
          <a:ln/>
        </p:spPr>
        <p:txBody>
          <a:bodyPr wrap="square" lIns="0" tIns="0" rIns="0" bIns="0" rtlCol="0" anchor="t"/>
          <a:lstStyle/>
          <a:p>
            <a:pPr indent="0" marL="0">
              <a:buNone/>
            </a:pPr>
            <a:r>
              <a:rPr lang="en-US" sz="850" spc="150" kern="0" dirty="0">
                <a:solidFill>
                  <a:srgbClr val="7A7A7A"/>
                </a:solidFill>
                <a:latin typeface="IBM Plex Mono" pitchFamily="34" charset="0"/>
                <a:ea typeface="IBM Plex Mono" pitchFamily="34" charset="-122"/>
                <a:cs typeface="IBM Plex Mono" pitchFamily="34" charset="-120"/>
              </a:rPr>
              <a:t>REAL INTERFACE · LOCAL BUILD, DEMO DATA · $100 OF USDC, ETHEREUM</a:t>
            </a:r>
            <a:endParaRPr lang="en-US" sz="850" dirty="0"/>
          </a:p>
        </p:txBody>
      </p:sp>
      <p:sp>
        <p:nvSpPr>
          <p:cNvPr id="8" name="callout-yellow"/>
          <p:cNvSpPr/>
          <p:nvPr/>
        </p:nvSpPr>
        <p:spPr>
          <a:xfrm>
            <a:off x="685800" y="4937760"/>
            <a:ext cx="6035040" cy="914400"/>
          </a:xfrm>
          <a:prstGeom prst="rect">
            <a:avLst/>
          </a:prstGeom>
          <a:solidFill>
            <a:srgbClr val="2B2719"/>
          </a:solidFill>
          <a:ln w="12700">
            <a:solidFill>
              <a:srgbClr val="2B2719"/>
            </a:solidFill>
            <a:prstDash val="solid"/>
          </a:ln>
        </p:spPr>
      </p:sp>
      <p:sp>
        <p:nvSpPr>
          <p:cNvPr id="9" name="Shape 5"/>
          <p:cNvSpPr/>
          <p:nvPr/>
        </p:nvSpPr>
        <p:spPr>
          <a:xfrm>
            <a:off x="685800" y="4937760"/>
            <a:ext cx="45720" cy="914400"/>
          </a:xfrm>
          <a:prstGeom prst="rect">
            <a:avLst/>
          </a:prstGeom>
          <a:solidFill>
            <a:schemeClr val="accent2"/>
          </a:solidFill>
          <a:ln w="12700">
            <a:solidFill>
              <a:schemeClr val="accent2"/>
            </a:solidFill>
            <a:prstDash val="solid"/>
          </a:ln>
        </p:spPr>
      </p:sp>
      <p:sp>
        <p:nvSpPr>
          <p:cNvPr id="10" name="Text 6"/>
          <p:cNvSpPr txBox="1"/>
          <p:nvPr/>
        </p:nvSpPr>
        <p:spPr>
          <a:xfrm>
            <a:off x="914400" y="4992624"/>
            <a:ext cx="5623560" cy="804672"/>
          </a:xfrm>
          <a:prstGeom prst="rect">
            <a:avLst/>
          </a:prstGeom>
          <a:noFill/>
          <a:ln/>
        </p:spPr>
        <p:txBody>
          <a:bodyPr wrap="square" lIns="0" tIns="0" rIns="0" bIns="0" rtlCol="0" anchor="ctr"/>
          <a:lstStyle/>
          <a:p>
            <a:pPr indent="0" marL="0">
              <a:lnSpc>
                <a:spcPct val="115000"/>
              </a:lnSpc>
              <a:buNone/>
            </a:pPr>
            <a:r>
              <a:rPr lang="en-US" sz="1050" b="1" dirty="0">
                <a:solidFill>
                  <a:schemeClr val="accent2"/>
                </a:solidFill>
                <a:latin typeface="IBM Plex Mono" pitchFamily="34" charset="0"/>
                <a:ea typeface="IBM Plex Mono" pitchFamily="34" charset="-122"/>
                <a:cs typeface="IBM Plex Mono" pitchFamily="34" charset="-120"/>
              </a:rPr>
              <a:t>Marked, not hidden: </a:t>
            </a:r>
            <a:pPr indent="0" marL="0">
              <a:lnSpc>
                <a:spcPct val="115000"/>
              </a:lnSpc>
              <a:buNone/>
            </a:pPr>
            <a:r>
              <a:rPr lang="en-US" sz="1050" dirty="0">
                <a:solidFill>
                  <a:srgbClr val="C9C9C9"/>
                </a:solidFill>
                <a:latin typeface="IBM Plex Mono" pitchFamily="34" charset="0"/>
                <a:ea typeface="IBM Plex Mono" pitchFamily="34" charset="-122"/>
                <a:cs typeface="IBM Plex Mono" pitchFamily="34" charset="-120"/>
              </a:rPr>
              <a:t>$100 at 4.10% earns about $4.10 a year. Getting in and out of Ethereum is estimated at $12, so the app says </a:t>
            </a:r>
            <a:pPr indent="0" marL="0">
              <a:lnSpc>
                <a:spcPct val="115000"/>
              </a:lnSpc>
              <a:buNone/>
            </a:pPr>
            <a:r>
              <a:rPr lang="en-US" sz="1050" b="1" dirty="0">
                <a:solidFill>
                  <a:schemeClr val="bg1"/>
                </a:solidFill>
                <a:latin typeface="IBM Plex Mono" pitchFamily="34" charset="0"/>
                <a:ea typeface="IBM Plex Mono" pitchFamily="34" charset="-122"/>
                <a:cs typeface="IBM Plex Mono" pitchFamily="34" charset="-120"/>
              </a:rPr>
              <a:t>"Fees cost more than you'd earn."</a:t>
            </a:r>
            <a:endParaRPr lang="en-US" sz="1050" dirty="0"/>
          </a:p>
        </p:txBody>
      </p:sp>
      <p:sp>
        <p:nvSpPr>
          <p:cNvPr id="11" name="ledger-0"/>
          <p:cNvSpPr txBox="1"/>
          <p:nvPr/>
        </p:nvSpPr>
        <p:spPr>
          <a:xfrm rot="90000">
            <a:off x="7178040" y="2377440"/>
            <a:ext cx="4327855" cy="1645920"/>
          </a:xfrm>
          <a:prstGeom prst="roundRect">
            <a:avLst>
              <a:gd name="adj" fmla="val 6667"/>
            </a:avLst>
          </a:prstGeom>
          <a:solidFill>
            <a:schemeClr val="tx2"/>
          </a:solidFill>
          <a:ln w="15875">
            <a:solidFill>
              <a:schemeClr val="accent6"/>
            </a:solidFill>
          </a:ln>
          <a:effectLst>
            <a:outerShdw sx="100000" sy="100000" kx="0" ky="0" algn="bl" rotWithShape="0" blurRad="101600" dist="63500" dir="2700000">
              <a:srgbClr val="080808">
                <a:alpha val="85000"/>
              </a:srgbClr>
            </a:outerShdw>
          </a:effectLst>
        </p:spPr>
        <p:txBody>
          <a:bodyPr wrap="square" lIns="50800" tIns="50800" rIns="50800" bIns="50800" rtlCol="0" anchor="ctr"/>
          <a:lstStyle/>
          <a:p>
            <a:pPr algn="ctr" indent="0" marL="0">
              <a:lnSpc>
                <a:spcPct val="95000"/>
              </a:lnSpc>
              <a:buNone/>
            </a:pPr>
            <a:r>
              <a:rPr lang="en-US" sz="1000" spc="200" kern="0" dirty="0">
                <a:solidFill>
                  <a:srgbClr val="C9C9C9"/>
                </a:solidFill>
                <a:latin typeface="IBM Plex Mono" pitchFamily="34" charset="0"/>
                <a:ea typeface="IBM Plex Mono" pitchFamily="34" charset="-122"/>
                <a:cs typeface="IBM Plex Mono" pitchFamily="34" charset="-120"/>
              </a:rPr>
              <a:t>ETHEREUM · $100 AT 4.10%</a:t>
            </a:r>
            <a:endParaRPr lang="en-US" sz="1000" dirty="0"/>
          </a:p>
          <a:p>
            <a:pPr algn="ctr" indent="0" marL="0">
              <a:lnSpc>
                <a:spcPct val="95000"/>
              </a:lnSpc>
              <a:buNone/>
            </a:pPr>
            <a:r>
              <a:rPr lang="en-US" sz="5200" dirty="0">
                <a:solidFill>
                  <a:srgbClr val="F0616D"/>
                </a:solidFill>
                <a:latin typeface="Anton" pitchFamily="34" charset="0"/>
                <a:ea typeface="Anton" pitchFamily="34" charset="-122"/>
                <a:cs typeface="Anton" pitchFamily="34" charset="-120"/>
              </a:rPr>
              <a:t>−$7.90</a:t>
            </a:r>
            <a:endParaRPr lang="en-US" sz="1000" dirty="0"/>
          </a:p>
          <a:p>
            <a:pPr algn="ctr" indent="0" marL="0">
              <a:lnSpc>
                <a:spcPct val="95000"/>
              </a:lnSpc>
              <a:buNone/>
            </a:pPr>
            <a:r>
              <a:rPr lang="en-US" sz="1300" dirty="0">
                <a:solidFill>
                  <a:schemeClr val="bg1"/>
                </a:solidFill>
              </a:rPr>
              <a:t>$4.10 interest − $12.00 network fees (est.)</a:t>
            </a:r>
            <a:endParaRPr lang="en-US" sz="1000" dirty="0"/>
          </a:p>
        </p:txBody>
      </p:sp>
      <p:sp>
        <p:nvSpPr>
          <p:cNvPr id="12" name="ledger-1"/>
          <p:cNvSpPr txBox="1"/>
          <p:nvPr/>
        </p:nvSpPr>
        <p:spPr>
          <a:xfrm rot="-90000">
            <a:off x="7178040" y="4251960"/>
            <a:ext cx="4327855" cy="1645920"/>
          </a:xfrm>
          <a:prstGeom prst="roundRect">
            <a:avLst>
              <a:gd name="adj" fmla="val 6667"/>
            </a:avLst>
          </a:prstGeom>
          <a:solidFill>
            <a:schemeClr val="tx2"/>
          </a:solidFill>
          <a:ln w="15875">
            <a:solidFill>
              <a:schemeClr val="accent6"/>
            </a:solidFill>
          </a:ln>
          <a:effectLst>
            <a:outerShdw sx="100000" sy="100000" kx="0" ky="0" algn="bl" rotWithShape="0" blurRad="101600" dist="63500" dir="2700000">
              <a:srgbClr val="080808">
                <a:alpha val="85000"/>
              </a:srgbClr>
            </a:outerShdw>
          </a:effectLst>
        </p:spPr>
        <p:txBody>
          <a:bodyPr wrap="square" lIns="50800" tIns="50800" rIns="50800" bIns="50800" rtlCol="0" anchor="ctr"/>
          <a:lstStyle/>
          <a:p>
            <a:pPr algn="ctr" indent="0" marL="0">
              <a:lnSpc>
                <a:spcPct val="95000"/>
              </a:lnSpc>
              <a:buNone/>
            </a:pPr>
            <a:r>
              <a:rPr lang="en-US" sz="1000" spc="200" kern="0" dirty="0">
                <a:solidFill>
                  <a:srgbClr val="C9C9C9"/>
                </a:solidFill>
                <a:latin typeface="IBM Plex Mono" pitchFamily="34" charset="0"/>
                <a:ea typeface="IBM Plex Mono" pitchFamily="34" charset="-122"/>
                <a:cs typeface="IBM Plex Mono" pitchFamily="34" charset="-120"/>
              </a:rPr>
              <a:t>SOLANA · $100 AT 4.10%</a:t>
            </a:r>
            <a:endParaRPr lang="en-US" sz="1000" dirty="0"/>
          </a:p>
          <a:p>
            <a:pPr algn="ctr" indent="0" marL="0">
              <a:lnSpc>
                <a:spcPct val="95000"/>
              </a:lnSpc>
              <a:buNone/>
            </a:pPr>
            <a:r>
              <a:rPr lang="en-US" sz="5200" dirty="0">
                <a:solidFill>
                  <a:schemeClr val="accent1"/>
                </a:solidFill>
                <a:latin typeface="Anton" pitchFamily="34" charset="0"/>
                <a:ea typeface="Anton" pitchFamily="34" charset="-122"/>
                <a:cs typeface="Anton" pitchFamily="34" charset="-120"/>
              </a:rPr>
              <a:t>+$4.08</a:t>
            </a:r>
            <a:endParaRPr lang="en-US" sz="1000" dirty="0"/>
          </a:p>
          <a:p>
            <a:pPr algn="ctr" indent="0" marL="0">
              <a:lnSpc>
                <a:spcPct val="95000"/>
              </a:lnSpc>
              <a:buNone/>
            </a:pPr>
            <a:r>
              <a:rPr lang="en-US" sz="1300" dirty="0">
                <a:solidFill>
                  <a:schemeClr val="bg1"/>
                </a:solidFill>
              </a:rPr>
              <a:t>$4.10 interest − $0.02 network fees (est.)</a:t>
            </a:r>
            <a:endParaRPr lang="en-US" sz="1000" dirty="0"/>
          </a:p>
        </p:txBody>
      </p:sp>
      <p:sp>
        <p:nvSpPr>
          <p:cNvPr id="13" name="Text 9"/>
          <p:cNvSpPr txBox="1"/>
          <p:nvPr/>
        </p:nvSpPr>
        <p:spPr>
          <a:xfrm>
            <a:off x="685800" y="5870448"/>
            <a:ext cx="10820095" cy="274320"/>
          </a:xfrm>
          <a:prstGeom prst="rect">
            <a:avLst/>
          </a:prstGeom>
          <a:noFill/>
          <a:ln/>
        </p:spPr>
        <p:txBody>
          <a:bodyPr wrap="square" lIns="0" tIns="0" rIns="0" bIns="0" rtlCol="0" anchor="t"/>
          <a:lstStyle/>
          <a:p>
            <a:pPr indent="0" marL="0">
              <a:buNone/>
            </a:pPr>
            <a:r>
              <a:rPr lang="en-US" sz="900" spc="50" kern="0" dirty="0">
                <a:solidFill>
                  <a:srgbClr val="7A7A7A"/>
                </a:solidFill>
                <a:latin typeface="IBM Plex Mono" pitchFamily="34" charset="0"/>
                <a:ea typeface="IBM Plex Mono" pitchFamily="34" charset="-122"/>
                <a:cs typeface="IBM Plex Mono" pitchFamily="34" charset="-120"/>
              </a:rPr>
              <a:t>Illustrative: the same 4.10% with StableSave's per-network fee estimates for one deposit and one withdrawal. Estimates, not live gas prices.</a:t>
            </a:r>
            <a:endParaRPr lang="en-US" sz="900" dirty="0"/>
          </a:p>
        </p:txBody>
      </p:sp>
      <p:sp>
        <p:nvSpPr>
          <p:cNvPr id="14" name="Text 10"/>
          <p:cNvSpPr txBox="1"/>
          <p:nvPr/>
        </p:nvSpPr>
        <p:spPr>
          <a:xfrm>
            <a:off x="10225735" y="6382512"/>
            <a:ext cx="1280160" cy="237744"/>
          </a:xfrm>
          <a:prstGeom prst="rect">
            <a:avLst/>
          </a:prstGeom>
          <a:noFill/>
          <a:ln/>
        </p:spPr>
        <p:txBody>
          <a:bodyPr wrap="square" lIns="0" tIns="0" rIns="0" bIns="0" rtlCol="0" anchor="t"/>
          <a:lstStyle/>
          <a:p>
            <a:pPr algn="r" indent="0" marL="0">
              <a:buNone/>
            </a:pPr>
            <a:r>
              <a:rPr lang="en-US" sz="950" spc="200" kern="0" dirty="0">
                <a:solidFill>
                  <a:srgbClr val="6E6E6E"/>
                </a:solidFill>
                <a:latin typeface="IBM Plex Mono" pitchFamily="34" charset="0"/>
                <a:ea typeface="IBM Plex Mono" pitchFamily="34" charset="-122"/>
                <a:cs typeface="IBM Plex Mono" pitchFamily="34" charset="-120"/>
              </a:rPr>
              <a:t>08 / 18</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title-blob" descr="preencoded.png">    </p:cNvPr>
          <p:cNvPicPr>
            <a:picLocks noChangeAspect="1"/>
          </p:cNvPicPr>
          <p:nvPr/>
        </p:nvPicPr>
        <p:blipFill>
          <a:blip r:embed="rId1"/>
          <a:stretch>
            <a:fillRect/>
          </a:stretch>
        </p:blipFill>
        <p:spPr>
          <a:xfrm>
            <a:off x="-714060" y="420624"/>
            <a:ext cx="7079229" cy="1024128"/>
          </a:xfrm>
          <a:prstGeom prst="rect">
            <a:avLst/>
          </a:prstGeom>
        </p:spPr>
      </p:pic>
      <p:sp>
        <p:nvSpPr>
          <p:cNvPr id="3" name="Text 2"/>
          <p:cNvSpPr/>
          <p:nvPr>
            <p:ph idx="103" type="title" hasCustomPrompt="1"/>
          </p:nvPr>
        </p:nvSpPr>
        <p:spPr>
          <a:xfrm>
            <a:off x="685800" y="640080"/>
            <a:ext cx="10820095" cy="603504"/>
          </a:xfrm>
          <a:prstGeom prst="rect">
            <a:avLst/>
          </a:prstGeom>
          <a:noFill/>
          <a:ln/>
        </p:spPr>
        <p:txBody>
          <a:bodyPr wrap="square" lIns="0" tIns="0" rIns="0" bIns="0" rtlCol="0" anchor="ctr"/>
          <a:lstStyle/>
          <a:p>
            <a:pPr algn="l" indent="0" marL="0">
              <a:buNone/>
            </a:pPr>
            <a:r>
              <a:rPr lang="en-US" sz="3400" dirty="0">
                <a:solidFill>
                  <a:schemeClr val="bg1"/>
                </a:solidFill>
                <a:latin typeface="Anton" pitchFamily="34" charset="0"/>
                <a:ea typeface="Anton" pitchFamily="34" charset="-122"/>
                <a:cs typeface="Anton" pitchFamily="34" charset="-120"/>
              </a:rPr>
              <a:t>FOUR MORE QUESTIONS</a:t>
            </a:r>
            <a:endParaRPr lang="en-US" sz="3400" dirty="0"/>
          </a:p>
        </p:txBody>
      </p:sp>
      <p:sp>
        <p:nvSpPr>
          <p:cNvPr id="4" name="Text 1"/>
          <p:cNvSpPr txBox="1"/>
          <p:nvPr/>
        </p:nvSpPr>
        <p:spPr>
          <a:xfrm>
            <a:off x="685800" y="1481328"/>
            <a:ext cx="7863840" cy="640080"/>
          </a:xfrm>
          <a:prstGeom prst="rect">
            <a:avLst/>
          </a:prstGeom>
          <a:noFill/>
          <a:ln/>
        </p:spPr>
        <p:txBody>
          <a:bodyPr wrap="square" lIns="0" tIns="0" rIns="0" bIns="0" rtlCol="0" anchor="t"/>
          <a:lstStyle/>
          <a:p>
            <a:pPr indent="0" marL="0">
              <a:lnSpc>
                <a:spcPct val="100000"/>
              </a:lnSpc>
              <a:buNone/>
            </a:pPr>
            <a:r>
              <a:rPr lang="en-US" sz="1700" dirty="0">
                <a:solidFill>
                  <a:srgbClr val="C9C9C9"/>
                </a:solidFill>
              </a:rPr>
              <a:t>Answered </a:t>
            </a:r>
            <a:pPr indent="0" marL="0">
              <a:lnSpc>
                <a:spcPct val="100000"/>
              </a:lnSpc>
              <a:buNone/>
            </a:pPr>
            <a:r>
              <a:rPr lang="en-US" sz="1700" b="1" dirty="0">
                <a:solidFill>
                  <a:schemeClr val="bg1"/>
                </a:solidFill>
              </a:rPr>
              <a:t>before you deposit</a:t>
            </a:r>
            <a:pPr indent="0" marL="0">
              <a:lnSpc>
                <a:spcPct val="100000"/>
              </a:lnSpc>
              <a:buNone/>
            </a:pPr>
            <a:r>
              <a:rPr lang="en-US" sz="1700" dirty="0">
                <a:solidFill>
                  <a:srgbClr val="C9C9C9"/>
                </a:solidFill>
              </a:rPr>
              <a:t>.</a:t>
            </a:r>
            <a:endParaRPr lang="en-US" sz="1700" dirty="0"/>
          </a:p>
        </p:txBody>
      </p:sp>
      <p:sp>
        <p:nvSpPr>
          <p:cNvPr id="5" name="feature-0"/>
          <p:cNvSpPr/>
          <p:nvPr/>
        </p:nvSpPr>
        <p:spPr>
          <a:xfrm>
            <a:off x="685800" y="2331720"/>
            <a:ext cx="5272888" cy="1664208"/>
          </a:xfrm>
          <a:prstGeom prst="roundRect">
            <a:avLst>
              <a:gd name="adj" fmla="val 6593"/>
            </a:avLst>
          </a:prstGeom>
          <a:solidFill>
            <a:schemeClr val="tx2"/>
          </a:solidFill>
          <a:ln w="15875">
            <a:solidFill>
              <a:schemeClr val="accent6"/>
            </a:solidFill>
            <a:prstDash val="solid"/>
          </a:ln>
        </p:spPr>
      </p:sp>
      <p:sp>
        <p:nvSpPr>
          <p:cNvPr id="6" name="Text 3"/>
          <p:cNvSpPr txBox="1"/>
          <p:nvPr/>
        </p:nvSpPr>
        <p:spPr>
          <a:xfrm>
            <a:off x="941832" y="2532888"/>
            <a:ext cx="2240280" cy="237744"/>
          </a:xfrm>
          <a:prstGeom prst="rect">
            <a:avLst/>
          </a:prstGeom>
          <a:noFill/>
          <a:ln/>
        </p:spPr>
        <p:txBody>
          <a:bodyPr wrap="square" lIns="0" tIns="0" rIns="0" bIns="0" rtlCol="0" anchor="t"/>
          <a:lstStyle/>
          <a:p>
            <a:pPr indent="0" marL="0">
              <a:buNone/>
            </a:pPr>
            <a:r>
              <a:rPr lang="en-US" sz="950" spc="250" kern="0" dirty="0">
                <a:solidFill>
                  <a:schemeClr val="accent1"/>
                </a:solidFill>
                <a:latin typeface="IBM Plex Mono" pitchFamily="34" charset="0"/>
                <a:ea typeface="IBM Plex Mono" pitchFamily="34" charset="-122"/>
                <a:cs typeface="IBM Plex Mono" pitchFamily="34" charset="-120"/>
              </a:rPr>
              <a:t>FIND IDLE MONEY</a:t>
            </a:r>
            <a:endParaRPr lang="en-US" sz="950" dirty="0"/>
          </a:p>
        </p:txBody>
      </p:sp>
      <p:sp>
        <p:nvSpPr>
          <p:cNvPr id="7" name="Text 4"/>
          <p:cNvSpPr txBox="1"/>
          <p:nvPr/>
        </p:nvSpPr>
        <p:spPr>
          <a:xfrm>
            <a:off x="941832" y="2788920"/>
            <a:ext cx="2148840" cy="502920"/>
          </a:xfrm>
          <a:prstGeom prst="rect">
            <a:avLst/>
          </a:prstGeom>
          <a:noFill/>
          <a:ln/>
        </p:spPr>
        <p:txBody>
          <a:bodyPr wrap="square" lIns="0" tIns="0" rIns="0" bIns="0" rtlCol="0" anchor="t"/>
          <a:lstStyle/>
          <a:p>
            <a:pPr indent="0" marL="0">
              <a:lnSpc>
                <a:spcPct val="95000"/>
              </a:lnSpc>
              <a:buNone/>
            </a:pPr>
            <a:r>
              <a:rPr lang="en-US" sz="1500" b="1" dirty="0">
                <a:solidFill>
                  <a:schemeClr val="bg1"/>
                </a:solidFill>
              </a:rPr>
              <a:t>Is money sitting idle in my wallet?</a:t>
            </a:r>
            <a:endParaRPr lang="en-US" sz="1500" dirty="0"/>
          </a:p>
        </p:txBody>
      </p:sp>
      <p:sp>
        <p:nvSpPr>
          <p:cNvPr id="8" name="Text 5"/>
          <p:cNvSpPr txBox="1"/>
          <p:nvPr/>
        </p:nvSpPr>
        <p:spPr>
          <a:xfrm>
            <a:off x="941832" y="3337560"/>
            <a:ext cx="2148840" cy="548640"/>
          </a:xfrm>
          <a:prstGeom prst="rect">
            <a:avLst/>
          </a:prstGeom>
          <a:noFill/>
          <a:ln/>
        </p:spPr>
        <p:txBody>
          <a:bodyPr wrap="square" lIns="0" tIns="0" rIns="0" bIns="0" rtlCol="0" anchor="t"/>
          <a:lstStyle/>
          <a:p>
            <a:pPr indent="0" marL="0">
              <a:buNone/>
            </a:pPr>
            <a:r>
              <a:rPr lang="en-US" sz="1150" dirty="0">
                <a:solidFill>
                  <a:schemeClr val="bg2"/>
                </a:solidFill>
              </a:rPr>
              <a:t>Paste any Solana address: read-only, and it fills the calculator.</a:t>
            </a:r>
            <a:endParaRPr lang="en-US" sz="1150" dirty="0"/>
          </a:p>
        </p:txBody>
      </p:sp>
      <p:sp>
        <p:nvSpPr>
          <p:cNvPr id="9" name="Shape 6"/>
          <p:cNvSpPr/>
          <p:nvPr/>
        </p:nvSpPr>
        <p:spPr>
          <a:xfrm>
            <a:off x="3255264" y="2551256"/>
            <a:ext cx="2557120" cy="1225137"/>
          </a:xfrm>
          <a:prstGeom prst="roundRect">
            <a:avLst>
              <a:gd name="adj" fmla="val 4478"/>
            </a:avLst>
          </a:prstGeom>
          <a:solidFill>
            <a:srgbClr val="0E0E0E"/>
          </a:solidFill>
          <a:ln w="12700">
            <a:solidFill>
              <a:schemeClr val="accent6"/>
            </a:solidFill>
            <a:prstDash val="solid"/>
          </a:ln>
        </p:spPr>
      </p:sp>
      <p:pic>
        <p:nvPicPr>
          <p:cNvPr id="10" name="08-idle-money" descr="Find idle money: this wallet holds $1,240.51 USDC and $300 USDT, earning nothing; about +$103 a year on Kamino">    </p:cNvPr>
          <p:cNvPicPr>
            <a:picLocks noChangeAspect="1"/>
          </p:cNvPicPr>
          <p:nvPr/>
        </p:nvPicPr>
        <p:blipFill>
          <a:blip r:embed="rId2"/>
          <a:stretch>
            <a:fillRect/>
          </a:stretch>
        </p:blipFill>
        <p:spPr>
          <a:xfrm>
            <a:off x="3291840" y="2587832"/>
            <a:ext cx="2483968" cy="1151985"/>
          </a:xfrm>
          <a:prstGeom prst="rect">
            <a:avLst/>
          </a:prstGeom>
        </p:spPr>
      </p:pic>
      <p:sp>
        <p:nvSpPr>
          <p:cNvPr id="11" name="feature-1"/>
          <p:cNvSpPr/>
          <p:nvPr/>
        </p:nvSpPr>
        <p:spPr>
          <a:xfrm>
            <a:off x="6233008" y="2331720"/>
            <a:ext cx="5272888" cy="1664208"/>
          </a:xfrm>
          <a:prstGeom prst="roundRect">
            <a:avLst>
              <a:gd name="adj" fmla="val 6593"/>
            </a:avLst>
          </a:prstGeom>
          <a:solidFill>
            <a:schemeClr val="tx2"/>
          </a:solidFill>
          <a:ln w="15875">
            <a:solidFill>
              <a:schemeClr val="accent6"/>
            </a:solidFill>
            <a:prstDash val="solid"/>
          </a:ln>
        </p:spPr>
      </p:sp>
      <p:sp>
        <p:nvSpPr>
          <p:cNvPr id="12" name="Text 8"/>
          <p:cNvSpPr txBox="1"/>
          <p:nvPr/>
        </p:nvSpPr>
        <p:spPr>
          <a:xfrm>
            <a:off x="6489040" y="2532888"/>
            <a:ext cx="2240280" cy="237744"/>
          </a:xfrm>
          <a:prstGeom prst="rect">
            <a:avLst/>
          </a:prstGeom>
          <a:noFill/>
          <a:ln/>
        </p:spPr>
        <p:txBody>
          <a:bodyPr wrap="square" lIns="0" tIns="0" rIns="0" bIns="0" rtlCol="0" anchor="t"/>
          <a:lstStyle/>
          <a:p>
            <a:pPr indent="0" marL="0">
              <a:buNone/>
            </a:pPr>
            <a:r>
              <a:rPr lang="en-US" sz="950" spc="250" kern="0" dirty="0">
                <a:solidFill>
                  <a:schemeClr val="accent2"/>
                </a:solidFill>
                <a:latin typeface="IBM Plex Mono" pitchFamily="34" charset="0"/>
                <a:ea typeface="IBM Plex Mono" pitchFamily="34" charset="-122"/>
                <a:cs typeface="IBM Plex Mono" pitchFamily="34" charset="-120"/>
              </a:rPr>
              <a:t>CAN I WITHDRAW TODAY?</a:t>
            </a:r>
            <a:endParaRPr lang="en-US" sz="950" dirty="0"/>
          </a:p>
        </p:txBody>
      </p:sp>
      <p:sp>
        <p:nvSpPr>
          <p:cNvPr id="13" name="Text 9"/>
          <p:cNvSpPr txBox="1"/>
          <p:nvPr/>
        </p:nvSpPr>
        <p:spPr>
          <a:xfrm>
            <a:off x="6489040" y="2788920"/>
            <a:ext cx="2148840" cy="502920"/>
          </a:xfrm>
          <a:prstGeom prst="rect">
            <a:avLst/>
          </a:prstGeom>
          <a:noFill/>
          <a:ln/>
        </p:spPr>
        <p:txBody>
          <a:bodyPr wrap="square" lIns="0" tIns="0" rIns="0" bIns="0" rtlCol="0" anchor="t"/>
          <a:lstStyle/>
          <a:p>
            <a:pPr indent="0" marL="0">
              <a:lnSpc>
                <a:spcPct val="95000"/>
              </a:lnSpc>
              <a:buNone/>
            </a:pPr>
            <a:r>
              <a:rPr lang="en-US" sz="1500" b="1" dirty="0">
                <a:solidFill>
                  <a:schemeClr val="bg1"/>
                </a:solidFill>
              </a:rPr>
              <a:t>Can I get my money out today?</a:t>
            </a:r>
            <a:endParaRPr lang="en-US" sz="1500" dirty="0"/>
          </a:p>
        </p:txBody>
      </p:sp>
      <p:sp>
        <p:nvSpPr>
          <p:cNvPr id="14" name="Text 10"/>
          <p:cNvSpPr txBox="1"/>
          <p:nvPr/>
        </p:nvSpPr>
        <p:spPr>
          <a:xfrm>
            <a:off x="6489040" y="3337560"/>
            <a:ext cx="2148840" cy="548640"/>
          </a:xfrm>
          <a:prstGeom prst="rect">
            <a:avLst/>
          </a:prstGeom>
          <a:noFill/>
          <a:ln/>
        </p:spPr>
        <p:txBody>
          <a:bodyPr wrap="square" lIns="0" tIns="0" rIns="0" bIns="0" rtlCol="0" anchor="t"/>
          <a:lstStyle/>
          <a:p>
            <a:pPr indent="0" marL="0">
              <a:buNone/>
            </a:pPr>
            <a:r>
              <a:rPr lang="en-US" sz="1150" dirty="0">
                <a:solidFill>
                  <a:schemeClr val="bg2"/>
                </a:solidFill>
              </a:rPr>
              <a:t>Cash free in the lending pool right now, versus your amount.</a:t>
            </a:r>
            <a:endParaRPr lang="en-US" sz="1150" dirty="0"/>
          </a:p>
        </p:txBody>
      </p:sp>
      <p:sp>
        <p:nvSpPr>
          <p:cNvPr id="15" name="Shape 11"/>
          <p:cNvSpPr/>
          <p:nvPr/>
        </p:nvSpPr>
        <p:spPr>
          <a:xfrm>
            <a:off x="8802472" y="2584241"/>
            <a:ext cx="2557120" cy="1159166"/>
          </a:xfrm>
          <a:prstGeom prst="roundRect">
            <a:avLst>
              <a:gd name="adj" fmla="val 4733"/>
            </a:avLst>
          </a:prstGeom>
          <a:solidFill>
            <a:srgbClr val="0E0E0E"/>
          </a:solidFill>
          <a:ln w="12700">
            <a:solidFill>
              <a:schemeClr val="accent6"/>
            </a:solidFill>
            <a:prstDash val="solid"/>
          </a:ln>
        </p:spPr>
      </p:sp>
      <p:pic>
        <p:nvPicPr>
          <p:cNvPr id="16" name="10-withdraw-today" descr="Can I withdraw today? Yes, today: $31.8M is free to withdraw right now; 87% of the pool is lent out">    </p:cNvPr>
          <p:cNvPicPr>
            <a:picLocks noChangeAspect="1"/>
          </p:cNvPicPr>
          <p:nvPr/>
        </p:nvPicPr>
        <p:blipFill>
          <a:blip r:embed="rId3"/>
          <a:stretch>
            <a:fillRect/>
          </a:stretch>
        </p:blipFill>
        <p:spPr>
          <a:xfrm>
            <a:off x="8839048" y="2620817"/>
            <a:ext cx="2483968" cy="1086014"/>
          </a:xfrm>
          <a:prstGeom prst="rect">
            <a:avLst/>
          </a:prstGeom>
        </p:spPr>
      </p:pic>
      <p:sp>
        <p:nvSpPr>
          <p:cNvPr id="17" name="feature-2"/>
          <p:cNvSpPr/>
          <p:nvPr/>
        </p:nvSpPr>
        <p:spPr>
          <a:xfrm>
            <a:off x="685800" y="4270248"/>
            <a:ext cx="5272888" cy="1664208"/>
          </a:xfrm>
          <a:prstGeom prst="roundRect">
            <a:avLst>
              <a:gd name="adj" fmla="val 6593"/>
            </a:avLst>
          </a:prstGeom>
          <a:solidFill>
            <a:schemeClr val="tx2"/>
          </a:solidFill>
          <a:ln w="15875">
            <a:solidFill>
              <a:schemeClr val="accent6"/>
            </a:solidFill>
            <a:prstDash val="solid"/>
          </a:ln>
        </p:spPr>
      </p:sp>
      <p:sp>
        <p:nvSpPr>
          <p:cNvPr id="18" name="Text 13"/>
          <p:cNvSpPr txBox="1"/>
          <p:nvPr/>
        </p:nvSpPr>
        <p:spPr>
          <a:xfrm>
            <a:off x="941832" y="4471416"/>
            <a:ext cx="2240280" cy="237744"/>
          </a:xfrm>
          <a:prstGeom prst="rect">
            <a:avLst/>
          </a:prstGeom>
          <a:noFill/>
          <a:ln/>
        </p:spPr>
        <p:txBody>
          <a:bodyPr wrap="square" lIns="0" tIns="0" rIns="0" bIns="0" rtlCol="0" anchor="t"/>
          <a:lstStyle/>
          <a:p>
            <a:pPr indent="0" marL="0">
              <a:buNone/>
            </a:pPr>
            <a:r>
              <a:rPr lang="en-US" sz="950" spc="250" kern="0" dirty="0">
                <a:solidFill>
                  <a:schemeClr val="accent4"/>
                </a:solidFill>
                <a:latin typeface="IBM Plex Mono" pitchFamily="34" charset="0"/>
                <a:ea typeface="IBM Plex Mono" pitchFamily="34" charset="-122"/>
                <a:cs typeface="IBM Plex Mono" pitchFamily="34" charset="-120"/>
              </a:rPr>
              <a:t>US T-BILL COMPARISON</a:t>
            </a:r>
            <a:endParaRPr lang="en-US" sz="950" dirty="0"/>
          </a:p>
        </p:txBody>
      </p:sp>
      <p:sp>
        <p:nvSpPr>
          <p:cNvPr id="19" name="Text 14"/>
          <p:cNvSpPr txBox="1"/>
          <p:nvPr/>
        </p:nvSpPr>
        <p:spPr>
          <a:xfrm>
            <a:off x="941832" y="4727448"/>
            <a:ext cx="2148840" cy="502920"/>
          </a:xfrm>
          <a:prstGeom prst="rect">
            <a:avLst/>
          </a:prstGeom>
          <a:noFill/>
          <a:ln/>
        </p:spPr>
        <p:txBody>
          <a:bodyPr wrap="square" lIns="0" tIns="0" rIns="0" bIns="0" rtlCol="0" anchor="t"/>
          <a:lstStyle/>
          <a:p>
            <a:pPr indent="0" marL="0">
              <a:lnSpc>
                <a:spcPct val="95000"/>
              </a:lnSpc>
              <a:buNone/>
            </a:pPr>
            <a:r>
              <a:rPr lang="en-US" sz="1500" b="1" dirty="0">
                <a:solidFill>
                  <a:schemeClr val="bg1"/>
                </a:solidFill>
              </a:rPr>
              <a:t>Is it worth the crypto risk?</a:t>
            </a:r>
            <a:endParaRPr lang="en-US" sz="1500" dirty="0"/>
          </a:p>
        </p:txBody>
      </p:sp>
      <p:sp>
        <p:nvSpPr>
          <p:cNvPr id="20" name="Text 15"/>
          <p:cNvSpPr txBox="1"/>
          <p:nvPr/>
        </p:nvSpPr>
        <p:spPr>
          <a:xfrm>
            <a:off x="941832" y="5276088"/>
            <a:ext cx="2148840" cy="548640"/>
          </a:xfrm>
          <a:prstGeom prst="rect">
            <a:avLst/>
          </a:prstGeom>
          <a:noFill/>
          <a:ln/>
        </p:spPr>
        <p:txBody>
          <a:bodyPr wrap="square" lIns="0" tIns="0" rIns="0" bIns="0" rtlCol="0" anchor="t"/>
          <a:lstStyle/>
          <a:p>
            <a:pPr indent="0" marL="0">
              <a:buNone/>
            </a:pPr>
            <a:r>
              <a:rPr lang="en-US" sz="1150" dirty="0">
                <a:solidFill>
                  <a:schemeClr val="bg2"/>
                </a:solidFill>
              </a:rPr>
              <a:t>Every list starts with US Treasury bills, from the Treasury's own data.</a:t>
            </a:r>
            <a:endParaRPr lang="en-US" sz="1150" dirty="0"/>
          </a:p>
        </p:txBody>
      </p:sp>
      <p:graphicFrame>
        <p:nvGraphicFramePr>
          <p:cNvPr id="21" name="tbill-chart" descr=""/>
          <p:cNvGraphicFramePr/>
          <p:nvPr/>
        </p:nvGraphicFramePr>
        <p:xfrm>
          <a:off x="3291840" y="4434840"/>
          <a:ext cx="2483968" cy="1335024"/>
        </p:xfrm>
        <a:graphic xmlns:a="http://schemas.openxmlformats.org/drawingml/2006/main">
          <a:graphicData uri="http://schemas.openxmlformats.org/drawingml/2006/chart">
            <c:chart xmlns:c="http://schemas.openxmlformats.org/drawingml/2006/chart" r:id="rId4"/>
          </a:graphicData>
        </a:graphic>
      </p:graphicFrame>
      <p:sp>
        <p:nvSpPr>
          <p:cNvPr id="22" name="feature-3"/>
          <p:cNvSpPr/>
          <p:nvPr/>
        </p:nvSpPr>
        <p:spPr>
          <a:xfrm>
            <a:off x="6233008" y="4270248"/>
            <a:ext cx="5272888" cy="1664208"/>
          </a:xfrm>
          <a:prstGeom prst="roundRect">
            <a:avLst>
              <a:gd name="adj" fmla="val 6593"/>
            </a:avLst>
          </a:prstGeom>
          <a:solidFill>
            <a:schemeClr val="tx2"/>
          </a:solidFill>
          <a:ln w="15875">
            <a:solidFill>
              <a:schemeClr val="accent6"/>
            </a:solidFill>
            <a:prstDash val="solid"/>
          </a:ln>
        </p:spPr>
      </p:sp>
      <p:sp>
        <p:nvSpPr>
          <p:cNvPr id="23" name="Text 17"/>
          <p:cNvSpPr txBox="1"/>
          <p:nvPr/>
        </p:nvSpPr>
        <p:spPr>
          <a:xfrm>
            <a:off x="6489040" y="4471416"/>
            <a:ext cx="2240280" cy="237744"/>
          </a:xfrm>
          <a:prstGeom prst="rect">
            <a:avLst/>
          </a:prstGeom>
          <a:noFill/>
          <a:ln/>
        </p:spPr>
        <p:txBody>
          <a:bodyPr wrap="square" lIns="0" tIns="0" rIns="0" bIns="0" rtlCol="0" anchor="t"/>
          <a:lstStyle/>
          <a:p>
            <a:pPr indent="0" marL="0">
              <a:buNone/>
            </a:pPr>
            <a:r>
              <a:rPr lang="en-US" sz="950" spc="250" kern="0" dirty="0">
                <a:solidFill>
                  <a:schemeClr val="accent3"/>
                </a:solidFill>
                <a:latin typeface="IBM Plex Mono" pitchFamily="34" charset="0"/>
                <a:ea typeface="IBM Plex Mono" pitchFamily="34" charset="-122"/>
                <a:cs typeface="IBM Plex Mono" pitchFamily="34" charset="-120"/>
              </a:rPr>
              <a:t>SHARE MY ESTIMATE</a:t>
            </a:r>
            <a:endParaRPr lang="en-US" sz="950" dirty="0"/>
          </a:p>
        </p:txBody>
      </p:sp>
      <p:sp>
        <p:nvSpPr>
          <p:cNvPr id="24" name="Text 18"/>
          <p:cNvSpPr txBox="1"/>
          <p:nvPr/>
        </p:nvSpPr>
        <p:spPr>
          <a:xfrm>
            <a:off x="6489040" y="4727448"/>
            <a:ext cx="2148840" cy="502920"/>
          </a:xfrm>
          <a:prstGeom prst="rect">
            <a:avLst/>
          </a:prstGeom>
          <a:noFill/>
          <a:ln/>
        </p:spPr>
        <p:txBody>
          <a:bodyPr wrap="square" lIns="0" tIns="0" rIns="0" bIns="0" rtlCol="0" anchor="t"/>
          <a:lstStyle/>
          <a:p>
            <a:pPr indent="0" marL="0">
              <a:lnSpc>
                <a:spcPct val="95000"/>
              </a:lnSpc>
              <a:buNone/>
            </a:pPr>
            <a:r>
              <a:rPr lang="en-US" sz="1500" b="1" dirty="0">
                <a:solidFill>
                  <a:schemeClr val="bg1"/>
                </a:solidFill>
              </a:rPr>
              <a:t>Can I show someone?</a:t>
            </a:r>
            <a:endParaRPr lang="en-US" sz="1500" dirty="0"/>
          </a:p>
        </p:txBody>
      </p:sp>
      <p:sp>
        <p:nvSpPr>
          <p:cNvPr id="25" name="Text 19"/>
          <p:cNvSpPr txBox="1"/>
          <p:nvPr/>
        </p:nvSpPr>
        <p:spPr>
          <a:xfrm>
            <a:off x="6489040" y="5276088"/>
            <a:ext cx="2148840" cy="548640"/>
          </a:xfrm>
          <a:prstGeom prst="rect">
            <a:avLst/>
          </a:prstGeom>
          <a:noFill/>
          <a:ln/>
        </p:spPr>
        <p:txBody>
          <a:bodyPr wrap="square" lIns="0" tIns="0" rIns="0" bIns="0" rtlCol="0" anchor="t"/>
          <a:lstStyle/>
          <a:p>
            <a:pPr indent="0" marL="0">
              <a:buNone/>
            </a:pPr>
            <a:r>
              <a:rPr lang="en-US" sz="1150" dirty="0">
                <a:solidFill>
                  <a:schemeClr val="bg2"/>
                </a:solidFill>
              </a:rPr>
              <a:t>One click copies a link that previews as this card.</a:t>
            </a:r>
            <a:endParaRPr lang="en-US" sz="1150" dirty="0"/>
          </a:p>
        </p:txBody>
      </p:sp>
      <p:sp>
        <p:nvSpPr>
          <p:cNvPr id="26" name="Shape 20"/>
          <p:cNvSpPr/>
          <p:nvPr/>
        </p:nvSpPr>
        <p:spPr>
          <a:xfrm>
            <a:off x="8802472" y="4413735"/>
            <a:ext cx="2557120" cy="1377235"/>
          </a:xfrm>
          <a:prstGeom prst="roundRect">
            <a:avLst>
              <a:gd name="adj" fmla="val 3984"/>
            </a:avLst>
          </a:prstGeom>
          <a:solidFill>
            <a:srgbClr val="0E0E0E"/>
          </a:solidFill>
          <a:ln w="12700">
            <a:solidFill>
              <a:schemeClr val="accent6"/>
            </a:solidFill>
            <a:prstDash val="solid"/>
          </a:ln>
        </p:spPr>
      </p:sp>
      <p:pic>
        <p:nvPicPr>
          <p:cNvPr id="27" name="11-share-card" descr="Share card: On $1,000 USDC, I could earn +$83.28 a year at 8.33% on Kamino, Solana, grade B">    </p:cNvPr>
          <p:cNvPicPr>
            <a:picLocks noChangeAspect="1"/>
          </p:cNvPicPr>
          <p:nvPr/>
        </p:nvPicPr>
        <p:blipFill>
          <a:blip r:embed="rId5"/>
          <a:stretch>
            <a:fillRect/>
          </a:stretch>
        </p:blipFill>
        <p:spPr>
          <a:xfrm>
            <a:off x="8839048" y="4450311"/>
            <a:ext cx="2483968" cy="1304083"/>
          </a:xfrm>
          <a:prstGeom prst="rect">
            <a:avLst/>
          </a:prstGeom>
        </p:spPr>
      </p:pic>
      <p:sp>
        <p:nvSpPr>
          <p:cNvPr id="28" name="Text 21"/>
          <p:cNvSpPr txBox="1"/>
          <p:nvPr/>
        </p:nvSpPr>
        <p:spPr>
          <a:xfrm>
            <a:off x="685800" y="6044184"/>
            <a:ext cx="10820095" cy="228600"/>
          </a:xfrm>
          <a:prstGeom prst="rect">
            <a:avLst/>
          </a:prstGeom>
          <a:noFill/>
          <a:ln/>
        </p:spPr>
        <p:txBody>
          <a:bodyPr wrap="square" lIns="0" tIns="0" rIns="0" bIns="0" rtlCol="0" anchor="t"/>
          <a:lstStyle/>
          <a:p>
            <a:pPr indent="0" marL="0">
              <a:buNone/>
            </a:pPr>
            <a:r>
              <a:rPr lang="en-US" sz="850" spc="150" kern="0" dirty="0">
                <a:solidFill>
                  <a:srgbClr val="7A7A7A"/>
                </a:solidFill>
                <a:latin typeface="IBM Plex Mono" pitchFamily="34" charset="0"/>
                <a:ea typeface="IBM Plex Mono" pitchFamily="34" charset="-122"/>
                <a:cs typeface="IBM Plex Mono" pitchFamily="34" charset="-120"/>
              </a:rPr>
              <a:t>REAL INTERFACE · LOCAL BUILD, DEMO DATA · THE WALLET SCAN USED A STAND-IN BALANCE</a:t>
            </a:r>
            <a:endParaRPr lang="en-US" sz="850" dirty="0"/>
          </a:p>
        </p:txBody>
      </p:sp>
      <p:sp>
        <p:nvSpPr>
          <p:cNvPr id="29" name="Text 22"/>
          <p:cNvSpPr txBox="1"/>
          <p:nvPr/>
        </p:nvSpPr>
        <p:spPr>
          <a:xfrm>
            <a:off x="10225735" y="6382512"/>
            <a:ext cx="1280160" cy="237744"/>
          </a:xfrm>
          <a:prstGeom prst="rect">
            <a:avLst/>
          </a:prstGeom>
          <a:noFill/>
          <a:ln/>
        </p:spPr>
        <p:txBody>
          <a:bodyPr wrap="square" lIns="0" tIns="0" rIns="0" bIns="0" rtlCol="0" anchor="t"/>
          <a:lstStyle/>
          <a:p>
            <a:pPr algn="r" indent="0" marL="0">
              <a:buNone/>
            </a:pPr>
            <a:r>
              <a:rPr lang="en-US" sz="950" spc="200" kern="0" dirty="0">
                <a:solidFill>
                  <a:srgbClr val="6E6E6E"/>
                </a:solidFill>
                <a:latin typeface="IBM Plex Mono" pitchFamily="34" charset="0"/>
                <a:ea typeface="IBM Plex Mono" pitchFamily="34" charset="-122"/>
                <a:cs typeface="IBM Plex Mono" pitchFamily="34" charset="-120"/>
              </a:rPr>
              <a:t>09 / 18</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0" y="2395728"/>
            <a:ext cx="12191695" cy="274320"/>
          </a:xfrm>
          <a:prstGeom prst="rect">
            <a:avLst/>
          </a:prstGeom>
          <a:noFill/>
          <a:ln/>
        </p:spPr>
        <p:txBody>
          <a:bodyPr wrap="square" lIns="0" tIns="0" rIns="0" bIns="0" rtlCol="0" anchor="t"/>
          <a:lstStyle/>
          <a:p>
            <a:pPr algn="ctr" indent="0" marL="0">
              <a:buNone/>
            </a:pPr>
            <a:r>
              <a:rPr lang="en-US" sz="1100" spc="500" kern="0" dirty="0">
                <a:solidFill>
                  <a:schemeClr val="accent2"/>
                </a:solidFill>
                <a:latin typeface="IBM Plex Mono SemiBold" pitchFamily="34" charset="0"/>
                <a:ea typeface="IBM Plex Mono SemiBold" pitchFamily="34" charset="-122"/>
                <a:cs typeface="IBM Plex Mono SemiBold" pitchFamily="34" charset="-120"/>
              </a:rPr>
              <a:t>CHAPTER 02</a:t>
            </a:r>
            <a:endParaRPr lang="en-US" sz="1100" dirty="0"/>
          </a:p>
        </p:txBody>
      </p:sp>
      <p:pic>
        <p:nvPicPr>
          <p:cNvPr id="3" name="title-blob" descr="preencoded.png">    </p:cNvPr>
          <p:cNvPicPr>
            <a:picLocks noChangeAspect="1"/>
          </p:cNvPicPr>
          <p:nvPr/>
        </p:nvPicPr>
        <p:blipFill>
          <a:blip r:embed="rId1"/>
          <a:stretch>
            <a:fillRect/>
          </a:stretch>
        </p:blipFill>
        <p:spPr>
          <a:xfrm>
            <a:off x="2285056" y="2633472"/>
            <a:ext cx="7521447" cy="1463040"/>
          </a:xfrm>
          <a:prstGeom prst="rect">
            <a:avLst/>
          </a:prstGeom>
        </p:spPr>
      </p:pic>
      <p:sp>
        <p:nvSpPr>
          <p:cNvPr id="4" name="Text 2"/>
          <p:cNvSpPr/>
          <p:nvPr>
            <p:ph idx="103" type="title" hasCustomPrompt="1"/>
          </p:nvPr>
        </p:nvSpPr>
        <p:spPr>
          <a:xfrm>
            <a:off x="457200" y="2898648"/>
            <a:ext cx="11277295" cy="914400"/>
          </a:xfrm>
          <a:prstGeom prst="rect">
            <a:avLst/>
          </a:prstGeom>
          <a:noFill/>
          <a:ln/>
        </p:spPr>
        <p:txBody>
          <a:bodyPr wrap="square" lIns="0" tIns="0" rIns="0" bIns="0" rtlCol="0" anchor="ctr"/>
          <a:lstStyle/>
          <a:p>
            <a:pPr algn="ctr" indent="0" marL="0">
              <a:buNone/>
            </a:pPr>
            <a:r>
              <a:rPr lang="en-US" sz="5400" dirty="0">
                <a:solidFill>
                  <a:schemeClr val="bg1"/>
                </a:solidFill>
                <a:latin typeface="Anton" pitchFamily="34" charset="0"/>
                <a:ea typeface="Anton" pitchFamily="34" charset="-122"/>
                <a:cs typeface="Anton" pitchFamily="34" charset="-120"/>
              </a:rPr>
              <a:t>THE SOLANA VAULT</a:t>
            </a:r>
            <a:endParaRPr lang="en-US" sz="5400" dirty="0"/>
          </a:p>
        </p:txBody>
      </p:sp>
      <p:sp>
        <p:nvSpPr>
          <p:cNvPr id="5" name="Text 2"/>
          <p:cNvSpPr txBox="1"/>
          <p:nvPr/>
        </p:nvSpPr>
        <p:spPr>
          <a:xfrm>
            <a:off x="2011680" y="4224528"/>
            <a:ext cx="8168335" cy="640080"/>
          </a:xfrm>
          <a:prstGeom prst="rect">
            <a:avLst/>
          </a:prstGeom>
          <a:noFill/>
          <a:ln/>
        </p:spPr>
        <p:txBody>
          <a:bodyPr wrap="square" lIns="0" tIns="0" rIns="0" bIns="0" rtlCol="0" anchor="t"/>
          <a:lstStyle/>
          <a:p>
            <a:pPr algn="ctr" indent="0" marL="0">
              <a:buNone/>
            </a:pPr>
            <a:r>
              <a:rPr lang="en-US" sz="1800" dirty="0">
                <a:solidFill>
                  <a:srgbClr val="C9C9C9"/>
                </a:solidFill>
              </a:rPr>
              <a:t>A separate </a:t>
            </a:r>
            <a:pPr algn="ctr" indent="0" marL="0">
              <a:buNone/>
            </a:pPr>
            <a:r>
              <a:rPr lang="en-US" sz="1800" b="1" dirty="0">
                <a:solidFill>
                  <a:schemeClr val="bg1"/>
                </a:solidFill>
              </a:rPr>
              <a:t>devnet prototype</a:t>
            </a:r>
            <a:pPr algn="ctr" indent="0" marL="0">
              <a:buNone/>
            </a:pPr>
            <a:r>
              <a:rPr lang="en-US" sz="1800" dirty="0">
                <a:solidFill>
                  <a:srgbClr val="C9C9C9"/>
                </a:solidFill>
              </a:rPr>
              <a:t>: the program enforces the rules.</a:t>
            </a:r>
            <a:endParaRPr lang="en-US" sz="1800" dirty="0"/>
          </a:p>
        </p:txBody>
      </p:sp>
      <p:pic>
        <p:nvPicPr>
          <p:cNvPr id="6" name="sticker-vault" descr="vault sticker">    </p:cNvPr>
          <p:cNvPicPr>
            <a:picLocks noChangeAspect="1"/>
          </p:cNvPicPr>
          <p:nvPr/>
        </p:nvPicPr>
        <p:blipFill>
          <a:blip r:embed="rId2"/>
          <a:stretch>
            <a:fillRect/>
          </a:stretch>
        </p:blipFill>
        <p:spPr>
          <a:xfrm rot="600000">
            <a:off x="9784080" y="914400"/>
            <a:ext cx="1234440" cy="1234440"/>
          </a:xfrm>
          <a:prstGeom prst="rect">
            <a:avLst/>
          </a:prstGeom>
        </p:spPr>
      </p:pic>
      <p:pic>
        <p:nvPicPr>
          <p:cNvPr id="7" name="sticker-shield" descr="shield sticker">    </p:cNvPr>
          <p:cNvPicPr>
            <a:picLocks noChangeAspect="1"/>
          </p:cNvPicPr>
          <p:nvPr/>
        </p:nvPicPr>
        <p:blipFill>
          <a:blip r:embed="rId3"/>
          <a:stretch>
            <a:fillRect/>
          </a:stretch>
        </p:blipFill>
        <p:spPr>
          <a:xfrm rot="-600000">
            <a:off x="1143000" y="4206240"/>
            <a:ext cx="1188720" cy="1188720"/>
          </a:xfrm>
          <a:prstGeom prst="rect">
            <a:avLst/>
          </a:prstGeom>
        </p:spPr>
      </p:pic>
      <p:pic>
        <p:nvPicPr>
          <p:cNvPr id="8" name="sticker-bolt" descr="bolt sticker">    </p:cNvPr>
          <p:cNvPicPr>
            <a:picLocks noChangeAspect="1"/>
          </p:cNvPicPr>
          <p:nvPr/>
        </p:nvPicPr>
        <p:blipFill>
          <a:blip r:embed="rId4"/>
          <a:stretch>
            <a:fillRect/>
          </a:stretch>
        </p:blipFill>
        <p:spPr>
          <a:xfrm rot="480000">
            <a:off x="10058400" y="4892040"/>
            <a:ext cx="868680" cy="868680"/>
          </a:xfrm>
          <a:prstGeom prst="rect">
            <a:avLst/>
          </a:prstGeom>
        </p:spPr>
      </p:pic>
      <p:sp>
        <p:nvSpPr>
          <p:cNvPr id="9" name="Text 3"/>
          <p:cNvSpPr txBox="1"/>
          <p:nvPr/>
        </p:nvSpPr>
        <p:spPr>
          <a:xfrm>
            <a:off x="10225735" y="6382512"/>
            <a:ext cx="1280160" cy="237744"/>
          </a:xfrm>
          <a:prstGeom prst="rect">
            <a:avLst/>
          </a:prstGeom>
          <a:noFill/>
          <a:ln/>
        </p:spPr>
        <p:txBody>
          <a:bodyPr wrap="square" lIns="0" tIns="0" rIns="0" bIns="0" rtlCol="0" anchor="t"/>
          <a:lstStyle/>
          <a:p>
            <a:pPr algn="r" indent="0" marL="0">
              <a:buNone/>
            </a:pPr>
            <a:r>
              <a:rPr lang="en-US" sz="950" spc="200" kern="0" dirty="0">
                <a:solidFill>
                  <a:srgbClr val="6E6E6E"/>
                </a:solidFill>
                <a:latin typeface="IBM Plex Mono" pitchFamily="34" charset="0"/>
                <a:ea typeface="IBM Plex Mono" pitchFamily="34" charset="-122"/>
                <a:cs typeface="IBM Plex Mono" pitchFamily="34" charset="-120"/>
              </a:rPr>
              <a:t>10 / 18</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title-blob" descr="preencoded.png">    </p:cNvPr>
          <p:cNvPicPr>
            <a:picLocks noChangeAspect="1"/>
          </p:cNvPicPr>
          <p:nvPr/>
        </p:nvPicPr>
        <p:blipFill>
          <a:blip r:embed="rId1"/>
          <a:stretch>
            <a:fillRect/>
          </a:stretch>
        </p:blipFill>
        <p:spPr>
          <a:xfrm>
            <a:off x="-538794" y="420624"/>
            <a:ext cx="5828018" cy="1024128"/>
          </a:xfrm>
          <a:prstGeom prst="rect">
            <a:avLst/>
          </a:prstGeom>
        </p:spPr>
      </p:pic>
      <p:sp>
        <p:nvSpPr>
          <p:cNvPr id="3" name="Text 2"/>
          <p:cNvSpPr/>
          <p:nvPr>
            <p:ph idx="103" type="title" hasCustomPrompt="1"/>
          </p:nvPr>
        </p:nvSpPr>
        <p:spPr>
          <a:xfrm>
            <a:off x="685800" y="640080"/>
            <a:ext cx="10820095" cy="603504"/>
          </a:xfrm>
          <a:prstGeom prst="rect">
            <a:avLst/>
          </a:prstGeom>
          <a:noFill/>
          <a:ln/>
        </p:spPr>
        <p:txBody>
          <a:bodyPr wrap="square" lIns="0" tIns="0" rIns="0" bIns="0" rtlCol="0" anchor="ctr"/>
          <a:lstStyle/>
          <a:p>
            <a:pPr algn="l" indent="0" marL="0">
              <a:buNone/>
            </a:pPr>
            <a:r>
              <a:rPr lang="en-US" sz="3400" dirty="0">
                <a:solidFill>
                  <a:schemeClr val="bg1"/>
                </a:solidFill>
                <a:latin typeface="Anton" pitchFamily="34" charset="0"/>
                <a:ea typeface="Anton" pitchFamily="34" charset="-122"/>
                <a:cs typeface="Anton" pitchFamily="34" charset="-120"/>
              </a:rPr>
              <a:t>THE VAULT PROGRAM</a:t>
            </a:r>
            <a:endParaRPr lang="en-US" sz="3400" dirty="0"/>
          </a:p>
        </p:txBody>
      </p:sp>
      <p:sp>
        <p:nvSpPr>
          <p:cNvPr id="4" name="Text 1"/>
          <p:cNvSpPr txBox="1"/>
          <p:nvPr/>
        </p:nvSpPr>
        <p:spPr>
          <a:xfrm>
            <a:off x="685800" y="1481328"/>
            <a:ext cx="7863840" cy="640080"/>
          </a:xfrm>
          <a:prstGeom prst="rect">
            <a:avLst/>
          </a:prstGeom>
          <a:noFill/>
          <a:ln/>
        </p:spPr>
        <p:txBody>
          <a:bodyPr wrap="square" lIns="0" tIns="0" rIns="0" bIns="0" rtlCol="0" anchor="t"/>
          <a:lstStyle/>
          <a:p>
            <a:pPr indent="0" marL="0">
              <a:lnSpc>
                <a:spcPct val="100000"/>
              </a:lnSpc>
              <a:buNone/>
            </a:pPr>
            <a:r>
              <a:rPr lang="en-US" sz="1700" dirty="0">
                <a:solidFill>
                  <a:srgbClr val="C9C9C9"/>
                </a:solidFill>
              </a:rPr>
              <a:t>A separate Anchor prototype on devnet: </a:t>
            </a:r>
            <a:pPr indent="0" marL="0">
              <a:lnSpc>
                <a:spcPct val="100000"/>
              </a:lnSpc>
              <a:buNone/>
            </a:pPr>
            <a:r>
              <a:rPr lang="en-US" sz="1700" b="1" dirty="0">
                <a:solidFill>
                  <a:schemeClr val="bg1"/>
                </a:solidFill>
              </a:rPr>
              <a:t>the program enforces the rules</a:t>
            </a:r>
            <a:pPr indent="0" marL="0">
              <a:lnSpc>
                <a:spcPct val="100000"/>
              </a:lnSpc>
              <a:buNone/>
            </a:pPr>
            <a:r>
              <a:rPr lang="en-US" sz="1700" dirty="0">
                <a:solidFill>
                  <a:srgbClr val="C9C9C9"/>
                </a:solidFill>
              </a:rPr>
              <a:t>.</a:t>
            </a:r>
            <a:endParaRPr lang="en-US" sz="1700" dirty="0"/>
          </a:p>
        </p:txBody>
      </p:sp>
      <p:sp>
        <p:nvSpPr>
          <p:cNvPr id="5" name="wallet"/>
          <p:cNvSpPr/>
          <p:nvPr/>
        </p:nvSpPr>
        <p:spPr>
          <a:xfrm>
            <a:off x="685800" y="3063240"/>
            <a:ext cx="1920240" cy="1371600"/>
          </a:xfrm>
          <a:prstGeom prst="roundRect">
            <a:avLst>
              <a:gd name="adj" fmla="val 8000"/>
            </a:avLst>
          </a:prstGeom>
          <a:solidFill>
            <a:schemeClr val="accent5"/>
          </a:solidFill>
          <a:ln w="15875">
            <a:solidFill>
              <a:schemeClr val="accent6"/>
            </a:solidFill>
            <a:prstDash val="solid"/>
          </a:ln>
        </p:spPr>
      </p:sp>
      <p:pic>
        <p:nvPicPr>
          <p:cNvPr id="6" name="Image 1" descr="Wallet">    </p:cNvPr>
          <p:cNvPicPr>
            <a:picLocks noChangeAspect="1"/>
          </p:cNvPicPr>
          <p:nvPr/>
        </p:nvPicPr>
        <p:blipFill>
          <a:blip r:embed="rId2"/>
          <a:stretch>
            <a:fillRect/>
          </a:stretch>
        </p:blipFill>
        <p:spPr>
          <a:xfrm>
            <a:off x="914400" y="3264408"/>
            <a:ext cx="365760" cy="365760"/>
          </a:xfrm>
          <a:prstGeom prst="rect">
            <a:avLst/>
          </a:prstGeom>
        </p:spPr>
      </p:pic>
      <p:sp>
        <p:nvSpPr>
          <p:cNvPr id="7" name="Text 3"/>
          <p:cNvSpPr txBox="1"/>
          <p:nvPr/>
        </p:nvSpPr>
        <p:spPr>
          <a:xfrm>
            <a:off x="914400" y="3721608"/>
            <a:ext cx="1554480" cy="274320"/>
          </a:xfrm>
          <a:prstGeom prst="rect">
            <a:avLst/>
          </a:prstGeom>
          <a:noFill/>
          <a:ln/>
        </p:spPr>
        <p:txBody>
          <a:bodyPr wrap="square" lIns="0" tIns="0" rIns="0" bIns="0" rtlCol="0" anchor="t"/>
          <a:lstStyle/>
          <a:p>
            <a:pPr indent="0" marL="0">
              <a:buNone/>
            </a:pPr>
            <a:r>
              <a:rPr lang="en-US" sz="1500" b="1" dirty="0">
                <a:solidFill>
                  <a:schemeClr val="bg1"/>
                </a:solidFill>
              </a:rPr>
              <a:t>User wallet</a:t>
            </a:r>
            <a:endParaRPr lang="en-US" sz="1500" dirty="0"/>
          </a:p>
        </p:txBody>
      </p:sp>
      <p:sp>
        <p:nvSpPr>
          <p:cNvPr id="8" name="Text 4"/>
          <p:cNvSpPr txBox="1"/>
          <p:nvPr/>
        </p:nvSpPr>
        <p:spPr>
          <a:xfrm>
            <a:off x="914400" y="4005072"/>
            <a:ext cx="1554480" cy="274320"/>
          </a:xfrm>
          <a:prstGeom prst="rect">
            <a:avLst/>
          </a:prstGeom>
          <a:noFill/>
          <a:ln/>
        </p:spPr>
        <p:txBody>
          <a:bodyPr wrap="square" lIns="0" tIns="0" rIns="0" bIns="0" rtlCol="0" anchor="t"/>
          <a:lstStyle/>
          <a:p>
            <a:pPr indent="0" marL="0">
              <a:buNone/>
            </a:pPr>
            <a:r>
              <a:rPr lang="en-US" sz="1100" dirty="0">
                <a:solidFill>
                  <a:schemeClr val="bg2"/>
                </a:solidFill>
              </a:rPr>
              <a:t>Signs every user action</a:t>
            </a:r>
            <a:endParaRPr lang="en-US" sz="1100" dirty="0"/>
          </a:p>
        </p:txBody>
      </p:sp>
      <p:sp>
        <p:nvSpPr>
          <p:cNvPr id="9" name="Text 5"/>
          <p:cNvSpPr txBox="1"/>
          <p:nvPr/>
        </p:nvSpPr>
        <p:spPr>
          <a:xfrm rot="-180000">
            <a:off x="640080" y="4846320"/>
            <a:ext cx="2011680" cy="310896"/>
          </a:xfrm>
          <a:prstGeom prst="rect">
            <a:avLst/>
          </a:prstGeom>
          <a:solidFill>
            <a:schemeClr val="accent2"/>
          </a:solidFill>
          <a:ln>
            <a:solidFill>
              <a:schemeClr val="accent2"/>
            </a:solidFill>
          </a:ln>
        </p:spPr>
        <p:txBody>
          <a:bodyPr wrap="square" lIns="0" tIns="0" rIns="0" bIns="0" rtlCol="0" anchor="ctr"/>
          <a:lstStyle/>
          <a:p>
            <a:pPr algn="ctr" indent="0" marL="0">
              <a:buNone/>
            </a:pPr>
            <a:r>
              <a:rPr lang="en-US" sz="900" spc="250" kern="0" dirty="0">
                <a:solidFill>
                  <a:srgbClr val="141414"/>
                </a:solidFill>
                <a:latin typeface="IBM Plex Mono SemiBold" pitchFamily="34" charset="0"/>
                <a:ea typeface="IBM Plex Mono SemiBold" pitchFamily="34" charset="-122"/>
                <a:cs typeface="IBM Plex Mono SemiBold" pitchFamily="34" charset="-120"/>
              </a:rPr>
              <a:t>DEVNET · UNAUDITED</a:t>
            </a:r>
            <a:endParaRPr lang="en-US" sz="900" dirty="0"/>
          </a:p>
        </p:txBody>
      </p:sp>
      <p:sp>
        <p:nvSpPr>
          <p:cNvPr id="10" name="Text 6"/>
          <p:cNvSpPr txBox="1"/>
          <p:nvPr/>
        </p:nvSpPr>
        <p:spPr>
          <a:xfrm rot="120000">
            <a:off x="822960" y="5276088"/>
            <a:ext cx="1645920" cy="310896"/>
          </a:xfrm>
          <a:prstGeom prst="rect">
            <a:avLst/>
          </a:prstGeom>
          <a:solidFill>
            <a:schemeClr val="accent4"/>
          </a:solidFill>
          <a:ln>
            <a:solidFill>
              <a:schemeClr val="accent4"/>
            </a:solidFill>
          </a:ln>
        </p:spPr>
        <p:txBody>
          <a:bodyPr wrap="square" lIns="0" tIns="0" rIns="0" bIns="0" rtlCol="0" anchor="ctr"/>
          <a:lstStyle/>
          <a:p>
            <a:pPr algn="ctr" indent="0" marL="0">
              <a:buNone/>
            </a:pPr>
            <a:r>
              <a:rPr lang="en-US" sz="900" spc="250" kern="0" dirty="0">
                <a:solidFill>
                  <a:srgbClr val="141414"/>
                </a:solidFill>
                <a:latin typeface="IBM Plex Mono SemiBold" pitchFamily="34" charset="0"/>
                <a:ea typeface="IBM Plex Mono SemiBold" pitchFamily="34" charset="-122"/>
                <a:cs typeface="IBM Plex Mono SemiBold" pitchFamily="34" charset="-120"/>
              </a:rPr>
              <a:t>PRACTICE POOLS</a:t>
            </a:r>
            <a:endParaRPr lang="en-US" sz="900" dirty="0"/>
          </a:p>
        </p:txBody>
      </p:sp>
      <p:sp>
        <p:nvSpPr>
          <p:cNvPr id="11" name="program"/>
          <p:cNvSpPr/>
          <p:nvPr/>
        </p:nvSpPr>
        <p:spPr>
          <a:xfrm>
            <a:off x="3474720" y="2331720"/>
            <a:ext cx="4206240" cy="3749040"/>
          </a:xfrm>
          <a:prstGeom prst="roundRect">
            <a:avLst>
              <a:gd name="adj" fmla="val 2927"/>
            </a:avLst>
          </a:prstGeom>
          <a:solidFill>
            <a:schemeClr val="tx2"/>
          </a:solidFill>
          <a:ln w="15875">
            <a:solidFill>
              <a:schemeClr val="accent4"/>
            </a:solidFill>
            <a:prstDash val="solid"/>
          </a:ln>
        </p:spPr>
      </p:sp>
      <p:pic>
        <p:nvPicPr>
          <p:cNvPr id="12" name="Image 2" descr="Program">    </p:cNvPr>
          <p:cNvPicPr>
            <a:picLocks noChangeAspect="1"/>
          </p:cNvPicPr>
          <p:nvPr/>
        </p:nvPicPr>
        <p:blipFill>
          <a:blip r:embed="rId3"/>
          <a:stretch>
            <a:fillRect/>
          </a:stretch>
        </p:blipFill>
        <p:spPr>
          <a:xfrm>
            <a:off x="3749040" y="2560320"/>
            <a:ext cx="347472" cy="347472"/>
          </a:xfrm>
          <a:prstGeom prst="rect">
            <a:avLst/>
          </a:prstGeom>
        </p:spPr>
      </p:pic>
      <p:sp>
        <p:nvSpPr>
          <p:cNvPr id="13" name="Text 8"/>
          <p:cNvSpPr txBox="1"/>
          <p:nvPr/>
        </p:nvSpPr>
        <p:spPr>
          <a:xfrm>
            <a:off x="4206240" y="2514600"/>
            <a:ext cx="3291840" cy="274320"/>
          </a:xfrm>
          <a:prstGeom prst="rect">
            <a:avLst/>
          </a:prstGeom>
          <a:noFill/>
          <a:ln/>
        </p:spPr>
        <p:txBody>
          <a:bodyPr wrap="square" lIns="0" tIns="0" rIns="0" bIns="0" rtlCol="0" anchor="t"/>
          <a:lstStyle/>
          <a:p>
            <a:pPr indent="0" marL="0">
              <a:buNone/>
            </a:pPr>
            <a:r>
              <a:rPr lang="en-US" sz="1500" b="1" dirty="0">
                <a:solidFill>
                  <a:schemeClr val="bg1"/>
                </a:solidFill>
              </a:rPr>
              <a:t>StableSave Vault program</a:t>
            </a:r>
            <a:endParaRPr lang="en-US" sz="1500" dirty="0"/>
          </a:p>
        </p:txBody>
      </p:sp>
      <p:sp>
        <p:nvSpPr>
          <p:cNvPr id="14" name="Text 9"/>
          <p:cNvSpPr txBox="1"/>
          <p:nvPr/>
        </p:nvSpPr>
        <p:spPr>
          <a:xfrm>
            <a:off x="4206240" y="2807208"/>
            <a:ext cx="3291840" cy="219456"/>
          </a:xfrm>
          <a:prstGeom prst="rect">
            <a:avLst/>
          </a:prstGeom>
          <a:noFill/>
          <a:ln/>
        </p:spPr>
        <p:txBody>
          <a:bodyPr wrap="square" lIns="0" tIns="0" rIns="0" bIns="0" rtlCol="0" anchor="t"/>
          <a:lstStyle/>
          <a:p>
            <a:pPr indent="0" marL="0">
              <a:buNone/>
            </a:pPr>
            <a:r>
              <a:rPr lang="en-US" sz="850" spc="150" kern="0" dirty="0">
                <a:solidFill>
                  <a:schemeClr val="bg2"/>
                </a:solidFill>
                <a:latin typeface="IBM Plex Mono" pitchFamily="34" charset="0"/>
                <a:ea typeface="IBM Plex Mono" pitchFamily="34" charset="-122"/>
                <a:cs typeface="IBM Plex Mono" pitchFamily="34" charset="-120"/>
              </a:rPr>
              <a:t>ANCHOR · DEVNET · 16 INSTRUCTIONS</a:t>
            </a:r>
            <a:endParaRPr lang="en-US" sz="850" dirty="0"/>
          </a:p>
        </p:txBody>
      </p:sp>
      <p:sp>
        <p:nvSpPr>
          <p:cNvPr id="15" name="Text 10"/>
          <p:cNvSpPr txBox="1"/>
          <p:nvPr/>
        </p:nvSpPr>
        <p:spPr>
          <a:xfrm>
            <a:off x="3749040" y="3200400"/>
            <a:ext cx="3657600" cy="237744"/>
          </a:xfrm>
          <a:prstGeom prst="rect">
            <a:avLst/>
          </a:prstGeom>
          <a:noFill/>
          <a:ln/>
        </p:spPr>
        <p:txBody>
          <a:bodyPr wrap="square" lIns="0" tIns="0" rIns="0" bIns="0" rtlCol="0" anchor="t"/>
          <a:lstStyle/>
          <a:p>
            <a:pPr indent="0" marL="0">
              <a:buNone/>
            </a:pPr>
            <a:r>
              <a:rPr lang="en-US" sz="1000" spc="250" kern="0" dirty="0">
                <a:solidFill>
                  <a:schemeClr val="accent1"/>
                </a:solidFill>
                <a:latin typeface="IBM Plex Mono" pitchFamily="34" charset="0"/>
                <a:ea typeface="IBM Plex Mono" pitchFamily="34" charset="-122"/>
                <a:cs typeface="IBM Plex Mono" pitchFamily="34" charset="-120"/>
              </a:rPr>
              <a:t>PROGRAM-ENFORCED CHECKS</a:t>
            </a:r>
            <a:endParaRPr lang="en-US" sz="1000" dirty="0"/>
          </a:p>
        </p:txBody>
      </p:sp>
      <p:pic>
        <p:nvPicPr>
          <p:cNvPr id="16" name="Image 3" descr="/home/user/Stablesaver/presentation/assets/graphics/star-bullet.png">    </p:cNvPr>
          <p:cNvPicPr>
            <a:picLocks noChangeAspect="1"/>
          </p:cNvPicPr>
          <p:nvPr/>
        </p:nvPicPr>
        <p:blipFill>
          <a:blip r:embed="rId4"/>
          <a:stretch>
            <a:fillRect/>
          </a:stretch>
        </p:blipFill>
        <p:spPr>
          <a:xfrm>
            <a:off x="3749040" y="3546602"/>
            <a:ext cx="155448" cy="155448"/>
          </a:xfrm>
          <a:prstGeom prst="rect">
            <a:avLst/>
          </a:prstGeom>
        </p:spPr>
      </p:pic>
      <p:sp>
        <p:nvSpPr>
          <p:cNvPr id="17" name="Text 11"/>
          <p:cNvSpPr txBox="1"/>
          <p:nvPr/>
        </p:nvSpPr>
        <p:spPr>
          <a:xfrm>
            <a:off x="4041648" y="3502152"/>
            <a:ext cx="3410712" cy="329184"/>
          </a:xfrm>
          <a:prstGeom prst="rect">
            <a:avLst/>
          </a:prstGeom>
          <a:noFill/>
          <a:ln/>
        </p:spPr>
        <p:txBody>
          <a:bodyPr wrap="square" lIns="0" tIns="0" rIns="0" bIns="0" rtlCol="0" anchor="t"/>
          <a:lstStyle/>
          <a:p>
            <a:pPr indent="0" marL="0">
              <a:lnSpc>
                <a:spcPct val="105000"/>
              </a:lnSpc>
              <a:buNone/>
            </a:pPr>
            <a:r>
              <a:rPr lang="en-US" sz="1250" dirty="0">
                <a:solidFill>
                  <a:schemeClr val="bg1"/>
                </a:solidFill>
              </a:rPr>
              <a:t>Not paused</a:t>
            </a:r>
            <a:endParaRPr lang="en-US" sz="1250" dirty="0"/>
          </a:p>
        </p:txBody>
      </p:sp>
      <p:pic>
        <p:nvPicPr>
          <p:cNvPr id="18" name="Image 4" descr="/home/user/Stablesaver/presentation/assets/graphics/star-bullet.png">    </p:cNvPr>
          <p:cNvPicPr>
            <a:picLocks noChangeAspect="1"/>
          </p:cNvPicPr>
          <p:nvPr/>
        </p:nvPicPr>
        <p:blipFill>
          <a:blip r:embed="rId5"/>
          <a:stretch>
            <a:fillRect/>
          </a:stretch>
        </p:blipFill>
        <p:spPr>
          <a:xfrm>
            <a:off x="3749040" y="3930650"/>
            <a:ext cx="155448" cy="155448"/>
          </a:xfrm>
          <a:prstGeom prst="rect">
            <a:avLst/>
          </a:prstGeom>
        </p:spPr>
      </p:pic>
      <p:sp>
        <p:nvSpPr>
          <p:cNvPr id="19" name="Text 12"/>
          <p:cNvSpPr txBox="1"/>
          <p:nvPr/>
        </p:nvSpPr>
        <p:spPr>
          <a:xfrm>
            <a:off x="4041648" y="3886200"/>
            <a:ext cx="3410712" cy="329184"/>
          </a:xfrm>
          <a:prstGeom prst="rect">
            <a:avLst/>
          </a:prstGeom>
          <a:noFill/>
          <a:ln/>
        </p:spPr>
        <p:txBody>
          <a:bodyPr wrap="square" lIns="0" tIns="0" rIns="0" bIns="0" rtlCol="0" anchor="t"/>
          <a:lstStyle/>
          <a:p>
            <a:pPr indent="0" marL="0">
              <a:lnSpc>
                <a:spcPct val="105000"/>
              </a:lnSpc>
              <a:buNone/>
            </a:pPr>
            <a:r>
              <a:rPr lang="en-US" sz="1250" dirty="0">
                <a:solidFill>
                  <a:schemeClr val="bg1"/>
                </a:solidFill>
              </a:rPr>
              <a:t>Deposit ≥ minimum, under the vault cap</a:t>
            </a:r>
            <a:endParaRPr lang="en-US" sz="1250" dirty="0"/>
          </a:p>
        </p:txBody>
      </p:sp>
      <p:pic>
        <p:nvPicPr>
          <p:cNvPr id="20" name="Image 5" descr="/home/user/Stablesaver/presentation/assets/graphics/star-bullet.png">    </p:cNvPr>
          <p:cNvPicPr>
            <a:picLocks noChangeAspect="1"/>
          </p:cNvPicPr>
          <p:nvPr/>
        </p:nvPicPr>
        <p:blipFill>
          <a:blip r:embed="rId6"/>
          <a:stretch>
            <a:fillRect/>
          </a:stretch>
        </p:blipFill>
        <p:spPr>
          <a:xfrm>
            <a:off x="3749040" y="4314698"/>
            <a:ext cx="155448" cy="155448"/>
          </a:xfrm>
          <a:prstGeom prst="rect">
            <a:avLst/>
          </a:prstGeom>
        </p:spPr>
      </p:pic>
      <p:sp>
        <p:nvSpPr>
          <p:cNvPr id="21" name="Text 13"/>
          <p:cNvSpPr txBox="1"/>
          <p:nvPr/>
        </p:nvSpPr>
        <p:spPr>
          <a:xfrm>
            <a:off x="4041648" y="4270248"/>
            <a:ext cx="3410712" cy="329184"/>
          </a:xfrm>
          <a:prstGeom prst="rect">
            <a:avLst/>
          </a:prstGeom>
          <a:noFill/>
          <a:ln/>
        </p:spPr>
        <p:txBody>
          <a:bodyPr wrap="square" lIns="0" tIns="0" rIns="0" bIns="0" rtlCol="0" anchor="t"/>
          <a:lstStyle/>
          <a:p>
            <a:pPr indent="0" marL="0">
              <a:lnSpc>
                <a:spcPct val="105000"/>
              </a:lnSpc>
              <a:buNone/>
            </a:pPr>
            <a:r>
              <a:rPr lang="en-US" sz="1250" dirty="0">
                <a:solidFill>
                  <a:schemeClr val="bg1"/>
                </a:solidFill>
              </a:rPr>
              <a:t>Instant: 2,000 per wallet, 50,000 per vault / 24 h</a:t>
            </a:r>
            <a:endParaRPr lang="en-US" sz="1250" dirty="0"/>
          </a:p>
        </p:txBody>
      </p:sp>
      <p:pic>
        <p:nvPicPr>
          <p:cNvPr id="22" name="Image 6" descr="/home/user/Stablesaver/presentation/assets/graphics/star-bullet.png">    </p:cNvPr>
          <p:cNvPicPr>
            <a:picLocks noChangeAspect="1"/>
          </p:cNvPicPr>
          <p:nvPr/>
        </p:nvPicPr>
        <p:blipFill>
          <a:blip r:embed="rId7"/>
          <a:stretch>
            <a:fillRect/>
          </a:stretch>
        </p:blipFill>
        <p:spPr>
          <a:xfrm>
            <a:off x="3749040" y="4698746"/>
            <a:ext cx="155448" cy="155448"/>
          </a:xfrm>
          <a:prstGeom prst="rect">
            <a:avLst/>
          </a:prstGeom>
        </p:spPr>
      </p:pic>
      <p:sp>
        <p:nvSpPr>
          <p:cNvPr id="23" name="Text 14"/>
          <p:cNvSpPr txBox="1"/>
          <p:nvPr/>
        </p:nvSpPr>
        <p:spPr>
          <a:xfrm>
            <a:off x="4041648" y="4654296"/>
            <a:ext cx="3410712" cy="329184"/>
          </a:xfrm>
          <a:prstGeom prst="rect">
            <a:avLst/>
          </a:prstGeom>
          <a:noFill/>
          <a:ln/>
        </p:spPr>
        <p:txBody>
          <a:bodyPr wrap="square" lIns="0" tIns="0" rIns="0" bIns="0" rtlCol="0" anchor="t"/>
          <a:lstStyle/>
          <a:p>
            <a:pPr indent="0" marL="0">
              <a:lnSpc>
                <a:spcPct val="105000"/>
              </a:lnSpc>
              <a:buNone/>
            </a:pPr>
            <a:r>
              <a:rPr lang="en-US" sz="1250" dirty="0">
                <a:solidFill>
                  <a:schemeClr val="bg1"/>
                </a:solidFill>
              </a:rPr>
              <a:t>Bigger: request, wait 30 min, then execute</a:t>
            </a:r>
            <a:endParaRPr lang="en-US" sz="1250" dirty="0"/>
          </a:p>
        </p:txBody>
      </p:sp>
      <p:pic>
        <p:nvPicPr>
          <p:cNvPr id="24" name="Image 7" descr="/home/user/Stablesaver/presentation/assets/graphics/star-bullet.png">    </p:cNvPr>
          <p:cNvPicPr>
            <a:picLocks noChangeAspect="1"/>
          </p:cNvPicPr>
          <p:nvPr/>
        </p:nvPicPr>
        <p:blipFill>
          <a:blip r:embed="rId8"/>
          <a:stretch>
            <a:fillRect/>
          </a:stretch>
        </p:blipFill>
        <p:spPr>
          <a:xfrm>
            <a:off x="3749040" y="5082794"/>
            <a:ext cx="155448" cy="155448"/>
          </a:xfrm>
          <a:prstGeom prst="rect">
            <a:avLst/>
          </a:prstGeom>
        </p:spPr>
      </p:pic>
      <p:sp>
        <p:nvSpPr>
          <p:cNvPr id="25" name="Text 15"/>
          <p:cNvSpPr txBox="1"/>
          <p:nvPr/>
        </p:nvSpPr>
        <p:spPr>
          <a:xfrm>
            <a:off x="4041648" y="5038344"/>
            <a:ext cx="3410712" cy="329184"/>
          </a:xfrm>
          <a:prstGeom prst="rect">
            <a:avLst/>
          </a:prstGeom>
          <a:noFill/>
          <a:ln/>
        </p:spPr>
        <p:txBody>
          <a:bodyPr wrap="square" lIns="0" tIns="0" rIns="0" bIns="0" rtlCol="0" anchor="t"/>
          <a:lstStyle/>
          <a:p>
            <a:pPr indent="0" marL="0">
              <a:lnSpc>
                <a:spcPct val="105000"/>
              </a:lnSpc>
              <a:buNone/>
            </a:pPr>
            <a:r>
              <a:rPr lang="en-US" sz="1250" dirty="0">
                <a:solidFill>
                  <a:schemeClr val="bg1"/>
                </a:solidFill>
              </a:rPr>
              <a:t>Shares priced with a virtual offset</a:t>
            </a:r>
            <a:endParaRPr lang="en-US" sz="1250" dirty="0"/>
          </a:p>
        </p:txBody>
      </p:sp>
      <p:sp>
        <p:nvSpPr>
          <p:cNvPr id="26" name="Text 16"/>
          <p:cNvSpPr txBox="1"/>
          <p:nvPr/>
        </p:nvSpPr>
        <p:spPr>
          <a:xfrm>
            <a:off x="3749040" y="5532120"/>
            <a:ext cx="3657600" cy="411480"/>
          </a:xfrm>
          <a:prstGeom prst="rect">
            <a:avLst/>
          </a:prstGeom>
          <a:noFill/>
          <a:ln/>
        </p:spPr>
        <p:txBody>
          <a:bodyPr wrap="square" lIns="0" tIns="0" rIns="0" bIns="0" rtlCol="0" anchor="t"/>
          <a:lstStyle/>
          <a:p>
            <a:pPr indent="0" marL="0">
              <a:buNone/>
            </a:pPr>
            <a:r>
              <a:rPr lang="en-US" sz="1050" b="1" dirty="0">
                <a:solidFill>
                  <a:schemeClr val="bg1"/>
                </a:solidFill>
              </a:rPr>
              <a:t>Admin:</a:t>
            </a:r>
            <a:pPr indent="0" marL="0">
              <a:buNone/>
            </a:pPr>
            <a:r>
              <a:rPr lang="en-US" sz="1050" dirty="0">
                <a:solidFill>
                  <a:schemeClr val="accent2"/>
                </a:solidFill>
              </a:rPr>
              <a:t> authority (settings, unpause, two-step handover) · guardian (pause only)</a:t>
            </a:r>
            <a:endParaRPr lang="en-US" sz="1050" dirty="0"/>
          </a:p>
        </p:txBody>
      </p:sp>
      <p:sp>
        <p:nvSpPr>
          <p:cNvPr id="27" name="arrow-in"/>
          <p:cNvSpPr/>
          <p:nvPr/>
        </p:nvSpPr>
        <p:spPr>
          <a:xfrm>
            <a:off x="2651760" y="3520440"/>
            <a:ext cx="777240" cy="0"/>
          </a:xfrm>
          <a:prstGeom prst="line">
            <a:avLst/>
          </a:prstGeom>
          <a:noFill/>
          <a:ln w="22225">
            <a:solidFill>
              <a:srgbClr val="3DDC97"/>
            </a:solidFill>
            <a:prstDash val="solid"/>
            <a:tailEnd type="triangle"/>
          </a:ln>
        </p:spPr>
      </p:sp>
      <p:sp>
        <p:nvSpPr>
          <p:cNvPr id="28" name="arrow-out"/>
          <p:cNvSpPr/>
          <p:nvPr/>
        </p:nvSpPr>
        <p:spPr>
          <a:xfrm>
            <a:off x="2651760" y="3977640"/>
            <a:ext cx="777240" cy="0"/>
          </a:xfrm>
          <a:prstGeom prst="line">
            <a:avLst/>
          </a:prstGeom>
          <a:noFill/>
          <a:ln w="15875">
            <a:solidFill>
              <a:srgbClr val="A3A3A3"/>
            </a:solidFill>
            <a:prstDash val="solid"/>
            <a:headEnd type="triangle"/>
          </a:ln>
        </p:spPr>
      </p:sp>
      <p:sp>
        <p:nvSpPr>
          <p:cNvPr id="29" name="Text 19"/>
          <p:cNvSpPr txBox="1"/>
          <p:nvPr/>
        </p:nvSpPr>
        <p:spPr>
          <a:xfrm>
            <a:off x="2651760" y="3227832"/>
            <a:ext cx="777240" cy="228600"/>
          </a:xfrm>
          <a:prstGeom prst="rect">
            <a:avLst/>
          </a:prstGeom>
          <a:noFill/>
          <a:ln/>
        </p:spPr>
        <p:txBody>
          <a:bodyPr wrap="square" lIns="0" tIns="0" rIns="0" bIns="0" rtlCol="0" anchor="t"/>
          <a:lstStyle/>
          <a:p>
            <a:pPr algn="ctr" indent="0" marL="0">
              <a:buNone/>
            </a:pPr>
            <a:r>
              <a:rPr lang="en-US" sz="950" spc="100" kern="0" dirty="0">
                <a:solidFill>
                  <a:schemeClr val="accent1"/>
                </a:solidFill>
                <a:latin typeface="IBM Plex Mono" pitchFamily="34" charset="0"/>
                <a:ea typeface="IBM Plex Mono" pitchFamily="34" charset="-122"/>
                <a:cs typeface="IBM Plex Mono" pitchFamily="34" charset="-120"/>
              </a:rPr>
              <a:t>deposit</a:t>
            </a:r>
            <a:endParaRPr lang="en-US" sz="950" dirty="0"/>
          </a:p>
        </p:txBody>
      </p:sp>
      <p:sp>
        <p:nvSpPr>
          <p:cNvPr id="30" name="Text 20"/>
          <p:cNvSpPr txBox="1"/>
          <p:nvPr/>
        </p:nvSpPr>
        <p:spPr>
          <a:xfrm>
            <a:off x="2651760" y="4041648"/>
            <a:ext cx="777240" cy="228600"/>
          </a:xfrm>
          <a:prstGeom prst="rect">
            <a:avLst/>
          </a:prstGeom>
          <a:noFill/>
          <a:ln/>
        </p:spPr>
        <p:txBody>
          <a:bodyPr wrap="square" lIns="0" tIns="0" rIns="0" bIns="0" rtlCol="0" anchor="t"/>
          <a:lstStyle/>
          <a:p>
            <a:pPr algn="ctr" indent="0" marL="0">
              <a:buNone/>
            </a:pPr>
            <a:r>
              <a:rPr lang="en-US" sz="950" spc="100" kern="0" dirty="0">
                <a:solidFill>
                  <a:schemeClr val="bg2"/>
                </a:solidFill>
                <a:latin typeface="IBM Plex Mono" pitchFamily="34" charset="0"/>
                <a:ea typeface="IBM Plex Mono" pitchFamily="34" charset="-122"/>
                <a:cs typeface="IBM Plex Mono" pitchFamily="34" charset="-120"/>
              </a:rPr>
              <a:t>withdraw</a:t>
            </a:r>
            <a:endParaRPr lang="en-US" sz="950" dirty="0"/>
          </a:p>
        </p:txBody>
      </p:sp>
      <p:sp>
        <p:nvSpPr>
          <p:cNvPr id="31" name="acct-0"/>
          <p:cNvSpPr/>
          <p:nvPr/>
        </p:nvSpPr>
        <p:spPr>
          <a:xfrm>
            <a:off x="8046720" y="2331720"/>
            <a:ext cx="3459175" cy="1133856"/>
          </a:xfrm>
          <a:prstGeom prst="roundRect">
            <a:avLst>
              <a:gd name="adj" fmla="val 9677"/>
            </a:avLst>
          </a:prstGeom>
          <a:solidFill>
            <a:schemeClr val="tx2"/>
          </a:solidFill>
          <a:ln w="15875">
            <a:solidFill>
              <a:schemeClr val="accent6"/>
            </a:solidFill>
            <a:prstDash val="solid"/>
          </a:ln>
        </p:spPr>
      </p:sp>
      <p:sp>
        <p:nvSpPr>
          <p:cNvPr id="32" name="Text 22"/>
          <p:cNvSpPr txBox="1"/>
          <p:nvPr/>
        </p:nvSpPr>
        <p:spPr>
          <a:xfrm>
            <a:off x="8275320" y="2450592"/>
            <a:ext cx="3001975" cy="256032"/>
          </a:xfrm>
          <a:prstGeom prst="rect">
            <a:avLst/>
          </a:prstGeom>
          <a:noFill/>
          <a:ln/>
        </p:spPr>
        <p:txBody>
          <a:bodyPr wrap="square" lIns="0" tIns="0" rIns="0" bIns="0" rtlCol="0" anchor="t"/>
          <a:lstStyle/>
          <a:p>
            <a:pPr indent="0" marL="0">
              <a:buNone/>
            </a:pPr>
            <a:r>
              <a:rPr lang="en-US" sz="1400" b="1" dirty="0">
                <a:solidFill>
                  <a:schemeClr val="bg1"/>
                </a:solidFill>
              </a:rPr>
              <a:t>Vault PDA</a:t>
            </a:r>
            <a:endParaRPr lang="en-US" sz="1400" dirty="0"/>
          </a:p>
        </p:txBody>
      </p:sp>
      <p:sp>
        <p:nvSpPr>
          <p:cNvPr id="33" name="Text 23"/>
          <p:cNvSpPr txBox="1"/>
          <p:nvPr/>
        </p:nvSpPr>
        <p:spPr>
          <a:xfrm>
            <a:off x="8275320" y="2715768"/>
            <a:ext cx="3001975" cy="219456"/>
          </a:xfrm>
          <a:prstGeom prst="rect">
            <a:avLst/>
          </a:prstGeom>
          <a:noFill/>
          <a:ln/>
        </p:spPr>
        <p:txBody>
          <a:bodyPr wrap="square" lIns="0" tIns="0" rIns="0" bIns="0" rtlCol="0" anchor="t"/>
          <a:lstStyle/>
          <a:p>
            <a:pPr indent="0" marL="0">
              <a:buNone/>
            </a:pPr>
            <a:r>
              <a:rPr lang="en-US" sz="950" dirty="0">
                <a:solidFill>
                  <a:schemeClr val="accent4"/>
                </a:solidFill>
                <a:latin typeface="IBM Plex Mono" pitchFamily="34" charset="0"/>
                <a:ea typeface="IBM Plex Mono" pitchFamily="34" charset="-122"/>
                <a:cs typeface="IBM Plex Mono" pitchFamily="34" charset="-120"/>
              </a:rPr>
              <a:t>["vault", mint, risk_profile]</a:t>
            </a:r>
            <a:endParaRPr lang="en-US" sz="950" dirty="0"/>
          </a:p>
        </p:txBody>
      </p:sp>
      <p:sp>
        <p:nvSpPr>
          <p:cNvPr id="34" name="Text 24"/>
          <p:cNvSpPr txBox="1"/>
          <p:nvPr/>
        </p:nvSpPr>
        <p:spPr>
          <a:xfrm>
            <a:off x="8275320" y="2953512"/>
            <a:ext cx="3047695" cy="457200"/>
          </a:xfrm>
          <a:prstGeom prst="rect">
            <a:avLst/>
          </a:prstGeom>
          <a:noFill/>
          <a:ln/>
        </p:spPr>
        <p:txBody>
          <a:bodyPr wrap="square" lIns="0" tIns="0" rIns="0" bIns="0" rtlCol="0" anchor="t"/>
          <a:lstStyle/>
          <a:p>
            <a:pPr indent="0" marL="0">
              <a:buNone/>
            </a:pPr>
            <a:r>
              <a:rPr lang="en-US" sz="1100" dirty="0">
                <a:solidFill>
                  <a:schemeClr val="bg2"/>
                </a:solidFill>
              </a:rPr>
              <a:t>Roles, limits, strategy, share totals</a:t>
            </a:r>
            <a:endParaRPr lang="en-US" sz="1100" dirty="0"/>
          </a:p>
        </p:txBody>
      </p:sp>
      <p:sp>
        <p:nvSpPr>
          <p:cNvPr id="35" name="link-0"/>
          <p:cNvSpPr/>
          <p:nvPr/>
        </p:nvSpPr>
        <p:spPr>
          <a:xfrm>
            <a:off x="7726680" y="2898648"/>
            <a:ext cx="274320" cy="0"/>
          </a:xfrm>
          <a:prstGeom prst="line">
            <a:avLst/>
          </a:prstGeom>
          <a:noFill/>
          <a:ln w="15875">
            <a:solidFill>
              <a:srgbClr val="3D3D3D"/>
            </a:solidFill>
            <a:prstDash val="solid"/>
            <a:tailEnd type="oval"/>
          </a:ln>
        </p:spPr>
      </p:sp>
      <p:sp>
        <p:nvSpPr>
          <p:cNvPr id="36" name="acct-1"/>
          <p:cNvSpPr/>
          <p:nvPr/>
        </p:nvSpPr>
        <p:spPr>
          <a:xfrm>
            <a:off x="8046720" y="3639312"/>
            <a:ext cx="3459175" cy="1133856"/>
          </a:xfrm>
          <a:prstGeom prst="roundRect">
            <a:avLst>
              <a:gd name="adj" fmla="val 9677"/>
            </a:avLst>
          </a:prstGeom>
          <a:solidFill>
            <a:schemeClr val="tx2"/>
          </a:solidFill>
          <a:ln w="15875">
            <a:solidFill>
              <a:schemeClr val="accent6"/>
            </a:solidFill>
            <a:prstDash val="solid"/>
          </a:ln>
        </p:spPr>
      </p:sp>
      <p:sp>
        <p:nvSpPr>
          <p:cNvPr id="37" name="Text 27"/>
          <p:cNvSpPr txBox="1"/>
          <p:nvPr/>
        </p:nvSpPr>
        <p:spPr>
          <a:xfrm>
            <a:off x="8275320" y="3758184"/>
            <a:ext cx="3001975" cy="256032"/>
          </a:xfrm>
          <a:prstGeom prst="rect">
            <a:avLst/>
          </a:prstGeom>
          <a:noFill/>
          <a:ln/>
        </p:spPr>
        <p:txBody>
          <a:bodyPr wrap="square" lIns="0" tIns="0" rIns="0" bIns="0" rtlCol="0" anchor="t"/>
          <a:lstStyle/>
          <a:p>
            <a:pPr indent="0" marL="0">
              <a:buNone/>
            </a:pPr>
            <a:r>
              <a:rPr lang="en-US" sz="1400" b="1" dirty="0">
                <a:solidFill>
                  <a:schemeClr val="accent1"/>
                </a:solidFill>
              </a:rPr>
              <a:t>Reserve + practice pools</a:t>
            </a:r>
            <a:endParaRPr lang="en-US" sz="1400" dirty="0"/>
          </a:p>
        </p:txBody>
      </p:sp>
      <p:sp>
        <p:nvSpPr>
          <p:cNvPr id="38" name="Text 28"/>
          <p:cNvSpPr txBox="1"/>
          <p:nvPr/>
        </p:nvSpPr>
        <p:spPr>
          <a:xfrm>
            <a:off x="8275320" y="4023360"/>
            <a:ext cx="3001975" cy="219456"/>
          </a:xfrm>
          <a:prstGeom prst="rect">
            <a:avLst/>
          </a:prstGeom>
          <a:noFill/>
          <a:ln/>
        </p:spPr>
        <p:txBody>
          <a:bodyPr wrap="square" lIns="0" tIns="0" rIns="0" bIns="0" rtlCol="0" anchor="t"/>
          <a:lstStyle/>
          <a:p>
            <a:pPr indent="0" marL="0">
              <a:buNone/>
            </a:pPr>
            <a:r>
              <a:rPr lang="en-US" sz="950" dirty="0">
                <a:solidFill>
                  <a:schemeClr val="accent4"/>
                </a:solidFill>
                <a:latin typeface="IBM Plex Mono" pitchFamily="34" charset="0"/>
                <a:ea typeface="IBM Plex Mono" pitchFamily="34" charset="-122"/>
                <a:cs typeface="IBM Plex Mono" pitchFamily="34" charset="-120"/>
              </a:rPr>
              <a:t>["reserve"] · ["pool", protocol]</a:t>
            </a:r>
            <a:endParaRPr lang="en-US" sz="950" dirty="0"/>
          </a:p>
        </p:txBody>
      </p:sp>
      <p:sp>
        <p:nvSpPr>
          <p:cNvPr id="39" name="Text 29"/>
          <p:cNvSpPr txBox="1"/>
          <p:nvPr/>
        </p:nvSpPr>
        <p:spPr>
          <a:xfrm>
            <a:off x="8275320" y="4261104"/>
            <a:ext cx="3047695" cy="457200"/>
          </a:xfrm>
          <a:prstGeom prst="rect">
            <a:avLst/>
          </a:prstGeom>
          <a:noFill/>
          <a:ln/>
        </p:spPr>
        <p:txBody>
          <a:bodyPr wrap="square" lIns="0" tIns="0" rIns="0" bIns="0" rtlCol="0" anchor="t"/>
          <a:lstStyle/>
          <a:p>
            <a:pPr indent="0" marL="0">
              <a:buNone/>
            </a:pPr>
            <a:r>
              <a:rPr lang="en-US" sz="1100" dirty="0">
                <a:solidFill>
                  <a:schemeClr val="bg2"/>
                </a:solidFill>
              </a:rPr>
              <a:t>20% kept liquid; the rest split by strategy weight. Only the vault signs transfers out</a:t>
            </a:r>
            <a:endParaRPr lang="en-US" sz="1100" dirty="0"/>
          </a:p>
        </p:txBody>
      </p:sp>
      <p:sp>
        <p:nvSpPr>
          <p:cNvPr id="40" name="link-1"/>
          <p:cNvSpPr/>
          <p:nvPr/>
        </p:nvSpPr>
        <p:spPr>
          <a:xfrm>
            <a:off x="7726680" y="4206240"/>
            <a:ext cx="274320" cy="0"/>
          </a:xfrm>
          <a:prstGeom prst="line">
            <a:avLst/>
          </a:prstGeom>
          <a:noFill/>
          <a:ln w="15875">
            <a:solidFill>
              <a:srgbClr val="3D3D3D"/>
            </a:solidFill>
            <a:prstDash val="solid"/>
            <a:tailEnd type="oval"/>
          </a:ln>
        </p:spPr>
      </p:sp>
      <p:sp>
        <p:nvSpPr>
          <p:cNvPr id="41" name="acct-2"/>
          <p:cNvSpPr/>
          <p:nvPr/>
        </p:nvSpPr>
        <p:spPr>
          <a:xfrm>
            <a:off x="8046720" y="4946904"/>
            <a:ext cx="3459175" cy="1133856"/>
          </a:xfrm>
          <a:prstGeom prst="roundRect">
            <a:avLst>
              <a:gd name="adj" fmla="val 9677"/>
            </a:avLst>
          </a:prstGeom>
          <a:solidFill>
            <a:schemeClr val="tx2"/>
          </a:solidFill>
          <a:ln w="15875">
            <a:solidFill>
              <a:schemeClr val="accent6"/>
            </a:solidFill>
            <a:prstDash val="solid"/>
          </a:ln>
        </p:spPr>
      </p:sp>
      <p:sp>
        <p:nvSpPr>
          <p:cNvPr id="42" name="Text 32"/>
          <p:cNvSpPr txBox="1"/>
          <p:nvPr/>
        </p:nvSpPr>
        <p:spPr>
          <a:xfrm>
            <a:off x="8275320" y="5065776"/>
            <a:ext cx="3001975" cy="256032"/>
          </a:xfrm>
          <a:prstGeom prst="rect">
            <a:avLst/>
          </a:prstGeom>
          <a:noFill/>
          <a:ln/>
        </p:spPr>
        <p:txBody>
          <a:bodyPr wrap="square" lIns="0" tIns="0" rIns="0" bIns="0" rtlCol="0" anchor="t"/>
          <a:lstStyle/>
          <a:p>
            <a:pPr indent="0" marL="0">
              <a:buNone/>
            </a:pPr>
            <a:r>
              <a:rPr lang="en-US" sz="1400" b="1" dirty="0">
                <a:solidFill>
                  <a:schemeClr val="bg1"/>
                </a:solidFill>
              </a:rPr>
              <a:t>UserPosition PDA</a:t>
            </a:r>
            <a:endParaRPr lang="en-US" sz="1400" dirty="0"/>
          </a:p>
        </p:txBody>
      </p:sp>
      <p:sp>
        <p:nvSpPr>
          <p:cNvPr id="43" name="Text 33"/>
          <p:cNvSpPr txBox="1"/>
          <p:nvPr/>
        </p:nvSpPr>
        <p:spPr>
          <a:xfrm>
            <a:off x="8275320" y="5330952"/>
            <a:ext cx="3001975" cy="219456"/>
          </a:xfrm>
          <a:prstGeom prst="rect">
            <a:avLst/>
          </a:prstGeom>
          <a:noFill/>
          <a:ln/>
        </p:spPr>
        <p:txBody>
          <a:bodyPr wrap="square" lIns="0" tIns="0" rIns="0" bIns="0" rtlCol="0" anchor="t"/>
          <a:lstStyle/>
          <a:p>
            <a:pPr indent="0" marL="0">
              <a:buNone/>
            </a:pPr>
            <a:r>
              <a:rPr lang="en-US" sz="950" dirty="0">
                <a:solidFill>
                  <a:schemeClr val="accent4"/>
                </a:solidFill>
                <a:latin typeface="IBM Plex Mono" pitchFamily="34" charset="0"/>
                <a:ea typeface="IBM Plex Mono" pitchFamily="34" charset="-122"/>
                <a:cs typeface="IBM Plex Mono" pitchFamily="34" charset="-120"/>
              </a:rPr>
              <a:t>["position", vault, owner]</a:t>
            </a:r>
            <a:endParaRPr lang="en-US" sz="950" dirty="0"/>
          </a:p>
        </p:txBody>
      </p:sp>
      <p:sp>
        <p:nvSpPr>
          <p:cNvPr id="44" name="Text 34"/>
          <p:cNvSpPr txBox="1"/>
          <p:nvPr/>
        </p:nvSpPr>
        <p:spPr>
          <a:xfrm>
            <a:off x="8275320" y="5568696"/>
            <a:ext cx="3047695" cy="457200"/>
          </a:xfrm>
          <a:prstGeom prst="rect">
            <a:avLst/>
          </a:prstGeom>
          <a:noFill/>
          <a:ln/>
        </p:spPr>
        <p:txBody>
          <a:bodyPr wrap="square" lIns="0" tIns="0" rIns="0" bIns="0" rtlCol="0" anchor="t"/>
          <a:lstStyle/>
          <a:p>
            <a:pPr indent="0" marL="0">
              <a:buNone/>
            </a:pPr>
            <a:r>
              <a:rPr lang="en-US" sz="1100" dirty="0">
                <a:solidFill>
                  <a:schemeClr val="bg2"/>
                </a:solidFill>
              </a:rPr>
              <a:t>One depositor's shares and pending withdrawal</a:t>
            </a:r>
            <a:endParaRPr lang="en-US" sz="1100" dirty="0"/>
          </a:p>
        </p:txBody>
      </p:sp>
      <p:sp>
        <p:nvSpPr>
          <p:cNvPr id="45" name="link-2"/>
          <p:cNvSpPr/>
          <p:nvPr/>
        </p:nvSpPr>
        <p:spPr>
          <a:xfrm>
            <a:off x="7726680" y="5513832"/>
            <a:ext cx="274320" cy="0"/>
          </a:xfrm>
          <a:prstGeom prst="line">
            <a:avLst/>
          </a:prstGeom>
          <a:noFill/>
          <a:ln w="15875">
            <a:solidFill>
              <a:srgbClr val="3D3D3D"/>
            </a:solidFill>
            <a:prstDash val="solid"/>
            <a:tailEnd type="oval"/>
          </a:ln>
        </p:spPr>
      </p:sp>
      <p:sp>
        <p:nvSpPr>
          <p:cNvPr id="46" name="Text 36"/>
          <p:cNvSpPr txBox="1"/>
          <p:nvPr/>
        </p:nvSpPr>
        <p:spPr>
          <a:xfrm>
            <a:off x="10225735" y="6382512"/>
            <a:ext cx="1280160" cy="237744"/>
          </a:xfrm>
          <a:prstGeom prst="rect">
            <a:avLst/>
          </a:prstGeom>
          <a:noFill/>
          <a:ln/>
        </p:spPr>
        <p:txBody>
          <a:bodyPr wrap="square" lIns="0" tIns="0" rIns="0" bIns="0" rtlCol="0" anchor="t"/>
          <a:lstStyle/>
          <a:p>
            <a:pPr algn="r" indent="0" marL="0">
              <a:buNone/>
            </a:pPr>
            <a:r>
              <a:rPr lang="en-US" sz="950" spc="200" kern="0" dirty="0">
                <a:solidFill>
                  <a:srgbClr val="6E6E6E"/>
                </a:solidFill>
                <a:latin typeface="IBM Plex Mono" pitchFamily="34" charset="0"/>
                <a:ea typeface="IBM Plex Mono" pitchFamily="34" charset="-122"/>
                <a:cs typeface="IBM Plex Mono" pitchFamily="34" charset="-120"/>
              </a:rPr>
              <a:t>11 / 18</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title-blob" descr="preencoded.png">    </p:cNvPr>
          <p:cNvPicPr>
            <a:picLocks noChangeAspect="1"/>
          </p:cNvPicPr>
          <p:nvPr/>
        </p:nvPicPr>
        <p:blipFill>
          <a:blip r:embed="rId1"/>
          <a:stretch>
            <a:fillRect/>
          </a:stretch>
        </p:blipFill>
        <p:spPr>
          <a:xfrm>
            <a:off x="-70846" y="420624"/>
            <a:ext cx="5386557" cy="1024128"/>
          </a:xfrm>
          <a:prstGeom prst="rect">
            <a:avLst/>
          </a:prstGeom>
        </p:spPr>
      </p:pic>
      <p:sp>
        <p:nvSpPr>
          <p:cNvPr id="3" name="Text 2"/>
          <p:cNvSpPr/>
          <p:nvPr>
            <p:ph idx="103" type="title" hasCustomPrompt="1"/>
          </p:nvPr>
        </p:nvSpPr>
        <p:spPr>
          <a:xfrm>
            <a:off x="685800" y="640080"/>
            <a:ext cx="10820095" cy="603504"/>
          </a:xfrm>
          <a:prstGeom prst="rect">
            <a:avLst/>
          </a:prstGeom>
          <a:noFill/>
          <a:ln/>
        </p:spPr>
        <p:txBody>
          <a:bodyPr wrap="square" lIns="0" tIns="0" rIns="0" bIns="0" rtlCol="0" anchor="ctr"/>
          <a:lstStyle/>
          <a:p>
            <a:pPr algn="l" indent="0" marL="0">
              <a:buNone/>
            </a:pPr>
            <a:r>
              <a:rPr lang="en-US" sz="3400" dirty="0">
                <a:solidFill>
                  <a:schemeClr val="bg1"/>
                </a:solidFill>
                <a:latin typeface="Anton" pitchFamily="34" charset="0"/>
                <a:ea typeface="Anton" pitchFamily="34" charset="-122"/>
                <a:cs typeface="Anton" pitchFamily="34" charset="-120"/>
              </a:rPr>
              <a:t>EVERY DEPOSIT, SPLIT</a:t>
            </a:r>
            <a:endParaRPr lang="en-US" sz="3400" dirty="0"/>
          </a:p>
        </p:txBody>
      </p:sp>
      <p:sp>
        <p:nvSpPr>
          <p:cNvPr id="4" name="Text 1"/>
          <p:cNvSpPr txBox="1"/>
          <p:nvPr/>
        </p:nvSpPr>
        <p:spPr>
          <a:xfrm>
            <a:off x="685800" y="1481328"/>
            <a:ext cx="7863840" cy="640080"/>
          </a:xfrm>
          <a:prstGeom prst="rect">
            <a:avLst/>
          </a:prstGeom>
          <a:noFill/>
          <a:ln/>
        </p:spPr>
        <p:txBody>
          <a:bodyPr wrap="square" lIns="0" tIns="0" rIns="0" bIns="0" rtlCol="0" anchor="t"/>
          <a:lstStyle/>
          <a:p>
            <a:pPr indent="0" marL="0">
              <a:lnSpc>
                <a:spcPct val="100000"/>
              </a:lnSpc>
              <a:buNone/>
            </a:pPr>
            <a:r>
              <a:rPr lang="en-US" sz="1700" dirty="0">
                <a:solidFill>
                  <a:srgbClr val="C9C9C9"/>
                </a:solidFill>
              </a:rPr>
              <a:t>Into practice pools by strategy, </a:t>
            </a:r>
            <a:pPr indent="0" marL="0">
              <a:lnSpc>
                <a:spcPct val="100000"/>
              </a:lnSpc>
              <a:buNone/>
            </a:pPr>
            <a:r>
              <a:rPr lang="en-US" sz="1700" b="1" dirty="0">
                <a:solidFill>
                  <a:schemeClr val="bg1"/>
                </a:solidFill>
              </a:rPr>
              <a:t>and a test proves it</a:t>
            </a:r>
            <a:pPr indent="0" marL="0">
              <a:lnSpc>
                <a:spcPct val="100000"/>
              </a:lnSpc>
              <a:buNone/>
            </a:pPr>
            <a:r>
              <a:rPr lang="en-US" sz="1700" dirty="0">
                <a:solidFill>
                  <a:srgbClr val="C9C9C9"/>
                </a:solidFill>
              </a:rPr>
              <a:t> on every change.</a:t>
            </a:r>
            <a:endParaRPr lang="en-US" sz="1700" dirty="0"/>
          </a:p>
        </p:txBody>
      </p:sp>
      <p:sp>
        <p:nvSpPr>
          <p:cNvPr id="5" name="shot-pools-frame"/>
          <p:cNvSpPr/>
          <p:nvPr/>
        </p:nvSpPr>
        <p:spPr>
          <a:xfrm rot="-72000">
            <a:off x="1098917" y="2304288"/>
            <a:ext cx="5208807" cy="2788920"/>
          </a:xfrm>
          <a:prstGeom prst="roundRect">
            <a:avLst>
              <a:gd name="adj" fmla="val 2623"/>
            </a:avLst>
          </a:prstGeom>
          <a:solidFill>
            <a:srgbClr val="0E0E0E"/>
          </a:solidFill>
          <a:ln w="15875">
            <a:solidFill>
              <a:schemeClr val="accent6"/>
            </a:solidFill>
            <a:prstDash val="solid"/>
          </a:ln>
          <a:effectLst>
            <a:outerShdw sx="100000" sy="100000" kx="0" ky="0" algn="bl" rotWithShape="0" blurRad="101600" dist="63500" dir="2700000">
              <a:srgbClr val="080808">
                <a:alpha val="85000"/>
              </a:srgbClr>
            </a:outerShdw>
          </a:effectLst>
        </p:spPr>
      </p:sp>
      <p:pic>
        <p:nvPicPr>
          <p:cNvPr id="6" name="shot-pools" descr="Where the vault's money is: $100.00 in total; $20.00 kept liquid for withdrawals; Kamino practice pool $36.00 at 5.20%; MarginFi $24.00 at 5.90%; Save $20.00 at 5.05%">    </p:cNvPr>
          <p:cNvPicPr>
            <a:picLocks noChangeAspect="1"/>
          </p:cNvPicPr>
          <p:nvPr/>
        </p:nvPicPr>
        <p:blipFill>
          <a:blip r:embed="rId2"/>
          <a:stretch>
            <a:fillRect/>
          </a:stretch>
        </p:blipFill>
        <p:spPr>
          <a:xfrm rot="-72000">
            <a:off x="1144637" y="2350008"/>
            <a:ext cx="5117367" cy="2697480"/>
          </a:xfrm>
          <a:prstGeom prst="rect">
            <a:avLst/>
          </a:prstGeom>
        </p:spPr>
      </p:pic>
      <p:sp>
        <p:nvSpPr>
          <p:cNvPr id="7" name="shot-blink-frame"/>
          <p:cNvSpPr/>
          <p:nvPr/>
        </p:nvSpPr>
        <p:spPr>
          <a:xfrm rot="60000">
            <a:off x="821962" y="5276088"/>
            <a:ext cx="5762715" cy="841248"/>
          </a:xfrm>
          <a:prstGeom prst="roundRect">
            <a:avLst>
              <a:gd name="adj" fmla="val 8696"/>
            </a:avLst>
          </a:prstGeom>
          <a:solidFill>
            <a:srgbClr val="0E0E0E"/>
          </a:solidFill>
          <a:ln w="15875">
            <a:solidFill>
              <a:schemeClr val="accent6"/>
            </a:solidFill>
            <a:prstDash val="solid"/>
          </a:ln>
          <a:effectLst>
            <a:outerShdw sx="100000" sy="100000" kx="0" ky="0" algn="bl" rotWithShape="0" blurRad="101600" dist="63500" dir="2700000">
              <a:srgbClr val="080808">
                <a:alpha val="85000"/>
              </a:srgbClr>
            </a:outerShdw>
          </a:effectLst>
        </p:spPr>
      </p:sp>
      <p:pic>
        <p:nvPicPr>
          <p:cNvPr id="8" name="shot-blink" descr="Deposit from a link: a Solana Blink anyone with test USDC can use from a post or a QR code. Copy link, Open Blink">    </p:cNvPr>
          <p:cNvPicPr>
            <a:picLocks noChangeAspect="1"/>
          </p:cNvPicPr>
          <p:nvPr/>
        </p:nvPicPr>
        <p:blipFill>
          <a:blip r:embed="rId3"/>
          <a:stretch>
            <a:fillRect/>
          </a:stretch>
        </p:blipFill>
        <p:spPr>
          <a:xfrm rot="60000">
            <a:off x="867682" y="5321808"/>
            <a:ext cx="5671275" cy="749808"/>
          </a:xfrm>
          <a:prstGeom prst="rect">
            <a:avLst/>
          </a:prstGeom>
        </p:spPr>
      </p:pic>
      <p:sp>
        <p:nvSpPr>
          <p:cNvPr id="9" name="Text 4"/>
          <p:cNvSpPr txBox="1"/>
          <p:nvPr/>
        </p:nvSpPr>
        <p:spPr>
          <a:xfrm>
            <a:off x="685800" y="6236208"/>
            <a:ext cx="6035040" cy="228600"/>
          </a:xfrm>
          <a:prstGeom prst="rect">
            <a:avLst/>
          </a:prstGeom>
          <a:noFill/>
          <a:ln/>
        </p:spPr>
        <p:txBody>
          <a:bodyPr wrap="square" lIns="0" tIns="0" rIns="0" bIns="0" rtlCol="0" anchor="t"/>
          <a:lstStyle/>
          <a:p>
            <a:pPr indent="0" marL="0">
              <a:buNone/>
            </a:pPr>
            <a:r>
              <a:rPr lang="en-US" sz="850" spc="150" kern="0" dirty="0">
                <a:solidFill>
                  <a:srgbClr val="7A7A7A"/>
                </a:solidFill>
                <a:latin typeface="IBM Plex Mono" pitchFamily="34" charset="0"/>
                <a:ea typeface="IBM Plex Mono" pitchFamily="34" charset="-122"/>
                <a:cs typeface="IBM Plex Mono" pitchFamily="34" charset="-120"/>
              </a:rPr>
              <a:t>REAL INTERFACE · POOLS CARD SHOWS THE REHEARSAL'S SPLIT</a:t>
            </a:r>
            <a:endParaRPr lang="en-US" sz="850" dirty="0"/>
          </a:p>
        </p:txBody>
      </p:sp>
      <p:sp>
        <p:nvSpPr>
          <p:cNvPr id="10" name="rehearsal-card"/>
          <p:cNvSpPr/>
          <p:nvPr/>
        </p:nvSpPr>
        <p:spPr>
          <a:xfrm>
            <a:off x="7086600" y="2331720"/>
            <a:ext cx="4419295" cy="3703320"/>
          </a:xfrm>
          <a:prstGeom prst="roundRect">
            <a:avLst>
              <a:gd name="adj" fmla="val 2963"/>
            </a:avLst>
          </a:prstGeom>
          <a:solidFill>
            <a:schemeClr val="tx2"/>
          </a:solidFill>
          <a:ln w="15875">
            <a:solidFill>
              <a:schemeClr val="accent1"/>
            </a:solidFill>
            <a:prstDash val="solid"/>
          </a:ln>
        </p:spPr>
      </p:sp>
      <p:sp>
        <p:nvSpPr>
          <p:cNvPr id="11" name="Text 6"/>
          <p:cNvSpPr txBox="1"/>
          <p:nvPr/>
        </p:nvSpPr>
        <p:spPr>
          <a:xfrm>
            <a:off x="7360920" y="2532888"/>
            <a:ext cx="3870655" cy="237744"/>
          </a:xfrm>
          <a:prstGeom prst="rect">
            <a:avLst/>
          </a:prstGeom>
          <a:noFill/>
          <a:ln/>
        </p:spPr>
        <p:txBody>
          <a:bodyPr wrap="square" lIns="0" tIns="0" rIns="0" bIns="0" rtlCol="0" anchor="t"/>
          <a:lstStyle/>
          <a:p>
            <a:pPr indent="0" marL="0">
              <a:buNone/>
            </a:pPr>
            <a:r>
              <a:rPr lang="en-US" sz="1000" spc="250" kern="0" dirty="0">
                <a:solidFill>
                  <a:schemeClr val="accent1"/>
                </a:solidFill>
                <a:latin typeface="IBM Plex Mono" pitchFamily="34" charset="0"/>
                <a:ea typeface="IBM Plex Mono" pitchFamily="34" charset="-122"/>
                <a:cs typeface="IBM Plex Mono" pitchFamily="34" charset="-120"/>
              </a:rPr>
              <a:t>CHECKED ON EVERY CHANGE</a:t>
            </a:r>
            <a:endParaRPr lang="en-US" sz="1000" dirty="0"/>
          </a:p>
        </p:txBody>
      </p:sp>
      <p:sp>
        <p:nvSpPr>
          <p:cNvPr id="12" name="Text 7"/>
          <p:cNvSpPr txBox="1"/>
          <p:nvPr/>
        </p:nvSpPr>
        <p:spPr>
          <a:xfrm>
            <a:off x="7360920" y="2788920"/>
            <a:ext cx="3870655" cy="411480"/>
          </a:xfrm>
          <a:prstGeom prst="rect">
            <a:avLst/>
          </a:prstGeom>
          <a:noFill/>
          <a:ln/>
        </p:spPr>
        <p:txBody>
          <a:bodyPr wrap="square" lIns="0" tIns="0" rIns="0" bIns="0" rtlCol="0" anchor="t"/>
          <a:lstStyle/>
          <a:p>
            <a:pPr indent="0" marL="0">
              <a:buNone/>
            </a:pPr>
            <a:r>
              <a:rPr lang="en-US" sz="1150" dirty="0">
                <a:solidFill>
                  <a:schemeClr val="bg2"/>
                </a:solidFill>
              </a:rPr>
              <a:t>A real deposit and withdrawal on a local Solana validator, in GitHub Actions (test USDC)</a:t>
            </a:r>
            <a:endParaRPr lang="en-US" sz="1150" dirty="0"/>
          </a:p>
        </p:txBody>
      </p:sp>
      <p:graphicFrame>
        <p:nvGraphicFramePr>
          <p:cNvPr id="13" name="rehearsal-chart" descr=""/>
          <p:cNvGraphicFramePr/>
          <p:nvPr/>
        </p:nvGraphicFramePr>
        <p:xfrm>
          <a:off x="7223760" y="3227832"/>
          <a:ext cx="4144975" cy="1371600"/>
        </p:xfrm>
        <a:graphic xmlns:a="http://schemas.openxmlformats.org/drawingml/2006/main">
          <a:graphicData uri="http://schemas.openxmlformats.org/drawingml/2006/chart">
            <c:chart xmlns:c="http://schemas.openxmlformats.org/drawingml/2006/chart" r:id="rId4"/>
          </a:graphicData>
        </a:graphic>
      </p:graphicFrame>
      <p:pic>
        <p:nvPicPr>
          <p:cNvPr id="14" name="Image 3" descr="Passed">    </p:cNvPr>
          <p:cNvPicPr>
            <a:picLocks noChangeAspect="1"/>
          </p:cNvPicPr>
          <p:nvPr/>
        </p:nvPicPr>
        <p:blipFill>
          <a:blip r:embed="rId5"/>
          <a:stretch>
            <a:fillRect/>
          </a:stretch>
        </p:blipFill>
        <p:spPr>
          <a:xfrm>
            <a:off x="7360920" y="4754880"/>
            <a:ext cx="256032" cy="256032"/>
          </a:xfrm>
          <a:prstGeom prst="rect">
            <a:avLst/>
          </a:prstGeom>
        </p:spPr>
      </p:pic>
      <p:sp>
        <p:nvSpPr>
          <p:cNvPr id="15" name="Text 8"/>
          <p:cNvSpPr txBox="1"/>
          <p:nvPr/>
        </p:nvSpPr>
        <p:spPr>
          <a:xfrm>
            <a:off x="7744968" y="4727448"/>
            <a:ext cx="3550615" cy="420624"/>
          </a:xfrm>
          <a:prstGeom prst="rect">
            <a:avLst/>
          </a:prstGeom>
          <a:noFill/>
          <a:ln/>
        </p:spPr>
        <p:txBody>
          <a:bodyPr wrap="square" lIns="0" tIns="0" rIns="0" bIns="0" rtlCol="0" anchor="t"/>
          <a:lstStyle/>
          <a:p>
            <a:pPr indent="0" marL="0">
              <a:lnSpc>
                <a:spcPct val="95000"/>
              </a:lnSpc>
              <a:buNone/>
            </a:pPr>
            <a:r>
              <a:rPr lang="en-US" sz="1250" b="1" dirty="0">
                <a:solidFill>
                  <a:schemeClr val="bg1"/>
                </a:solidFill>
              </a:rPr>
              <a:t>Split by strategy</a:t>
            </a:r>
            <a:endParaRPr lang="en-US" sz="1250" dirty="0"/>
          </a:p>
          <a:p>
            <a:pPr indent="0" marL="0">
              <a:lnSpc>
                <a:spcPct val="95000"/>
              </a:lnSpc>
              <a:buNone/>
            </a:pPr>
            <a:r>
              <a:rPr lang="en-US" sz="1050" dirty="0">
                <a:solidFill>
                  <a:schemeClr val="bg2"/>
                </a:solidFill>
              </a:rPr>
              <a:t>80 into three pools, 20 kept liquid</a:t>
            </a:r>
            <a:endParaRPr lang="en-US" sz="1250" dirty="0"/>
          </a:p>
        </p:txBody>
      </p:sp>
      <p:pic>
        <p:nvPicPr>
          <p:cNvPr id="16" name="Image 4" descr="Passed">    </p:cNvPr>
          <p:cNvPicPr>
            <a:picLocks noChangeAspect="1"/>
          </p:cNvPicPr>
          <p:nvPr/>
        </p:nvPicPr>
        <p:blipFill>
          <a:blip r:embed="rId6"/>
          <a:stretch>
            <a:fillRect/>
          </a:stretch>
        </p:blipFill>
        <p:spPr>
          <a:xfrm>
            <a:off x="7360920" y="5184648"/>
            <a:ext cx="256032" cy="256032"/>
          </a:xfrm>
          <a:prstGeom prst="rect">
            <a:avLst/>
          </a:prstGeom>
        </p:spPr>
      </p:pic>
      <p:sp>
        <p:nvSpPr>
          <p:cNvPr id="17" name="Text 9"/>
          <p:cNvSpPr txBox="1"/>
          <p:nvPr/>
        </p:nvSpPr>
        <p:spPr>
          <a:xfrm>
            <a:off x="7744968" y="5157216"/>
            <a:ext cx="3550615" cy="420624"/>
          </a:xfrm>
          <a:prstGeom prst="rect">
            <a:avLst/>
          </a:prstGeom>
          <a:noFill/>
          <a:ln/>
        </p:spPr>
        <p:txBody>
          <a:bodyPr wrap="square" lIns="0" tIns="0" rIns="0" bIns="0" rtlCol="0" anchor="t"/>
          <a:lstStyle/>
          <a:p>
            <a:pPr indent="0" marL="0">
              <a:lnSpc>
                <a:spcPct val="95000"/>
              </a:lnSpc>
              <a:buNone/>
            </a:pPr>
            <a:r>
              <a:rPr lang="en-US" sz="1250" b="1" dirty="0">
                <a:solidFill>
                  <a:schemeClr val="bg1"/>
                </a:solidFill>
              </a:rPr>
              <a:t>Pools top up withdrawals</a:t>
            </a:r>
            <a:endParaRPr lang="en-US" sz="1250" dirty="0"/>
          </a:p>
          <a:p>
            <a:pPr indent="0" marL="0">
              <a:lnSpc>
                <a:spcPct val="95000"/>
              </a:lnSpc>
              <a:buNone/>
            </a:pPr>
            <a:r>
              <a:rPr lang="en-US" sz="1050" dirty="0">
                <a:solidFill>
                  <a:schemeClr val="bg2"/>
                </a:solidFill>
              </a:rPr>
              <a:t>The 20 short came back from the pools</a:t>
            </a:r>
            <a:endParaRPr lang="en-US" sz="1250" dirty="0"/>
          </a:p>
        </p:txBody>
      </p:sp>
      <p:pic>
        <p:nvPicPr>
          <p:cNvPr id="18" name="Image 5" descr="Passed">    </p:cNvPr>
          <p:cNvPicPr>
            <a:picLocks noChangeAspect="1"/>
          </p:cNvPicPr>
          <p:nvPr/>
        </p:nvPicPr>
        <p:blipFill>
          <a:blip r:embed="rId7"/>
          <a:stretch>
            <a:fillRect/>
          </a:stretch>
        </p:blipFill>
        <p:spPr>
          <a:xfrm>
            <a:off x="7360920" y="5614416"/>
            <a:ext cx="256032" cy="256032"/>
          </a:xfrm>
          <a:prstGeom prst="rect">
            <a:avLst/>
          </a:prstGeom>
        </p:spPr>
      </p:pic>
      <p:sp>
        <p:nvSpPr>
          <p:cNvPr id="19" name="Text 10"/>
          <p:cNvSpPr txBox="1"/>
          <p:nvPr/>
        </p:nvSpPr>
        <p:spPr>
          <a:xfrm>
            <a:off x="7744968" y="5586984"/>
            <a:ext cx="3550615" cy="420624"/>
          </a:xfrm>
          <a:prstGeom prst="rect">
            <a:avLst/>
          </a:prstGeom>
          <a:noFill/>
          <a:ln/>
        </p:spPr>
        <p:txBody>
          <a:bodyPr wrap="square" lIns="0" tIns="0" rIns="0" bIns="0" rtlCol="0" anchor="t"/>
          <a:lstStyle/>
          <a:p>
            <a:pPr indent="0" marL="0">
              <a:lnSpc>
                <a:spcPct val="95000"/>
              </a:lnSpc>
              <a:buNone/>
            </a:pPr>
            <a:r>
              <a:rPr lang="en-US" sz="1250" b="1" dirty="0">
                <a:solidFill>
                  <a:schemeClr val="bg1"/>
                </a:solidFill>
              </a:rPr>
              <a:t>The books match</a:t>
            </a:r>
            <a:endParaRPr lang="en-US" sz="1250" dirty="0"/>
          </a:p>
          <a:p>
            <a:pPr indent="0" marL="0">
              <a:lnSpc>
                <a:spcPct val="95000"/>
              </a:lnSpc>
              <a:buNone/>
            </a:pPr>
            <a:r>
              <a:rPr lang="en-US" sz="1050" dirty="0">
                <a:solidFill>
                  <a:schemeClr val="bg2"/>
                </a:solidFill>
              </a:rPr>
              <a:t>Wallet 940 and pools 60, read on-chain</a:t>
            </a:r>
            <a:endParaRPr lang="en-US" sz="1250" dirty="0"/>
          </a:p>
        </p:txBody>
      </p:sp>
      <p:sp>
        <p:nvSpPr>
          <p:cNvPr id="20" name="Text 11"/>
          <p:cNvSpPr txBox="1"/>
          <p:nvPr/>
        </p:nvSpPr>
        <p:spPr>
          <a:xfrm>
            <a:off x="10225735" y="6382512"/>
            <a:ext cx="1280160" cy="237744"/>
          </a:xfrm>
          <a:prstGeom prst="rect">
            <a:avLst/>
          </a:prstGeom>
          <a:noFill/>
          <a:ln/>
        </p:spPr>
        <p:txBody>
          <a:bodyPr wrap="square" lIns="0" tIns="0" rIns="0" bIns="0" rtlCol="0" anchor="t"/>
          <a:lstStyle/>
          <a:p>
            <a:pPr algn="r" indent="0" marL="0">
              <a:buNone/>
            </a:pPr>
            <a:r>
              <a:rPr lang="en-US" sz="950" spc="200" kern="0" dirty="0">
                <a:solidFill>
                  <a:srgbClr val="6E6E6E"/>
                </a:solidFill>
                <a:latin typeface="IBM Plex Mono" pitchFamily="34" charset="0"/>
                <a:ea typeface="IBM Plex Mono" pitchFamily="34" charset="-122"/>
                <a:cs typeface="IBM Plex Mono" pitchFamily="34" charset="-120"/>
              </a:rPr>
              <a:t>12 / 18</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title-blob" descr="preencoded.png">    </p:cNvPr>
          <p:cNvPicPr>
            <a:picLocks noChangeAspect="1"/>
          </p:cNvPicPr>
          <p:nvPr/>
        </p:nvPicPr>
        <p:blipFill>
          <a:blip r:embed="rId1"/>
          <a:stretch>
            <a:fillRect/>
          </a:stretch>
        </p:blipFill>
        <p:spPr>
          <a:xfrm>
            <a:off x="214758" y="420624"/>
            <a:ext cx="5142943" cy="1024128"/>
          </a:xfrm>
          <a:prstGeom prst="rect">
            <a:avLst/>
          </a:prstGeom>
        </p:spPr>
      </p:pic>
      <p:sp>
        <p:nvSpPr>
          <p:cNvPr id="3" name="Text 2"/>
          <p:cNvSpPr/>
          <p:nvPr>
            <p:ph idx="103" type="title" hasCustomPrompt="1"/>
          </p:nvPr>
        </p:nvSpPr>
        <p:spPr>
          <a:xfrm>
            <a:off x="685800" y="640080"/>
            <a:ext cx="10820095" cy="603504"/>
          </a:xfrm>
          <a:prstGeom prst="rect">
            <a:avLst/>
          </a:prstGeom>
          <a:noFill/>
          <a:ln/>
        </p:spPr>
        <p:txBody>
          <a:bodyPr wrap="square" lIns="0" tIns="0" rIns="0" bIns="0" rtlCol="0" anchor="ctr"/>
          <a:lstStyle/>
          <a:p>
            <a:pPr algn="l" indent="0" marL="0">
              <a:buNone/>
            </a:pPr>
            <a:r>
              <a:rPr lang="en-US" sz="3400" dirty="0">
                <a:solidFill>
                  <a:schemeClr val="bg1"/>
                </a:solidFill>
                <a:latin typeface="Anton" pitchFamily="34" charset="0"/>
                <a:ea typeface="Anton" pitchFamily="34" charset="-122"/>
                <a:cs typeface="Anton" pitchFamily="34" charset="-120"/>
              </a:rPr>
              <a:t>SECURITY IS TRADE-OFFS</a:t>
            </a:r>
            <a:endParaRPr lang="en-US" sz="3400" dirty="0"/>
          </a:p>
        </p:txBody>
      </p:sp>
      <p:sp>
        <p:nvSpPr>
          <p:cNvPr id="4" name="Text 1"/>
          <p:cNvSpPr txBox="1"/>
          <p:nvPr/>
        </p:nvSpPr>
        <p:spPr>
          <a:xfrm>
            <a:off x="685800" y="1481328"/>
            <a:ext cx="7863840" cy="640080"/>
          </a:xfrm>
          <a:prstGeom prst="rect">
            <a:avLst/>
          </a:prstGeom>
          <a:noFill/>
          <a:ln/>
        </p:spPr>
        <p:txBody>
          <a:bodyPr wrap="square" lIns="0" tIns="0" rIns="0" bIns="0" rtlCol="0" anchor="t"/>
          <a:lstStyle/>
          <a:p>
            <a:pPr indent="0" marL="0">
              <a:lnSpc>
                <a:spcPct val="100000"/>
              </a:lnSpc>
              <a:buNone/>
            </a:pPr>
            <a:r>
              <a:rPr lang="en-US" sz="1700" dirty="0">
                <a:solidFill>
                  <a:srgbClr val="C9C9C9"/>
                </a:solidFill>
              </a:rPr>
              <a:t>Not a badge: </a:t>
            </a:r>
            <a:pPr indent="0" marL="0">
              <a:lnSpc>
                <a:spcPct val="100000"/>
              </a:lnSpc>
              <a:buNone/>
            </a:pPr>
            <a:r>
              <a:rPr lang="en-US" sz="1700" b="1" dirty="0">
                <a:solidFill>
                  <a:schemeClr val="bg1"/>
                </a:solidFill>
              </a:rPr>
              <a:t>each control buys safety at a cost</a:t>
            </a:r>
            <a:pPr indent="0" marL="0">
              <a:lnSpc>
                <a:spcPct val="100000"/>
              </a:lnSpc>
              <a:buNone/>
            </a:pPr>
            <a:r>
              <a:rPr lang="en-US" sz="1700" dirty="0">
                <a:solidFill>
                  <a:srgbClr val="C9C9C9"/>
                </a:solidFill>
              </a:rPr>
              <a:t>.</a:t>
            </a:r>
            <a:endParaRPr lang="en-US" sz="1700" dirty="0"/>
          </a:p>
        </p:txBody>
      </p:sp>
      <p:sp>
        <p:nvSpPr>
          <p:cNvPr id="5" name="control-0"/>
          <p:cNvSpPr/>
          <p:nvPr/>
        </p:nvSpPr>
        <p:spPr>
          <a:xfrm>
            <a:off x="685800" y="2331720"/>
            <a:ext cx="2554148" cy="1481328"/>
          </a:xfrm>
          <a:prstGeom prst="roundRect">
            <a:avLst>
              <a:gd name="adj" fmla="val 7407"/>
            </a:avLst>
          </a:prstGeom>
          <a:solidFill>
            <a:schemeClr val="tx2"/>
          </a:solidFill>
          <a:ln w="15875">
            <a:solidFill>
              <a:schemeClr val="accent6"/>
            </a:solidFill>
            <a:prstDash val="solid"/>
          </a:ln>
        </p:spPr>
      </p:sp>
      <p:pic>
        <p:nvPicPr>
          <p:cNvPr id="6" name="Image 1" descr="On-chain checks">    </p:cNvPr>
          <p:cNvPicPr>
            <a:picLocks noChangeAspect="1"/>
          </p:cNvPicPr>
          <p:nvPr/>
        </p:nvPicPr>
        <p:blipFill>
          <a:blip r:embed="rId2"/>
          <a:stretch>
            <a:fillRect/>
          </a:stretch>
        </p:blipFill>
        <p:spPr>
          <a:xfrm>
            <a:off x="914400" y="2532888"/>
            <a:ext cx="292608" cy="292608"/>
          </a:xfrm>
          <a:prstGeom prst="rect">
            <a:avLst/>
          </a:prstGeom>
        </p:spPr>
      </p:pic>
      <p:sp>
        <p:nvSpPr>
          <p:cNvPr id="7" name="Text 3"/>
          <p:cNvSpPr txBox="1"/>
          <p:nvPr/>
        </p:nvSpPr>
        <p:spPr>
          <a:xfrm>
            <a:off x="914400" y="2926080"/>
            <a:ext cx="2142668" cy="274320"/>
          </a:xfrm>
          <a:prstGeom prst="rect">
            <a:avLst/>
          </a:prstGeom>
          <a:noFill/>
          <a:ln/>
        </p:spPr>
        <p:txBody>
          <a:bodyPr wrap="square" lIns="0" tIns="0" rIns="0" bIns="0" rtlCol="0" anchor="t"/>
          <a:lstStyle/>
          <a:p>
            <a:pPr indent="0" marL="0">
              <a:buNone/>
            </a:pPr>
            <a:r>
              <a:rPr lang="en-US" sz="1400" b="1" dirty="0">
                <a:solidFill>
                  <a:schemeClr val="bg1"/>
                </a:solidFill>
              </a:rPr>
              <a:t>On-chain checks</a:t>
            </a:r>
            <a:endParaRPr lang="en-US" sz="1400" dirty="0"/>
          </a:p>
        </p:txBody>
      </p:sp>
      <p:sp>
        <p:nvSpPr>
          <p:cNvPr id="8" name="Text 4"/>
          <p:cNvSpPr txBox="1"/>
          <p:nvPr/>
        </p:nvSpPr>
        <p:spPr>
          <a:xfrm>
            <a:off x="914400" y="3200400"/>
            <a:ext cx="2142668" cy="237744"/>
          </a:xfrm>
          <a:prstGeom prst="rect">
            <a:avLst/>
          </a:prstGeom>
          <a:noFill/>
          <a:ln/>
        </p:spPr>
        <p:txBody>
          <a:bodyPr wrap="square" lIns="0" tIns="0" rIns="0" bIns="0" rtlCol="0" anchor="t"/>
          <a:lstStyle/>
          <a:p>
            <a:pPr indent="0" marL="0">
              <a:buNone/>
            </a:pPr>
            <a:r>
              <a:rPr lang="en-US" sz="1150" dirty="0">
                <a:solidFill>
                  <a:schemeClr val="bg2"/>
                </a:solidFill>
              </a:rPr>
              <a:t>Pause, minimum and cap</a:t>
            </a:r>
            <a:endParaRPr lang="en-US" sz="1150" dirty="0"/>
          </a:p>
        </p:txBody>
      </p:sp>
      <p:sp>
        <p:nvSpPr>
          <p:cNvPr id="9" name="Text 5"/>
          <p:cNvSpPr txBox="1"/>
          <p:nvPr/>
        </p:nvSpPr>
        <p:spPr>
          <a:xfrm>
            <a:off x="914400" y="3465576"/>
            <a:ext cx="2188388" cy="237744"/>
          </a:xfrm>
          <a:prstGeom prst="rect">
            <a:avLst/>
          </a:prstGeom>
          <a:noFill/>
          <a:ln/>
        </p:spPr>
        <p:txBody>
          <a:bodyPr wrap="square" lIns="0" tIns="0" rIns="0" bIns="0" rtlCol="0" anchor="t"/>
          <a:lstStyle/>
          <a:p>
            <a:pPr indent="0" marL="0">
              <a:buNone/>
            </a:pPr>
            <a:r>
              <a:rPr lang="en-US" sz="1150" dirty="0">
                <a:solidFill>
                  <a:schemeClr val="accent1"/>
                </a:solidFill>
              </a:rPr>
              <a:t>Rejects bad deposits and exits</a:t>
            </a:r>
            <a:endParaRPr lang="en-US" sz="1150" dirty="0"/>
          </a:p>
        </p:txBody>
      </p:sp>
      <p:sp>
        <p:nvSpPr>
          <p:cNvPr id="10" name="control-1"/>
          <p:cNvSpPr/>
          <p:nvPr/>
        </p:nvSpPr>
        <p:spPr>
          <a:xfrm>
            <a:off x="3441116" y="2331720"/>
            <a:ext cx="2554148" cy="1481328"/>
          </a:xfrm>
          <a:prstGeom prst="roundRect">
            <a:avLst>
              <a:gd name="adj" fmla="val 7407"/>
            </a:avLst>
          </a:prstGeom>
          <a:solidFill>
            <a:schemeClr val="tx2"/>
          </a:solidFill>
          <a:ln w="15875">
            <a:solidFill>
              <a:schemeClr val="accent6"/>
            </a:solidFill>
            <a:prstDash val="solid"/>
          </a:ln>
        </p:spPr>
      </p:sp>
      <p:pic>
        <p:nvPicPr>
          <p:cNvPr id="11" name="Image 2" descr="2,000 per wallet / 24 h">    </p:cNvPr>
          <p:cNvPicPr>
            <a:picLocks noChangeAspect="1"/>
          </p:cNvPicPr>
          <p:nvPr/>
        </p:nvPicPr>
        <p:blipFill>
          <a:blip r:embed="rId3"/>
          <a:stretch>
            <a:fillRect/>
          </a:stretch>
        </p:blipFill>
        <p:spPr>
          <a:xfrm>
            <a:off x="3669716" y="2532888"/>
            <a:ext cx="292608" cy="292608"/>
          </a:xfrm>
          <a:prstGeom prst="rect">
            <a:avLst/>
          </a:prstGeom>
        </p:spPr>
      </p:pic>
      <p:sp>
        <p:nvSpPr>
          <p:cNvPr id="12" name="Text 7"/>
          <p:cNvSpPr txBox="1"/>
          <p:nvPr/>
        </p:nvSpPr>
        <p:spPr>
          <a:xfrm>
            <a:off x="3669716" y="2926080"/>
            <a:ext cx="2142668" cy="274320"/>
          </a:xfrm>
          <a:prstGeom prst="rect">
            <a:avLst/>
          </a:prstGeom>
          <a:noFill/>
          <a:ln/>
        </p:spPr>
        <p:txBody>
          <a:bodyPr wrap="square" lIns="0" tIns="0" rIns="0" bIns="0" rtlCol="0" anchor="t"/>
          <a:lstStyle/>
          <a:p>
            <a:pPr indent="0" marL="0">
              <a:buNone/>
            </a:pPr>
            <a:r>
              <a:rPr lang="en-US" sz="1400" b="1" dirty="0">
                <a:solidFill>
                  <a:schemeClr val="bg1"/>
                </a:solidFill>
              </a:rPr>
              <a:t>2,000 per wallet / 24 h</a:t>
            </a:r>
            <a:endParaRPr lang="en-US" sz="1400" dirty="0"/>
          </a:p>
        </p:txBody>
      </p:sp>
      <p:sp>
        <p:nvSpPr>
          <p:cNvPr id="13" name="Text 8"/>
          <p:cNvSpPr txBox="1"/>
          <p:nvPr/>
        </p:nvSpPr>
        <p:spPr>
          <a:xfrm>
            <a:off x="3669716" y="3200400"/>
            <a:ext cx="2142668" cy="237744"/>
          </a:xfrm>
          <a:prstGeom prst="rect">
            <a:avLst/>
          </a:prstGeom>
          <a:noFill/>
          <a:ln/>
        </p:spPr>
        <p:txBody>
          <a:bodyPr wrap="square" lIns="0" tIns="0" rIns="0" bIns="0" rtlCol="0" anchor="t"/>
          <a:lstStyle/>
          <a:p>
            <a:pPr indent="0" marL="0">
              <a:buNone/>
            </a:pPr>
            <a:r>
              <a:rPr lang="en-US" sz="1150" dirty="0">
                <a:solidFill>
                  <a:schemeClr val="bg2"/>
                </a:solidFill>
              </a:rPr>
              <a:t>Instant withdrawal limit</a:t>
            </a:r>
            <a:endParaRPr lang="en-US" sz="1150" dirty="0"/>
          </a:p>
        </p:txBody>
      </p:sp>
      <p:sp>
        <p:nvSpPr>
          <p:cNvPr id="14" name="Text 9"/>
          <p:cNvSpPr txBox="1"/>
          <p:nvPr/>
        </p:nvSpPr>
        <p:spPr>
          <a:xfrm>
            <a:off x="3669716" y="3465576"/>
            <a:ext cx="2188388" cy="237744"/>
          </a:xfrm>
          <a:prstGeom prst="rect">
            <a:avLst/>
          </a:prstGeom>
          <a:noFill/>
          <a:ln/>
        </p:spPr>
        <p:txBody>
          <a:bodyPr wrap="square" lIns="0" tIns="0" rIns="0" bIns="0" rtlCol="0" anchor="t"/>
          <a:lstStyle/>
          <a:p>
            <a:pPr indent="0" marL="0">
              <a:buNone/>
            </a:pPr>
            <a:r>
              <a:rPr lang="en-US" sz="1150" dirty="0">
                <a:solidFill>
                  <a:schemeClr val="accent1"/>
                </a:solidFill>
              </a:rPr>
              <a:t>Limits a stolen wallet</a:t>
            </a:r>
            <a:endParaRPr lang="en-US" sz="1150" dirty="0"/>
          </a:p>
        </p:txBody>
      </p:sp>
      <p:sp>
        <p:nvSpPr>
          <p:cNvPr id="15" name="control-2"/>
          <p:cNvSpPr/>
          <p:nvPr/>
        </p:nvSpPr>
        <p:spPr>
          <a:xfrm>
            <a:off x="6196432" y="2331720"/>
            <a:ext cx="2554148" cy="1481328"/>
          </a:xfrm>
          <a:prstGeom prst="roundRect">
            <a:avLst>
              <a:gd name="adj" fmla="val 7407"/>
            </a:avLst>
          </a:prstGeom>
          <a:solidFill>
            <a:schemeClr val="tx2"/>
          </a:solidFill>
          <a:ln w="15875">
            <a:solidFill>
              <a:schemeClr val="accent6"/>
            </a:solidFill>
            <a:prstDash val="solid"/>
          </a:ln>
        </p:spPr>
      </p:sp>
      <p:pic>
        <p:nvPicPr>
          <p:cNvPr id="16" name="Image 3" descr="50,000 per vault / 24 h">    </p:cNvPr>
          <p:cNvPicPr>
            <a:picLocks noChangeAspect="1"/>
          </p:cNvPicPr>
          <p:nvPr/>
        </p:nvPicPr>
        <p:blipFill>
          <a:blip r:embed="rId4"/>
          <a:stretch>
            <a:fillRect/>
          </a:stretch>
        </p:blipFill>
        <p:spPr>
          <a:xfrm>
            <a:off x="6425032" y="2532888"/>
            <a:ext cx="292608" cy="292608"/>
          </a:xfrm>
          <a:prstGeom prst="rect">
            <a:avLst/>
          </a:prstGeom>
        </p:spPr>
      </p:pic>
      <p:sp>
        <p:nvSpPr>
          <p:cNvPr id="17" name="Text 11"/>
          <p:cNvSpPr txBox="1"/>
          <p:nvPr/>
        </p:nvSpPr>
        <p:spPr>
          <a:xfrm>
            <a:off x="6425032" y="2926080"/>
            <a:ext cx="2142668" cy="274320"/>
          </a:xfrm>
          <a:prstGeom prst="rect">
            <a:avLst/>
          </a:prstGeom>
          <a:noFill/>
          <a:ln/>
        </p:spPr>
        <p:txBody>
          <a:bodyPr wrap="square" lIns="0" tIns="0" rIns="0" bIns="0" rtlCol="0" anchor="t"/>
          <a:lstStyle/>
          <a:p>
            <a:pPr indent="0" marL="0">
              <a:buNone/>
            </a:pPr>
            <a:r>
              <a:rPr lang="en-US" sz="1400" b="1" dirty="0">
                <a:solidFill>
                  <a:schemeClr val="bg1"/>
                </a:solidFill>
              </a:rPr>
              <a:t>50,000 per vault / 24 h</a:t>
            </a:r>
            <a:endParaRPr lang="en-US" sz="1400" dirty="0"/>
          </a:p>
        </p:txBody>
      </p:sp>
      <p:sp>
        <p:nvSpPr>
          <p:cNvPr id="18" name="Text 12"/>
          <p:cNvSpPr txBox="1"/>
          <p:nvPr/>
        </p:nvSpPr>
        <p:spPr>
          <a:xfrm>
            <a:off x="6425032" y="3200400"/>
            <a:ext cx="2142668" cy="237744"/>
          </a:xfrm>
          <a:prstGeom prst="rect">
            <a:avLst/>
          </a:prstGeom>
          <a:noFill/>
          <a:ln/>
        </p:spPr>
        <p:txBody>
          <a:bodyPr wrap="square" lIns="0" tIns="0" rIns="0" bIns="0" rtlCol="0" anchor="t"/>
          <a:lstStyle/>
          <a:p>
            <a:pPr indent="0" marL="0">
              <a:buNone/>
            </a:pPr>
            <a:r>
              <a:rPr lang="en-US" sz="1150" dirty="0">
                <a:solidFill>
                  <a:schemeClr val="bg2"/>
                </a:solidFill>
              </a:rPr>
              <a:t>Instant limit, all users</a:t>
            </a:r>
            <a:endParaRPr lang="en-US" sz="1150" dirty="0"/>
          </a:p>
        </p:txBody>
      </p:sp>
      <p:sp>
        <p:nvSpPr>
          <p:cNvPr id="19" name="Text 13"/>
          <p:cNvSpPr txBox="1"/>
          <p:nvPr/>
        </p:nvSpPr>
        <p:spPr>
          <a:xfrm>
            <a:off x="6425032" y="3465576"/>
            <a:ext cx="2188388" cy="237744"/>
          </a:xfrm>
          <a:prstGeom prst="rect">
            <a:avLst/>
          </a:prstGeom>
          <a:noFill/>
          <a:ln/>
        </p:spPr>
        <p:txBody>
          <a:bodyPr wrap="square" lIns="0" tIns="0" rIns="0" bIns="0" rtlCol="0" anchor="t"/>
          <a:lstStyle/>
          <a:p>
            <a:pPr indent="0" marL="0">
              <a:buNone/>
            </a:pPr>
            <a:r>
              <a:rPr lang="en-US" sz="1150" dirty="0">
                <a:solidFill>
                  <a:schemeClr val="accent1"/>
                </a:solidFill>
              </a:rPr>
              <a:t>Slows a bank run</a:t>
            </a:r>
            <a:endParaRPr lang="en-US" sz="1150" dirty="0"/>
          </a:p>
        </p:txBody>
      </p:sp>
      <p:sp>
        <p:nvSpPr>
          <p:cNvPr id="20" name="control-3"/>
          <p:cNvSpPr/>
          <p:nvPr/>
        </p:nvSpPr>
        <p:spPr>
          <a:xfrm>
            <a:off x="8951747" y="2331720"/>
            <a:ext cx="2554148" cy="1481328"/>
          </a:xfrm>
          <a:prstGeom prst="roundRect">
            <a:avLst>
              <a:gd name="adj" fmla="val 7407"/>
            </a:avLst>
          </a:prstGeom>
          <a:solidFill>
            <a:schemeClr val="tx2"/>
          </a:solidFill>
          <a:ln w="15875">
            <a:solidFill>
              <a:schemeClr val="accent6"/>
            </a:solidFill>
            <a:prstDash val="solid"/>
          </a:ln>
        </p:spPr>
      </p:sp>
      <p:pic>
        <p:nvPicPr>
          <p:cNvPr id="21" name="Image 4" descr="30-minute timelock">    </p:cNvPr>
          <p:cNvPicPr>
            <a:picLocks noChangeAspect="1"/>
          </p:cNvPicPr>
          <p:nvPr/>
        </p:nvPicPr>
        <p:blipFill>
          <a:blip r:embed="rId5"/>
          <a:stretch>
            <a:fillRect/>
          </a:stretch>
        </p:blipFill>
        <p:spPr>
          <a:xfrm>
            <a:off x="9180347" y="2532888"/>
            <a:ext cx="292608" cy="292608"/>
          </a:xfrm>
          <a:prstGeom prst="rect">
            <a:avLst/>
          </a:prstGeom>
        </p:spPr>
      </p:pic>
      <p:sp>
        <p:nvSpPr>
          <p:cNvPr id="22" name="Text 15"/>
          <p:cNvSpPr txBox="1"/>
          <p:nvPr/>
        </p:nvSpPr>
        <p:spPr>
          <a:xfrm>
            <a:off x="9180347" y="2926080"/>
            <a:ext cx="2142668" cy="274320"/>
          </a:xfrm>
          <a:prstGeom prst="rect">
            <a:avLst/>
          </a:prstGeom>
          <a:noFill/>
          <a:ln/>
        </p:spPr>
        <p:txBody>
          <a:bodyPr wrap="square" lIns="0" tIns="0" rIns="0" bIns="0" rtlCol="0" anchor="t"/>
          <a:lstStyle/>
          <a:p>
            <a:pPr indent="0" marL="0">
              <a:buNone/>
            </a:pPr>
            <a:r>
              <a:rPr lang="en-US" sz="1400" b="1" dirty="0">
                <a:solidFill>
                  <a:schemeClr val="bg1"/>
                </a:solidFill>
              </a:rPr>
              <a:t>30-minute timelock</a:t>
            </a:r>
            <a:endParaRPr lang="en-US" sz="1400" dirty="0"/>
          </a:p>
        </p:txBody>
      </p:sp>
      <p:sp>
        <p:nvSpPr>
          <p:cNvPr id="23" name="Text 16"/>
          <p:cNvSpPr txBox="1"/>
          <p:nvPr/>
        </p:nvSpPr>
        <p:spPr>
          <a:xfrm>
            <a:off x="9180347" y="3200400"/>
            <a:ext cx="2142668" cy="237744"/>
          </a:xfrm>
          <a:prstGeom prst="rect">
            <a:avLst/>
          </a:prstGeom>
          <a:noFill/>
          <a:ln/>
        </p:spPr>
        <p:txBody>
          <a:bodyPr wrap="square" lIns="0" tIns="0" rIns="0" bIns="0" rtlCol="0" anchor="t"/>
          <a:lstStyle/>
          <a:p>
            <a:pPr indent="0" marL="0">
              <a:buNone/>
            </a:pPr>
            <a:r>
              <a:rPr lang="en-US" sz="1150" dirty="0">
                <a:solidFill>
                  <a:schemeClr val="bg2"/>
                </a:solidFill>
              </a:rPr>
              <a:t>Above the instant limits</a:t>
            </a:r>
            <a:endParaRPr lang="en-US" sz="1150" dirty="0"/>
          </a:p>
        </p:txBody>
      </p:sp>
      <p:sp>
        <p:nvSpPr>
          <p:cNvPr id="24" name="Text 17"/>
          <p:cNvSpPr txBox="1"/>
          <p:nvPr/>
        </p:nvSpPr>
        <p:spPr>
          <a:xfrm>
            <a:off x="9180347" y="3465576"/>
            <a:ext cx="2188388" cy="237744"/>
          </a:xfrm>
          <a:prstGeom prst="rect">
            <a:avLst/>
          </a:prstGeom>
          <a:noFill/>
          <a:ln/>
        </p:spPr>
        <p:txBody>
          <a:bodyPr wrap="square" lIns="0" tIns="0" rIns="0" bIns="0" rtlCol="0" anchor="t"/>
          <a:lstStyle/>
          <a:p>
            <a:pPr indent="0" marL="0">
              <a:buNone/>
            </a:pPr>
            <a:r>
              <a:rPr lang="en-US" sz="1150" dirty="0">
                <a:solidFill>
                  <a:schemeClr val="accent1"/>
                </a:solidFill>
              </a:rPr>
              <a:t>Time to react; big exits wait</a:t>
            </a:r>
            <a:endParaRPr lang="en-US" sz="1150" dirty="0"/>
          </a:p>
        </p:txBody>
      </p:sp>
      <p:sp>
        <p:nvSpPr>
          <p:cNvPr id="25" name="control-4"/>
          <p:cNvSpPr/>
          <p:nvPr/>
        </p:nvSpPr>
        <p:spPr>
          <a:xfrm>
            <a:off x="685800" y="4014216"/>
            <a:ext cx="2554148" cy="1481328"/>
          </a:xfrm>
          <a:prstGeom prst="roundRect">
            <a:avLst>
              <a:gd name="adj" fmla="val 7407"/>
            </a:avLst>
          </a:prstGeom>
          <a:solidFill>
            <a:schemeClr val="tx2"/>
          </a:solidFill>
          <a:ln w="15875">
            <a:solidFill>
              <a:schemeClr val="accent6"/>
            </a:solidFill>
            <a:prstDash val="solid"/>
          </a:ln>
        </p:spPr>
      </p:sp>
      <p:pic>
        <p:nvPicPr>
          <p:cNvPr id="26" name="Image 5" descr="Guardian pause">    </p:cNvPr>
          <p:cNvPicPr>
            <a:picLocks noChangeAspect="1"/>
          </p:cNvPicPr>
          <p:nvPr/>
        </p:nvPicPr>
        <p:blipFill>
          <a:blip r:embed="rId6"/>
          <a:stretch>
            <a:fillRect/>
          </a:stretch>
        </p:blipFill>
        <p:spPr>
          <a:xfrm>
            <a:off x="914400" y="4215384"/>
            <a:ext cx="292608" cy="292608"/>
          </a:xfrm>
          <a:prstGeom prst="rect">
            <a:avLst/>
          </a:prstGeom>
        </p:spPr>
      </p:pic>
      <p:sp>
        <p:nvSpPr>
          <p:cNvPr id="27" name="Text 19"/>
          <p:cNvSpPr txBox="1"/>
          <p:nvPr/>
        </p:nvSpPr>
        <p:spPr>
          <a:xfrm>
            <a:off x="914400" y="4608576"/>
            <a:ext cx="2142668" cy="274320"/>
          </a:xfrm>
          <a:prstGeom prst="rect">
            <a:avLst/>
          </a:prstGeom>
          <a:noFill/>
          <a:ln/>
        </p:spPr>
        <p:txBody>
          <a:bodyPr wrap="square" lIns="0" tIns="0" rIns="0" bIns="0" rtlCol="0" anchor="t"/>
          <a:lstStyle/>
          <a:p>
            <a:pPr indent="0" marL="0">
              <a:buNone/>
            </a:pPr>
            <a:r>
              <a:rPr lang="en-US" sz="1400" b="1" dirty="0">
                <a:solidFill>
                  <a:schemeClr val="bg1"/>
                </a:solidFill>
              </a:rPr>
              <a:t>Guardian pause</a:t>
            </a:r>
            <a:endParaRPr lang="en-US" sz="1400" dirty="0"/>
          </a:p>
        </p:txBody>
      </p:sp>
      <p:sp>
        <p:nvSpPr>
          <p:cNvPr id="28" name="Text 20"/>
          <p:cNvSpPr txBox="1"/>
          <p:nvPr/>
        </p:nvSpPr>
        <p:spPr>
          <a:xfrm>
            <a:off x="914400" y="4882896"/>
            <a:ext cx="2142668" cy="237744"/>
          </a:xfrm>
          <a:prstGeom prst="rect">
            <a:avLst/>
          </a:prstGeom>
          <a:noFill/>
          <a:ln/>
        </p:spPr>
        <p:txBody>
          <a:bodyPr wrap="square" lIns="0" tIns="0" rIns="0" bIns="0" rtlCol="0" anchor="t"/>
          <a:lstStyle/>
          <a:p>
            <a:pPr indent="0" marL="0">
              <a:buNone/>
            </a:pPr>
            <a:r>
              <a:rPr lang="en-US" sz="1150" dirty="0">
                <a:solidFill>
                  <a:schemeClr val="bg2"/>
                </a:solidFill>
              </a:rPr>
              <a:t>Only the authority unpauses</a:t>
            </a:r>
            <a:endParaRPr lang="en-US" sz="1150" dirty="0"/>
          </a:p>
        </p:txBody>
      </p:sp>
      <p:sp>
        <p:nvSpPr>
          <p:cNvPr id="29" name="Text 21"/>
          <p:cNvSpPr txBox="1"/>
          <p:nvPr/>
        </p:nvSpPr>
        <p:spPr>
          <a:xfrm>
            <a:off x="914400" y="5148072"/>
            <a:ext cx="2188388" cy="237744"/>
          </a:xfrm>
          <a:prstGeom prst="rect">
            <a:avLst/>
          </a:prstGeom>
          <a:noFill/>
          <a:ln/>
        </p:spPr>
        <p:txBody>
          <a:bodyPr wrap="square" lIns="0" tIns="0" rIns="0" bIns="0" rtlCol="0" anchor="t"/>
          <a:lstStyle/>
          <a:p>
            <a:pPr indent="0" marL="0">
              <a:buNone/>
            </a:pPr>
            <a:r>
              <a:rPr lang="en-US" sz="1150" dirty="0">
                <a:solidFill>
                  <a:schemeClr val="accent1"/>
                </a:solidFill>
              </a:rPr>
              <a:t>Fast stop; no escape hatch yet</a:t>
            </a:r>
            <a:endParaRPr lang="en-US" sz="1150" dirty="0"/>
          </a:p>
        </p:txBody>
      </p:sp>
      <p:sp>
        <p:nvSpPr>
          <p:cNvPr id="30" name="control-5"/>
          <p:cNvSpPr/>
          <p:nvPr/>
        </p:nvSpPr>
        <p:spPr>
          <a:xfrm>
            <a:off x="3441116" y="4014216"/>
            <a:ext cx="2554148" cy="1481328"/>
          </a:xfrm>
          <a:prstGeom prst="roundRect">
            <a:avLst>
              <a:gd name="adj" fmla="val 7407"/>
            </a:avLst>
          </a:prstGeom>
          <a:solidFill>
            <a:schemeClr val="tx2"/>
          </a:solidFill>
          <a:ln w="15875">
            <a:solidFill>
              <a:schemeClr val="accent6"/>
            </a:solidFill>
            <a:prstDash val="solid"/>
          </a:ln>
        </p:spPr>
      </p:sp>
      <p:pic>
        <p:nvPicPr>
          <p:cNvPr id="31" name="Image 6" descr="Role-based admin">    </p:cNvPr>
          <p:cNvPicPr>
            <a:picLocks noChangeAspect="1"/>
          </p:cNvPicPr>
          <p:nvPr/>
        </p:nvPicPr>
        <p:blipFill>
          <a:blip r:embed="rId7"/>
          <a:stretch>
            <a:fillRect/>
          </a:stretch>
        </p:blipFill>
        <p:spPr>
          <a:xfrm>
            <a:off x="3669716" y="4215384"/>
            <a:ext cx="292608" cy="292608"/>
          </a:xfrm>
          <a:prstGeom prst="rect">
            <a:avLst/>
          </a:prstGeom>
        </p:spPr>
      </p:pic>
      <p:sp>
        <p:nvSpPr>
          <p:cNvPr id="32" name="Text 23"/>
          <p:cNvSpPr txBox="1"/>
          <p:nvPr/>
        </p:nvSpPr>
        <p:spPr>
          <a:xfrm>
            <a:off x="3669716" y="4608576"/>
            <a:ext cx="2142668" cy="274320"/>
          </a:xfrm>
          <a:prstGeom prst="rect">
            <a:avLst/>
          </a:prstGeom>
          <a:noFill/>
          <a:ln/>
        </p:spPr>
        <p:txBody>
          <a:bodyPr wrap="square" lIns="0" tIns="0" rIns="0" bIns="0" rtlCol="0" anchor="t"/>
          <a:lstStyle/>
          <a:p>
            <a:pPr indent="0" marL="0">
              <a:buNone/>
            </a:pPr>
            <a:r>
              <a:rPr lang="en-US" sz="1400" b="1" dirty="0">
                <a:solidFill>
                  <a:schemeClr val="bg1"/>
                </a:solidFill>
              </a:rPr>
              <a:t>Role-based admin</a:t>
            </a:r>
            <a:endParaRPr lang="en-US" sz="1400" dirty="0"/>
          </a:p>
        </p:txBody>
      </p:sp>
      <p:sp>
        <p:nvSpPr>
          <p:cNvPr id="33" name="Text 24"/>
          <p:cNvSpPr txBox="1"/>
          <p:nvPr/>
        </p:nvSpPr>
        <p:spPr>
          <a:xfrm>
            <a:off x="3669716" y="4882896"/>
            <a:ext cx="2142668" cy="237744"/>
          </a:xfrm>
          <a:prstGeom prst="rect">
            <a:avLst/>
          </a:prstGeom>
          <a:noFill/>
          <a:ln/>
        </p:spPr>
        <p:txBody>
          <a:bodyPr wrap="square" lIns="0" tIns="0" rIns="0" bIns="0" rtlCol="0" anchor="t"/>
          <a:lstStyle/>
          <a:p>
            <a:pPr indent="0" marL="0">
              <a:buNone/>
            </a:pPr>
            <a:r>
              <a:rPr lang="en-US" sz="1150" dirty="0">
                <a:solidFill>
                  <a:schemeClr val="bg2"/>
                </a:solidFill>
              </a:rPr>
              <a:t>Two-step authority handover</a:t>
            </a:r>
            <a:endParaRPr lang="en-US" sz="1150" dirty="0"/>
          </a:p>
        </p:txBody>
      </p:sp>
      <p:sp>
        <p:nvSpPr>
          <p:cNvPr id="34" name="Text 25"/>
          <p:cNvSpPr txBox="1"/>
          <p:nvPr/>
        </p:nvSpPr>
        <p:spPr>
          <a:xfrm>
            <a:off x="3669716" y="5148072"/>
            <a:ext cx="2188388" cy="237744"/>
          </a:xfrm>
          <a:prstGeom prst="rect">
            <a:avLst/>
          </a:prstGeom>
          <a:noFill/>
          <a:ln/>
        </p:spPr>
        <p:txBody>
          <a:bodyPr wrap="square" lIns="0" tIns="0" rIns="0" bIns="0" rtlCol="0" anchor="t"/>
          <a:lstStyle/>
          <a:p>
            <a:pPr indent="0" marL="0">
              <a:buNone/>
            </a:pPr>
            <a:r>
              <a:rPr lang="en-US" sz="1150" dirty="0">
                <a:solidFill>
                  <a:schemeClr val="accent1"/>
                </a:solidFill>
              </a:rPr>
              <a:t>One powerful key today</a:t>
            </a:r>
            <a:endParaRPr lang="en-US" sz="1150" dirty="0"/>
          </a:p>
        </p:txBody>
      </p:sp>
      <p:sp>
        <p:nvSpPr>
          <p:cNvPr id="35" name="control-6"/>
          <p:cNvSpPr/>
          <p:nvPr/>
        </p:nvSpPr>
        <p:spPr>
          <a:xfrm>
            <a:off x="6196432" y="4014216"/>
            <a:ext cx="2554148" cy="1481328"/>
          </a:xfrm>
          <a:prstGeom prst="roundRect">
            <a:avLst>
              <a:gd name="adj" fmla="val 7407"/>
            </a:avLst>
          </a:prstGeom>
          <a:solidFill>
            <a:schemeClr val="tx2"/>
          </a:solidFill>
          <a:ln w="15875">
            <a:solidFill>
              <a:schemeClr val="accent6"/>
            </a:solidFill>
            <a:prstDash val="solid"/>
          </a:ln>
        </p:spPr>
      </p:sp>
      <p:pic>
        <p:nvPicPr>
          <p:cNvPr id="36" name="Image 7" descr="Virtual share offset">    </p:cNvPr>
          <p:cNvPicPr>
            <a:picLocks noChangeAspect="1"/>
          </p:cNvPicPr>
          <p:nvPr/>
        </p:nvPicPr>
        <p:blipFill>
          <a:blip r:embed="rId8"/>
          <a:stretch>
            <a:fillRect/>
          </a:stretch>
        </p:blipFill>
        <p:spPr>
          <a:xfrm>
            <a:off x="6425032" y="4215384"/>
            <a:ext cx="292608" cy="292608"/>
          </a:xfrm>
          <a:prstGeom prst="rect">
            <a:avLst/>
          </a:prstGeom>
        </p:spPr>
      </p:pic>
      <p:sp>
        <p:nvSpPr>
          <p:cNvPr id="37" name="Text 27"/>
          <p:cNvSpPr txBox="1"/>
          <p:nvPr/>
        </p:nvSpPr>
        <p:spPr>
          <a:xfrm>
            <a:off x="6425032" y="4608576"/>
            <a:ext cx="2142668" cy="274320"/>
          </a:xfrm>
          <a:prstGeom prst="rect">
            <a:avLst/>
          </a:prstGeom>
          <a:noFill/>
          <a:ln/>
        </p:spPr>
        <p:txBody>
          <a:bodyPr wrap="square" lIns="0" tIns="0" rIns="0" bIns="0" rtlCol="0" anchor="t"/>
          <a:lstStyle/>
          <a:p>
            <a:pPr indent="0" marL="0">
              <a:buNone/>
            </a:pPr>
            <a:r>
              <a:rPr lang="en-US" sz="1400" b="1" dirty="0">
                <a:solidFill>
                  <a:schemeClr val="bg1"/>
                </a:solidFill>
              </a:rPr>
              <a:t>Virtual share offset</a:t>
            </a:r>
            <a:endParaRPr lang="en-US" sz="1400" dirty="0"/>
          </a:p>
        </p:txBody>
      </p:sp>
      <p:sp>
        <p:nvSpPr>
          <p:cNvPr id="38" name="Text 28"/>
          <p:cNvSpPr txBox="1"/>
          <p:nvPr/>
        </p:nvSpPr>
        <p:spPr>
          <a:xfrm>
            <a:off x="6425032" y="4882896"/>
            <a:ext cx="2142668" cy="237744"/>
          </a:xfrm>
          <a:prstGeom prst="rect">
            <a:avLst/>
          </a:prstGeom>
          <a:noFill/>
          <a:ln/>
        </p:spPr>
        <p:txBody>
          <a:bodyPr wrap="square" lIns="0" tIns="0" rIns="0" bIns="0" rtlCol="0" anchor="t"/>
          <a:lstStyle/>
          <a:p>
            <a:pPr indent="0" marL="0">
              <a:buNone/>
            </a:pPr>
            <a:r>
              <a:rPr lang="en-US" sz="1150" dirty="0">
                <a:solidFill>
                  <a:schemeClr val="bg2"/>
                </a:solidFill>
              </a:rPr>
              <a:t>1,000 shares, 1 asset</a:t>
            </a:r>
            <a:endParaRPr lang="en-US" sz="1150" dirty="0"/>
          </a:p>
        </p:txBody>
      </p:sp>
      <p:sp>
        <p:nvSpPr>
          <p:cNvPr id="39" name="Text 29"/>
          <p:cNvSpPr txBox="1"/>
          <p:nvPr/>
        </p:nvSpPr>
        <p:spPr>
          <a:xfrm>
            <a:off x="6425032" y="5148072"/>
            <a:ext cx="2188388" cy="237744"/>
          </a:xfrm>
          <a:prstGeom prst="rect">
            <a:avLst/>
          </a:prstGeom>
          <a:noFill/>
          <a:ln/>
        </p:spPr>
        <p:txBody>
          <a:bodyPr wrap="square" lIns="0" tIns="0" rIns="0" bIns="0" rtlCol="0" anchor="t"/>
          <a:lstStyle/>
          <a:p>
            <a:pPr indent="0" marL="0">
              <a:buNone/>
            </a:pPr>
            <a:r>
              <a:rPr lang="en-US" sz="1150" dirty="0">
                <a:solidFill>
                  <a:schemeClr val="accent1"/>
                </a:solidFill>
              </a:rPr>
              <a:t>Stops share-price inflation</a:t>
            </a:r>
            <a:endParaRPr lang="en-US" sz="1150" dirty="0"/>
          </a:p>
        </p:txBody>
      </p:sp>
      <p:sp>
        <p:nvSpPr>
          <p:cNvPr id="40" name="control-7"/>
          <p:cNvSpPr/>
          <p:nvPr/>
        </p:nvSpPr>
        <p:spPr>
          <a:xfrm>
            <a:off x="8951747" y="4014216"/>
            <a:ext cx="2554148" cy="1481328"/>
          </a:xfrm>
          <a:prstGeom prst="roundRect">
            <a:avLst>
              <a:gd name="adj" fmla="val 7407"/>
            </a:avLst>
          </a:prstGeom>
          <a:solidFill>
            <a:schemeClr val="tx2"/>
          </a:solidFill>
          <a:ln w="15875">
            <a:solidFill>
              <a:schemeClr val="accent6"/>
            </a:solidFill>
            <a:prstDash val="solid"/>
          </a:ln>
        </p:spPr>
      </p:sp>
      <p:pic>
        <p:nvPicPr>
          <p:cNvPr id="41" name="Image 8" descr="Automated tests">    </p:cNvPr>
          <p:cNvPicPr>
            <a:picLocks noChangeAspect="1"/>
          </p:cNvPicPr>
          <p:nvPr/>
        </p:nvPicPr>
        <p:blipFill>
          <a:blip r:embed="rId9"/>
          <a:stretch>
            <a:fillRect/>
          </a:stretch>
        </p:blipFill>
        <p:spPr>
          <a:xfrm>
            <a:off x="9180347" y="4215384"/>
            <a:ext cx="292608" cy="292608"/>
          </a:xfrm>
          <a:prstGeom prst="rect">
            <a:avLst/>
          </a:prstGeom>
        </p:spPr>
      </p:pic>
      <p:sp>
        <p:nvSpPr>
          <p:cNvPr id="42" name="Text 31"/>
          <p:cNvSpPr txBox="1"/>
          <p:nvPr/>
        </p:nvSpPr>
        <p:spPr>
          <a:xfrm>
            <a:off x="9180347" y="4608576"/>
            <a:ext cx="2142668" cy="274320"/>
          </a:xfrm>
          <a:prstGeom prst="rect">
            <a:avLst/>
          </a:prstGeom>
          <a:noFill/>
          <a:ln/>
        </p:spPr>
        <p:txBody>
          <a:bodyPr wrap="square" lIns="0" tIns="0" rIns="0" bIns="0" rtlCol="0" anchor="t"/>
          <a:lstStyle/>
          <a:p>
            <a:pPr indent="0" marL="0">
              <a:buNone/>
            </a:pPr>
            <a:r>
              <a:rPr lang="en-US" sz="1400" b="1" dirty="0">
                <a:solidFill>
                  <a:schemeClr val="bg1"/>
                </a:solidFill>
              </a:rPr>
              <a:t>Automated tests</a:t>
            </a:r>
            <a:endParaRPr lang="en-US" sz="1400" dirty="0"/>
          </a:p>
        </p:txBody>
      </p:sp>
      <p:sp>
        <p:nvSpPr>
          <p:cNvPr id="43" name="Text 32"/>
          <p:cNvSpPr txBox="1"/>
          <p:nvPr/>
        </p:nvSpPr>
        <p:spPr>
          <a:xfrm>
            <a:off x="9180347" y="4882896"/>
            <a:ext cx="2142668" cy="237744"/>
          </a:xfrm>
          <a:prstGeom prst="rect">
            <a:avLst/>
          </a:prstGeom>
          <a:noFill/>
          <a:ln/>
        </p:spPr>
        <p:txBody>
          <a:bodyPr wrap="square" lIns="0" tIns="0" rIns="0" bIns="0" rtlCol="0" anchor="t"/>
          <a:lstStyle/>
          <a:p>
            <a:pPr indent="0" marL="0">
              <a:buNone/>
            </a:pPr>
            <a:r>
              <a:rPr lang="en-US" sz="1150" dirty="0">
                <a:solidFill>
                  <a:schemeClr val="bg2"/>
                </a:solidFill>
              </a:rPr>
              <a:t>14 unit + 10 integration</a:t>
            </a:r>
            <a:endParaRPr lang="en-US" sz="1150" dirty="0"/>
          </a:p>
        </p:txBody>
      </p:sp>
      <p:sp>
        <p:nvSpPr>
          <p:cNvPr id="44" name="Text 33"/>
          <p:cNvSpPr txBox="1"/>
          <p:nvPr/>
        </p:nvSpPr>
        <p:spPr>
          <a:xfrm>
            <a:off x="9180347" y="5148072"/>
            <a:ext cx="2188388" cy="237744"/>
          </a:xfrm>
          <a:prstGeom prst="rect">
            <a:avLst/>
          </a:prstGeom>
          <a:noFill/>
          <a:ln/>
        </p:spPr>
        <p:txBody>
          <a:bodyPr wrap="square" lIns="0" tIns="0" rIns="0" bIns="0" rtlCol="0" anchor="t"/>
          <a:lstStyle/>
          <a:p>
            <a:pPr indent="0" marL="0">
              <a:buNone/>
            </a:pPr>
            <a:r>
              <a:rPr lang="en-US" sz="1150" dirty="0">
                <a:solidFill>
                  <a:schemeClr val="accent1"/>
                </a:solidFill>
              </a:rPr>
              <a:t>Plus a local deploy rehearsal</a:t>
            </a:r>
            <a:endParaRPr lang="en-US" sz="1150" dirty="0"/>
          </a:p>
        </p:txBody>
      </p:sp>
      <p:sp>
        <p:nvSpPr>
          <p:cNvPr id="45" name="callout-orange"/>
          <p:cNvSpPr/>
          <p:nvPr/>
        </p:nvSpPr>
        <p:spPr>
          <a:xfrm>
            <a:off x="685800" y="5724144"/>
            <a:ext cx="10820095" cy="457200"/>
          </a:xfrm>
          <a:prstGeom prst="rect">
            <a:avLst/>
          </a:prstGeom>
          <a:solidFill>
            <a:srgbClr val="2D2219"/>
          </a:solidFill>
          <a:ln w="12700">
            <a:solidFill>
              <a:srgbClr val="2D2219"/>
            </a:solidFill>
            <a:prstDash val="solid"/>
          </a:ln>
        </p:spPr>
      </p:sp>
      <p:sp>
        <p:nvSpPr>
          <p:cNvPr id="46" name="Shape 35"/>
          <p:cNvSpPr/>
          <p:nvPr/>
        </p:nvSpPr>
        <p:spPr>
          <a:xfrm>
            <a:off x="685800" y="5724144"/>
            <a:ext cx="45720" cy="457200"/>
          </a:xfrm>
          <a:prstGeom prst="rect">
            <a:avLst/>
          </a:prstGeom>
          <a:solidFill>
            <a:schemeClr val="accent3"/>
          </a:solidFill>
          <a:ln w="12700">
            <a:solidFill>
              <a:schemeClr val="accent3"/>
            </a:solidFill>
            <a:prstDash val="solid"/>
          </a:ln>
        </p:spPr>
      </p:sp>
      <p:sp>
        <p:nvSpPr>
          <p:cNvPr id="47" name="Text 36"/>
          <p:cNvSpPr txBox="1"/>
          <p:nvPr/>
        </p:nvSpPr>
        <p:spPr>
          <a:xfrm>
            <a:off x="914400" y="5779008"/>
            <a:ext cx="10408615" cy="347472"/>
          </a:xfrm>
          <a:prstGeom prst="rect">
            <a:avLst/>
          </a:prstGeom>
          <a:noFill/>
          <a:ln/>
        </p:spPr>
        <p:txBody>
          <a:bodyPr wrap="square" lIns="0" tIns="0" rIns="0" bIns="0" rtlCol="0" anchor="ctr"/>
          <a:lstStyle/>
          <a:p>
            <a:pPr indent="0" marL="0">
              <a:lnSpc>
                <a:spcPct val="115000"/>
              </a:lnSpc>
              <a:buNone/>
            </a:pPr>
            <a:r>
              <a:rPr lang="en-US" sz="950" b="1" dirty="0">
                <a:solidFill>
                  <a:schemeClr val="accent3"/>
                </a:solidFill>
                <a:latin typeface="IBM Plex Mono" pitchFamily="34" charset="0"/>
                <a:ea typeface="IBM Plex Mono" pitchFamily="34" charset="-122"/>
                <a:cs typeface="IBM Plex Mono" pitchFamily="34" charset="-120"/>
              </a:rPr>
              <a:t>Not yet: </a:t>
            </a:r>
            <a:pPr indent="0" marL="0">
              <a:lnSpc>
                <a:spcPct val="115000"/>
              </a:lnSpc>
              <a:buNone/>
            </a:pPr>
            <a:r>
              <a:rPr lang="en-US" sz="950" dirty="0">
                <a:solidFill>
                  <a:schemeClr val="bg1"/>
                </a:solidFill>
                <a:latin typeface="IBM Plex Mono" pitchFamily="34" charset="0"/>
                <a:ea typeface="IBM Plex Mono" pitchFamily="34" charset="-122"/>
                <a:cs typeface="IBM Plex Mono" pitchFamily="34" charset="-120"/>
              </a:rPr>
              <a:t>audit · multisig authority · strategy-change delay · pause escape hatch · fuzz testing</a:t>
            </a:r>
            <a:pPr indent="0" marL="0">
              <a:lnSpc>
                <a:spcPct val="115000"/>
              </a:lnSpc>
              <a:buNone/>
            </a:pPr>
            <a:r>
              <a:rPr lang="en-US" sz="950" dirty="0">
                <a:solidFill>
                  <a:srgbClr val="C9C9C9"/>
                </a:solidFill>
                <a:latin typeface="IBM Plex Mono" pitchFamily="34" charset="0"/>
                <a:ea typeface="IBM Plex Mono" pitchFamily="34" charset="-122"/>
                <a:cs typeface="IBM Plex Mono" pitchFamily="34" charset="-120"/>
              </a:rPr>
              <a:t>   (everything above runs on devnet only)</a:t>
            </a:r>
            <a:endParaRPr lang="en-US" sz="950" dirty="0"/>
          </a:p>
        </p:txBody>
      </p:sp>
      <p:sp>
        <p:nvSpPr>
          <p:cNvPr id="48" name="Text 37"/>
          <p:cNvSpPr txBox="1"/>
          <p:nvPr/>
        </p:nvSpPr>
        <p:spPr>
          <a:xfrm>
            <a:off x="10225735" y="6382512"/>
            <a:ext cx="1280160" cy="237744"/>
          </a:xfrm>
          <a:prstGeom prst="rect">
            <a:avLst/>
          </a:prstGeom>
          <a:noFill/>
          <a:ln/>
        </p:spPr>
        <p:txBody>
          <a:bodyPr wrap="square" lIns="0" tIns="0" rIns="0" bIns="0" rtlCol="0" anchor="t"/>
          <a:lstStyle/>
          <a:p>
            <a:pPr algn="r" indent="0" marL="0">
              <a:buNone/>
            </a:pPr>
            <a:r>
              <a:rPr lang="en-US" sz="950" spc="200" kern="0" dirty="0">
                <a:solidFill>
                  <a:srgbClr val="6E6E6E"/>
                </a:solidFill>
                <a:latin typeface="IBM Plex Mono" pitchFamily="34" charset="0"/>
                <a:ea typeface="IBM Plex Mono" pitchFamily="34" charset="-122"/>
                <a:cs typeface="IBM Plex Mono" pitchFamily="34" charset="-120"/>
              </a:rPr>
              <a:t>13 / 18</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0" y="2395728"/>
            <a:ext cx="12191695" cy="274320"/>
          </a:xfrm>
          <a:prstGeom prst="rect">
            <a:avLst/>
          </a:prstGeom>
          <a:noFill/>
          <a:ln/>
        </p:spPr>
        <p:txBody>
          <a:bodyPr wrap="square" lIns="0" tIns="0" rIns="0" bIns="0" rtlCol="0" anchor="t"/>
          <a:lstStyle/>
          <a:p>
            <a:pPr algn="ctr" indent="0" marL="0">
              <a:buNone/>
            </a:pPr>
            <a:r>
              <a:rPr lang="en-US" sz="1100" spc="500" kern="0" dirty="0">
                <a:solidFill>
                  <a:schemeClr val="accent2"/>
                </a:solidFill>
                <a:latin typeface="IBM Plex Mono SemiBold" pitchFamily="34" charset="0"/>
                <a:ea typeface="IBM Plex Mono SemiBold" pitchFamily="34" charset="-122"/>
                <a:cs typeface="IBM Plex Mono SemiBold" pitchFamily="34" charset="-120"/>
              </a:rPr>
              <a:t>CHAPTER 03</a:t>
            </a:r>
            <a:endParaRPr lang="en-US" sz="1100" dirty="0"/>
          </a:p>
        </p:txBody>
      </p:sp>
      <p:pic>
        <p:nvPicPr>
          <p:cNvPr id="3" name="title-blob" descr="preencoded.png">    </p:cNvPr>
          <p:cNvPicPr>
            <a:picLocks noChangeAspect="1"/>
          </p:cNvPicPr>
          <p:nvPr/>
        </p:nvPicPr>
        <p:blipFill>
          <a:blip r:embed="rId1"/>
          <a:stretch>
            <a:fillRect/>
          </a:stretch>
        </p:blipFill>
        <p:spPr>
          <a:xfrm>
            <a:off x="2308519" y="2633472"/>
            <a:ext cx="8781734" cy="1463040"/>
          </a:xfrm>
          <a:prstGeom prst="rect">
            <a:avLst/>
          </a:prstGeom>
        </p:spPr>
      </p:pic>
      <p:sp>
        <p:nvSpPr>
          <p:cNvPr id="4" name="Text 2"/>
          <p:cNvSpPr/>
          <p:nvPr>
            <p:ph idx="103" type="title" hasCustomPrompt="1"/>
          </p:nvPr>
        </p:nvSpPr>
        <p:spPr>
          <a:xfrm>
            <a:off x="457200" y="2898648"/>
            <a:ext cx="11277295" cy="914400"/>
          </a:xfrm>
          <a:prstGeom prst="rect">
            <a:avLst/>
          </a:prstGeom>
          <a:noFill/>
          <a:ln/>
        </p:spPr>
        <p:txBody>
          <a:bodyPr wrap="square" lIns="0" tIns="0" rIns="0" bIns="0" rtlCol="0" anchor="ctr"/>
          <a:lstStyle/>
          <a:p>
            <a:pPr algn="ctr" indent="0" marL="0">
              <a:buNone/>
            </a:pPr>
            <a:r>
              <a:rPr lang="en-US" sz="5400" dirty="0">
                <a:solidFill>
                  <a:schemeClr val="bg1"/>
                </a:solidFill>
                <a:latin typeface="Anton" pitchFamily="34" charset="0"/>
                <a:ea typeface="Anton" pitchFamily="34" charset="-122"/>
                <a:cs typeface="Anton" pitchFamily="34" charset="-120"/>
              </a:rPr>
              <a:t>DEMO &amp; WHAT'S NEXT</a:t>
            </a:r>
            <a:endParaRPr lang="en-US" sz="5400" dirty="0"/>
          </a:p>
        </p:txBody>
      </p:sp>
      <p:sp>
        <p:nvSpPr>
          <p:cNvPr id="5" name="Text 2"/>
          <p:cNvSpPr txBox="1"/>
          <p:nvPr/>
        </p:nvSpPr>
        <p:spPr>
          <a:xfrm>
            <a:off x="2011680" y="4224528"/>
            <a:ext cx="8168335" cy="640080"/>
          </a:xfrm>
          <a:prstGeom prst="rect">
            <a:avLst/>
          </a:prstGeom>
          <a:noFill/>
          <a:ln/>
        </p:spPr>
        <p:txBody>
          <a:bodyPr wrap="square" lIns="0" tIns="0" rIns="0" bIns="0" rtlCol="0" anchor="t"/>
          <a:lstStyle/>
          <a:p>
            <a:pPr algn="ctr" indent="0" marL="0">
              <a:buNone/>
            </a:pPr>
            <a:r>
              <a:rPr lang="en-US" sz="1800" dirty="0">
                <a:solidFill>
                  <a:srgbClr val="C9C9C9"/>
                </a:solidFill>
              </a:rPr>
              <a:t>What works today, </a:t>
            </a:r>
            <a:pPr algn="ctr" indent="0" marL="0">
              <a:buNone/>
            </a:pPr>
            <a:r>
              <a:rPr lang="en-US" sz="1800" b="1" dirty="0">
                <a:solidFill>
                  <a:schemeClr val="bg1"/>
                </a:solidFill>
              </a:rPr>
              <a:t>what's missing</a:t>
            </a:r>
            <a:pPr algn="ctr" indent="0" marL="0">
              <a:buNone/>
            </a:pPr>
            <a:r>
              <a:rPr lang="en-US" sz="1800" dirty="0">
                <a:solidFill>
                  <a:srgbClr val="C9C9C9"/>
                </a:solidFill>
              </a:rPr>
              <a:t>, and what I build next.</a:t>
            </a:r>
            <a:endParaRPr lang="en-US" sz="1800" dirty="0"/>
          </a:p>
        </p:txBody>
      </p:sp>
      <p:pic>
        <p:nvPicPr>
          <p:cNvPr id="6" name="sticker-chart" descr="chart sticker">    </p:cNvPr>
          <p:cNvPicPr>
            <a:picLocks noChangeAspect="1"/>
          </p:cNvPicPr>
          <p:nvPr/>
        </p:nvPicPr>
        <p:blipFill>
          <a:blip r:embed="rId2"/>
          <a:stretch>
            <a:fillRect/>
          </a:stretch>
        </p:blipFill>
        <p:spPr>
          <a:xfrm rot="-480000">
            <a:off x="9829800" y="868680"/>
            <a:ext cx="1188720" cy="1188720"/>
          </a:xfrm>
          <a:prstGeom prst="rect">
            <a:avLst/>
          </a:prstGeom>
        </p:spPr>
      </p:pic>
      <p:pic>
        <p:nvPicPr>
          <p:cNvPr id="7" name="sticker-piggy" descr="piggy sticker">    </p:cNvPr>
          <p:cNvPicPr>
            <a:picLocks noChangeAspect="1"/>
          </p:cNvPicPr>
          <p:nvPr/>
        </p:nvPicPr>
        <p:blipFill>
          <a:blip r:embed="rId3"/>
          <a:stretch>
            <a:fillRect/>
          </a:stretch>
        </p:blipFill>
        <p:spPr>
          <a:xfrm rot="480000">
            <a:off x="1051560" y="4114800"/>
            <a:ext cx="1371600" cy="1371600"/>
          </a:xfrm>
          <a:prstGeom prst="rect">
            <a:avLst/>
          </a:prstGeom>
        </p:spPr>
      </p:pic>
      <p:pic>
        <p:nvPicPr>
          <p:cNvPr id="8" name="sticker-sparkle" descr="sparkle sticker">    </p:cNvPr>
          <p:cNvPicPr>
            <a:picLocks noChangeAspect="1"/>
          </p:cNvPicPr>
          <p:nvPr/>
        </p:nvPicPr>
        <p:blipFill>
          <a:blip r:embed="rId4"/>
          <a:stretch>
            <a:fillRect/>
          </a:stretch>
        </p:blipFill>
        <p:spPr>
          <a:xfrm>
            <a:off x="10058400" y="4892040"/>
            <a:ext cx="868680" cy="868680"/>
          </a:xfrm>
          <a:prstGeom prst="rect">
            <a:avLst/>
          </a:prstGeom>
        </p:spPr>
      </p:pic>
      <p:sp>
        <p:nvSpPr>
          <p:cNvPr id="9" name="Text 3"/>
          <p:cNvSpPr txBox="1"/>
          <p:nvPr/>
        </p:nvSpPr>
        <p:spPr>
          <a:xfrm>
            <a:off x="10225735" y="6382512"/>
            <a:ext cx="1280160" cy="237744"/>
          </a:xfrm>
          <a:prstGeom prst="rect">
            <a:avLst/>
          </a:prstGeom>
          <a:noFill/>
          <a:ln/>
        </p:spPr>
        <p:txBody>
          <a:bodyPr wrap="square" lIns="0" tIns="0" rIns="0" bIns="0" rtlCol="0" anchor="t"/>
          <a:lstStyle/>
          <a:p>
            <a:pPr algn="r" indent="0" marL="0">
              <a:buNone/>
            </a:pPr>
            <a:r>
              <a:rPr lang="en-US" sz="950" spc="200" kern="0" dirty="0">
                <a:solidFill>
                  <a:srgbClr val="6E6E6E"/>
                </a:solidFill>
                <a:latin typeface="IBM Plex Mono" pitchFamily="34" charset="0"/>
                <a:ea typeface="IBM Plex Mono" pitchFamily="34" charset="-122"/>
                <a:cs typeface="IBM Plex Mono" pitchFamily="34" charset="-120"/>
              </a:rPr>
              <a:t>14 / 18</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title-blob" descr="preencoded.png">    </p:cNvPr>
          <p:cNvPicPr>
            <a:picLocks noChangeAspect="1"/>
          </p:cNvPicPr>
          <p:nvPr/>
        </p:nvPicPr>
        <p:blipFill>
          <a:blip r:embed="rId1"/>
          <a:stretch>
            <a:fillRect/>
          </a:stretch>
        </p:blipFill>
        <p:spPr>
          <a:xfrm>
            <a:off x="47255" y="420624"/>
            <a:ext cx="4540115" cy="1024128"/>
          </a:xfrm>
          <a:prstGeom prst="rect">
            <a:avLst/>
          </a:prstGeom>
        </p:spPr>
      </p:pic>
      <p:sp>
        <p:nvSpPr>
          <p:cNvPr id="3" name="Text 2"/>
          <p:cNvSpPr/>
          <p:nvPr>
            <p:ph idx="103" type="title" hasCustomPrompt="1"/>
          </p:nvPr>
        </p:nvSpPr>
        <p:spPr>
          <a:xfrm>
            <a:off x="685800" y="640080"/>
            <a:ext cx="10820095" cy="603504"/>
          </a:xfrm>
          <a:prstGeom prst="rect">
            <a:avLst/>
          </a:prstGeom>
          <a:noFill/>
          <a:ln/>
        </p:spPr>
        <p:txBody>
          <a:bodyPr wrap="square" lIns="0" tIns="0" rIns="0" bIns="0" rtlCol="0" anchor="ctr"/>
          <a:lstStyle/>
          <a:p>
            <a:pPr algn="l" indent="0" marL="0">
              <a:buNone/>
            </a:pPr>
            <a:r>
              <a:rPr lang="en-US" sz="3400" dirty="0">
                <a:solidFill>
                  <a:schemeClr val="bg1"/>
                </a:solidFill>
                <a:latin typeface="Anton" pitchFamily="34" charset="0"/>
                <a:ea typeface="Anton" pitchFamily="34" charset="-122"/>
                <a:cs typeface="Anton" pitchFamily="34" charset="-120"/>
              </a:rPr>
              <a:t>LET'S SEE IT WORK</a:t>
            </a:r>
            <a:endParaRPr lang="en-US" sz="3400" dirty="0"/>
          </a:p>
        </p:txBody>
      </p:sp>
      <p:sp>
        <p:nvSpPr>
          <p:cNvPr id="4" name="Text 1"/>
          <p:cNvSpPr txBox="1"/>
          <p:nvPr/>
        </p:nvSpPr>
        <p:spPr>
          <a:xfrm>
            <a:off x="685800" y="1481328"/>
            <a:ext cx="7863840" cy="640080"/>
          </a:xfrm>
          <a:prstGeom prst="rect">
            <a:avLst/>
          </a:prstGeom>
          <a:noFill/>
          <a:ln/>
        </p:spPr>
        <p:txBody>
          <a:bodyPr wrap="square" lIns="0" tIns="0" rIns="0" bIns="0" rtlCol="0" anchor="t"/>
          <a:lstStyle/>
          <a:p>
            <a:pPr indent="0" marL="0">
              <a:lnSpc>
                <a:spcPct val="100000"/>
              </a:lnSpc>
              <a:buNone/>
            </a:pPr>
            <a:r>
              <a:rPr lang="en-US" sz="1700" dirty="0">
                <a:solidFill>
                  <a:srgbClr val="C9C9C9"/>
                </a:solidFill>
              </a:rPr>
              <a:t>Part A is </a:t>
            </a:r>
            <a:pPr indent="0" marL="0">
              <a:lnSpc>
                <a:spcPct val="100000"/>
              </a:lnSpc>
              <a:buNone/>
            </a:pPr>
            <a:r>
              <a:rPr lang="en-US" sz="1700" b="1" dirty="0">
                <a:solidFill>
                  <a:schemeClr val="bg1"/>
                </a:solidFill>
              </a:rPr>
              <a:t>live</a:t>
            </a:r>
            <a:pPr indent="0" marL="0">
              <a:lnSpc>
                <a:spcPct val="100000"/>
              </a:lnSpc>
              <a:buNone/>
            </a:pPr>
            <a:r>
              <a:rPr lang="en-US" sz="1700" dirty="0">
                <a:solidFill>
                  <a:srgbClr val="C9C9C9"/>
                </a:solidFill>
              </a:rPr>
              <a:t>. Part B is a </a:t>
            </a:r>
            <a:pPr indent="0" marL="0">
              <a:lnSpc>
                <a:spcPct val="100000"/>
              </a:lnSpc>
              <a:buNone/>
            </a:pPr>
            <a:r>
              <a:rPr lang="en-US" sz="1700" b="1" dirty="0">
                <a:solidFill>
                  <a:schemeClr val="bg1"/>
                </a:solidFill>
              </a:rPr>
              <a:t>devnet prototype</a:t>
            </a:r>
            <a:pPr indent="0" marL="0">
              <a:lnSpc>
                <a:spcPct val="100000"/>
              </a:lnSpc>
              <a:buNone/>
            </a:pPr>
            <a:r>
              <a:rPr lang="en-US" sz="1700" dirty="0">
                <a:solidFill>
                  <a:srgbClr val="C9C9C9"/>
                </a:solidFill>
              </a:rPr>
              <a:t>. Keep them separate.</a:t>
            </a:r>
            <a:endParaRPr lang="en-US" sz="1700" dirty="0"/>
          </a:p>
        </p:txBody>
      </p:sp>
      <p:sp>
        <p:nvSpPr>
          <p:cNvPr id="5" name="demo-0"/>
          <p:cNvSpPr/>
          <p:nvPr/>
        </p:nvSpPr>
        <p:spPr>
          <a:xfrm>
            <a:off x="685800" y="2377440"/>
            <a:ext cx="5250028" cy="3429000"/>
          </a:xfrm>
          <a:prstGeom prst="roundRect">
            <a:avLst>
              <a:gd name="adj" fmla="val 3200"/>
            </a:avLst>
          </a:prstGeom>
          <a:solidFill>
            <a:schemeClr val="tx2"/>
          </a:solidFill>
          <a:ln w="15875">
            <a:solidFill>
              <a:schemeClr val="accent6"/>
            </a:solidFill>
            <a:prstDash val="solid"/>
          </a:ln>
        </p:spPr>
      </p:sp>
      <p:sp>
        <p:nvSpPr>
          <p:cNvPr id="6" name="Text 3"/>
          <p:cNvSpPr txBox="1"/>
          <p:nvPr/>
        </p:nvSpPr>
        <p:spPr>
          <a:xfrm rot="-180000">
            <a:off x="868680" y="2240280"/>
            <a:ext cx="1234440" cy="310896"/>
          </a:xfrm>
          <a:prstGeom prst="rect">
            <a:avLst/>
          </a:prstGeom>
          <a:solidFill>
            <a:schemeClr val="accent1"/>
          </a:solidFill>
          <a:ln>
            <a:solidFill>
              <a:schemeClr val="accent1"/>
            </a:solidFill>
          </a:ln>
        </p:spPr>
        <p:txBody>
          <a:bodyPr wrap="square" lIns="0" tIns="0" rIns="0" bIns="0" rtlCol="0" anchor="ctr"/>
          <a:lstStyle/>
          <a:p>
            <a:pPr algn="ctr" indent="0" marL="0">
              <a:buNone/>
            </a:pPr>
            <a:r>
              <a:rPr lang="en-US" sz="900" spc="250" kern="0" dirty="0">
                <a:solidFill>
                  <a:srgbClr val="141414"/>
                </a:solidFill>
                <a:latin typeface="IBM Plex Mono SemiBold" pitchFamily="34" charset="0"/>
                <a:ea typeface="IBM Plex Mono SemiBold" pitchFamily="34" charset="-122"/>
                <a:cs typeface="IBM Plex Mono SemiBold" pitchFamily="34" charset="-120"/>
              </a:rPr>
              <a:t>A · LIVE</a:t>
            </a:r>
            <a:endParaRPr lang="en-US" sz="900" dirty="0"/>
          </a:p>
        </p:txBody>
      </p:sp>
      <p:sp>
        <p:nvSpPr>
          <p:cNvPr id="7" name="Text 4"/>
          <p:cNvSpPr txBox="1"/>
          <p:nvPr/>
        </p:nvSpPr>
        <p:spPr>
          <a:xfrm>
            <a:off x="960120" y="2715768"/>
            <a:ext cx="3017520" cy="347472"/>
          </a:xfrm>
          <a:prstGeom prst="rect">
            <a:avLst/>
          </a:prstGeom>
          <a:noFill/>
          <a:ln/>
        </p:spPr>
        <p:txBody>
          <a:bodyPr wrap="square" lIns="0" tIns="0" rIns="0" bIns="0" rtlCol="0" anchor="t"/>
          <a:lstStyle/>
          <a:p>
            <a:pPr indent="0" marL="0">
              <a:buNone/>
            </a:pPr>
            <a:r>
              <a:rPr lang="en-US" sz="1900" b="1" dirty="0">
                <a:solidFill>
                  <a:schemeClr val="bg1"/>
                </a:solidFill>
              </a:rPr>
              <a:t>Comparison app</a:t>
            </a:r>
            <a:endParaRPr lang="en-US" sz="1900" dirty="0"/>
          </a:p>
        </p:txBody>
      </p:sp>
      <p:sp>
        <p:nvSpPr>
          <p:cNvPr id="8" name="Text 5"/>
          <p:cNvSpPr txBox="1"/>
          <p:nvPr/>
        </p:nvSpPr>
        <p:spPr>
          <a:xfrm>
            <a:off x="960120" y="3081528"/>
            <a:ext cx="3017520" cy="219456"/>
          </a:xfrm>
          <a:prstGeom prst="rect">
            <a:avLst/>
          </a:prstGeom>
          <a:noFill/>
          <a:ln/>
        </p:spPr>
        <p:txBody>
          <a:bodyPr wrap="square" lIns="0" tIns="0" rIns="0" bIns="0" rtlCol="0" anchor="t"/>
          <a:lstStyle/>
          <a:p>
            <a:pPr indent="0" marL="0">
              <a:buNone/>
            </a:pPr>
            <a:r>
              <a:rPr lang="en-US" sz="950" spc="50" kern="0" dirty="0">
                <a:solidFill>
                  <a:schemeClr val="accent1"/>
                </a:solidFill>
                <a:latin typeface="IBM Plex Mono" pitchFamily="34" charset="0"/>
                <a:ea typeface="IBM Plex Mono" pitchFamily="34" charset="-122"/>
                <a:cs typeface="IBM Plex Mono" pitchFamily="34" charset="-120"/>
              </a:rPr>
              <a:t>stablesaver-web.vercel.app</a:t>
            </a:r>
            <a:endParaRPr lang="en-US" sz="950" dirty="0"/>
          </a:p>
        </p:txBody>
      </p:sp>
      <p:sp>
        <p:nvSpPr>
          <p:cNvPr id="9" name="Text 6"/>
          <p:cNvSpPr txBox="1"/>
          <p:nvPr/>
        </p:nvSpPr>
        <p:spPr>
          <a:xfrm>
            <a:off x="960120" y="3483864"/>
            <a:ext cx="384048" cy="237744"/>
          </a:xfrm>
          <a:prstGeom prst="rect">
            <a:avLst/>
          </a:prstGeom>
          <a:noFill/>
          <a:ln/>
        </p:spPr>
        <p:txBody>
          <a:bodyPr wrap="square" lIns="0" tIns="0" rIns="0" bIns="0" rtlCol="0" anchor="t"/>
          <a:lstStyle/>
          <a:p>
            <a:pPr indent="0" marL="0">
              <a:buNone/>
            </a:pPr>
            <a:r>
              <a:rPr lang="en-US" sz="1050" spc="50" kern="0" dirty="0">
                <a:solidFill>
                  <a:schemeClr val="accent1"/>
                </a:solidFill>
                <a:latin typeface="IBM Plex Mono SemiBold" pitchFamily="34" charset="0"/>
                <a:ea typeface="IBM Plex Mono SemiBold" pitchFamily="34" charset="-122"/>
                <a:cs typeface="IBM Plex Mono SemiBold" pitchFamily="34" charset="-120"/>
              </a:rPr>
              <a:t>01</a:t>
            </a:r>
            <a:endParaRPr lang="en-US" sz="1050" dirty="0"/>
          </a:p>
        </p:txBody>
      </p:sp>
      <p:sp>
        <p:nvSpPr>
          <p:cNvPr id="10" name="Text 7"/>
          <p:cNvSpPr txBox="1"/>
          <p:nvPr/>
        </p:nvSpPr>
        <p:spPr>
          <a:xfrm>
            <a:off x="1371600" y="3447288"/>
            <a:ext cx="2606040" cy="310896"/>
          </a:xfrm>
          <a:prstGeom prst="rect">
            <a:avLst/>
          </a:prstGeom>
          <a:noFill/>
          <a:ln/>
        </p:spPr>
        <p:txBody>
          <a:bodyPr wrap="square" lIns="0" tIns="0" rIns="0" bIns="0" rtlCol="0" anchor="ctr"/>
          <a:lstStyle/>
          <a:p>
            <a:pPr indent="0" marL="0">
              <a:buNone/>
            </a:pPr>
            <a:r>
              <a:rPr lang="en-US" sz="1250" dirty="0">
                <a:solidFill>
                  <a:schemeClr val="bg1"/>
                </a:solidFill>
              </a:rPr>
              <a:t>Find idle money in a wallet</a:t>
            </a:r>
            <a:endParaRPr lang="en-US" sz="1250" dirty="0"/>
          </a:p>
        </p:txBody>
      </p:sp>
      <p:sp>
        <p:nvSpPr>
          <p:cNvPr id="11" name="Text 8"/>
          <p:cNvSpPr txBox="1"/>
          <p:nvPr/>
        </p:nvSpPr>
        <p:spPr>
          <a:xfrm>
            <a:off x="960120" y="3867912"/>
            <a:ext cx="384048" cy="237744"/>
          </a:xfrm>
          <a:prstGeom prst="rect">
            <a:avLst/>
          </a:prstGeom>
          <a:noFill/>
          <a:ln/>
        </p:spPr>
        <p:txBody>
          <a:bodyPr wrap="square" lIns="0" tIns="0" rIns="0" bIns="0" rtlCol="0" anchor="t"/>
          <a:lstStyle/>
          <a:p>
            <a:pPr indent="0" marL="0">
              <a:buNone/>
            </a:pPr>
            <a:r>
              <a:rPr lang="en-US" sz="1050" spc="50" kern="0" dirty="0">
                <a:solidFill>
                  <a:schemeClr val="accent1"/>
                </a:solidFill>
                <a:latin typeface="IBM Plex Mono SemiBold" pitchFamily="34" charset="0"/>
                <a:ea typeface="IBM Plex Mono SemiBold" pitchFamily="34" charset="-122"/>
                <a:cs typeface="IBM Plex Mono SemiBold" pitchFamily="34" charset="-120"/>
              </a:rPr>
              <a:t>02</a:t>
            </a:r>
            <a:endParaRPr lang="en-US" sz="1050" dirty="0"/>
          </a:p>
        </p:txBody>
      </p:sp>
      <p:sp>
        <p:nvSpPr>
          <p:cNvPr id="12" name="Text 9"/>
          <p:cNvSpPr txBox="1"/>
          <p:nvPr/>
        </p:nvSpPr>
        <p:spPr>
          <a:xfrm>
            <a:off x="1371600" y="3831336"/>
            <a:ext cx="2606040" cy="310896"/>
          </a:xfrm>
          <a:prstGeom prst="rect">
            <a:avLst/>
          </a:prstGeom>
          <a:noFill/>
          <a:ln/>
        </p:spPr>
        <p:txBody>
          <a:bodyPr wrap="square" lIns="0" tIns="0" rIns="0" bIns="0" rtlCol="0" anchor="ctr"/>
          <a:lstStyle/>
          <a:p>
            <a:pPr indent="0" marL="0">
              <a:buNone/>
            </a:pPr>
            <a:r>
              <a:rPr lang="en-US" sz="1250" dirty="0">
                <a:solidFill>
                  <a:schemeClr val="bg1"/>
                </a:solidFill>
              </a:rPr>
              <a:t>Switch Safe / Balanced / Bigger</a:t>
            </a:r>
            <a:endParaRPr lang="en-US" sz="1250" dirty="0"/>
          </a:p>
        </p:txBody>
      </p:sp>
      <p:sp>
        <p:nvSpPr>
          <p:cNvPr id="13" name="Text 10"/>
          <p:cNvSpPr txBox="1"/>
          <p:nvPr/>
        </p:nvSpPr>
        <p:spPr>
          <a:xfrm>
            <a:off x="960120" y="4251960"/>
            <a:ext cx="384048" cy="237744"/>
          </a:xfrm>
          <a:prstGeom prst="rect">
            <a:avLst/>
          </a:prstGeom>
          <a:noFill/>
          <a:ln/>
        </p:spPr>
        <p:txBody>
          <a:bodyPr wrap="square" lIns="0" tIns="0" rIns="0" bIns="0" rtlCol="0" anchor="t"/>
          <a:lstStyle/>
          <a:p>
            <a:pPr indent="0" marL="0">
              <a:buNone/>
            </a:pPr>
            <a:r>
              <a:rPr lang="en-US" sz="1050" spc="50" kern="0" dirty="0">
                <a:solidFill>
                  <a:schemeClr val="accent1"/>
                </a:solidFill>
                <a:latin typeface="IBM Plex Mono SemiBold" pitchFamily="34" charset="0"/>
                <a:ea typeface="IBM Plex Mono SemiBold" pitchFamily="34" charset="-122"/>
                <a:cs typeface="IBM Plex Mono SemiBold" pitchFamily="34" charset="-120"/>
              </a:rPr>
              <a:t>03</a:t>
            </a:r>
            <a:endParaRPr lang="en-US" sz="1050" dirty="0"/>
          </a:p>
        </p:txBody>
      </p:sp>
      <p:sp>
        <p:nvSpPr>
          <p:cNvPr id="14" name="Text 11"/>
          <p:cNvSpPr txBox="1"/>
          <p:nvPr/>
        </p:nvSpPr>
        <p:spPr>
          <a:xfrm>
            <a:off x="1371600" y="4215384"/>
            <a:ext cx="2606040" cy="310896"/>
          </a:xfrm>
          <a:prstGeom prst="rect">
            <a:avLst/>
          </a:prstGeom>
          <a:noFill/>
          <a:ln/>
        </p:spPr>
        <p:txBody>
          <a:bodyPr wrap="square" lIns="0" tIns="0" rIns="0" bIns="0" rtlCol="0" anchor="ctr"/>
          <a:lstStyle/>
          <a:p>
            <a:pPr indent="0" marL="0">
              <a:buNone/>
            </a:pPr>
            <a:r>
              <a:rPr lang="en-US" sz="1250" dirty="0">
                <a:solidFill>
                  <a:schemeClr val="bg1"/>
                </a:solidFill>
              </a:rPr>
              <a:t>Open an option: grade, withdraw</a:t>
            </a:r>
            <a:endParaRPr lang="en-US" sz="1250" dirty="0"/>
          </a:p>
        </p:txBody>
      </p:sp>
      <p:sp>
        <p:nvSpPr>
          <p:cNvPr id="15" name="Text 12"/>
          <p:cNvSpPr txBox="1"/>
          <p:nvPr/>
        </p:nvSpPr>
        <p:spPr>
          <a:xfrm>
            <a:off x="960120" y="4636008"/>
            <a:ext cx="384048" cy="237744"/>
          </a:xfrm>
          <a:prstGeom prst="rect">
            <a:avLst/>
          </a:prstGeom>
          <a:noFill/>
          <a:ln/>
        </p:spPr>
        <p:txBody>
          <a:bodyPr wrap="square" lIns="0" tIns="0" rIns="0" bIns="0" rtlCol="0" anchor="t"/>
          <a:lstStyle/>
          <a:p>
            <a:pPr indent="0" marL="0">
              <a:buNone/>
            </a:pPr>
            <a:r>
              <a:rPr lang="en-US" sz="1050" spc="50" kern="0" dirty="0">
                <a:solidFill>
                  <a:schemeClr val="accent1"/>
                </a:solidFill>
                <a:latin typeface="IBM Plex Mono SemiBold" pitchFamily="34" charset="0"/>
                <a:ea typeface="IBM Plex Mono SemiBold" pitchFamily="34" charset="-122"/>
                <a:cs typeface="IBM Plex Mono SemiBold" pitchFamily="34" charset="-120"/>
              </a:rPr>
              <a:t>04</a:t>
            </a:r>
            <a:endParaRPr lang="en-US" sz="1050" dirty="0"/>
          </a:p>
        </p:txBody>
      </p:sp>
      <p:sp>
        <p:nvSpPr>
          <p:cNvPr id="16" name="Text 13"/>
          <p:cNvSpPr txBox="1"/>
          <p:nvPr/>
        </p:nvSpPr>
        <p:spPr>
          <a:xfrm>
            <a:off x="1371600" y="4599432"/>
            <a:ext cx="2606040" cy="310896"/>
          </a:xfrm>
          <a:prstGeom prst="rect">
            <a:avLst/>
          </a:prstGeom>
          <a:noFill/>
          <a:ln/>
        </p:spPr>
        <p:txBody>
          <a:bodyPr wrap="square" lIns="0" tIns="0" rIns="0" bIns="0" rtlCol="0" anchor="ctr"/>
          <a:lstStyle/>
          <a:p>
            <a:pPr indent="0" marL="0">
              <a:buNone/>
            </a:pPr>
            <a:r>
              <a:rPr lang="en-US" sz="1250" dirty="0">
                <a:solidFill>
                  <a:schemeClr val="bg1"/>
                </a:solidFill>
              </a:rPr>
              <a:t>Compare with US T-bills</a:t>
            </a:r>
            <a:endParaRPr lang="en-US" sz="1250" dirty="0"/>
          </a:p>
        </p:txBody>
      </p:sp>
      <p:sp>
        <p:nvSpPr>
          <p:cNvPr id="17" name="Text 14"/>
          <p:cNvSpPr txBox="1"/>
          <p:nvPr/>
        </p:nvSpPr>
        <p:spPr>
          <a:xfrm>
            <a:off x="960120" y="5020056"/>
            <a:ext cx="384048" cy="237744"/>
          </a:xfrm>
          <a:prstGeom prst="rect">
            <a:avLst/>
          </a:prstGeom>
          <a:noFill/>
          <a:ln/>
        </p:spPr>
        <p:txBody>
          <a:bodyPr wrap="square" lIns="0" tIns="0" rIns="0" bIns="0" rtlCol="0" anchor="t"/>
          <a:lstStyle/>
          <a:p>
            <a:pPr indent="0" marL="0">
              <a:buNone/>
            </a:pPr>
            <a:r>
              <a:rPr lang="en-US" sz="1050" spc="50" kern="0" dirty="0">
                <a:solidFill>
                  <a:schemeClr val="accent1"/>
                </a:solidFill>
                <a:latin typeface="IBM Plex Mono SemiBold" pitchFamily="34" charset="0"/>
                <a:ea typeface="IBM Plex Mono SemiBold" pitchFamily="34" charset="-122"/>
                <a:cs typeface="IBM Plex Mono SemiBold" pitchFamily="34" charset="-120"/>
              </a:rPr>
              <a:t>05</a:t>
            </a:r>
            <a:endParaRPr lang="en-US" sz="1050" dirty="0"/>
          </a:p>
        </p:txBody>
      </p:sp>
      <p:sp>
        <p:nvSpPr>
          <p:cNvPr id="18" name="Text 15"/>
          <p:cNvSpPr txBox="1"/>
          <p:nvPr/>
        </p:nvSpPr>
        <p:spPr>
          <a:xfrm>
            <a:off x="1371600" y="4983480"/>
            <a:ext cx="2606040" cy="310896"/>
          </a:xfrm>
          <a:prstGeom prst="rect">
            <a:avLst/>
          </a:prstGeom>
          <a:noFill/>
          <a:ln/>
        </p:spPr>
        <p:txBody>
          <a:bodyPr wrap="square" lIns="0" tIns="0" rIns="0" bIns="0" rtlCol="0" anchor="ctr"/>
          <a:lstStyle/>
          <a:p>
            <a:pPr indent="0" marL="0">
              <a:buNone/>
            </a:pPr>
            <a:r>
              <a:rPr lang="en-US" sz="1250" dirty="0">
                <a:solidFill>
                  <a:schemeClr val="bg1"/>
                </a:solidFill>
              </a:rPr>
              <a:t>$100 + Ethereum: fees win</a:t>
            </a:r>
            <a:endParaRPr lang="en-US" sz="1250" dirty="0"/>
          </a:p>
        </p:txBody>
      </p:sp>
      <p:sp>
        <p:nvSpPr>
          <p:cNvPr id="19" name="Text 16"/>
          <p:cNvSpPr txBox="1"/>
          <p:nvPr/>
        </p:nvSpPr>
        <p:spPr>
          <a:xfrm>
            <a:off x="960120" y="5404104"/>
            <a:ext cx="384048" cy="237744"/>
          </a:xfrm>
          <a:prstGeom prst="rect">
            <a:avLst/>
          </a:prstGeom>
          <a:noFill/>
          <a:ln/>
        </p:spPr>
        <p:txBody>
          <a:bodyPr wrap="square" lIns="0" tIns="0" rIns="0" bIns="0" rtlCol="0" anchor="t"/>
          <a:lstStyle/>
          <a:p>
            <a:pPr indent="0" marL="0">
              <a:buNone/>
            </a:pPr>
            <a:r>
              <a:rPr lang="en-US" sz="1050" spc="50" kern="0" dirty="0">
                <a:solidFill>
                  <a:schemeClr val="accent1"/>
                </a:solidFill>
                <a:latin typeface="IBM Plex Mono SemiBold" pitchFamily="34" charset="0"/>
                <a:ea typeface="IBM Plex Mono SemiBold" pitchFamily="34" charset="-122"/>
                <a:cs typeface="IBM Plex Mono SemiBold" pitchFamily="34" charset="-120"/>
              </a:rPr>
              <a:t>06</a:t>
            </a:r>
            <a:endParaRPr lang="en-US" sz="1050" dirty="0"/>
          </a:p>
        </p:txBody>
      </p:sp>
      <p:sp>
        <p:nvSpPr>
          <p:cNvPr id="20" name="Text 17"/>
          <p:cNvSpPr txBox="1"/>
          <p:nvPr/>
        </p:nvSpPr>
        <p:spPr>
          <a:xfrm>
            <a:off x="1371600" y="5367528"/>
            <a:ext cx="2606040" cy="310896"/>
          </a:xfrm>
          <a:prstGeom prst="rect">
            <a:avLst/>
          </a:prstGeom>
          <a:noFill/>
          <a:ln/>
        </p:spPr>
        <p:txBody>
          <a:bodyPr wrap="square" lIns="0" tIns="0" rIns="0" bIns="0" rtlCol="0" anchor="ctr"/>
          <a:lstStyle/>
          <a:p>
            <a:pPr indent="0" marL="0">
              <a:buNone/>
            </a:pPr>
            <a:r>
              <a:rPr lang="en-US" sz="1250" dirty="0">
                <a:solidFill>
                  <a:schemeClr val="bg1"/>
                </a:solidFill>
              </a:rPr>
              <a:t>Share my estimate</a:t>
            </a:r>
            <a:endParaRPr lang="en-US" sz="1250" dirty="0"/>
          </a:p>
        </p:txBody>
      </p:sp>
      <p:sp>
        <p:nvSpPr>
          <p:cNvPr id="21" name="Shape 18"/>
          <p:cNvSpPr/>
          <p:nvPr/>
        </p:nvSpPr>
        <p:spPr>
          <a:xfrm>
            <a:off x="4032504" y="2600802"/>
            <a:ext cx="1711300" cy="2982276"/>
          </a:xfrm>
          <a:prstGeom prst="roundRect">
            <a:avLst>
              <a:gd name="adj" fmla="val 3206"/>
            </a:avLst>
          </a:prstGeom>
          <a:solidFill>
            <a:srgbClr val="0E0E0E"/>
          </a:solidFill>
          <a:ln w="12700">
            <a:solidFill>
              <a:schemeClr val="accent6"/>
            </a:solidFill>
            <a:prstDash val="solid"/>
          </a:ln>
        </p:spPr>
      </p:sp>
      <p:pic>
        <p:nvPicPr>
          <p:cNvPr id="22" name="demo-shot-0" descr="Comparison app home: amount, estimated earnings and risk preference">    </p:cNvPr>
          <p:cNvPicPr>
            <a:picLocks noChangeAspect="1"/>
          </p:cNvPicPr>
          <p:nvPr/>
        </p:nvPicPr>
        <p:blipFill>
          <a:blip r:embed="rId2"/>
          <a:stretch>
            <a:fillRect/>
          </a:stretch>
        </p:blipFill>
        <p:spPr>
          <a:xfrm>
            <a:off x="4069080" y="2637378"/>
            <a:ext cx="1638148" cy="2909124"/>
          </a:xfrm>
          <a:prstGeom prst="rect">
            <a:avLst/>
          </a:prstGeom>
        </p:spPr>
      </p:pic>
      <p:sp>
        <p:nvSpPr>
          <p:cNvPr id="23" name="demo-1"/>
          <p:cNvSpPr/>
          <p:nvPr/>
        </p:nvSpPr>
        <p:spPr>
          <a:xfrm>
            <a:off x="6255868" y="2377440"/>
            <a:ext cx="5250028" cy="3429000"/>
          </a:xfrm>
          <a:prstGeom prst="roundRect">
            <a:avLst>
              <a:gd name="adj" fmla="val 3200"/>
            </a:avLst>
          </a:prstGeom>
          <a:solidFill>
            <a:schemeClr val="tx2"/>
          </a:solidFill>
          <a:ln w="15875">
            <a:solidFill>
              <a:schemeClr val="accent6"/>
            </a:solidFill>
            <a:prstDash val="solid"/>
          </a:ln>
        </p:spPr>
      </p:sp>
      <p:sp>
        <p:nvSpPr>
          <p:cNvPr id="24" name="Text 20"/>
          <p:cNvSpPr txBox="1"/>
          <p:nvPr/>
        </p:nvSpPr>
        <p:spPr>
          <a:xfrm rot="120000">
            <a:off x="6438748" y="2240280"/>
            <a:ext cx="2377440" cy="310896"/>
          </a:xfrm>
          <a:prstGeom prst="rect">
            <a:avLst/>
          </a:prstGeom>
          <a:solidFill>
            <a:schemeClr val="accent4"/>
          </a:solidFill>
          <a:ln>
            <a:solidFill>
              <a:schemeClr val="accent4"/>
            </a:solidFill>
          </a:ln>
        </p:spPr>
        <p:txBody>
          <a:bodyPr wrap="square" lIns="0" tIns="0" rIns="0" bIns="0" rtlCol="0" anchor="ctr"/>
          <a:lstStyle/>
          <a:p>
            <a:pPr algn="ctr" indent="0" marL="0">
              <a:buNone/>
            </a:pPr>
            <a:r>
              <a:rPr lang="en-US" sz="900" spc="250" kern="0" dirty="0">
                <a:solidFill>
                  <a:srgbClr val="141414"/>
                </a:solidFill>
                <a:latin typeface="IBM Plex Mono SemiBold" pitchFamily="34" charset="0"/>
                <a:ea typeface="IBM Plex Mono SemiBold" pitchFamily="34" charset="-122"/>
                <a:cs typeface="IBM Plex Mono SemiBold" pitchFamily="34" charset="-120"/>
              </a:rPr>
              <a:t>B · DEVNET PROTOTYPE</a:t>
            </a:r>
            <a:endParaRPr lang="en-US" sz="900" dirty="0"/>
          </a:p>
        </p:txBody>
      </p:sp>
      <p:sp>
        <p:nvSpPr>
          <p:cNvPr id="25" name="Text 21"/>
          <p:cNvSpPr txBox="1"/>
          <p:nvPr/>
        </p:nvSpPr>
        <p:spPr>
          <a:xfrm>
            <a:off x="6530188" y="2715768"/>
            <a:ext cx="3017520" cy="347472"/>
          </a:xfrm>
          <a:prstGeom prst="rect">
            <a:avLst/>
          </a:prstGeom>
          <a:noFill/>
          <a:ln/>
        </p:spPr>
        <p:txBody>
          <a:bodyPr wrap="square" lIns="0" tIns="0" rIns="0" bIns="0" rtlCol="0" anchor="t"/>
          <a:lstStyle/>
          <a:p>
            <a:pPr indent="0" marL="0">
              <a:buNone/>
            </a:pPr>
            <a:r>
              <a:rPr lang="en-US" sz="1900" b="1" dirty="0">
                <a:solidFill>
                  <a:schemeClr val="bg1"/>
                </a:solidFill>
              </a:rPr>
              <a:t>Vault</a:t>
            </a:r>
            <a:endParaRPr lang="en-US" sz="1900" dirty="0"/>
          </a:p>
        </p:txBody>
      </p:sp>
      <p:sp>
        <p:nvSpPr>
          <p:cNvPr id="26" name="Text 22"/>
          <p:cNvSpPr txBox="1"/>
          <p:nvPr/>
        </p:nvSpPr>
        <p:spPr>
          <a:xfrm>
            <a:off x="6530188" y="3081528"/>
            <a:ext cx="3017520" cy="219456"/>
          </a:xfrm>
          <a:prstGeom prst="rect">
            <a:avLst/>
          </a:prstGeom>
          <a:noFill/>
          <a:ln/>
        </p:spPr>
        <p:txBody>
          <a:bodyPr wrap="square" lIns="0" tIns="0" rIns="0" bIns="0" rtlCol="0" anchor="t"/>
          <a:lstStyle/>
          <a:p>
            <a:pPr indent="0" marL="0">
              <a:buNone/>
            </a:pPr>
            <a:r>
              <a:rPr lang="en-US" sz="950" spc="50" kern="0" dirty="0">
                <a:solidFill>
                  <a:schemeClr val="accent4"/>
                </a:solidFill>
                <a:latin typeface="IBM Plex Mono" pitchFamily="34" charset="0"/>
                <a:ea typeface="IBM Plex Mono" pitchFamily="34" charset="-122"/>
                <a:cs typeface="IBM Plex Mono" pitchFamily="34" charset="-120"/>
              </a:rPr>
              <a:t>Wallet on Solana devnet</a:t>
            </a:r>
            <a:endParaRPr lang="en-US" sz="950" dirty="0"/>
          </a:p>
        </p:txBody>
      </p:sp>
      <p:sp>
        <p:nvSpPr>
          <p:cNvPr id="27" name="Text 23"/>
          <p:cNvSpPr txBox="1"/>
          <p:nvPr/>
        </p:nvSpPr>
        <p:spPr>
          <a:xfrm>
            <a:off x="6530188" y="3483864"/>
            <a:ext cx="384048" cy="237744"/>
          </a:xfrm>
          <a:prstGeom prst="rect">
            <a:avLst/>
          </a:prstGeom>
          <a:noFill/>
          <a:ln/>
        </p:spPr>
        <p:txBody>
          <a:bodyPr wrap="square" lIns="0" tIns="0" rIns="0" bIns="0" rtlCol="0" anchor="t"/>
          <a:lstStyle/>
          <a:p>
            <a:pPr indent="0" marL="0">
              <a:buNone/>
            </a:pPr>
            <a:r>
              <a:rPr lang="en-US" sz="1050" spc="50" kern="0" dirty="0">
                <a:solidFill>
                  <a:schemeClr val="accent4"/>
                </a:solidFill>
                <a:latin typeface="IBM Plex Mono SemiBold" pitchFamily="34" charset="0"/>
                <a:ea typeface="IBM Plex Mono SemiBold" pitchFamily="34" charset="-122"/>
                <a:cs typeface="IBM Plex Mono SemiBold" pitchFamily="34" charset="-120"/>
              </a:rPr>
              <a:t>01</a:t>
            </a:r>
            <a:endParaRPr lang="en-US" sz="1050" dirty="0"/>
          </a:p>
        </p:txBody>
      </p:sp>
      <p:sp>
        <p:nvSpPr>
          <p:cNvPr id="28" name="Text 24"/>
          <p:cNvSpPr txBox="1"/>
          <p:nvPr/>
        </p:nvSpPr>
        <p:spPr>
          <a:xfrm>
            <a:off x="6941668" y="3447288"/>
            <a:ext cx="2606040" cy="310896"/>
          </a:xfrm>
          <a:prstGeom prst="rect">
            <a:avLst/>
          </a:prstGeom>
          <a:noFill/>
          <a:ln/>
        </p:spPr>
        <p:txBody>
          <a:bodyPr wrap="square" lIns="0" tIns="0" rIns="0" bIns="0" rtlCol="0" anchor="ctr"/>
          <a:lstStyle/>
          <a:p>
            <a:pPr indent="0" marL="0">
              <a:buNone/>
            </a:pPr>
            <a:r>
              <a:rPr lang="en-US" sz="1250" dirty="0">
                <a:solidFill>
                  <a:schemeClr val="bg1"/>
                </a:solidFill>
              </a:rPr>
              <a:t>Connect a devnet wallet</a:t>
            </a:r>
            <a:endParaRPr lang="en-US" sz="1250" dirty="0"/>
          </a:p>
        </p:txBody>
      </p:sp>
      <p:sp>
        <p:nvSpPr>
          <p:cNvPr id="29" name="Text 25"/>
          <p:cNvSpPr txBox="1"/>
          <p:nvPr/>
        </p:nvSpPr>
        <p:spPr>
          <a:xfrm>
            <a:off x="6530188" y="3867912"/>
            <a:ext cx="384048" cy="237744"/>
          </a:xfrm>
          <a:prstGeom prst="rect">
            <a:avLst/>
          </a:prstGeom>
          <a:noFill/>
          <a:ln/>
        </p:spPr>
        <p:txBody>
          <a:bodyPr wrap="square" lIns="0" tIns="0" rIns="0" bIns="0" rtlCol="0" anchor="t"/>
          <a:lstStyle/>
          <a:p>
            <a:pPr indent="0" marL="0">
              <a:buNone/>
            </a:pPr>
            <a:r>
              <a:rPr lang="en-US" sz="1050" spc="50" kern="0" dirty="0">
                <a:solidFill>
                  <a:schemeClr val="accent4"/>
                </a:solidFill>
                <a:latin typeface="IBM Plex Mono SemiBold" pitchFamily="34" charset="0"/>
                <a:ea typeface="IBM Plex Mono SemiBold" pitchFamily="34" charset="-122"/>
                <a:cs typeface="IBM Plex Mono SemiBold" pitchFamily="34" charset="-120"/>
              </a:rPr>
              <a:t>02</a:t>
            </a:r>
            <a:endParaRPr lang="en-US" sz="1050" dirty="0"/>
          </a:p>
        </p:txBody>
      </p:sp>
      <p:sp>
        <p:nvSpPr>
          <p:cNvPr id="30" name="Text 26"/>
          <p:cNvSpPr txBox="1"/>
          <p:nvPr/>
        </p:nvSpPr>
        <p:spPr>
          <a:xfrm>
            <a:off x="6941668" y="3831336"/>
            <a:ext cx="2606040" cy="310896"/>
          </a:xfrm>
          <a:prstGeom prst="rect">
            <a:avLst/>
          </a:prstGeom>
          <a:noFill/>
          <a:ln/>
        </p:spPr>
        <p:txBody>
          <a:bodyPr wrap="square" lIns="0" tIns="0" rIns="0" bIns="0" rtlCol="0" anchor="ctr"/>
          <a:lstStyle/>
          <a:p>
            <a:pPr indent="0" marL="0">
              <a:buNone/>
            </a:pPr>
            <a:r>
              <a:rPr lang="en-US" sz="1250" dirty="0">
                <a:solidFill>
                  <a:schemeClr val="bg1"/>
                </a:solidFill>
              </a:rPr>
              <a:t>Deposit: split into pools</a:t>
            </a:r>
            <a:endParaRPr lang="en-US" sz="1250" dirty="0"/>
          </a:p>
        </p:txBody>
      </p:sp>
      <p:sp>
        <p:nvSpPr>
          <p:cNvPr id="31" name="Text 27"/>
          <p:cNvSpPr txBox="1"/>
          <p:nvPr/>
        </p:nvSpPr>
        <p:spPr>
          <a:xfrm>
            <a:off x="6530188" y="4251960"/>
            <a:ext cx="384048" cy="237744"/>
          </a:xfrm>
          <a:prstGeom prst="rect">
            <a:avLst/>
          </a:prstGeom>
          <a:noFill/>
          <a:ln/>
        </p:spPr>
        <p:txBody>
          <a:bodyPr wrap="square" lIns="0" tIns="0" rIns="0" bIns="0" rtlCol="0" anchor="t"/>
          <a:lstStyle/>
          <a:p>
            <a:pPr indent="0" marL="0">
              <a:buNone/>
            </a:pPr>
            <a:r>
              <a:rPr lang="en-US" sz="1050" spc="50" kern="0" dirty="0">
                <a:solidFill>
                  <a:schemeClr val="accent4"/>
                </a:solidFill>
                <a:latin typeface="IBM Plex Mono SemiBold" pitchFamily="34" charset="0"/>
                <a:ea typeface="IBM Plex Mono SemiBold" pitchFamily="34" charset="-122"/>
                <a:cs typeface="IBM Plex Mono SemiBold" pitchFamily="34" charset="-120"/>
              </a:rPr>
              <a:t>03</a:t>
            </a:r>
            <a:endParaRPr lang="en-US" sz="1050" dirty="0"/>
          </a:p>
        </p:txBody>
      </p:sp>
      <p:sp>
        <p:nvSpPr>
          <p:cNvPr id="32" name="Text 28"/>
          <p:cNvSpPr txBox="1"/>
          <p:nvPr/>
        </p:nvSpPr>
        <p:spPr>
          <a:xfrm>
            <a:off x="6941668" y="4215384"/>
            <a:ext cx="2606040" cy="310896"/>
          </a:xfrm>
          <a:prstGeom prst="rect">
            <a:avLst/>
          </a:prstGeom>
          <a:noFill/>
          <a:ln/>
        </p:spPr>
        <p:txBody>
          <a:bodyPr wrap="square" lIns="0" tIns="0" rIns="0" bIns="0" rtlCol="0" anchor="ctr"/>
          <a:lstStyle/>
          <a:p>
            <a:pPr indent="0" marL="0">
              <a:buNone/>
            </a:pPr>
            <a:r>
              <a:rPr lang="en-US" sz="1250" dirty="0">
                <a:solidFill>
                  <a:schemeClr val="bg1"/>
                </a:solidFill>
              </a:rPr>
              <a:t>Where the money is</a:t>
            </a:r>
            <a:endParaRPr lang="en-US" sz="1250" dirty="0"/>
          </a:p>
        </p:txBody>
      </p:sp>
      <p:sp>
        <p:nvSpPr>
          <p:cNvPr id="33" name="Text 29"/>
          <p:cNvSpPr txBox="1"/>
          <p:nvPr/>
        </p:nvSpPr>
        <p:spPr>
          <a:xfrm>
            <a:off x="6530188" y="4636008"/>
            <a:ext cx="384048" cy="237744"/>
          </a:xfrm>
          <a:prstGeom prst="rect">
            <a:avLst/>
          </a:prstGeom>
          <a:noFill/>
          <a:ln/>
        </p:spPr>
        <p:txBody>
          <a:bodyPr wrap="square" lIns="0" tIns="0" rIns="0" bIns="0" rtlCol="0" anchor="t"/>
          <a:lstStyle/>
          <a:p>
            <a:pPr indent="0" marL="0">
              <a:buNone/>
            </a:pPr>
            <a:r>
              <a:rPr lang="en-US" sz="1050" spc="50" kern="0" dirty="0">
                <a:solidFill>
                  <a:schemeClr val="accent4"/>
                </a:solidFill>
                <a:latin typeface="IBM Plex Mono SemiBold" pitchFamily="34" charset="0"/>
                <a:ea typeface="IBM Plex Mono SemiBold" pitchFamily="34" charset="-122"/>
                <a:cs typeface="IBM Plex Mono SemiBold" pitchFamily="34" charset="-120"/>
              </a:rPr>
              <a:t>04</a:t>
            </a:r>
            <a:endParaRPr lang="en-US" sz="1050" dirty="0"/>
          </a:p>
        </p:txBody>
      </p:sp>
      <p:sp>
        <p:nvSpPr>
          <p:cNvPr id="34" name="Text 30"/>
          <p:cNvSpPr txBox="1"/>
          <p:nvPr/>
        </p:nvSpPr>
        <p:spPr>
          <a:xfrm>
            <a:off x="6941668" y="4599432"/>
            <a:ext cx="2606040" cy="310896"/>
          </a:xfrm>
          <a:prstGeom prst="rect">
            <a:avLst/>
          </a:prstGeom>
          <a:noFill/>
          <a:ln/>
        </p:spPr>
        <p:txBody>
          <a:bodyPr wrap="square" lIns="0" tIns="0" rIns="0" bIns="0" rtlCol="0" anchor="ctr"/>
          <a:lstStyle/>
          <a:p>
            <a:pPr indent="0" marL="0">
              <a:buNone/>
            </a:pPr>
            <a:r>
              <a:rPr lang="en-US" sz="1250" dirty="0">
                <a:solidFill>
                  <a:schemeClr val="bg1"/>
                </a:solidFill>
              </a:rPr>
              <a:t>Collect interest, rebalance</a:t>
            </a:r>
            <a:endParaRPr lang="en-US" sz="1250" dirty="0"/>
          </a:p>
        </p:txBody>
      </p:sp>
      <p:sp>
        <p:nvSpPr>
          <p:cNvPr id="35" name="Text 31"/>
          <p:cNvSpPr txBox="1"/>
          <p:nvPr/>
        </p:nvSpPr>
        <p:spPr>
          <a:xfrm>
            <a:off x="6530188" y="5020056"/>
            <a:ext cx="384048" cy="237744"/>
          </a:xfrm>
          <a:prstGeom prst="rect">
            <a:avLst/>
          </a:prstGeom>
          <a:noFill/>
          <a:ln/>
        </p:spPr>
        <p:txBody>
          <a:bodyPr wrap="square" lIns="0" tIns="0" rIns="0" bIns="0" rtlCol="0" anchor="t"/>
          <a:lstStyle/>
          <a:p>
            <a:pPr indent="0" marL="0">
              <a:buNone/>
            </a:pPr>
            <a:r>
              <a:rPr lang="en-US" sz="1050" spc="50" kern="0" dirty="0">
                <a:solidFill>
                  <a:schemeClr val="accent4"/>
                </a:solidFill>
                <a:latin typeface="IBM Plex Mono SemiBold" pitchFamily="34" charset="0"/>
                <a:ea typeface="IBM Plex Mono SemiBold" pitchFamily="34" charset="-122"/>
                <a:cs typeface="IBM Plex Mono SemiBold" pitchFamily="34" charset="-120"/>
              </a:rPr>
              <a:t>05</a:t>
            </a:r>
            <a:endParaRPr lang="en-US" sz="1050" dirty="0"/>
          </a:p>
        </p:txBody>
      </p:sp>
      <p:sp>
        <p:nvSpPr>
          <p:cNvPr id="36" name="Text 32"/>
          <p:cNvSpPr txBox="1"/>
          <p:nvPr/>
        </p:nvSpPr>
        <p:spPr>
          <a:xfrm>
            <a:off x="6941668" y="4983480"/>
            <a:ext cx="2606040" cy="310896"/>
          </a:xfrm>
          <a:prstGeom prst="rect">
            <a:avLst/>
          </a:prstGeom>
          <a:noFill/>
          <a:ln/>
        </p:spPr>
        <p:txBody>
          <a:bodyPr wrap="square" lIns="0" tIns="0" rIns="0" bIns="0" rtlCol="0" anchor="ctr"/>
          <a:lstStyle/>
          <a:p>
            <a:pPr indent="0" marL="0">
              <a:buNone/>
            </a:pPr>
            <a:r>
              <a:rPr lang="en-US" sz="1250" dirty="0">
                <a:solidFill>
                  <a:schemeClr val="bg1"/>
                </a:solidFill>
              </a:rPr>
              <a:t>Withdraw: pools top up</a:t>
            </a:r>
            <a:endParaRPr lang="en-US" sz="1250" dirty="0"/>
          </a:p>
        </p:txBody>
      </p:sp>
      <p:sp>
        <p:nvSpPr>
          <p:cNvPr id="37" name="Text 33"/>
          <p:cNvSpPr txBox="1"/>
          <p:nvPr/>
        </p:nvSpPr>
        <p:spPr>
          <a:xfrm>
            <a:off x="6530188" y="5404104"/>
            <a:ext cx="384048" cy="237744"/>
          </a:xfrm>
          <a:prstGeom prst="rect">
            <a:avLst/>
          </a:prstGeom>
          <a:noFill/>
          <a:ln/>
        </p:spPr>
        <p:txBody>
          <a:bodyPr wrap="square" lIns="0" tIns="0" rIns="0" bIns="0" rtlCol="0" anchor="t"/>
          <a:lstStyle/>
          <a:p>
            <a:pPr indent="0" marL="0">
              <a:buNone/>
            </a:pPr>
            <a:r>
              <a:rPr lang="en-US" sz="1050" spc="50" kern="0" dirty="0">
                <a:solidFill>
                  <a:schemeClr val="accent4"/>
                </a:solidFill>
                <a:latin typeface="IBM Plex Mono SemiBold" pitchFamily="34" charset="0"/>
                <a:ea typeface="IBM Plex Mono SemiBold" pitchFamily="34" charset="-122"/>
                <a:cs typeface="IBM Plex Mono SemiBold" pitchFamily="34" charset="-120"/>
              </a:rPr>
              <a:t>06</a:t>
            </a:r>
            <a:endParaRPr lang="en-US" sz="1050" dirty="0"/>
          </a:p>
        </p:txBody>
      </p:sp>
      <p:sp>
        <p:nvSpPr>
          <p:cNvPr id="38" name="Text 34"/>
          <p:cNvSpPr txBox="1"/>
          <p:nvPr/>
        </p:nvSpPr>
        <p:spPr>
          <a:xfrm>
            <a:off x="6941668" y="5367528"/>
            <a:ext cx="2606040" cy="310896"/>
          </a:xfrm>
          <a:prstGeom prst="rect">
            <a:avLst/>
          </a:prstGeom>
          <a:noFill/>
          <a:ln/>
        </p:spPr>
        <p:txBody>
          <a:bodyPr wrap="square" lIns="0" tIns="0" rIns="0" bIns="0" rtlCol="0" anchor="ctr"/>
          <a:lstStyle/>
          <a:p>
            <a:pPr indent="0" marL="0">
              <a:buNone/>
            </a:pPr>
            <a:r>
              <a:rPr lang="en-US" sz="1250" dirty="0">
                <a:solidFill>
                  <a:schemeClr val="bg1"/>
                </a:solidFill>
              </a:rPr>
              <a:t>Deposit from a Blink</a:t>
            </a:r>
            <a:endParaRPr lang="en-US" sz="1250" dirty="0"/>
          </a:p>
        </p:txBody>
      </p:sp>
      <p:sp>
        <p:nvSpPr>
          <p:cNvPr id="39" name="Shape 35"/>
          <p:cNvSpPr/>
          <p:nvPr/>
        </p:nvSpPr>
        <p:spPr>
          <a:xfrm>
            <a:off x="9602572" y="2744846"/>
            <a:ext cx="1711300" cy="2694188"/>
          </a:xfrm>
          <a:prstGeom prst="roundRect">
            <a:avLst>
              <a:gd name="adj" fmla="val 3206"/>
            </a:avLst>
          </a:prstGeom>
          <a:solidFill>
            <a:srgbClr val="0E0E0E"/>
          </a:solidFill>
          <a:ln w="12700">
            <a:solidFill>
              <a:schemeClr val="accent6"/>
            </a:solidFill>
            <a:prstDash val="solid"/>
          </a:ln>
        </p:spPr>
      </p:sp>
      <p:pic>
        <p:nvPicPr>
          <p:cNvPr id="40" name="demo-shot-1" descr="Vault withdraw screen: 2,000 now, the rest after a 30-minute timelock">    </p:cNvPr>
          <p:cNvPicPr>
            <a:picLocks noChangeAspect="1"/>
          </p:cNvPicPr>
          <p:nvPr/>
        </p:nvPicPr>
        <p:blipFill>
          <a:blip r:embed="rId3"/>
          <a:stretch>
            <a:fillRect/>
          </a:stretch>
        </p:blipFill>
        <p:spPr>
          <a:xfrm>
            <a:off x="9639148" y="2781422"/>
            <a:ext cx="1638148" cy="2621036"/>
          </a:xfrm>
          <a:prstGeom prst="rect">
            <a:avLst/>
          </a:prstGeom>
        </p:spPr>
      </p:pic>
      <p:sp>
        <p:nvSpPr>
          <p:cNvPr id="41" name="Text 36"/>
          <p:cNvSpPr txBox="1"/>
          <p:nvPr/>
        </p:nvSpPr>
        <p:spPr>
          <a:xfrm>
            <a:off x="685800" y="5961888"/>
            <a:ext cx="10820095" cy="320040"/>
          </a:xfrm>
          <a:prstGeom prst="rect">
            <a:avLst/>
          </a:prstGeom>
          <a:noFill/>
          <a:ln/>
        </p:spPr>
        <p:txBody>
          <a:bodyPr wrap="square" lIns="0" tIns="0" rIns="0" bIns="0" rtlCol="0" anchor="t"/>
          <a:lstStyle/>
          <a:p>
            <a:pPr indent="0" marL="0">
              <a:buNone/>
            </a:pPr>
            <a:r>
              <a:rPr lang="en-US" sz="1100" b="1" dirty="0">
                <a:solidFill>
                  <a:schemeClr val="accent2"/>
                </a:solidFill>
              </a:rPr>
              <a:t>Devnet tokens have no value. </a:t>
            </a:r>
            <a:pPr indent="0" marL="0">
              <a:buNone/>
            </a:pPr>
            <a:r>
              <a:rPr lang="en-US" sz="1100" dirty="0">
                <a:solidFill>
                  <a:schemeClr val="bg2"/>
                </a:solidFill>
              </a:rPr>
              <a:t>Practice pools pay fixed practice rates, not market yield. Thumbnails: local build (demo data; vault in simulated preview).</a:t>
            </a:r>
            <a:endParaRPr lang="en-US" sz="1100" dirty="0"/>
          </a:p>
        </p:txBody>
      </p:sp>
      <p:sp>
        <p:nvSpPr>
          <p:cNvPr id="42" name="Text 37"/>
          <p:cNvSpPr txBox="1"/>
          <p:nvPr/>
        </p:nvSpPr>
        <p:spPr>
          <a:xfrm>
            <a:off x="10225735" y="6382512"/>
            <a:ext cx="1280160" cy="237744"/>
          </a:xfrm>
          <a:prstGeom prst="rect">
            <a:avLst/>
          </a:prstGeom>
          <a:noFill/>
          <a:ln/>
        </p:spPr>
        <p:txBody>
          <a:bodyPr wrap="square" lIns="0" tIns="0" rIns="0" bIns="0" rtlCol="0" anchor="t"/>
          <a:lstStyle/>
          <a:p>
            <a:pPr algn="r" indent="0" marL="0">
              <a:buNone/>
            </a:pPr>
            <a:r>
              <a:rPr lang="en-US" sz="950" spc="200" kern="0" dirty="0">
                <a:solidFill>
                  <a:srgbClr val="6E6E6E"/>
                </a:solidFill>
                <a:latin typeface="IBM Plex Mono" pitchFamily="34" charset="0"/>
                <a:ea typeface="IBM Plex Mono" pitchFamily="34" charset="-122"/>
                <a:cs typeface="IBM Plex Mono" pitchFamily="34" charset="-120"/>
              </a:rPr>
              <a:t>15 / 18</a:t>
            </a:r>
            <a:endParaRPr lang="en-US" sz="9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title-blob" descr="preencoded.png">    </p:cNvPr>
          <p:cNvPicPr>
            <a:picLocks noChangeAspect="1"/>
          </p:cNvPicPr>
          <p:nvPr/>
        </p:nvPicPr>
        <p:blipFill>
          <a:blip r:embed="rId1"/>
          <a:stretch>
            <a:fillRect/>
          </a:stretch>
        </p:blipFill>
        <p:spPr>
          <a:xfrm>
            <a:off x="301855" y="420624"/>
            <a:ext cx="4515983" cy="1024128"/>
          </a:xfrm>
          <a:prstGeom prst="rect">
            <a:avLst/>
          </a:prstGeom>
        </p:spPr>
      </p:pic>
      <p:sp>
        <p:nvSpPr>
          <p:cNvPr id="3" name="Text 2"/>
          <p:cNvSpPr/>
          <p:nvPr>
            <p:ph idx="103" type="title" hasCustomPrompt="1"/>
          </p:nvPr>
        </p:nvSpPr>
        <p:spPr>
          <a:xfrm>
            <a:off x="685800" y="640080"/>
            <a:ext cx="10820095" cy="603504"/>
          </a:xfrm>
          <a:prstGeom prst="rect">
            <a:avLst/>
          </a:prstGeom>
          <a:noFill/>
          <a:ln/>
        </p:spPr>
        <p:txBody>
          <a:bodyPr wrap="square" lIns="0" tIns="0" rIns="0" bIns="0" rtlCol="0" anchor="ctr"/>
          <a:lstStyle/>
          <a:p>
            <a:pPr algn="l" indent="0" marL="0">
              <a:buNone/>
            </a:pPr>
            <a:r>
              <a:rPr lang="en-US" sz="3400" dirty="0">
                <a:solidFill>
                  <a:schemeClr val="bg1"/>
                </a:solidFill>
                <a:latin typeface="Anton" pitchFamily="34" charset="0"/>
                <a:ea typeface="Anton" pitchFamily="34" charset="-122"/>
                <a:cs typeface="Anton" pitchFamily="34" charset="-120"/>
              </a:rPr>
              <a:t>LIVE, DEVNET, NOT YET</a:t>
            </a:r>
            <a:endParaRPr lang="en-US" sz="3400" dirty="0"/>
          </a:p>
        </p:txBody>
      </p:sp>
      <p:sp>
        <p:nvSpPr>
          <p:cNvPr id="4" name="Text 1"/>
          <p:cNvSpPr txBox="1"/>
          <p:nvPr/>
        </p:nvSpPr>
        <p:spPr>
          <a:xfrm>
            <a:off x="685800" y="1481328"/>
            <a:ext cx="7863840" cy="640080"/>
          </a:xfrm>
          <a:prstGeom prst="rect">
            <a:avLst/>
          </a:prstGeom>
          <a:noFill/>
          <a:ln/>
        </p:spPr>
        <p:txBody>
          <a:bodyPr wrap="square" lIns="0" tIns="0" rIns="0" bIns="0" rtlCol="0" anchor="t"/>
          <a:lstStyle/>
          <a:p>
            <a:pPr indent="0" marL="0">
              <a:lnSpc>
                <a:spcPct val="100000"/>
              </a:lnSpc>
              <a:buNone/>
            </a:pPr>
            <a:r>
              <a:rPr lang="en-US" sz="1700" dirty="0">
                <a:solidFill>
                  <a:srgbClr val="C9C9C9"/>
                </a:solidFill>
              </a:rPr>
              <a:t>What's real, what's experimental, and </a:t>
            </a:r>
            <a:pPr indent="0" marL="0">
              <a:lnSpc>
                <a:spcPct val="100000"/>
              </a:lnSpc>
              <a:buNone/>
            </a:pPr>
            <a:r>
              <a:rPr lang="en-US" sz="1700" b="1" dirty="0">
                <a:solidFill>
                  <a:schemeClr val="bg1"/>
                </a:solidFill>
              </a:rPr>
              <a:t>what's missing</a:t>
            </a:r>
            <a:pPr indent="0" marL="0">
              <a:lnSpc>
                <a:spcPct val="100000"/>
              </a:lnSpc>
              <a:buNone/>
            </a:pPr>
            <a:r>
              <a:rPr lang="en-US" sz="1700" dirty="0">
                <a:solidFill>
                  <a:srgbClr val="C9C9C9"/>
                </a:solidFill>
              </a:rPr>
              <a:t>.</a:t>
            </a:r>
            <a:endParaRPr lang="en-US" sz="1700" dirty="0"/>
          </a:p>
        </p:txBody>
      </p:sp>
      <p:sp>
        <p:nvSpPr>
          <p:cNvPr id="5" name="status-0"/>
          <p:cNvSpPr/>
          <p:nvPr/>
        </p:nvSpPr>
        <p:spPr>
          <a:xfrm>
            <a:off x="685800" y="2331720"/>
            <a:ext cx="3436010" cy="2514600"/>
          </a:xfrm>
          <a:prstGeom prst="roundRect">
            <a:avLst>
              <a:gd name="adj" fmla="val 4364"/>
            </a:avLst>
          </a:prstGeom>
          <a:solidFill>
            <a:schemeClr val="tx2"/>
          </a:solidFill>
          <a:ln w="15875">
            <a:solidFill>
              <a:schemeClr val="accent6"/>
            </a:solidFill>
            <a:prstDash val="solid"/>
          </a:ln>
        </p:spPr>
      </p:sp>
      <p:sp>
        <p:nvSpPr>
          <p:cNvPr id="6" name="Text 3"/>
          <p:cNvSpPr txBox="1"/>
          <p:nvPr/>
        </p:nvSpPr>
        <p:spPr>
          <a:xfrm>
            <a:off x="960120" y="2551176"/>
            <a:ext cx="2887370" cy="237744"/>
          </a:xfrm>
          <a:prstGeom prst="rect">
            <a:avLst/>
          </a:prstGeom>
          <a:noFill/>
          <a:ln/>
        </p:spPr>
        <p:txBody>
          <a:bodyPr wrap="square" lIns="0" tIns="0" rIns="0" bIns="0" rtlCol="0" anchor="t"/>
          <a:lstStyle/>
          <a:p>
            <a:pPr indent="0" marL="0">
              <a:buNone/>
            </a:pPr>
            <a:r>
              <a:rPr lang="en-US" sz="1050" spc="250" kern="0" dirty="0">
                <a:solidFill>
                  <a:schemeClr val="accent1"/>
                </a:solidFill>
                <a:latin typeface="IBM Plex Mono" pitchFamily="34" charset="0"/>
                <a:ea typeface="IBM Plex Mono" pitchFamily="34" charset="-122"/>
                <a:cs typeface="IBM Plex Mono" pitchFamily="34" charset="-120"/>
              </a:rPr>
              <a:t>LIVE</a:t>
            </a:r>
            <a:endParaRPr lang="en-US" sz="1050" dirty="0"/>
          </a:p>
        </p:txBody>
      </p:sp>
      <p:pic>
        <p:nvPicPr>
          <p:cNvPr id="7" name="Image 1" descr="/home/user/Stablesaver/presentation/assets/graphics/star-bullet.png">    </p:cNvPr>
          <p:cNvPicPr>
            <a:picLocks noChangeAspect="1"/>
          </p:cNvPicPr>
          <p:nvPr/>
        </p:nvPicPr>
        <p:blipFill>
          <a:blip r:embed="rId2"/>
          <a:stretch>
            <a:fillRect/>
          </a:stretch>
        </p:blipFill>
        <p:spPr>
          <a:xfrm>
            <a:off x="960120" y="2943098"/>
            <a:ext cx="155448" cy="155448"/>
          </a:xfrm>
          <a:prstGeom prst="rect">
            <a:avLst/>
          </a:prstGeom>
        </p:spPr>
      </p:pic>
      <p:sp>
        <p:nvSpPr>
          <p:cNvPr id="8" name="Text 4"/>
          <p:cNvSpPr txBox="1"/>
          <p:nvPr/>
        </p:nvSpPr>
        <p:spPr>
          <a:xfrm>
            <a:off x="1252728" y="2898648"/>
            <a:ext cx="2731922" cy="329184"/>
          </a:xfrm>
          <a:prstGeom prst="rect">
            <a:avLst/>
          </a:prstGeom>
          <a:noFill/>
          <a:ln/>
        </p:spPr>
        <p:txBody>
          <a:bodyPr wrap="square" lIns="0" tIns="0" rIns="0" bIns="0" rtlCol="0" anchor="t"/>
          <a:lstStyle/>
          <a:p>
            <a:pPr indent="0" marL="0">
              <a:lnSpc>
                <a:spcPct val="105000"/>
              </a:lnSpc>
              <a:buNone/>
            </a:pPr>
            <a:r>
              <a:rPr lang="en-US" sz="1250" dirty="0">
                <a:solidFill>
                  <a:schemeClr val="bg1"/>
                </a:solidFill>
              </a:rPr>
              <a:t>Stablecoin opportunity comparison</a:t>
            </a:r>
            <a:endParaRPr lang="en-US" sz="1250" dirty="0"/>
          </a:p>
        </p:txBody>
      </p:sp>
      <p:pic>
        <p:nvPicPr>
          <p:cNvPr id="9" name="Image 2" descr="/home/user/Stablesaver/presentation/assets/graphics/star-bullet.png">    </p:cNvPr>
          <p:cNvPicPr>
            <a:picLocks noChangeAspect="1"/>
          </p:cNvPicPr>
          <p:nvPr/>
        </p:nvPicPr>
        <p:blipFill>
          <a:blip r:embed="rId3"/>
          <a:stretch>
            <a:fillRect/>
          </a:stretch>
        </p:blipFill>
        <p:spPr>
          <a:xfrm>
            <a:off x="960120" y="3327146"/>
            <a:ext cx="155448" cy="155448"/>
          </a:xfrm>
          <a:prstGeom prst="rect">
            <a:avLst/>
          </a:prstGeom>
        </p:spPr>
      </p:pic>
      <p:sp>
        <p:nvSpPr>
          <p:cNvPr id="10" name="Text 5"/>
          <p:cNvSpPr txBox="1"/>
          <p:nvPr/>
        </p:nvSpPr>
        <p:spPr>
          <a:xfrm>
            <a:off x="1252728" y="3282696"/>
            <a:ext cx="2731922" cy="329184"/>
          </a:xfrm>
          <a:prstGeom prst="rect">
            <a:avLst/>
          </a:prstGeom>
          <a:noFill/>
          <a:ln/>
        </p:spPr>
        <p:txBody>
          <a:bodyPr wrap="square" lIns="0" tIns="0" rIns="0" bIns="0" rtlCol="0" anchor="t"/>
          <a:lstStyle/>
          <a:p>
            <a:pPr indent="0" marL="0">
              <a:lnSpc>
                <a:spcPct val="105000"/>
              </a:lnSpc>
              <a:buNone/>
            </a:pPr>
            <a:r>
              <a:rPr lang="en-US" sz="1250" dirty="0">
                <a:solidFill>
                  <a:schemeClr val="bg1"/>
                </a:solidFill>
              </a:rPr>
              <a:t>Risk grades and their reasons</a:t>
            </a:r>
            <a:endParaRPr lang="en-US" sz="1250" dirty="0"/>
          </a:p>
        </p:txBody>
      </p:sp>
      <p:pic>
        <p:nvPicPr>
          <p:cNvPr id="11" name="Image 3" descr="/home/user/Stablesaver/presentation/assets/graphics/star-bullet.png">    </p:cNvPr>
          <p:cNvPicPr>
            <a:picLocks noChangeAspect="1"/>
          </p:cNvPicPr>
          <p:nvPr/>
        </p:nvPicPr>
        <p:blipFill>
          <a:blip r:embed="rId4"/>
          <a:stretch>
            <a:fillRect/>
          </a:stretch>
        </p:blipFill>
        <p:spPr>
          <a:xfrm>
            <a:off x="960120" y="3711194"/>
            <a:ext cx="155448" cy="155448"/>
          </a:xfrm>
          <a:prstGeom prst="rect">
            <a:avLst/>
          </a:prstGeom>
        </p:spPr>
      </p:pic>
      <p:sp>
        <p:nvSpPr>
          <p:cNvPr id="12" name="Text 6"/>
          <p:cNvSpPr txBox="1"/>
          <p:nvPr/>
        </p:nvSpPr>
        <p:spPr>
          <a:xfrm>
            <a:off x="1252728" y="3666744"/>
            <a:ext cx="2731922" cy="329184"/>
          </a:xfrm>
          <a:prstGeom prst="rect">
            <a:avLst/>
          </a:prstGeom>
          <a:noFill/>
          <a:ln/>
        </p:spPr>
        <p:txBody>
          <a:bodyPr wrap="square" lIns="0" tIns="0" rIns="0" bIns="0" rtlCol="0" anchor="t"/>
          <a:lstStyle/>
          <a:p>
            <a:pPr indent="0" marL="0">
              <a:lnSpc>
                <a:spcPct val="105000"/>
              </a:lnSpc>
              <a:buNone/>
            </a:pPr>
            <a:r>
              <a:rPr lang="en-US" sz="1250" dirty="0">
                <a:solidFill>
                  <a:schemeClr val="bg1"/>
                </a:solidFill>
              </a:rPr>
              <a:t>Fee-adjusted earnings estimates</a:t>
            </a:r>
            <a:endParaRPr lang="en-US" sz="1250" dirty="0"/>
          </a:p>
        </p:txBody>
      </p:sp>
      <p:pic>
        <p:nvPicPr>
          <p:cNvPr id="13" name="Image 4" descr="/home/user/Stablesaver/presentation/assets/graphics/star-bullet.png">    </p:cNvPr>
          <p:cNvPicPr>
            <a:picLocks noChangeAspect="1"/>
          </p:cNvPicPr>
          <p:nvPr/>
        </p:nvPicPr>
        <p:blipFill>
          <a:blip r:embed="rId5"/>
          <a:stretch>
            <a:fillRect/>
          </a:stretch>
        </p:blipFill>
        <p:spPr>
          <a:xfrm>
            <a:off x="960120" y="4095242"/>
            <a:ext cx="155448" cy="155448"/>
          </a:xfrm>
          <a:prstGeom prst="rect">
            <a:avLst/>
          </a:prstGeom>
        </p:spPr>
      </p:pic>
      <p:sp>
        <p:nvSpPr>
          <p:cNvPr id="14" name="Text 7"/>
          <p:cNvSpPr txBox="1"/>
          <p:nvPr/>
        </p:nvSpPr>
        <p:spPr>
          <a:xfrm>
            <a:off x="1252728" y="4050792"/>
            <a:ext cx="2731922" cy="329184"/>
          </a:xfrm>
          <a:prstGeom prst="rect">
            <a:avLst/>
          </a:prstGeom>
          <a:noFill/>
          <a:ln/>
        </p:spPr>
        <p:txBody>
          <a:bodyPr wrap="square" lIns="0" tIns="0" rIns="0" bIns="0" rtlCol="0" anchor="t"/>
          <a:lstStyle/>
          <a:p>
            <a:pPr indent="0" marL="0">
              <a:lnSpc>
                <a:spcPct val="105000"/>
              </a:lnSpc>
              <a:buNone/>
            </a:pPr>
            <a:r>
              <a:rPr lang="en-US" sz="1250" dirty="0">
                <a:solidFill>
                  <a:schemeClr val="bg1"/>
                </a:solidFill>
              </a:rPr>
              <a:t>Withdraw-today check, T-bill row</a:t>
            </a:r>
            <a:endParaRPr lang="en-US" sz="1250" dirty="0"/>
          </a:p>
        </p:txBody>
      </p:sp>
      <p:pic>
        <p:nvPicPr>
          <p:cNvPr id="15" name="Image 5" descr="/home/user/Stablesaver/presentation/assets/graphics/star-bullet.png">    </p:cNvPr>
          <p:cNvPicPr>
            <a:picLocks noChangeAspect="1"/>
          </p:cNvPicPr>
          <p:nvPr/>
        </p:nvPicPr>
        <p:blipFill>
          <a:blip r:embed="rId6"/>
          <a:stretch>
            <a:fillRect/>
          </a:stretch>
        </p:blipFill>
        <p:spPr>
          <a:xfrm>
            <a:off x="960120" y="4479290"/>
            <a:ext cx="155448" cy="155448"/>
          </a:xfrm>
          <a:prstGeom prst="rect">
            <a:avLst/>
          </a:prstGeom>
        </p:spPr>
      </p:pic>
      <p:sp>
        <p:nvSpPr>
          <p:cNvPr id="16" name="Text 8"/>
          <p:cNvSpPr txBox="1"/>
          <p:nvPr/>
        </p:nvSpPr>
        <p:spPr>
          <a:xfrm>
            <a:off x="1252728" y="4434840"/>
            <a:ext cx="2731922" cy="329184"/>
          </a:xfrm>
          <a:prstGeom prst="rect">
            <a:avLst/>
          </a:prstGeom>
          <a:noFill/>
          <a:ln/>
        </p:spPr>
        <p:txBody>
          <a:bodyPr wrap="square" lIns="0" tIns="0" rIns="0" bIns="0" rtlCol="0" anchor="t"/>
          <a:lstStyle/>
          <a:p>
            <a:pPr indent="0" marL="0">
              <a:lnSpc>
                <a:spcPct val="105000"/>
              </a:lnSpc>
              <a:buNone/>
            </a:pPr>
            <a:r>
              <a:rPr lang="en-US" sz="1250" dirty="0">
                <a:solidFill>
                  <a:schemeClr val="bg1"/>
                </a:solidFill>
              </a:rPr>
              <a:t>Idle-money scan, share cards</a:t>
            </a:r>
            <a:endParaRPr lang="en-US" sz="1250" dirty="0"/>
          </a:p>
        </p:txBody>
      </p:sp>
      <p:sp>
        <p:nvSpPr>
          <p:cNvPr id="17" name="status-1"/>
          <p:cNvSpPr/>
          <p:nvPr/>
        </p:nvSpPr>
        <p:spPr>
          <a:xfrm>
            <a:off x="4377842" y="2331720"/>
            <a:ext cx="3436010" cy="2514600"/>
          </a:xfrm>
          <a:prstGeom prst="roundRect">
            <a:avLst>
              <a:gd name="adj" fmla="val 4364"/>
            </a:avLst>
          </a:prstGeom>
          <a:solidFill>
            <a:schemeClr val="tx2"/>
          </a:solidFill>
          <a:ln w="15875">
            <a:solidFill>
              <a:schemeClr val="accent6"/>
            </a:solidFill>
            <a:prstDash val="solid"/>
          </a:ln>
        </p:spPr>
      </p:sp>
      <p:sp>
        <p:nvSpPr>
          <p:cNvPr id="18" name="Text 10"/>
          <p:cNvSpPr txBox="1"/>
          <p:nvPr/>
        </p:nvSpPr>
        <p:spPr>
          <a:xfrm>
            <a:off x="4652162" y="2551176"/>
            <a:ext cx="2887370" cy="237744"/>
          </a:xfrm>
          <a:prstGeom prst="rect">
            <a:avLst/>
          </a:prstGeom>
          <a:noFill/>
          <a:ln/>
        </p:spPr>
        <p:txBody>
          <a:bodyPr wrap="square" lIns="0" tIns="0" rIns="0" bIns="0" rtlCol="0" anchor="t"/>
          <a:lstStyle/>
          <a:p>
            <a:pPr indent="0" marL="0">
              <a:buNone/>
            </a:pPr>
            <a:r>
              <a:rPr lang="en-US" sz="1050" spc="250" kern="0" dirty="0">
                <a:solidFill>
                  <a:schemeClr val="accent4"/>
                </a:solidFill>
                <a:latin typeface="IBM Plex Mono" pitchFamily="34" charset="0"/>
                <a:ea typeface="IBM Plex Mono" pitchFamily="34" charset="-122"/>
                <a:cs typeface="IBM Plex Mono" pitchFamily="34" charset="-120"/>
              </a:rPr>
              <a:t>DEVNET PROTOTYPE</a:t>
            </a:r>
            <a:endParaRPr lang="en-US" sz="1050" dirty="0"/>
          </a:p>
        </p:txBody>
      </p:sp>
      <p:pic>
        <p:nvPicPr>
          <p:cNvPr id="19" name="Image 6" descr="/home/user/Stablesaver/presentation/assets/graphics/star-bullet.png">    </p:cNvPr>
          <p:cNvPicPr>
            <a:picLocks noChangeAspect="1"/>
          </p:cNvPicPr>
          <p:nvPr/>
        </p:nvPicPr>
        <p:blipFill>
          <a:blip r:embed="rId7"/>
          <a:stretch>
            <a:fillRect/>
          </a:stretch>
        </p:blipFill>
        <p:spPr>
          <a:xfrm>
            <a:off x="4652162" y="2943098"/>
            <a:ext cx="155448" cy="155448"/>
          </a:xfrm>
          <a:prstGeom prst="rect">
            <a:avLst/>
          </a:prstGeom>
        </p:spPr>
      </p:pic>
      <p:sp>
        <p:nvSpPr>
          <p:cNvPr id="20" name="Text 11"/>
          <p:cNvSpPr txBox="1"/>
          <p:nvPr/>
        </p:nvSpPr>
        <p:spPr>
          <a:xfrm>
            <a:off x="4944770" y="2898648"/>
            <a:ext cx="2731922" cy="329184"/>
          </a:xfrm>
          <a:prstGeom prst="rect">
            <a:avLst/>
          </a:prstGeom>
          <a:noFill/>
          <a:ln/>
        </p:spPr>
        <p:txBody>
          <a:bodyPr wrap="square" lIns="0" tIns="0" rIns="0" bIns="0" rtlCol="0" anchor="t"/>
          <a:lstStyle/>
          <a:p>
            <a:pPr indent="0" marL="0">
              <a:lnSpc>
                <a:spcPct val="105000"/>
              </a:lnSpc>
              <a:buNone/>
            </a:pPr>
            <a:r>
              <a:rPr lang="en-US" sz="1250" dirty="0">
                <a:solidFill>
                  <a:schemeClr val="bg1"/>
                </a:solidFill>
              </a:rPr>
              <a:t>Anchor vault program</a:t>
            </a:r>
            <a:endParaRPr lang="en-US" sz="1250" dirty="0"/>
          </a:p>
        </p:txBody>
      </p:sp>
      <p:pic>
        <p:nvPicPr>
          <p:cNvPr id="21" name="Image 7" descr="/home/user/Stablesaver/presentation/assets/graphics/star-bullet.png">    </p:cNvPr>
          <p:cNvPicPr>
            <a:picLocks noChangeAspect="1"/>
          </p:cNvPicPr>
          <p:nvPr/>
        </p:nvPicPr>
        <p:blipFill>
          <a:blip r:embed="rId8"/>
          <a:stretch>
            <a:fillRect/>
          </a:stretch>
        </p:blipFill>
        <p:spPr>
          <a:xfrm>
            <a:off x="4652162" y="3327146"/>
            <a:ext cx="155448" cy="155448"/>
          </a:xfrm>
          <a:prstGeom prst="rect">
            <a:avLst/>
          </a:prstGeom>
        </p:spPr>
      </p:pic>
      <p:sp>
        <p:nvSpPr>
          <p:cNvPr id="22" name="Text 12"/>
          <p:cNvSpPr txBox="1"/>
          <p:nvPr/>
        </p:nvSpPr>
        <p:spPr>
          <a:xfrm>
            <a:off x="4944770" y="3282696"/>
            <a:ext cx="2731922" cy="329184"/>
          </a:xfrm>
          <a:prstGeom prst="rect">
            <a:avLst/>
          </a:prstGeom>
          <a:noFill/>
          <a:ln/>
        </p:spPr>
        <p:txBody>
          <a:bodyPr wrap="square" lIns="0" tIns="0" rIns="0" bIns="0" rtlCol="0" anchor="t"/>
          <a:lstStyle/>
          <a:p>
            <a:pPr indent="0" marL="0">
              <a:lnSpc>
                <a:spcPct val="105000"/>
              </a:lnSpc>
              <a:buNone/>
            </a:pPr>
            <a:r>
              <a:rPr lang="en-US" sz="1250" dirty="0">
                <a:solidFill>
                  <a:schemeClr val="bg1"/>
                </a:solidFill>
              </a:rPr>
              <a:t>Deposits, shares, limits, timelock</a:t>
            </a:r>
            <a:endParaRPr lang="en-US" sz="1250" dirty="0"/>
          </a:p>
        </p:txBody>
      </p:sp>
      <p:pic>
        <p:nvPicPr>
          <p:cNvPr id="23" name="Image 8" descr="/home/user/Stablesaver/presentation/assets/graphics/star-bullet.png">    </p:cNvPr>
          <p:cNvPicPr>
            <a:picLocks noChangeAspect="1"/>
          </p:cNvPicPr>
          <p:nvPr/>
        </p:nvPicPr>
        <p:blipFill>
          <a:blip r:embed="rId9"/>
          <a:stretch>
            <a:fillRect/>
          </a:stretch>
        </p:blipFill>
        <p:spPr>
          <a:xfrm>
            <a:off x="4652162" y="3711194"/>
            <a:ext cx="155448" cy="155448"/>
          </a:xfrm>
          <a:prstGeom prst="rect">
            <a:avLst/>
          </a:prstGeom>
        </p:spPr>
      </p:pic>
      <p:sp>
        <p:nvSpPr>
          <p:cNvPr id="24" name="Text 13"/>
          <p:cNvSpPr txBox="1"/>
          <p:nvPr/>
        </p:nvSpPr>
        <p:spPr>
          <a:xfrm>
            <a:off x="4944770" y="3666744"/>
            <a:ext cx="2731922" cy="329184"/>
          </a:xfrm>
          <a:prstGeom prst="rect">
            <a:avLst/>
          </a:prstGeom>
          <a:noFill/>
          <a:ln/>
        </p:spPr>
        <p:txBody>
          <a:bodyPr wrap="square" lIns="0" tIns="0" rIns="0" bIns="0" rtlCol="0" anchor="t"/>
          <a:lstStyle/>
          <a:p>
            <a:pPr indent="0" marL="0">
              <a:lnSpc>
                <a:spcPct val="105000"/>
              </a:lnSpc>
              <a:buNone/>
            </a:pPr>
            <a:r>
              <a:rPr lang="en-US" sz="1250" dirty="0">
                <a:solidFill>
                  <a:schemeClr val="bg1"/>
                </a:solidFill>
              </a:rPr>
              <a:t>Split into practice pools on-chain</a:t>
            </a:r>
            <a:endParaRPr lang="en-US" sz="1250" dirty="0"/>
          </a:p>
        </p:txBody>
      </p:sp>
      <p:pic>
        <p:nvPicPr>
          <p:cNvPr id="25" name="Image 9" descr="/home/user/Stablesaver/presentation/assets/graphics/star-bullet.png">    </p:cNvPr>
          <p:cNvPicPr>
            <a:picLocks noChangeAspect="1"/>
          </p:cNvPicPr>
          <p:nvPr/>
        </p:nvPicPr>
        <p:blipFill>
          <a:blip r:embed="rId10"/>
          <a:stretch>
            <a:fillRect/>
          </a:stretch>
        </p:blipFill>
        <p:spPr>
          <a:xfrm>
            <a:off x="4652162" y="4095242"/>
            <a:ext cx="155448" cy="155448"/>
          </a:xfrm>
          <a:prstGeom prst="rect">
            <a:avLst/>
          </a:prstGeom>
        </p:spPr>
      </p:pic>
      <p:sp>
        <p:nvSpPr>
          <p:cNvPr id="26" name="Text 14"/>
          <p:cNvSpPr txBox="1"/>
          <p:nvPr/>
        </p:nvSpPr>
        <p:spPr>
          <a:xfrm>
            <a:off x="4944770" y="4050792"/>
            <a:ext cx="2731922" cy="329184"/>
          </a:xfrm>
          <a:prstGeom prst="rect">
            <a:avLst/>
          </a:prstGeom>
          <a:noFill/>
          <a:ln/>
        </p:spPr>
        <p:txBody>
          <a:bodyPr wrap="square" lIns="0" tIns="0" rIns="0" bIns="0" rtlCol="0" anchor="t"/>
          <a:lstStyle/>
          <a:p>
            <a:pPr indent="0" marL="0">
              <a:lnSpc>
                <a:spcPct val="105000"/>
              </a:lnSpc>
              <a:buNone/>
            </a:pPr>
            <a:r>
              <a:rPr lang="en-US" sz="1250" dirty="0">
                <a:solidFill>
                  <a:schemeClr val="bg1"/>
                </a:solidFill>
              </a:rPr>
              <a:t>Deposit Blink (Solana Action)</a:t>
            </a:r>
            <a:endParaRPr lang="en-US" sz="1250" dirty="0"/>
          </a:p>
        </p:txBody>
      </p:sp>
      <p:pic>
        <p:nvPicPr>
          <p:cNvPr id="27" name="Image 10" descr="/home/user/Stablesaver/presentation/assets/graphics/star-bullet.png">    </p:cNvPr>
          <p:cNvPicPr>
            <a:picLocks noChangeAspect="1"/>
          </p:cNvPicPr>
          <p:nvPr/>
        </p:nvPicPr>
        <p:blipFill>
          <a:blip r:embed="rId11"/>
          <a:stretch>
            <a:fillRect/>
          </a:stretch>
        </p:blipFill>
        <p:spPr>
          <a:xfrm>
            <a:off x="4652162" y="4479290"/>
            <a:ext cx="155448" cy="155448"/>
          </a:xfrm>
          <a:prstGeom prst="rect">
            <a:avLst/>
          </a:prstGeom>
        </p:spPr>
      </p:pic>
      <p:sp>
        <p:nvSpPr>
          <p:cNvPr id="28" name="Text 15"/>
          <p:cNvSpPr txBox="1"/>
          <p:nvPr/>
        </p:nvSpPr>
        <p:spPr>
          <a:xfrm>
            <a:off x="4944770" y="4434840"/>
            <a:ext cx="2731922" cy="329184"/>
          </a:xfrm>
          <a:prstGeom prst="rect">
            <a:avLst/>
          </a:prstGeom>
          <a:noFill/>
          <a:ln/>
        </p:spPr>
        <p:txBody>
          <a:bodyPr wrap="square" lIns="0" tIns="0" rIns="0" bIns="0" rtlCol="0" anchor="t"/>
          <a:lstStyle/>
          <a:p>
            <a:pPr indent="0" marL="0">
              <a:lnSpc>
                <a:spcPct val="105000"/>
              </a:lnSpc>
              <a:buNone/>
            </a:pPr>
            <a:r>
              <a:rPr lang="en-US" sz="1250" dirty="0">
                <a:solidFill>
                  <a:schemeClr val="bg1"/>
                </a:solidFill>
              </a:rPr>
              <a:t>Pause and authority controls</a:t>
            </a:r>
            <a:endParaRPr lang="en-US" sz="1250" dirty="0"/>
          </a:p>
        </p:txBody>
      </p:sp>
      <p:sp>
        <p:nvSpPr>
          <p:cNvPr id="29" name="status-2"/>
          <p:cNvSpPr/>
          <p:nvPr/>
        </p:nvSpPr>
        <p:spPr>
          <a:xfrm>
            <a:off x="8069885" y="2331720"/>
            <a:ext cx="3436010" cy="2514600"/>
          </a:xfrm>
          <a:prstGeom prst="roundRect">
            <a:avLst>
              <a:gd name="adj" fmla="val 4364"/>
            </a:avLst>
          </a:prstGeom>
          <a:solidFill>
            <a:schemeClr val="tx2"/>
          </a:solidFill>
          <a:ln w="15875">
            <a:solidFill>
              <a:schemeClr val="accent6"/>
            </a:solidFill>
            <a:prstDash val="solid"/>
          </a:ln>
        </p:spPr>
      </p:sp>
      <p:sp>
        <p:nvSpPr>
          <p:cNvPr id="30" name="Text 17"/>
          <p:cNvSpPr txBox="1"/>
          <p:nvPr/>
        </p:nvSpPr>
        <p:spPr>
          <a:xfrm>
            <a:off x="8344205" y="2551176"/>
            <a:ext cx="2887370" cy="237744"/>
          </a:xfrm>
          <a:prstGeom prst="rect">
            <a:avLst/>
          </a:prstGeom>
          <a:noFill/>
          <a:ln/>
        </p:spPr>
        <p:txBody>
          <a:bodyPr wrap="square" lIns="0" tIns="0" rIns="0" bIns="0" rtlCol="0" anchor="t"/>
          <a:lstStyle/>
          <a:p>
            <a:pPr indent="0" marL="0">
              <a:buNone/>
            </a:pPr>
            <a:r>
              <a:rPr lang="en-US" sz="1050" spc="250" kern="0" dirty="0">
                <a:solidFill>
                  <a:schemeClr val="accent3"/>
                </a:solidFill>
                <a:latin typeface="IBM Plex Mono" pitchFamily="34" charset="0"/>
                <a:ea typeface="IBM Plex Mono" pitchFamily="34" charset="-122"/>
                <a:cs typeface="IBM Plex Mono" pitchFamily="34" charset="-120"/>
              </a:rPr>
              <a:t>NOT YET IMPLEMENTED</a:t>
            </a:r>
            <a:endParaRPr lang="en-US" sz="1050" dirty="0"/>
          </a:p>
        </p:txBody>
      </p:sp>
      <p:pic>
        <p:nvPicPr>
          <p:cNvPr id="31" name="Image 11" descr="/home/user/Stablesaver/presentation/assets/graphics/star-bullet.png">    </p:cNvPr>
          <p:cNvPicPr>
            <a:picLocks noChangeAspect="1"/>
          </p:cNvPicPr>
          <p:nvPr/>
        </p:nvPicPr>
        <p:blipFill>
          <a:blip r:embed="rId12"/>
          <a:stretch>
            <a:fillRect/>
          </a:stretch>
        </p:blipFill>
        <p:spPr>
          <a:xfrm>
            <a:off x="8344205" y="2943098"/>
            <a:ext cx="155448" cy="155448"/>
          </a:xfrm>
          <a:prstGeom prst="rect">
            <a:avLst/>
          </a:prstGeom>
        </p:spPr>
      </p:pic>
      <p:sp>
        <p:nvSpPr>
          <p:cNvPr id="32" name="Text 18"/>
          <p:cNvSpPr txBox="1"/>
          <p:nvPr/>
        </p:nvSpPr>
        <p:spPr>
          <a:xfrm>
            <a:off x="8636813" y="2898648"/>
            <a:ext cx="2731922" cy="530352"/>
          </a:xfrm>
          <a:prstGeom prst="rect">
            <a:avLst/>
          </a:prstGeom>
          <a:noFill/>
          <a:ln/>
        </p:spPr>
        <p:txBody>
          <a:bodyPr wrap="square" lIns="0" tIns="0" rIns="0" bIns="0" rtlCol="0" anchor="t"/>
          <a:lstStyle/>
          <a:p>
            <a:pPr indent="0" marL="0">
              <a:lnSpc>
                <a:spcPct val="105000"/>
              </a:lnSpc>
              <a:buNone/>
            </a:pPr>
            <a:r>
              <a:rPr lang="en-US" sz="1250" dirty="0">
                <a:solidFill>
                  <a:schemeClr val="bg1"/>
                </a:solidFill>
              </a:rPr>
              <a:t>CPI into Kamino, MarginFi, Drift and Save</a:t>
            </a:r>
            <a:endParaRPr lang="en-US" sz="1250" dirty="0"/>
          </a:p>
        </p:txBody>
      </p:sp>
      <p:pic>
        <p:nvPicPr>
          <p:cNvPr id="33" name="Image 12" descr="/home/user/Stablesaver/presentation/assets/graphics/star-bullet.png">    </p:cNvPr>
          <p:cNvPicPr>
            <a:picLocks noChangeAspect="1"/>
          </p:cNvPicPr>
          <p:nvPr/>
        </p:nvPicPr>
        <p:blipFill>
          <a:blip r:embed="rId13"/>
          <a:stretch>
            <a:fillRect/>
          </a:stretch>
        </p:blipFill>
        <p:spPr>
          <a:xfrm>
            <a:off x="8344205" y="3528314"/>
            <a:ext cx="155448" cy="155448"/>
          </a:xfrm>
          <a:prstGeom prst="rect">
            <a:avLst/>
          </a:prstGeom>
        </p:spPr>
      </p:pic>
      <p:sp>
        <p:nvSpPr>
          <p:cNvPr id="34" name="Text 19"/>
          <p:cNvSpPr txBox="1"/>
          <p:nvPr/>
        </p:nvSpPr>
        <p:spPr>
          <a:xfrm>
            <a:off x="8636813" y="3483864"/>
            <a:ext cx="2731922" cy="530352"/>
          </a:xfrm>
          <a:prstGeom prst="rect">
            <a:avLst/>
          </a:prstGeom>
          <a:noFill/>
          <a:ln/>
        </p:spPr>
        <p:txBody>
          <a:bodyPr wrap="square" lIns="0" tIns="0" rIns="0" bIns="0" rtlCol="0" anchor="t"/>
          <a:lstStyle/>
          <a:p>
            <a:pPr indent="0" marL="0">
              <a:lnSpc>
                <a:spcPct val="105000"/>
              </a:lnSpc>
              <a:buNone/>
            </a:pPr>
            <a:r>
              <a:rPr lang="en-US" sz="1250" dirty="0">
                <a:solidFill>
                  <a:schemeClr val="bg1"/>
                </a:solidFill>
              </a:rPr>
              <a:t>Market yield through the vault</a:t>
            </a:r>
            <a:endParaRPr lang="en-US" sz="1250" dirty="0"/>
          </a:p>
        </p:txBody>
      </p:sp>
      <p:pic>
        <p:nvPicPr>
          <p:cNvPr id="35" name="Image 13" descr="/home/user/Stablesaver/presentation/assets/graphics/star-bullet.png">    </p:cNvPr>
          <p:cNvPicPr>
            <a:picLocks noChangeAspect="1"/>
          </p:cNvPicPr>
          <p:nvPr/>
        </p:nvPicPr>
        <p:blipFill>
          <a:blip r:embed="rId14"/>
          <a:stretch>
            <a:fillRect/>
          </a:stretch>
        </p:blipFill>
        <p:spPr>
          <a:xfrm>
            <a:off x="8344205" y="4113530"/>
            <a:ext cx="155448" cy="155448"/>
          </a:xfrm>
          <a:prstGeom prst="rect">
            <a:avLst/>
          </a:prstGeom>
        </p:spPr>
      </p:pic>
      <p:sp>
        <p:nvSpPr>
          <p:cNvPr id="36" name="Text 20"/>
          <p:cNvSpPr txBox="1"/>
          <p:nvPr/>
        </p:nvSpPr>
        <p:spPr>
          <a:xfrm>
            <a:off x="8636813" y="4069080"/>
            <a:ext cx="2731922" cy="530352"/>
          </a:xfrm>
          <a:prstGeom prst="rect">
            <a:avLst/>
          </a:prstGeom>
          <a:noFill/>
          <a:ln/>
        </p:spPr>
        <p:txBody>
          <a:bodyPr wrap="square" lIns="0" tIns="0" rIns="0" bIns="0" rtlCol="0" anchor="t"/>
          <a:lstStyle/>
          <a:p>
            <a:pPr indent="0" marL="0">
              <a:lnSpc>
                <a:spcPct val="105000"/>
              </a:lnSpc>
              <a:buNone/>
            </a:pPr>
            <a:r>
              <a:rPr lang="en-US" sz="1250" dirty="0">
                <a:solidFill>
                  <a:schemeClr val="bg1"/>
                </a:solidFill>
              </a:rPr>
              <a:t>Production security assurances</a:t>
            </a:r>
            <a:endParaRPr lang="en-US" sz="1250" dirty="0"/>
          </a:p>
        </p:txBody>
      </p:sp>
      <p:sp>
        <p:nvSpPr>
          <p:cNvPr id="37" name="Text 21"/>
          <p:cNvSpPr txBox="1"/>
          <p:nvPr/>
        </p:nvSpPr>
        <p:spPr>
          <a:xfrm>
            <a:off x="685800" y="5120640"/>
            <a:ext cx="3657600" cy="237744"/>
          </a:xfrm>
          <a:prstGeom prst="rect">
            <a:avLst/>
          </a:prstGeom>
          <a:noFill/>
          <a:ln/>
        </p:spPr>
        <p:txBody>
          <a:bodyPr wrap="square" lIns="0" tIns="0" rIns="0" bIns="0" rtlCol="0" anchor="t"/>
          <a:lstStyle/>
          <a:p>
            <a:pPr indent="0" marL="0">
              <a:buNone/>
            </a:pPr>
            <a:r>
              <a:rPr lang="en-US" sz="1000" spc="250" kern="0" dirty="0">
                <a:solidFill>
                  <a:schemeClr val="bg2"/>
                </a:solidFill>
                <a:latin typeface="IBM Plex Mono" pitchFamily="34" charset="0"/>
                <a:ea typeface="IBM Plex Mono" pitchFamily="34" charset="-122"/>
                <a:cs typeface="IBM Plex Mono" pitchFamily="34" charset="-120"/>
              </a:rPr>
              <a:t>ALSO WORTH KNOWING</a:t>
            </a:r>
            <a:endParaRPr lang="en-US" sz="1000" dirty="0"/>
          </a:p>
        </p:txBody>
      </p:sp>
      <p:sp>
        <p:nvSpPr>
          <p:cNvPr id="38" name="Text 22"/>
          <p:cNvSpPr txBox="1"/>
          <p:nvPr/>
        </p:nvSpPr>
        <p:spPr>
          <a:xfrm>
            <a:off x="685800" y="5449824"/>
            <a:ext cx="3484778" cy="347472"/>
          </a:xfrm>
          <a:prstGeom prst="roundRect">
            <a:avLst>
              <a:gd name="adj" fmla="val 47368"/>
            </a:avLst>
          </a:prstGeom>
          <a:solidFill>
            <a:schemeClr val="tx1"/>
          </a:solidFill>
          <a:ln w="12700">
            <a:solidFill>
              <a:schemeClr val="accent6"/>
            </a:solidFill>
            <a:prstDash val="dash"/>
          </a:ln>
        </p:spPr>
        <p:txBody>
          <a:bodyPr wrap="square" lIns="0" tIns="0" rIns="0" bIns="0" rtlCol="0" anchor="ctr"/>
          <a:lstStyle/>
          <a:p>
            <a:pPr algn="ctr" indent="0" marL="0">
              <a:buNone/>
            </a:pPr>
            <a:r>
              <a:rPr lang="en-US" sz="950" spc="50" kern="0" dirty="0">
                <a:solidFill>
                  <a:schemeClr val="bg1"/>
                </a:solidFill>
                <a:latin typeface="IBM Plex Mono" pitchFamily="34" charset="0"/>
                <a:ea typeface="IBM Plex Mono" pitchFamily="34" charset="-122"/>
                <a:cs typeface="IBM Plex Mono" pitchFamily="34" charset="-120"/>
              </a:rPr>
              <a:t>One data source</a:t>
            </a:r>
            <a:endParaRPr lang="en-US" sz="950" dirty="0"/>
          </a:p>
        </p:txBody>
      </p:sp>
      <p:sp>
        <p:nvSpPr>
          <p:cNvPr id="39" name="Text 23"/>
          <p:cNvSpPr txBox="1"/>
          <p:nvPr/>
        </p:nvSpPr>
        <p:spPr>
          <a:xfrm>
            <a:off x="4353458" y="5449824"/>
            <a:ext cx="3484778" cy="347472"/>
          </a:xfrm>
          <a:prstGeom prst="roundRect">
            <a:avLst>
              <a:gd name="adj" fmla="val 47368"/>
            </a:avLst>
          </a:prstGeom>
          <a:solidFill>
            <a:schemeClr val="tx1"/>
          </a:solidFill>
          <a:ln w="12700">
            <a:solidFill>
              <a:schemeClr val="accent6"/>
            </a:solidFill>
            <a:prstDash val="dash"/>
          </a:ln>
        </p:spPr>
        <p:txBody>
          <a:bodyPr wrap="square" lIns="0" tIns="0" rIns="0" bIns="0" rtlCol="0" anchor="ctr"/>
          <a:lstStyle/>
          <a:p>
            <a:pPr algn="ctr" indent="0" marL="0">
              <a:buNone/>
            </a:pPr>
            <a:r>
              <a:rPr lang="en-US" sz="950" spc="50" kern="0" dirty="0">
                <a:solidFill>
                  <a:schemeClr val="bg1"/>
                </a:solidFill>
                <a:latin typeface="IBM Plex Mono" pitchFamily="34" charset="0"/>
                <a:ea typeface="IBM Plex Mono" pitchFamily="34" charset="-122"/>
                <a:cs typeface="IBM Plex Mono" pitchFamily="34" charset="-120"/>
              </a:rPr>
              <a:t>Fixed network-fee estimates</a:t>
            </a:r>
            <a:endParaRPr lang="en-US" sz="950" dirty="0"/>
          </a:p>
        </p:txBody>
      </p:sp>
      <p:sp>
        <p:nvSpPr>
          <p:cNvPr id="40" name="Text 24"/>
          <p:cNvSpPr txBox="1"/>
          <p:nvPr/>
        </p:nvSpPr>
        <p:spPr>
          <a:xfrm>
            <a:off x="8021117" y="5449824"/>
            <a:ext cx="3484778" cy="347472"/>
          </a:xfrm>
          <a:prstGeom prst="roundRect">
            <a:avLst>
              <a:gd name="adj" fmla="val 47368"/>
            </a:avLst>
          </a:prstGeom>
          <a:solidFill>
            <a:schemeClr val="tx1"/>
          </a:solidFill>
          <a:ln w="12700">
            <a:solidFill>
              <a:schemeClr val="accent6"/>
            </a:solidFill>
            <a:prstDash val="dash"/>
          </a:ln>
        </p:spPr>
        <p:txBody>
          <a:bodyPr wrap="square" lIns="0" tIns="0" rIns="0" bIns="0" rtlCol="0" anchor="ctr"/>
          <a:lstStyle/>
          <a:p>
            <a:pPr algn="ctr" indent="0" marL="0">
              <a:buNone/>
            </a:pPr>
            <a:r>
              <a:rPr lang="en-US" sz="950" spc="50" kern="0" dirty="0">
                <a:solidFill>
                  <a:schemeClr val="bg1"/>
                </a:solidFill>
                <a:latin typeface="IBM Plex Mono" pitchFamily="34" charset="0"/>
                <a:ea typeface="IBM Plex Mono" pitchFamily="34" charset="-122"/>
                <a:cs typeface="IBM Plex Mono" pitchFamily="34" charset="-120"/>
              </a:rPr>
              <a:t>Weights not back-tested</a:t>
            </a:r>
            <a:endParaRPr lang="en-US" sz="950" dirty="0"/>
          </a:p>
        </p:txBody>
      </p:sp>
      <p:sp>
        <p:nvSpPr>
          <p:cNvPr id="41" name="Text 25"/>
          <p:cNvSpPr txBox="1"/>
          <p:nvPr/>
        </p:nvSpPr>
        <p:spPr>
          <a:xfrm>
            <a:off x="685800" y="5888736"/>
            <a:ext cx="3484778" cy="347472"/>
          </a:xfrm>
          <a:prstGeom prst="roundRect">
            <a:avLst>
              <a:gd name="adj" fmla="val 47368"/>
            </a:avLst>
          </a:prstGeom>
          <a:solidFill>
            <a:schemeClr val="tx1"/>
          </a:solidFill>
          <a:ln w="12700">
            <a:solidFill>
              <a:schemeClr val="accent6"/>
            </a:solidFill>
            <a:prstDash val="dash"/>
          </a:ln>
        </p:spPr>
        <p:txBody>
          <a:bodyPr wrap="square" lIns="0" tIns="0" rIns="0" bIns="0" rtlCol="0" anchor="ctr"/>
          <a:lstStyle/>
          <a:p>
            <a:pPr algn="ctr" indent="0" marL="0">
              <a:buNone/>
            </a:pPr>
            <a:r>
              <a:rPr lang="en-US" sz="950" spc="50" kern="0" dirty="0">
                <a:solidFill>
                  <a:schemeClr val="bg1"/>
                </a:solidFill>
                <a:latin typeface="IBM Plex Mono" pitchFamily="34" charset="0"/>
                <a:ea typeface="IBM Plex Mono" pitchFamily="34" charset="-122"/>
                <a:cs typeface="IBM Plex Mono" pitchFamily="34" charset="-120"/>
              </a:rPr>
              <a:t>Ranks on today's APY, not 30-day avg</a:t>
            </a:r>
            <a:endParaRPr lang="en-US" sz="950" dirty="0"/>
          </a:p>
        </p:txBody>
      </p:sp>
      <p:sp>
        <p:nvSpPr>
          <p:cNvPr id="42" name="Text 26"/>
          <p:cNvSpPr txBox="1"/>
          <p:nvPr/>
        </p:nvSpPr>
        <p:spPr>
          <a:xfrm>
            <a:off x="4353458" y="5888736"/>
            <a:ext cx="3484778" cy="347472"/>
          </a:xfrm>
          <a:prstGeom prst="roundRect">
            <a:avLst>
              <a:gd name="adj" fmla="val 47368"/>
            </a:avLst>
          </a:prstGeom>
          <a:solidFill>
            <a:schemeClr val="tx1"/>
          </a:solidFill>
          <a:ln w="12700">
            <a:solidFill>
              <a:schemeClr val="accent6"/>
            </a:solidFill>
            <a:prstDash val="dash"/>
          </a:ln>
        </p:spPr>
        <p:txBody>
          <a:bodyPr wrap="square" lIns="0" tIns="0" rIns="0" bIns="0" rtlCol="0" anchor="ctr"/>
          <a:lstStyle/>
          <a:p>
            <a:pPr algn="ctr" indent="0" marL="0">
              <a:buNone/>
            </a:pPr>
            <a:r>
              <a:rPr lang="en-US" sz="950" spc="50" kern="0" dirty="0">
                <a:solidFill>
                  <a:schemeClr val="bg1"/>
                </a:solidFill>
                <a:latin typeface="IBM Plex Mono" pitchFamily="34" charset="0"/>
                <a:ea typeface="IBM Plex Mono" pitchFamily="34" charset="-122"/>
                <a:cs typeface="IBM Plex Mono" pitchFamily="34" charset="-120"/>
              </a:rPr>
              <a:t>Bridge costs and risk not modelled</a:t>
            </a:r>
            <a:endParaRPr lang="en-US" sz="950" dirty="0"/>
          </a:p>
        </p:txBody>
      </p:sp>
      <p:sp>
        <p:nvSpPr>
          <p:cNvPr id="43" name="Text 27"/>
          <p:cNvSpPr txBox="1"/>
          <p:nvPr/>
        </p:nvSpPr>
        <p:spPr>
          <a:xfrm>
            <a:off x="8021117" y="5888736"/>
            <a:ext cx="3484778" cy="347472"/>
          </a:xfrm>
          <a:prstGeom prst="roundRect">
            <a:avLst>
              <a:gd name="adj" fmla="val 47368"/>
            </a:avLst>
          </a:prstGeom>
          <a:solidFill>
            <a:schemeClr val="tx1"/>
          </a:solidFill>
          <a:ln w="12700">
            <a:solidFill>
              <a:schemeClr val="accent6"/>
            </a:solidFill>
            <a:prstDash val="dash"/>
          </a:ln>
        </p:spPr>
        <p:txBody>
          <a:bodyPr wrap="square" lIns="0" tIns="0" rIns="0" bIns="0" rtlCol="0" anchor="ctr"/>
          <a:lstStyle/>
          <a:p>
            <a:pPr algn="ctr" indent="0" marL="0">
              <a:buNone/>
            </a:pPr>
            <a:r>
              <a:rPr lang="en-US" sz="950" spc="50" kern="0" dirty="0">
                <a:solidFill>
                  <a:schemeClr val="bg1"/>
                </a:solidFill>
                <a:latin typeface="IBM Plex Mono" pitchFamily="34" charset="0"/>
                <a:ea typeface="IBM Plex Mono" pitchFamily="34" charset="-122"/>
                <a:cs typeface="IBM Plex Mono" pitchFamily="34" charset="-120"/>
              </a:rPr>
              <a:t>Admin and upgrade-key risk</a:t>
            </a:r>
            <a:endParaRPr lang="en-US" sz="950" dirty="0"/>
          </a:p>
        </p:txBody>
      </p:sp>
      <p:sp>
        <p:nvSpPr>
          <p:cNvPr id="44" name="Text 28"/>
          <p:cNvSpPr txBox="1"/>
          <p:nvPr/>
        </p:nvSpPr>
        <p:spPr>
          <a:xfrm>
            <a:off x="10225735" y="6382512"/>
            <a:ext cx="1280160" cy="237744"/>
          </a:xfrm>
          <a:prstGeom prst="rect">
            <a:avLst/>
          </a:prstGeom>
          <a:noFill/>
          <a:ln/>
        </p:spPr>
        <p:txBody>
          <a:bodyPr wrap="square" lIns="0" tIns="0" rIns="0" bIns="0" rtlCol="0" anchor="t"/>
          <a:lstStyle/>
          <a:p>
            <a:pPr algn="r" indent="0" marL="0">
              <a:buNone/>
            </a:pPr>
            <a:r>
              <a:rPr lang="en-US" sz="950" spc="200" kern="0" dirty="0">
                <a:solidFill>
                  <a:srgbClr val="6E6E6E"/>
                </a:solidFill>
                <a:latin typeface="IBM Plex Mono" pitchFamily="34" charset="0"/>
                <a:ea typeface="IBM Plex Mono" pitchFamily="34" charset="-122"/>
                <a:cs typeface="IBM Plex Mono" pitchFamily="34" charset="-120"/>
              </a:rPr>
              <a:t>16 / 18</a:t>
            </a:r>
            <a:endParaRPr lang="en-US" sz="9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title-blob" descr="preencoded.png">    </p:cNvPr>
          <p:cNvPicPr>
            <a:picLocks noChangeAspect="1"/>
          </p:cNvPicPr>
          <p:nvPr/>
        </p:nvPicPr>
        <p:blipFill>
          <a:blip r:embed="rId1"/>
          <a:stretch>
            <a:fillRect/>
          </a:stretch>
        </p:blipFill>
        <p:spPr>
          <a:xfrm>
            <a:off x="276088" y="420624"/>
            <a:ext cx="4052763" cy="1024128"/>
          </a:xfrm>
          <a:prstGeom prst="rect">
            <a:avLst/>
          </a:prstGeom>
        </p:spPr>
      </p:pic>
      <p:sp>
        <p:nvSpPr>
          <p:cNvPr id="3" name="Text 2"/>
          <p:cNvSpPr/>
          <p:nvPr>
            <p:ph idx="103" type="title" hasCustomPrompt="1"/>
          </p:nvPr>
        </p:nvSpPr>
        <p:spPr>
          <a:xfrm>
            <a:off x="685800" y="640080"/>
            <a:ext cx="10820095" cy="603504"/>
          </a:xfrm>
          <a:prstGeom prst="rect">
            <a:avLst/>
          </a:prstGeom>
          <a:noFill/>
          <a:ln/>
        </p:spPr>
        <p:txBody>
          <a:bodyPr wrap="square" lIns="0" tIns="0" rIns="0" bIns="0" rtlCol="0" anchor="ctr"/>
          <a:lstStyle/>
          <a:p>
            <a:pPr algn="l" indent="0" marL="0">
              <a:buNone/>
            </a:pPr>
            <a:r>
              <a:rPr lang="en-US" sz="3400" dirty="0">
                <a:solidFill>
                  <a:schemeClr val="bg1"/>
                </a:solidFill>
                <a:latin typeface="Anton" pitchFamily="34" charset="0"/>
                <a:ea typeface="Anton" pitchFamily="34" charset="-122"/>
                <a:cs typeface="Anton" pitchFamily="34" charset="-120"/>
              </a:rPr>
              <a:t>WHAT COMES NEXT</a:t>
            </a:r>
            <a:endParaRPr lang="en-US" sz="3400" dirty="0"/>
          </a:p>
        </p:txBody>
      </p:sp>
      <p:sp>
        <p:nvSpPr>
          <p:cNvPr id="4" name="Text 1"/>
          <p:cNvSpPr txBox="1"/>
          <p:nvPr/>
        </p:nvSpPr>
        <p:spPr>
          <a:xfrm>
            <a:off x="685800" y="1481328"/>
            <a:ext cx="7863840" cy="640080"/>
          </a:xfrm>
          <a:prstGeom prst="rect">
            <a:avLst/>
          </a:prstGeom>
          <a:noFill/>
          <a:ln/>
        </p:spPr>
        <p:txBody>
          <a:bodyPr wrap="square" lIns="0" tIns="0" rIns="0" bIns="0" rtlCol="0" anchor="t"/>
          <a:lstStyle/>
          <a:p>
            <a:pPr indent="0" marL="0">
              <a:lnSpc>
                <a:spcPct val="100000"/>
              </a:lnSpc>
              <a:buNone/>
            </a:pPr>
            <a:r>
              <a:rPr lang="en-US" sz="1700" dirty="0">
                <a:solidFill>
                  <a:srgbClr val="C9C9C9"/>
                </a:solidFill>
              </a:rPr>
              <a:t>Safety first, then </a:t>
            </a:r>
            <a:pPr indent="0" marL="0">
              <a:lnSpc>
                <a:spcPct val="100000"/>
              </a:lnSpc>
              <a:buNone/>
            </a:pPr>
            <a:r>
              <a:rPr lang="en-US" sz="1700" b="1" dirty="0">
                <a:solidFill>
                  <a:schemeClr val="bg1"/>
                </a:solidFill>
              </a:rPr>
              <a:t>the feature that makes the vault real</a:t>
            </a:r>
            <a:pPr indent="0" marL="0">
              <a:lnSpc>
                <a:spcPct val="100000"/>
              </a:lnSpc>
              <a:buNone/>
            </a:pPr>
            <a:r>
              <a:rPr lang="en-US" sz="1700" dirty="0">
                <a:solidFill>
                  <a:srgbClr val="C9C9C9"/>
                </a:solidFill>
              </a:rPr>
              <a:t>.</a:t>
            </a:r>
            <a:endParaRPr lang="en-US" sz="1700" dirty="0"/>
          </a:p>
        </p:txBody>
      </p:sp>
      <p:sp>
        <p:nvSpPr>
          <p:cNvPr id="5" name="phase-0"/>
          <p:cNvSpPr txBox="1"/>
          <p:nvPr/>
        </p:nvSpPr>
        <p:spPr>
          <a:xfrm rot="-90000">
            <a:off x="685800" y="2377440"/>
            <a:ext cx="2499284" cy="3246120"/>
          </a:xfrm>
          <a:prstGeom prst="roundRect">
            <a:avLst>
              <a:gd name="adj" fmla="val 4390"/>
            </a:avLst>
          </a:prstGeom>
          <a:solidFill>
            <a:schemeClr val="tx2"/>
          </a:solidFill>
          <a:ln w="15875">
            <a:solidFill>
              <a:schemeClr val="accent6"/>
            </a:solidFill>
          </a:ln>
          <a:effectLst>
            <a:outerShdw sx="100000" sy="100000" kx="0" ky="0" algn="bl" rotWithShape="0" blurRad="101600" dist="63500" dir="2700000">
              <a:srgbClr val="080808">
                <a:alpha val="85000"/>
              </a:srgbClr>
            </a:outerShdw>
          </a:effectLst>
        </p:spPr>
        <p:txBody>
          <a:bodyPr wrap="square" lIns="177800" tIns="203200" rIns="203200" bIns="177800" rtlCol="0" anchor="t"/>
          <a:lstStyle/>
          <a:p>
            <a:pPr algn="l" indent="0" marL="0">
              <a:lnSpc>
                <a:spcPct val="100000"/>
              </a:lnSpc>
              <a:buNone/>
            </a:pPr>
            <a:r>
              <a:rPr lang="en-US" sz="4400" dirty="0">
                <a:solidFill>
                  <a:schemeClr val="accent1"/>
                </a:solidFill>
                <a:latin typeface="Anton" pitchFamily="34" charset="0"/>
                <a:ea typeface="Anton" pitchFamily="34" charset="-122"/>
                <a:cs typeface="Anton" pitchFamily="34" charset="-120"/>
              </a:rPr>
              <a:t>01</a:t>
            </a:r>
            <a:endParaRPr lang="en-US" sz="4400" dirty="0"/>
          </a:p>
          <a:p>
            <a:pPr algn="l" indent="0" marL="0">
              <a:lnSpc>
                <a:spcPct val="100000"/>
              </a:lnSpc>
              <a:buNone/>
            </a:pPr>
            <a:r>
              <a:rPr lang="en-US" sz="950" spc="250" kern="0" dirty="0">
                <a:solidFill>
                  <a:srgbClr val="C9C9C9"/>
                </a:solidFill>
                <a:latin typeface="IBM Plex Mono" pitchFamily="34" charset="0"/>
                <a:ea typeface="IBM Plex Mono" pitchFamily="34" charset="-122"/>
                <a:cs typeface="IBM Plex Mono" pitchFamily="34" charset="-120"/>
              </a:rPr>
              <a:t>PHASE 1</a:t>
            </a:r>
            <a:endParaRPr lang="en-US" sz="4400" dirty="0"/>
          </a:p>
          <a:p>
            <a:pPr algn="l" indent="0" marL="0">
              <a:lnSpc>
                <a:spcPct val="100000"/>
              </a:lnSpc>
              <a:buNone/>
            </a:pPr>
            <a:r>
              <a:rPr lang="en-US" sz="1500" b="1" dirty="0">
                <a:solidFill>
                  <a:schemeClr val="bg1"/>
                </a:solidFill>
              </a:rPr>
              <a:t>Safety and correctness</a:t>
            </a:r>
            <a:endParaRPr lang="en-US" sz="4400" dirty="0"/>
          </a:p>
          <a:p>
            <a:pPr algn="l" indent="0" marL="0">
              <a:lnSpc>
                <a:spcPct val="100000"/>
              </a:lnSpc>
              <a:buNone/>
            </a:pPr>
            <a:r>
              <a:rPr lang="en-US" sz="600" dirty="0">
                <a:solidFill>
                  <a:srgbClr val="000000"/>
                </a:solidFill>
              </a:rPr>
              <a:t> </a:t>
            </a:r>
            <a:endParaRPr lang="en-US" sz="4400" dirty="0"/>
          </a:p>
          <a:p>
            <a:pPr algn="l" marL="152400" indent="-152400">
              <a:lnSpc>
                <a:spcPct val="100000"/>
              </a:lnSpc>
              <a:spcAft>
                <a:spcPts val="500"/>
              </a:spcAft>
              <a:buSzPct val="100000"/>
              <a:buChar char="•"/>
            </a:pPr>
            <a:r>
              <a:rPr lang="en-US" sz="1200" dirty="0">
                <a:solidFill>
                  <a:srgbClr val="C9C9C9"/>
                </a:solidFill>
              </a:rPr>
              <a:t>Escape hatch if a vault stays paused</a:t>
            </a:r>
            <a:endParaRPr lang="en-US" sz="4400" dirty="0"/>
          </a:p>
          <a:p>
            <a:pPr algn="l" marL="152400" indent="-152400">
              <a:lnSpc>
                <a:spcPct val="100000"/>
              </a:lnSpc>
              <a:spcAft>
                <a:spcPts val="500"/>
              </a:spcAft>
              <a:buSzPct val="100000"/>
              <a:buChar char="•"/>
            </a:pPr>
            <a:r>
              <a:rPr lang="en-US" sz="1200" dirty="0">
                <a:solidFill>
                  <a:srgbClr val="C9C9C9"/>
                </a:solidFill>
              </a:rPr>
              <a:t>close_position to refund rent</a:t>
            </a:r>
            <a:endParaRPr lang="en-US" sz="4400" dirty="0"/>
          </a:p>
          <a:p>
            <a:pPr algn="l" marL="152400" indent="-152400">
              <a:lnSpc>
                <a:spcPct val="100000"/>
              </a:lnSpc>
              <a:spcAft>
                <a:spcPts val="500"/>
              </a:spcAft>
              <a:buSzPct val="100000"/>
              <a:buChar char="•"/>
            </a:pPr>
            <a:r>
              <a:rPr lang="en-US" sz="1200" dirty="0">
                <a:solidFill>
                  <a:srgbClr val="C9C9C9"/>
                </a:solidFill>
              </a:rPr>
              <a:t>Fuzz the share math and limits</a:t>
            </a:r>
            <a:endParaRPr lang="en-US" sz="4400" dirty="0"/>
          </a:p>
        </p:txBody>
      </p:sp>
      <p:sp>
        <p:nvSpPr>
          <p:cNvPr id="6" name="phase-1"/>
          <p:cNvSpPr txBox="1"/>
          <p:nvPr/>
        </p:nvSpPr>
        <p:spPr>
          <a:xfrm rot="72000">
            <a:off x="3459404" y="2377440"/>
            <a:ext cx="2499284" cy="3246120"/>
          </a:xfrm>
          <a:prstGeom prst="roundRect">
            <a:avLst>
              <a:gd name="adj" fmla="val 4390"/>
            </a:avLst>
          </a:prstGeom>
          <a:solidFill>
            <a:schemeClr val="tx2"/>
          </a:solidFill>
          <a:ln w="15875">
            <a:solidFill>
              <a:schemeClr val="accent6"/>
            </a:solidFill>
          </a:ln>
          <a:effectLst>
            <a:outerShdw sx="100000" sy="100000" kx="0" ky="0" algn="bl" rotWithShape="0" blurRad="101600" dist="63500" dir="2700000">
              <a:srgbClr val="080808">
                <a:alpha val="85000"/>
              </a:srgbClr>
            </a:outerShdw>
          </a:effectLst>
        </p:spPr>
        <p:txBody>
          <a:bodyPr wrap="square" lIns="177800" tIns="203200" rIns="203200" bIns="177800" rtlCol="0" anchor="t"/>
          <a:lstStyle/>
          <a:p>
            <a:pPr algn="l" indent="0" marL="0">
              <a:lnSpc>
                <a:spcPct val="100000"/>
              </a:lnSpc>
              <a:buNone/>
            </a:pPr>
            <a:r>
              <a:rPr lang="en-US" sz="4400" dirty="0">
                <a:solidFill>
                  <a:schemeClr val="accent2"/>
                </a:solidFill>
                <a:latin typeface="Anton" pitchFamily="34" charset="0"/>
                <a:ea typeface="Anton" pitchFamily="34" charset="-122"/>
                <a:cs typeface="Anton" pitchFamily="34" charset="-120"/>
              </a:rPr>
              <a:t>02</a:t>
            </a:r>
            <a:endParaRPr lang="en-US" sz="4400" dirty="0"/>
          </a:p>
          <a:p>
            <a:pPr algn="l" indent="0" marL="0">
              <a:lnSpc>
                <a:spcPct val="100000"/>
              </a:lnSpc>
              <a:buNone/>
            </a:pPr>
            <a:r>
              <a:rPr lang="en-US" sz="950" spc="250" kern="0" dirty="0">
                <a:solidFill>
                  <a:srgbClr val="C9C9C9"/>
                </a:solidFill>
                <a:latin typeface="IBM Plex Mono" pitchFamily="34" charset="0"/>
                <a:ea typeface="IBM Plex Mono" pitchFamily="34" charset="-122"/>
                <a:cs typeface="IBM Plex Mono" pitchFamily="34" charset="-120"/>
              </a:rPr>
              <a:t>PHASE 2</a:t>
            </a:r>
            <a:endParaRPr lang="en-US" sz="4400" dirty="0"/>
          </a:p>
          <a:p>
            <a:pPr algn="l" indent="0" marL="0">
              <a:lnSpc>
                <a:spcPct val="100000"/>
              </a:lnSpc>
              <a:buNone/>
            </a:pPr>
            <a:r>
              <a:rPr lang="en-US" sz="1500" b="1" dirty="0">
                <a:solidFill>
                  <a:schemeClr val="bg1"/>
                </a:solidFill>
              </a:rPr>
              <a:t>Better recommendations</a:t>
            </a:r>
            <a:endParaRPr lang="en-US" sz="4400" dirty="0"/>
          </a:p>
          <a:p>
            <a:pPr algn="l" indent="0" marL="0">
              <a:lnSpc>
                <a:spcPct val="100000"/>
              </a:lnSpc>
              <a:buNone/>
            </a:pPr>
            <a:r>
              <a:rPr lang="en-US" sz="600" dirty="0">
                <a:solidFill>
                  <a:srgbClr val="000000"/>
                </a:solidFill>
              </a:rPr>
              <a:t> </a:t>
            </a:r>
            <a:endParaRPr lang="en-US" sz="4400" dirty="0"/>
          </a:p>
          <a:p>
            <a:pPr algn="l" marL="152400" indent="-152400">
              <a:lnSpc>
                <a:spcPct val="100000"/>
              </a:lnSpc>
              <a:spcAft>
                <a:spcPts val="500"/>
              </a:spcAft>
              <a:buSzPct val="100000"/>
              <a:buChar char="•"/>
            </a:pPr>
            <a:r>
              <a:rPr lang="en-US" sz="1200" dirty="0">
                <a:solidFill>
                  <a:srgbClr val="C9C9C9"/>
                </a:solidFill>
              </a:rPr>
              <a:t>Rank on the 30-day average APY</a:t>
            </a:r>
            <a:endParaRPr lang="en-US" sz="4400" dirty="0"/>
          </a:p>
          <a:p>
            <a:pPr algn="l" marL="152400" indent="-152400">
              <a:lnSpc>
                <a:spcPct val="100000"/>
              </a:lnSpc>
              <a:spcAft>
                <a:spcPts val="500"/>
              </a:spcAft>
              <a:buSzPct val="100000"/>
              <a:buChar char="•"/>
            </a:pPr>
            <a:r>
              <a:rPr lang="en-US" sz="1200" dirty="0">
                <a:solidFill>
                  <a:srgbClr val="C9C9C9"/>
                </a:solidFill>
              </a:rPr>
              <a:t>Flag options that need funds moved between networks</a:t>
            </a:r>
            <a:endParaRPr lang="en-US" sz="4400" dirty="0"/>
          </a:p>
          <a:p>
            <a:pPr algn="l" marL="152400" indent="-152400">
              <a:lnSpc>
                <a:spcPct val="100000"/>
              </a:lnSpc>
              <a:spcAft>
                <a:spcPts val="500"/>
              </a:spcAft>
              <a:buSzPct val="100000"/>
              <a:buChar char="•"/>
            </a:pPr>
            <a:r>
              <a:rPr lang="en-US" sz="1200" dirty="0">
                <a:solidFill>
                  <a:srgbClr val="C9C9C9"/>
                </a:solidFill>
              </a:rPr>
              <a:t>Back-test grades against past exploits</a:t>
            </a:r>
            <a:endParaRPr lang="en-US" sz="4400" dirty="0"/>
          </a:p>
        </p:txBody>
      </p:sp>
      <p:sp>
        <p:nvSpPr>
          <p:cNvPr id="7" name="phase-2"/>
          <p:cNvSpPr txBox="1"/>
          <p:nvPr/>
        </p:nvSpPr>
        <p:spPr>
          <a:xfrm rot="-60000">
            <a:off x="6233008" y="2377440"/>
            <a:ext cx="2499284" cy="3246120"/>
          </a:xfrm>
          <a:prstGeom prst="roundRect">
            <a:avLst>
              <a:gd name="adj" fmla="val 4390"/>
            </a:avLst>
          </a:prstGeom>
          <a:solidFill>
            <a:schemeClr val="tx2"/>
          </a:solidFill>
          <a:ln w="15875">
            <a:solidFill>
              <a:schemeClr val="accent6"/>
            </a:solidFill>
          </a:ln>
          <a:effectLst>
            <a:outerShdw sx="100000" sy="100000" kx="0" ky="0" algn="bl" rotWithShape="0" blurRad="101600" dist="63500" dir="2700000">
              <a:srgbClr val="080808">
                <a:alpha val="85000"/>
              </a:srgbClr>
            </a:outerShdw>
          </a:effectLst>
        </p:spPr>
        <p:txBody>
          <a:bodyPr wrap="square" lIns="177800" tIns="203200" rIns="203200" bIns="177800" rtlCol="0" anchor="t"/>
          <a:lstStyle/>
          <a:p>
            <a:pPr algn="l" indent="0" marL="0">
              <a:lnSpc>
                <a:spcPct val="100000"/>
              </a:lnSpc>
              <a:buNone/>
            </a:pPr>
            <a:r>
              <a:rPr lang="en-US" sz="4400" dirty="0">
                <a:solidFill>
                  <a:schemeClr val="accent3"/>
                </a:solidFill>
                <a:latin typeface="Anton" pitchFamily="34" charset="0"/>
                <a:ea typeface="Anton" pitchFamily="34" charset="-122"/>
                <a:cs typeface="Anton" pitchFamily="34" charset="-120"/>
              </a:rPr>
              <a:t>03</a:t>
            </a:r>
            <a:endParaRPr lang="en-US" sz="4400" dirty="0"/>
          </a:p>
          <a:p>
            <a:pPr algn="l" indent="0" marL="0">
              <a:lnSpc>
                <a:spcPct val="100000"/>
              </a:lnSpc>
              <a:buNone/>
            </a:pPr>
            <a:r>
              <a:rPr lang="en-US" sz="950" spc="250" kern="0" dirty="0">
                <a:solidFill>
                  <a:srgbClr val="C9C9C9"/>
                </a:solidFill>
                <a:latin typeface="IBM Plex Mono" pitchFamily="34" charset="0"/>
                <a:ea typeface="IBM Plex Mono" pitchFamily="34" charset="-122"/>
                <a:cs typeface="IBM Plex Mono" pitchFamily="34" charset="-120"/>
              </a:rPr>
              <a:t>PHASE 3</a:t>
            </a:r>
            <a:endParaRPr lang="en-US" sz="4400" dirty="0"/>
          </a:p>
          <a:p>
            <a:pPr algn="l" indent="0" marL="0">
              <a:lnSpc>
                <a:spcPct val="100000"/>
              </a:lnSpc>
              <a:buNone/>
            </a:pPr>
            <a:r>
              <a:rPr lang="en-US" sz="1500" b="1" dirty="0">
                <a:solidFill>
                  <a:schemeClr val="bg1"/>
                </a:solidFill>
              </a:rPr>
              <a:t>Vault integration</a:t>
            </a:r>
            <a:endParaRPr lang="en-US" sz="4400" dirty="0"/>
          </a:p>
          <a:p>
            <a:pPr algn="l" indent="0" marL="0">
              <a:lnSpc>
                <a:spcPct val="100000"/>
              </a:lnSpc>
              <a:buNone/>
            </a:pPr>
            <a:r>
              <a:rPr lang="en-US" sz="600" dirty="0">
                <a:solidFill>
                  <a:srgbClr val="000000"/>
                </a:solidFill>
              </a:rPr>
              <a:t> </a:t>
            </a:r>
            <a:endParaRPr lang="en-US" sz="4400" dirty="0"/>
          </a:p>
          <a:p>
            <a:pPr algn="l" marL="152400" indent="-152400">
              <a:lnSpc>
                <a:spcPct val="100000"/>
              </a:lnSpc>
              <a:spcAft>
                <a:spcPts val="500"/>
              </a:spcAft>
              <a:buSzPct val="100000"/>
              <a:buChar char="•"/>
            </a:pPr>
            <a:r>
              <a:rPr lang="en-US" sz="1200" dirty="0">
                <a:solidFill>
                  <a:srgbClr val="C9C9C9"/>
                </a:solidFill>
              </a:rPr>
              <a:t>Swap a practice pool for one real Kamino strategy</a:t>
            </a:r>
            <a:endParaRPr lang="en-US" sz="4400" dirty="0"/>
          </a:p>
          <a:p>
            <a:pPr algn="l" marL="152400" indent="-152400">
              <a:lnSpc>
                <a:spcPct val="100000"/>
              </a:lnSpc>
              <a:spcAft>
                <a:spcPts val="500"/>
              </a:spcAft>
              <a:buSzPct val="100000"/>
              <a:buChar char="•"/>
            </a:pPr>
            <a:r>
              <a:rPr lang="en-US" sz="1200" dirty="0">
                <a:solidFill>
                  <a:srgbClr val="C9C9C9"/>
                </a:solidFill>
              </a:rPr>
              <a:t>Tested against the real Kamino program</a:t>
            </a:r>
            <a:endParaRPr lang="en-US" sz="4400" dirty="0"/>
          </a:p>
          <a:p>
            <a:pPr algn="l" marL="152400" indent="-152400">
              <a:lnSpc>
                <a:spcPct val="100000"/>
              </a:lnSpc>
              <a:spcAft>
                <a:spcPts val="500"/>
              </a:spcAft>
              <a:buSzPct val="100000"/>
              <a:buChar char="•"/>
            </a:pPr>
            <a:r>
              <a:rPr lang="en-US" sz="1200" dirty="0">
                <a:solidFill>
                  <a:srgbClr val="C9C9C9"/>
                </a:solidFill>
              </a:rPr>
              <a:t>Same rebalance and on-chain balances</a:t>
            </a:r>
            <a:endParaRPr lang="en-US" sz="4400" dirty="0"/>
          </a:p>
        </p:txBody>
      </p:sp>
      <p:sp>
        <p:nvSpPr>
          <p:cNvPr id="8" name="phase-3"/>
          <p:cNvSpPr txBox="1"/>
          <p:nvPr/>
        </p:nvSpPr>
        <p:spPr>
          <a:xfrm rot="90000">
            <a:off x="9006611" y="2377440"/>
            <a:ext cx="2499284" cy="3246120"/>
          </a:xfrm>
          <a:prstGeom prst="roundRect">
            <a:avLst>
              <a:gd name="adj" fmla="val 4390"/>
            </a:avLst>
          </a:prstGeom>
          <a:solidFill>
            <a:schemeClr val="tx2"/>
          </a:solidFill>
          <a:ln w="15875">
            <a:solidFill>
              <a:schemeClr val="accent6"/>
            </a:solidFill>
          </a:ln>
          <a:effectLst>
            <a:outerShdw sx="100000" sy="100000" kx="0" ky="0" algn="bl" rotWithShape="0" blurRad="101600" dist="63500" dir="2700000">
              <a:srgbClr val="080808">
                <a:alpha val="85000"/>
              </a:srgbClr>
            </a:outerShdw>
          </a:effectLst>
        </p:spPr>
        <p:txBody>
          <a:bodyPr wrap="square" lIns="177800" tIns="203200" rIns="203200" bIns="177800" rtlCol="0" anchor="t"/>
          <a:lstStyle/>
          <a:p>
            <a:pPr algn="l" indent="0" marL="0">
              <a:lnSpc>
                <a:spcPct val="100000"/>
              </a:lnSpc>
              <a:buNone/>
            </a:pPr>
            <a:r>
              <a:rPr lang="en-US" sz="4400" dirty="0">
                <a:solidFill>
                  <a:schemeClr val="accent4"/>
                </a:solidFill>
                <a:latin typeface="Anton" pitchFamily="34" charset="0"/>
                <a:ea typeface="Anton" pitchFamily="34" charset="-122"/>
                <a:cs typeface="Anton" pitchFamily="34" charset="-120"/>
              </a:rPr>
              <a:t>04</a:t>
            </a:r>
            <a:endParaRPr lang="en-US" sz="4400" dirty="0"/>
          </a:p>
          <a:p>
            <a:pPr algn="l" indent="0" marL="0">
              <a:lnSpc>
                <a:spcPct val="100000"/>
              </a:lnSpc>
              <a:buNone/>
            </a:pPr>
            <a:r>
              <a:rPr lang="en-US" sz="950" spc="250" kern="0" dirty="0">
                <a:solidFill>
                  <a:srgbClr val="C9C9C9"/>
                </a:solidFill>
                <a:latin typeface="IBM Plex Mono" pitchFamily="34" charset="0"/>
                <a:ea typeface="IBM Plex Mono" pitchFamily="34" charset="-122"/>
                <a:cs typeface="IBM Plex Mono" pitchFamily="34" charset="-120"/>
              </a:rPr>
              <a:t>PHASE 4</a:t>
            </a:r>
            <a:endParaRPr lang="en-US" sz="4400" dirty="0"/>
          </a:p>
          <a:p>
            <a:pPr algn="l" indent="0" marL="0">
              <a:lnSpc>
                <a:spcPct val="100000"/>
              </a:lnSpc>
              <a:buNone/>
            </a:pPr>
            <a:r>
              <a:rPr lang="en-US" sz="1500" b="1" dirty="0">
                <a:solidFill>
                  <a:schemeClr val="bg1"/>
                </a:solidFill>
              </a:rPr>
              <a:t>Admin and expansion</a:t>
            </a:r>
            <a:endParaRPr lang="en-US" sz="4400" dirty="0"/>
          </a:p>
          <a:p>
            <a:pPr algn="l" indent="0" marL="0">
              <a:lnSpc>
                <a:spcPct val="100000"/>
              </a:lnSpc>
              <a:buNone/>
            </a:pPr>
            <a:r>
              <a:rPr lang="en-US" sz="600" dirty="0">
                <a:solidFill>
                  <a:srgbClr val="000000"/>
                </a:solidFill>
              </a:rPr>
              <a:t> </a:t>
            </a:r>
            <a:endParaRPr lang="en-US" sz="4400" dirty="0"/>
          </a:p>
          <a:p>
            <a:pPr algn="l" marL="152400" indent="-152400">
              <a:lnSpc>
                <a:spcPct val="100000"/>
              </a:lnSpc>
              <a:spcAft>
                <a:spcPts val="500"/>
              </a:spcAft>
              <a:buSzPct val="100000"/>
              <a:buChar char="•"/>
            </a:pPr>
            <a:r>
              <a:rPr lang="en-US" sz="1200" dirty="0">
                <a:solidFill>
                  <a:srgbClr val="C9C9C9"/>
                </a:solidFill>
              </a:rPr>
              <a:t>Multisig authority</a:t>
            </a:r>
            <a:endParaRPr lang="en-US" sz="4400" dirty="0"/>
          </a:p>
          <a:p>
            <a:pPr algn="l" marL="152400" indent="-152400">
              <a:lnSpc>
                <a:spcPct val="100000"/>
              </a:lnSpc>
              <a:spcAft>
                <a:spcPts val="500"/>
              </a:spcAft>
              <a:buSzPct val="100000"/>
              <a:buChar char="•"/>
            </a:pPr>
            <a:r>
              <a:rPr lang="en-US" sz="1200" dirty="0">
                <a:solidFill>
                  <a:srgbClr val="C9C9C9"/>
                </a:solidFill>
              </a:rPr>
              <a:t>Delay on strategy changes</a:t>
            </a:r>
            <a:endParaRPr lang="en-US" sz="4400" dirty="0"/>
          </a:p>
          <a:p>
            <a:pPr algn="l" marL="152400" indent="-152400">
              <a:lnSpc>
                <a:spcPct val="100000"/>
              </a:lnSpc>
              <a:spcAft>
                <a:spcPts val="500"/>
              </a:spcAft>
              <a:buSzPct val="100000"/>
              <a:buChar char="•"/>
            </a:pPr>
            <a:r>
              <a:rPr lang="en-US" sz="1200" dirty="0">
                <a:solidFill>
                  <a:srgbClr val="C9C9C9"/>
                </a:solidFill>
              </a:rPr>
              <a:t>Alerts, read-only portfolio, more tokens</a:t>
            </a:r>
            <a:endParaRPr lang="en-US" sz="4400" dirty="0"/>
          </a:p>
        </p:txBody>
      </p:sp>
      <p:sp>
        <p:nvSpPr>
          <p:cNvPr id="9" name="Text 6"/>
          <p:cNvSpPr txBox="1"/>
          <p:nvPr/>
        </p:nvSpPr>
        <p:spPr>
          <a:xfrm rot="-120000">
            <a:off x="685800" y="5916168"/>
            <a:ext cx="1737360" cy="310896"/>
          </a:xfrm>
          <a:prstGeom prst="rect">
            <a:avLst/>
          </a:prstGeom>
          <a:solidFill>
            <a:schemeClr val="accent3"/>
          </a:solidFill>
          <a:ln>
            <a:solidFill>
              <a:schemeClr val="accent3"/>
            </a:solidFill>
          </a:ln>
        </p:spPr>
        <p:txBody>
          <a:bodyPr wrap="square" lIns="0" tIns="0" rIns="0" bIns="0" rtlCol="0" anchor="ctr"/>
          <a:lstStyle/>
          <a:p>
            <a:pPr algn="ctr" indent="0" marL="0">
              <a:buNone/>
            </a:pPr>
            <a:r>
              <a:rPr lang="en-US" sz="900" spc="250" kern="0" dirty="0">
                <a:solidFill>
                  <a:srgbClr val="141414"/>
                </a:solidFill>
                <a:latin typeface="IBM Plex Mono SemiBold" pitchFamily="34" charset="0"/>
                <a:ea typeface="IBM Plex Mono SemiBold" pitchFamily="34" charset="-122"/>
                <a:cs typeface="IBM Plex Mono SemiBold" pitchFamily="34" charset="-120"/>
              </a:rPr>
              <a:t>PLANNED WORK</a:t>
            </a:r>
            <a:endParaRPr lang="en-US" sz="900" dirty="0"/>
          </a:p>
        </p:txBody>
      </p:sp>
      <p:sp>
        <p:nvSpPr>
          <p:cNvPr id="10" name="Text 7"/>
          <p:cNvSpPr txBox="1"/>
          <p:nvPr/>
        </p:nvSpPr>
        <p:spPr>
          <a:xfrm>
            <a:off x="2651760" y="5897880"/>
            <a:ext cx="8854135" cy="329184"/>
          </a:xfrm>
          <a:prstGeom prst="rect">
            <a:avLst/>
          </a:prstGeom>
          <a:noFill/>
          <a:ln/>
        </p:spPr>
        <p:txBody>
          <a:bodyPr wrap="square" lIns="0" tIns="0" rIns="0" bIns="0" rtlCol="0" anchor="ctr"/>
          <a:lstStyle/>
          <a:p>
            <a:pPr indent="0" marL="0">
              <a:buNone/>
            </a:pPr>
            <a:r>
              <a:rPr lang="en-US" sz="1200" i="1" dirty="0">
                <a:solidFill>
                  <a:schemeClr val="bg2"/>
                </a:solidFill>
              </a:rPr>
              <a:t>None of this is built yet. Safety first, then the feature that makes the vault real.</a:t>
            </a:r>
            <a:endParaRPr lang="en-US" sz="1200" dirty="0"/>
          </a:p>
        </p:txBody>
      </p:sp>
      <p:sp>
        <p:nvSpPr>
          <p:cNvPr id="11" name="Text 8"/>
          <p:cNvSpPr txBox="1"/>
          <p:nvPr/>
        </p:nvSpPr>
        <p:spPr>
          <a:xfrm>
            <a:off x="10225735" y="6382512"/>
            <a:ext cx="1280160" cy="237744"/>
          </a:xfrm>
          <a:prstGeom prst="rect">
            <a:avLst/>
          </a:prstGeom>
          <a:noFill/>
          <a:ln/>
        </p:spPr>
        <p:txBody>
          <a:bodyPr wrap="square" lIns="0" tIns="0" rIns="0" bIns="0" rtlCol="0" anchor="t"/>
          <a:lstStyle/>
          <a:p>
            <a:pPr algn="r" indent="0" marL="0">
              <a:buNone/>
            </a:pPr>
            <a:r>
              <a:rPr lang="en-US" sz="950" spc="200" kern="0" dirty="0">
                <a:solidFill>
                  <a:srgbClr val="6E6E6E"/>
                </a:solidFill>
                <a:latin typeface="IBM Plex Mono" pitchFamily="34" charset="0"/>
                <a:ea typeface="IBM Plex Mono" pitchFamily="34" charset="-122"/>
                <a:cs typeface="IBM Plex Mono" pitchFamily="34" charset="-120"/>
              </a:rPr>
              <a:t>17 / 18</a:t>
            </a:r>
            <a:endParaRPr lang="en-US" sz="9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title-blob" descr="preencoded.png">    </p:cNvPr>
          <p:cNvPicPr>
            <a:picLocks noChangeAspect="1"/>
          </p:cNvPicPr>
          <p:nvPr/>
        </p:nvPicPr>
        <p:blipFill>
          <a:blip r:embed="rId1"/>
          <a:stretch>
            <a:fillRect/>
          </a:stretch>
        </p:blipFill>
        <p:spPr>
          <a:xfrm>
            <a:off x="3093506" y="713232"/>
            <a:ext cx="6362719" cy="1600200"/>
          </a:xfrm>
          <a:prstGeom prst="rect">
            <a:avLst/>
          </a:prstGeom>
        </p:spPr>
      </p:pic>
      <p:sp>
        <p:nvSpPr>
          <p:cNvPr id="3" name="Text 2"/>
          <p:cNvSpPr/>
          <p:nvPr>
            <p:ph idx="103" type="title" hasCustomPrompt="1"/>
          </p:nvPr>
        </p:nvSpPr>
        <p:spPr>
          <a:xfrm>
            <a:off x="457200" y="987552"/>
            <a:ext cx="11277295" cy="1005840"/>
          </a:xfrm>
          <a:prstGeom prst="rect">
            <a:avLst/>
          </a:prstGeom>
          <a:noFill/>
          <a:ln/>
        </p:spPr>
        <p:txBody>
          <a:bodyPr wrap="square" lIns="0" tIns="0" rIns="0" bIns="0" rtlCol="0" anchor="ctr"/>
          <a:lstStyle/>
          <a:p>
            <a:pPr algn="ctr" indent="0" marL="0">
              <a:buNone/>
            </a:pPr>
            <a:r>
              <a:rPr lang="en-US" sz="6200" dirty="0">
                <a:solidFill>
                  <a:schemeClr val="bg1"/>
                </a:solidFill>
                <a:latin typeface="Anton" pitchFamily="34" charset="0"/>
                <a:ea typeface="Anton" pitchFamily="34" charset="-122"/>
                <a:cs typeface="Anton" pitchFamily="34" charset="-120"/>
              </a:rPr>
              <a:t>THANK YOU!</a:t>
            </a:r>
            <a:endParaRPr lang="en-US" sz="6200" dirty="0"/>
          </a:p>
        </p:txBody>
      </p:sp>
      <p:sp>
        <p:nvSpPr>
          <p:cNvPr id="4" name="Text 1"/>
          <p:cNvSpPr txBox="1"/>
          <p:nvPr/>
        </p:nvSpPr>
        <p:spPr>
          <a:xfrm>
            <a:off x="1828800" y="2423160"/>
            <a:ext cx="8534095" cy="685800"/>
          </a:xfrm>
          <a:prstGeom prst="rect">
            <a:avLst/>
          </a:prstGeom>
          <a:noFill/>
          <a:ln/>
        </p:spPr>
        <p:txBody>
          <a:bodyPr wrap="square" lIns="0" tIns="0" rIns="0" bIns="0" rtlCol="0" anchor="t"/>
          <a:lstStyle/>
          <a:p>
            <a:pPr algn="ctr" indent="0" marL="0">
              <a:buNone/>
            </a:pPr>
            <a:r>
              <a:rPr lang="en-US" sz="1900" dirty="0">
                <a:solidFill>
                  <a:srgbClr val="C9C9C9"/>
                </a:solidFill>
              </a:rPr>
              <a:t>Make stablecoin yield easier to understand </a:t>
            </a:r>
            <a:pPr algn="ctr" indent="0" marL="0">
              <a:buNone/>
            </a:pPr>
            <a:r>
              <a:rPr lang="en-US" sz="1900" b="1" dirty="0">
                <a:solidFill>
                  <a:schemeClr val="bg1"/>
                </a:solidFill>
              </a:rPr>
              <a:t>before making it easier to chase.</a:t>
            </a:r>
            <a:endParaRPr lang="en-US" sz="1900" dirty="0"/>
          </a:p>
        </p:txBody>
      </p:sp>
      <p:sp>
        <p:nvSpPr>
          <p:cNvPr id="5" name="qr-card"/>
          <p:cNvSpPr/>
          <p:nvPr/>
        </p:nvSpPr>
        <p:spPr>
          <a:xfrm rot="180000">
            <a:off x="4998568" y="3246120"/>
            <a:ext cx="2194560" cy="2194560"/>
          </a:xfrm>
          <a:prstGeom prst="roundRect">
            <a:avLst>
              <a:gd name="adj" fmla="val 6667"/>
            </a:avLst>
          </a:prstGeom>
          <a:solidFill>
            <a:srgbClr val="FFFFFF"/>
          </a:solidFill>
          <a:ln w="12700">
            <a:solidFill>
              <a:srgbClr val="FFFFFF"/>
            </a:solidFill>
            <a:prstDash val="solid"/>
          </a:ln>
          <a:effectLst>
            <a:outerShdw sx="100000" sy="100000" kx="0" ky="0" algn="bl" rotWithShape="0" blurRad="101600" dist="63500" dir="2700000">
              <a:srgbClr val="080808">
                <a:alpha val="85000"/>
              </a:srgbClr>
            </a:outerShdw>
          </a:effectLst>
        </p:spPr>
      </p:sp>
      <p:pic>
        <p:nvPicPr>
          <p:cNvPr id="6" name="Image 1" descr="QR code linking to stablesaver-web.vercel.app">    </p:cNvPr>
          <p:cNvPicPr>
            <a:picLocks noChangeAspect="1"/>
          </p:cNvPicPr>
          <p:nvPr/>
        </p:nvPicPr>
        <p:blipFill>
          <a:blip r:embed="rId2"/>
          <a:stretch>
            <a:fillRect/>
          </a:stretch>
        </p:blipFill>
        <p:spPr>
          <a:xfrm rot="180000">
            <a:off x="5163160" y="3410712"/>
            <a:ext cx="1865376" cy="1865376"/>
          </a:xfrm>
          <a:prstGeom prst="rect">
            <a:avLst/>
          </a:prstGeom>
        </p:spPr>
      </p:pic>
      <p:sp>
        <p:nvSpPr>
          <p:cNvPr id="7" name="Text 3"/>
          <p:cNvSpPr txBox="1"/>
          <p:nvPr/>
        </p:nvSpPr>
        <p:spPr>
          <a:xfrm>
            <a:off x="0" y="5669280"/>
            <a:ext cx="12191695" cy="256032"/>
          </a:xfrm>
          <a:prstGeom prst="rect">
            <a:avLst/>
          </a:prstGeom>
          <a:noFill/>
          <a:ln/>
        </p:spPr>
        <p:txBody>
          <a:bodyPr wrap="square" lIns="0" tIns="0" rIns="0" bIns="0" rtlCol="0" anchor="t"/>
          <a:lstStyle/>
          <a:p>
            <a:pPr algn="ctr" indent="0" marL="0">
              <a:buNone/>
            </a:pPr>
            <a:r>
              <a:rPr lang="en-US" sz="1100" spc="250" kern="0" dirty="0">
                <a:solidFill>
                  <a:schemeClr val="accent1"/>
                </a:solidFill>
                <a:latin typeface="IBM Plex Mono SemiBold" pitchFamily="34" charset="0"/>
                <a:ea typeface="IBM Plex Mono SemiBold" pitchFamily="34" charset="-122"/>
                <a:cs typeface="IBM Plex Mono SemiBold" pitchFamily="34" charset="-120"/>
              </a:rPr>
              <a:t>SCAN TO TRY IT  ·  STABLESAVER-WEB.VERCEL.APP</a:t>
            </a:r>
            <a:endParaRPr lang="en-US" sz="1100" dirty="0"/>
          </a:p>
        </p:txBody>
      </p:sp>
      <p:sp>
        <p:nvSpPr>
          <p:cNvPr id="8" name="Text 4"/>
          <p:cNvSpPr txBox="1"/>
          <p:nvPr/>
        </p:nvSpPr>
        <p:spPr>
          <a:xfrm>
            <a:off x="2286000" y="5961888"/>
            <a:ext cx="7619695" cy="274320"/>
          </a:xfrm>
          <a:prstGeom prst="rect">
            <a:avLst/>
          </a:prstGeom>
          <a:noFill/>
          <a:ln/>
        </p:spPr>
        <p:txBody>
          <a:bodyPr wrap="square" lIns="0" tIns="0" rIns="0" bIns="0" rtlCol="0" anchor="t"/>
          <a:lstStyle/>
          <a:p>
            <a:pPr algn="ctr" indent="0" marL="0">
              <a:buNone/>
            </a:pPr>
            <a:r>
              <a:rPr lang="en-US" sz="1250" dirty="0">
                <a:solidFill>
                  <a:schemeClr val="bg2"/>
                </a:solidFill>
              </a:rPr>
              <a:t>Feedback welcome on risk scoring, vault security, and which integration to build next.</a:t>
            </a:r>
            <a:endParaRPr lang="en-US" sz="1250" dirty="0"/>
          </a:p>
        </p:txBody>
      </p:sp>
      <p:pic>
        <p:nvPicPr>
          <p:cNvPr id="9" name="sticker-coin" descr="coin sticker">    </p:cNvPr>
          <p:cNvPicPr>
            <a:picLocks noChangeAspect="1"/>
          </p:cNvPicPr>
          <p:nvPr/>
        </p:nvPicPr>
        <p:blipFill>
          <a:blip r:embed="rId3"/>
          <a:stretch>
            <a:fillRect/>
          </a:stretch>
        </p:blipFill>
        <p:spPr>
          <a:xfrm rot="-840000">
            <a:off x="1463040" y="3566160"/>
            <a:ext cx="1463040" cy="1463040"/>
          </a:xfrm>
          <a:prstGeom prst="rect">
            <a:avLst/>
          </a:prstGeom>
        </p:spPr>
      </p:pic>
      <p:pic>
        <p:nvPicPr>
          <p:cNvPr id="10" name="sticker-sprout" descr="sprout sticker">    </p:cNvPr>
          <p:cNvPicPr>
            <a:picLocks noChangeAspect="1"/>
          </p:cNvPicPr>
          <p:nvPr/>
        </p:nvPicPr>
        <p:blipFill>
          <a:blip r:embed="rId4"/>
          <a:stretch>
            <a:fillRect/>
          </a:stretch>
        </p:blipFill>
        <p:spPr>
          <a:xfrm rot="600000">
            <a:off x="2103120" y="822960"/>
            <a:ext cx="1051560" cy="1051560"/>
          </a:xfrm>
          <a:prstGeom prst="rect">
            <a:avLst/>
          </a:prstGeom>
        </p:spPr>
      </p:pic>
      <p:pic>
        <p:nvPicPr>
          <p:cNvPr id="11" name="sticker-piggy" descr="piggy sticker">    </p:cNvPr>
          <p:cNvPicPr>
            <a:picLocks noChangeAspect="1"/>
          </p:cNvPicPr>
          <p:nvPr/>
        </p:nvPicPr>
        <p:blipFill>
          <a:blip r:embed="rId5"/>
          <a:stretch>
            <a:fillRect/>
          </a:stretch>
        </p:blipFill>
        <p:spPr>
          <a:xfrm rot="480000">
            <a:off x="9326880" y="3657600"/>
            <a:ext cx="1554480" cy="1554480"/>
          </a:xfrm>
          <a:prstGeom prst="rect">
            <a:avLst/>
          </a:prstGeom>
        </p:spPr>
      </p:pic>
      <p:pic>
        <p:nvPicPr>
          <p:cNvPr id="12" name="sticker-shield" descr="shield sticker">    </p:cNvPr>
          <p:cNvPicPr>
            <a:picLocks noChangeAspect="1"/>
          </p:cNvPicPr>
          <p:nvPr/>
        </p:nvPicPr>
        <p:blipFill>
          <a:blip r:embed="rId6"/>
          <a:stretch>
            <a:fillRect/>
          </a:stretch>
        </p:blipFill>
        <p:spPr>
          <a:xfrm rot="-360000">
            <a:off x="9692640" y="914400"/>
            <a:ext cx="1051560" cy="1051560"/>
          </a:xfrm>
          <a:prstGeom prst="rect">
            <a:avLst/>
          </a:prstGeom>
        </p:spPr>
      </p:pic>
      <p:pic>
        <p:nvPicPr>
          <p:cNvPr id="13" name="sticker-sparkle" descr="sparkle sticker">    </p:cNvPr>
          <p:cNvPicPr>
            <a:picLocks noChangeAspect="1"/>
          </p:cNvPicPr>
          <p:nvPr/>
        </p:nvPicPr>
        <p:blipFill>
          <a:blip r:embed="rId7"/>
          <a:stretch>
            <a:fillRect/>
          </a:stretch>
        </p:blipFill>
        <p:spPr>
          <a:xfrm>
            <a:off x="7635240" y="3429000"/>
            <a:ext cx="777240" cy="777240"/>
          </a:xfrm>
          <a:prstGeom prst="rect">
            <a:avLst/>
          </a:prstGeom>
        </p:spPr>
      </p:pic>
      <p:sp>
        <p:nvSpPr>
          <p:cNvPr id="14" name="Text 5"/>
          <p:cNvSpPr txBox="1"/>
          <p:nvPr/>
        </p:nvSpPr>
        <p:spPr>
          <a:xfrm>
            <a:off x="10225735" y="6382512"/>
            <a:ext cx="1280160" cy="237744"/>
          </a:xfrm>
          <a:prstGeom prst="rect">
            <a:avLst/>
          </a:prstGeom>
          <a:noFill/>
          <a:ln/>
        </p:spPr>
        <p:txBody>
          <a:bodyPr wrap="square" lIns="0" tIns="0" rIns="0" bIns="0" rtlCol="0" anchor="t"/>
          <a:lstStyle/>
          <a:p>
            <a:pPr algn="r" indent="0" marL="0">
              <a:buNone/>
            </a:pPr>
            <a:r>
              <a:rPr lang="en-US" sz="950" spc="200" kern="0" dirty="0">
                <a:solidFill>
                  <a:srgbClr val="6E6E6E"/>
                </a:solidFill>
                <a:latin typeface="IBM Plex Mono" pitchFamily="34" charset="0"/>
                <a:ea typeface="IBM Plex Mono" pitchFamily="34" charset="-122"/>
                <a:cs typeface="IBM Plex Mono" pitchFamily="34" charset="-120"/>
              </a:rPr>
              <a:t>18 / 18</a:t>
            </a:r>
            <a:endParaRPr lang="en-US" sz="950" dirty="0"/>
          </a:p>
        </p:txBody>
      </p:sp>
    </p:spTree>
  </p:cSld>
  <p:clrMapOvr>
    <a:masterClrMapping/>
  </p:clrMapOvr>
</p:sld>
</file>

<file path=ppt/theme/theme1.xml><?xml version="1.0" encoding="utf-8"?>
<a:theme xmlns:a="http://schemas.openxmlformats.org/drawingml/2006/main" name="Office Theme">
  <a:themeElements>
    <a:clrScheme name="StableSave Scrapbook">
      <a:dk1>
        <a:srgbClr val="1C1C1C"/>
      </a:dk1>
      <a:lt1>
        <a:srgbClr val="F2F2F2"/>
      </a:lt1>
      <a:dk2>
        <a:srgbClr val="262626"/>
      </a:dk2>
      <a:lt2>
        <a:srgbClr val="A3A3A3"/>
      </a:lt2>
      <a:accent1>
        <a:srgbClr val="3DDC97"/>
      </a:accent1>
      <a:accent2>
        <a:srgbClr val="F2C14E"/>
      </a:accent2>
      <a:accent3>
        <a:srgbClr val="EE8A43"/>
      </a:accent3>
      <a:accent4>
        <a:srgbClr val="A47CF3"/>
      </a:accent4>
      <a:accent5>
        <a:srgbClr val="2F2F2F"/>
      </a:accent5>
      <a:accent6>
        <a:srgbClr val="3D3D3D"/>
      </a:accent6>
      <a:hlink>
        <a:srgbClr val="3DDC97"/>
      </a:hlink>
      <a:folHlink>
        <a:srgbClr val="A47CF3"/>
      </a:folHlink>
    </a:clrScheme>
    <a:fontScheme name="Office">
      <a:majorFont>
        <a:latin typeface="Anton"/>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chivo"/>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StableSave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StableSave — Demo Day</dc:title>
  <dc:subject>Stablecoin yield intelligence and a Solana vault prototype</dc:subject>
  <dc:creator>Theo</dc:creator>
  <cp:lastModifiedBy>Theo</cp:lastModifiedBy>
  <cp:revision>1</cp:revision>
  <dcterms:created xsi:type="dcterms:W3CDTF">2026-10-14T08:04:26Z</dcterms:created>
  <dcterms:modified xsi:type="dcterms:W3CDTF">2026-10-14T08:04:26Z</dcterms:modified>
</cp:coreProperties>
</file>