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453872c-6fd8-945c-c1c9-3dcc2cdc4c14}">
          <p14:sldIdLst>
            <p14:sldId id="256"/>
            <p14:sldId id="257"/>
          </p14:sldIdLst>
        </p14:section>
        <p14:section name="Product" id="{54ef1a65-c51b-428d-7dda-d7ddf3b7cfe8}">
          <p14:sldIdLst>
            <p14:sldId id="258"/>
            <p14:sldId id="259"/>
            <p14:sldId id="260"/>
            <p14:sldId id="261"/>
          </p14:sldIdLst>
        </p14:section>
        <p14:section name="Solana vault" id="{526e2912-d717-85f4-07f3-097ecd53b137}">
          <p14:sldIdLst>
            <p14:sldId id="262"/>
            <p14:sldId id="263"/>
          </p14:sldIdLst>
        </p14:section>
        <p14:section name="Demo" id="{03abe777-2233-3fd1-8de9-28cac553ca9c}">
          <p14:sldIdLst>
            <p14:sldId id="264"/>
          </p14:sldIdLst>
        </p14:section>
        <p14:section name="Status and roadmap" id="{81df5f95-40d1-b7b6-d3a3-0e4a14f5bddb}">
          <p14:sldIdLst>
            <p14:sldId id="265"/>
            <p14:sldId id="266"/>
          </p14:sldIdLst>
        </p14:section>
        <p14:section name="Close" id="{570b196b-66eb-3baf-1b53-80315b03eb2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9945FF"/>
            </a:solidFill>
            <a:effectLst/>
          </c:spPr>
          <c:invertIfNegative val="0"/>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cat>
            <c:multiLvlStrRef>
              <c:f>Sheet1!$A$2:$A$10</c:f>
              <c:multiLvlStrCache>
                <c:ptCount val="9"/>
                <c:lvl>
                  <c:pt idx="0">
                    <c:v>Yield stability</c:v>
                  </c:pt>
                  <c:pt idx="1">
                    <c:v>Concentration</c:v>
                  </c:pt>
                  <c:pt idx="2">
                    <c:v>Oracle dependencies</c:v>
                  </c:pt>
                  <c:pt idx="3">
                    <c:v>Strategy complexity</c:v>
                  </c:pt>
                  <c:pt idx="4">
                    <c:v>Incident history</c:v>
                  </c:pt>
                  <c:pt idx="5">
                    <c:v>Liquidity</c:v>
                  </c:pt>
                  <c:pt idx="6">
                    <c:v>Total value locked</c:v>
                  </c:pt>
                  <c:pt idx="7">
                    <c:v>Smart contract security</c:v>
                  </c:pt>
                  <c:pt idx="8">
                    <c:v>Protocol maturity</c:v>
                  </c:pt>
                </c:lvl>
              </c:multiLvlStrCache>
            </c:multiLvlStrRef>
          </c:cat>
          <c:val>
            <c:numRef>
              <c:f>Sheet1!$B$2:$B$10</c:f>
              <c:numCache>
                <c:formatCode>General</c:formatCode>
                <c:ptCount val="9"/>
                <c:pt idx="0">
                  <c:v>8</c:v>
                </c:pt>
                <c:pt idx="1">
                  <c:v>9</c:v>
                </c:pt>
                <c:pt idx="2">
                  <c:v>9</c:v>
                </c:pt>
                <c:pt idx="3">
                  <c:v>10</c:v>
                </c:pt>
                <c:pt idx="4">
                  <c:v>12</c:v>
                </c:pt>
                <c:pt idx="5">
                  <c:v>12</c:v>
                </c:pt>
                <c:pt idx="6">
                  <c:v>12</c:v>
                </c:pt>
                <c:pt idx="7">
                  <c:v>14</c:v>
                </c:pt>
                <c:pt idx="8">
                  <c:v>14</c:v>
                </c:pt>
              </c:numCache>
            </c:numRef>
          </c:val>
        </c:ser>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F5F7FB"/>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20 seconds.
Key message: StableSave helps people see the risk and the real return before they chase a headline rate.
Talking points:
- Hi, I'm Theo. This is StableSave.
- It has two parts, and I'll keep them separate all the way through: a comparison app that is live today, and a Solana vault that is a devnet prototype.
- One line to remember: know the risk before you chase the yield.
Transition: Let's start with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the headline rate is the easy part. The risk and the costs behind it are the hard part.
Talking points:
- If you hold USDC or USDT, finding a rate is easy. Every app shows you one big number.
- What's hard is everything behind it: options are spread across many protocols and networks.
- A higher APY can simply mean more risk.
- Network fees can wipe out the return on a small deposit. I'll show a real example in a minute.
- Security, liquidity, how long a protocol has been live, and how complex its strategy is are all hard to compare.
- Beginners don't have a framework for any of it.
Note: no market statistics on this slide on purpose. The left card is a concept, not a real pool.
Transition: So here's what StableSave does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one screen shows the rate, the risk grade, and what you'd actually keep after fees.
Talking points:
- You type an amount and choose a stablecoin. You pick how much risk you're comfortable with: Play it safe, Balanced, or Go bigger.
- StableSave ranks the options, gives each one an A to D grade with its reasons, and shows estimated earnings after network fees.
- When you're ready, it sends you to the protocol's official app. You deposit from your own wallet.
- Two promises: no wallet or sign-up just to compare, and StableSave never holds anyone's money in this flow.
Honesty note: this screenshot is the real interface running locally with demo data, so the numbers are illustrative. The live site shows live DefiLlama data.
Transition: Let me walk through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45 seconds.
Key message: in a few clicks you go from a balance to a ranked, graded, fee-adjusted choice.
Walk the numbers on the slide:
1. Enter the amount and stablecoin. Here, $1,000 of USDC.
2. Pick a risk preference. Balanced is selected.
3. Options are ranked for that preference.
4. Every row shows its A to D grade, network and deposits, plus the rate and a yearly estimate.
5. Open any option: you get 30 or 90 days of daily rate history, so you can see whether today's rate is normal.
6. And what $1,000 could earn after the network fees to get in and out.
The detail panel then explains the grade factor by factor ("How risky is it?"), adds a plain risk warning, steps to deposit safely, and quick facts. Note: the review guide calls these "Why this grade?" and "What could go wrong?". The current interface uses the new headings.
Honesty: the worked example uses demo data. Say "estimated" every time. Rates change.
Transition: The grade is the core of this, so here's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Key message: the grade can't be gamed by one shiny number, because the weakest factor always counts.
Talking points:
- Every option gets a score from 0 to 100 across nine factors. The biggest weights are protocol maturity and smart contract security at 14% each. Yield stability is the smallest at 8%.
- 75% of the score is the weighted average. The other 25% is the single weakest factor. That's deliberate: one bad area should pull the grade down.
- Scores map to grades: A is 80 and above, B 65 to 79, C 50 to 64, D below 50.
- Hard caps override the number. No public audits, unrepaid losses or a first-loss insurance fund: at most C. Live under six months, or one key can change the code: at most C+. 98% or more lent out: at most B minus. Three or more unverified inputs: at most B.
- If the data doesn't cover an input, it's labelled Not verified and scored cautiously. Never guessed.
The example is from the demo data on screen: an average of 81 would be an A, but concentration scores 37, so the final score is 70, a B. (0.75 x 81 + 0.25 x 37 = 70.)
Be honest if asked: the weights are my judgement. I haven't back-tested them against past exploits yet. That's on the roadmap.
Transition: The other half of a good decision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a good rate on an expensive network can lose you money on a small deposit.
Talking points:
- This is the example from my review guide: enter $100 and filter to Ethereum.
- At 4.10%, $100 earns about $4.10 in a year. StableSave's estimate for getting in and out on Ethereum is about $12. So you'd be $7.90 down, and the app marks the option: "Fees cost more than you'd earn".
- The same rate on Solana, where the estimate is about two cents, keeps about $4.08.
- That's why ranking uses yield after fees, so small deposits aren't sent to expensive networks.
Be precise: the screenshot uses demo data, and the Solana row is an illustration at the same rate. Network fees are fixed per-network estimates for one deposit and one withdrawal, not live gas prices. Bridging costs aren't counted yet.
Transition: That's the comparison app, which is live. Now the second, separate part: the Solana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SAY THIS CLEARLY: this is a separate component, and it's a devnet prototype. It does not earn yield and it is not audited.
Key message: the rules of the vault are enforced on-chain by the program, not by the website.
Talking points:
- The vault is one Anchor program on Solana devnet with 13 instructions.
- It uses three kinds of account. These are PDAs: program-derived addresses, which only the program can sign for.
  - Vault: the settings. Who the admins are, the limits, the strategy weights, the share totals. One per token and risk level.
  - Reserve: holds the deposited tokens. Only the vault can sign a transfer out.
  - UserPosition: one depositor's shares and any pending withdrawal.
- The user signs a deposit or a withdrawal from their wallet. The program checks it's not paused, the deposit is at least the minimum and under the cap, and the withdrawal fits the instant limits. Anything larger goes through a 30-minute timelock.
- Two admin roles: the authority changes settings and is the only one who can unpause. The guardian can only pause.
Do NOT claim: that deposits earn yield, that funds go to Kamino, MarginFi, Drift or Save yet, or that it's audited. The allocator isn't built; deposits stay in the reserve.
Transition: Each of those controls is a trade-off, so let me be explicit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every control buys safety with something else, and I can name the cost of each one.
Talking points (pick three, don't read all eight):
- Two instant-withdrawal limits: 2,000 per wallet and 50,000 per vault every 24 hours. They limit the damage from a stolen wallet and slow a bank run. The cost: large withdrawals are slower.
- Above the limits there's a 30-minute timelock: time to react before a big outflow. The cost: users wait.
- The guardian can pause; only the authority can unpause. A fast emergency stop that one key can't abuse. The cost: today there's no escape hatch if the vault stays paused.
- Shares use 1,000 virtual shares and 1 virtual asset, so the first depositor can't inflate the share price. The cost: tiny rounding losses.
- Only the program's upgrade authority can create vaults, so nobody can front-run vault creation. The cost: that's a single powerful key.
- Tests: 10 unit and 5 integration tests run against the compiled program on every change, and an automated job deploys it to a local test network and makes a real deposit and withdrawal.
Do NOT call it audited or production-ready. Bottom line on the slide: devnet only.
Transition: Enough slides. Let's look at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seconds for the slide; the live demo itself takes 3 to 4 minutes if there's time. If time is short, skip Part B and show this slide only.
SAY: Part A is live. Part B is a devnet prototype. Keep them separate.
PART A — live comparison app (stablesaver-web.vercel.app)
1. Open the site. Point out: no wallet or sign-up.
2. Type an amount, e.g. $1,000, USDC.
3. Click Play it safe, then Balanced, then Go bigger. The recommendation and the list change.
4. Open the top option. Show the rate chart (drag across it), then "How risky is it?": the grade and each factor.
5. Show "What $1,000 could earn" and "You'd keep in a year" after network fees.
6. Type $100 and pick the Ethereum chip. If the live data still shows it, an option is marked "Fees cost more than you'd earn". If it doesn't, say so and move on.
PART B — devnet vault
Before the talk: Vercel has the three devnet variables set and redeployed; Solflare is on devnet with test tokens and a little devnet SOL; do one dry run.
1. Show the wallet is on devnet (Solflare: Settings, Network, Devnet).
2. Open Vault. The badge should say Devnet, not Preview.
3. Connect the wallet.
4. Deposit some test tokens; approve in the wallet.
5. Show the position.
6. Withdraw more than 2,000: 2,000 arrives now, the rest is requested and unlocks in 30 minutes. Don't wait for it live.
Say out loud: devnet tokens have no value, and the vault doesn't deploy funds into Kamino or the others yet, so nothing earns here.
Backup if the network fails: use these screenshots and the recorded run if you made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I know exactly what's real, what's experimental and what's missing. That's a strength, not an apology.
Talking points:
- Live today: the comparison, DefiLlama-backed pool data, the grades with their reasons, fee-adjusted estimates, and an optional API (/v1/opportunities, /v1/estimate, /v1/strategies).
- Devnet prototype: the Anchor vault with deposits, shares, withdrawal limits, the timelock, pause and authority controls.
- Not yet: the allocator, so the vault earns nothing. Deployed balances must be read on-chain. Today deployed_assets is zero, and if an admin reported it, the share price would be whatever the admin says. That's why it has to be on-chain. And no production security assurances: no audit.
- Other limits: one data source, fixed fee estimates, weights that are my judgement and not back-tested, ranking on today's APY rather than the 30-day average, bridging not modelled, and admin and upgrade-key risk.
Transition: Here's the order I'll fix them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30 seconds.
Key message: the roadmap goes straight at the weaknesses I just listed. Safety first, then the feature that makes the vault real.
Talking points:
- Phase 1, safety: an escape hatch so withdrawals reopen if a vault stays paused too long; close_position to refund account rent; fuzz testing the share math and withdrawal limits.
- Phase 2, recommendations: rank on the 30-day average instead of today's rate; flag options that need funds moved between networks; back-test the grades against past exploits.
- Phase 3, the vault: one real Kamino lending integration, tested against the real Kamino program on a local validator, with the deployed balance read on-chain.
- Phase 4: a multisig authority and a delay on strategy changes, then Solana Actions and Blinks, rate and grade alerts, a read-only portfolio view, and more tokens such as USDT and Token-2022.
All of this is planned, none of it is built yet. Don't give dates you can't commit to.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25 seconds, then questions.
Key message: StableSave makes yield easier to understand before it makes yield easier to chase.
Talking points:
- Three things: simpler comparison across yield options; risk grades that show the trade-offs; and a separate Solana vault prototype that explores controlled deposits and withdrawals.
- Scan the code to try it. No wallet needed.
- I'd love feedback on three things: the risk scoring, the vault's security model, and which integration I should build next.
- Close: StableSave. Know the risk before you chase the yield. Thank you.
Likely questions and honest answers:
- Does the vault earn yield? Not yet. Deposits stay in the reserve; the Kamino allocator is the next major build.
- Is it audited? No. It's a devnet prototype.
- Who controls the vault? One authority key today, plus a guardian that can only pause. A multisig and a delay on strategy changes are planned.
- Why trust the grades? They're transparent: every factor and its reason is shown, and unknowns lower the grade. The weights are my judgement and not back-tested yet.
- Why only DefiLlama? It covers every network without an API key. The trade-off is a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548640" y="6400800"/>
            <a:ext cx="182880" cy="182880"/>
          </a:xfrm>
          <a:prstGeom prst="rect">
            <a:avLst/>
          </a:prstGeom>
        </p:spPr>
      </p:pic>
      <p:sp>
        <p:nvSpPr>
          <p:cNvPr id="3" name="Text 0"/>
          <p:cNvSpPr/>
          <p:nvPr/>
        </p:nvSpPr>
        <p:spPr>
          <a:xfrm>
            <a:off x="822960" y="6373368"/>
            <a:ext cx="3657600" cy="237744"/>
          </a:xfrm>
          <a:prstGeom prst="rect">
            <a:avLst/>
          </a:prstGeom>
          <a:noFill/>
          <a:ln/>
        </p:spPr>
        <p:txBody>
          <a:bodyPr wrap="square" lIns="0" tIns="0" rIns="0" bIns="0" rtlCol="0" anchor="ctr"/>
          <a:lstStyle/>
          <a:p>
            <a:pPr indent="0" marL="0">
              <a:buNone/>
            </a:pPr>
            <a:r>
              <a:rPr lang="en-US" sz="1000" dirty="0">
                <a:solidFill>
                  <a:schemeClr val="bg2"/>
                </a:solidFill>
              </a:rPr>
              <a:t>StableSave · Demo Day</a:t>
            </a:r>
            <a:endParaRPr lang="en-US" sz="1000" dirty="0"/>
          </a:p>
        </p:txBody>
      </p:sp>
      <p:sp>
        <p:nvSpPr>
          <p:cNvPr id="4" name="Text 1"/>
          <p:cNvSpPr/>
          <p:nvPr>
            <p:ph idx="102" type="title" hasCustomPrompt="1"/>
          </p:nvPr>
        </p:nvSpPr>
        <p:spPr>
          <a:xfrm>
            <a:off x="548640" y="384048"/>
            <a:ext cx="11094415" cy="1051560"/>
          </a:xfrm>
          <a:prstGeom prst="rect">
            <a:avLst/>
          </a:prstGeom>
          <a:noFill/>
          <a:ln/>
        </p:spPr>
        <p:txBody>
          <a:bodyPr wrap="square" rtlCol="0"/>
          <a:lstStyle>
            <a:lvl1pPr algn="l" indent="0" marL="0">
              <a:lnSpc>
                <a:spcPct val="95000"/>
              </a:lnSpc>
              <a:buNone/>
              <a:defRPr lang="en-US" sz="3200" b="1" dirty="0">
                <a:solidFill>
                  <a:schemeClr val="bg1"/>
                </a:solidFill>
              </a:defRPr>
            </a:lvl1pPr>
          </a:lstStyle>
          <a:p>
            <a:pPr algn="l" indent="0" marL="0">
              <a:lnSpc>
                <a:spcPct val="95000"/>
              </a:lnSpc>
              <a:buNone/>
            </a:pPr>
            <a:endParaRPr lang="en-US" sz="3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tableSave logo">    </p:cNvPr>
          <p:cNvPicPr>
            <a:picLocks noChangeAspect="1"/>
          </p:cNvPicPr>
          <p:nvPr/>
        </p:nvPicPr>
        <p:blipFill>
          <a:blip r:embed="rId1"/>
          <a:stretch>
            <a:fillRect/>
          </a:stretch>
        </p:blipFill>
        <p:spPr>
          <a:xfrm>
            <a:off x="548640" y="566928"/>
            <a:ext cx="3012141" cy="384048"/>
          </a:xfrm>
          <a:prstGeom prst="rect">
            <a:avLst/>
          </a:prstGeom>
        </p:spPr>
      </p:pic>
      <p:sp>
        <p:nvSpPr>
          <p:cNvPr id="3" name="descriptor"/>
          <p:cNvSpPr txBox="1"/>
          <p:nvPr/>
        </p:nvSpPr>
        <p:spPr>
          <a:xfrm>
            <a:off x="548640" y="1874520"/>
            <a:ext cx="7315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STABLECOIN YIELD INTELLIGENCE  +  SOLANA VAULT PROTOTYPE</a:t>
            </a:r>
            <a:endParaRPr lang="en-US" sz="1100" dirty="0"/>
          </a:p>
        </p:txBody>
      </p:sp>
      <p:sp>
        <p:nvSpPr>
          <p:cNvPr id="4" name="headline"/>
          <p:cNvSpPr txBox="1"/>
          <p:nvPr/>
        </p:nvSpPr>
        <p:spPr>
          <a:xfrm>
            <a:off x="548640" y="2240280"/>
            <a:ext cx="6949440" cy="1920240"/>
          </a:xfrm>
          <a:prstGeom prst="rect">
            <a:avLst/>
          </a:prstGeom>
          <a:noFill/>
          <a:ln/>
        </p:spPr>
        <p:txBody>
          <a:bodyPr wrap="square" lIns="0" tIns="0" rIns="0" bIns="0" rtlCol="0" anchor="t"/>
          <a:lstStyle/>
          <a:p>
            <a:pPr indent="0" marL="0">
              <a:lnSpc>
                <a:spcPct val="92000"/>
              </a:lnSpc>
              <a:buNone/>
            </a:pPr>
            <a:r>
              <a:rPr lang="en-US" sz="5200" b="1" dirty="0">
                <a:solidFill>
                  <a:schemeClr val="bg1"/>
                </a:solidFill>
              </a:rPr>
              <a:t>Know the risk before you </a:t>
            </a:r>
            <a:pPr indent="0" marL="0">
              <a:lnSpc>
                <a:spcPct val="92000"/>
              </a:lnSpc>
              <a:buNone/>
            </a:pPr>
            <a:r>
              <a:rPr lang="en-US" sz="5200" b="1" dirty="0">
                <a:solidFill>
                  <a:schemeClr val="accent2"/>
                </a:solidFill>
              </a:rPr>
              <a:t>chase the yield.</a:t>
            </a:r>
            <a:endParaRPr lang="en-US" sz="5200" dirty="0"/>
          </a:p>
        </p:txBody>
      </p:sp>
      <p:sp>
        <p:nvSpPr>
          <p:cNvPr id="5" name="subhead"/>
          <p:cNvSpPr txBox="1"/>
          <p:nvPr/>
        </p:nvSpPr>
        <p:spPr>
          <a:xfrm>
            <a:off x="548640" y="4343400"/>
            <a:ext cx="5852160" cy="822960"/>
          </a:xfrm>
          <a:prstGeom prst="rect">
            <a:avLst/>
          </a:prstGeom>
          <a:noFill/>
          <a:ln/>
        </p:spPr>
        <p:txBody>
          <a:bodyPr wrap="square" lIns="0" tIns="0" rIns="0" bIns="0" rtlCol="0" anchor="t"/>
          <a:lstStyle/>
          <a:p>
            <a:pPr indent="0" marL="0">
              <a:lnSpc>
                <a:spcPct val="115000"/>
              </a:lnSpc>
              <a:buNone/>
            </a:pPr>
            <a:r>
              <a:rPr lang="en-US" sz="1800" dirty="0">
                <a:solidFill>
                  <a:schemeClr val="bg2"/>
                </a:solidFill>
              </a:rPr>
              <a:t>A simpler way to compare stablecoin yield opportunities, understand risk, and see what remains after fees.</a:t>
            </a:r>
            <a:endParaRPr lang="en-US" sz="1800" dirty="0"/>
          </a:p>
        </p:txBody>
      </p:sp>
      <p:sp>
        <p:nvSpPr>
          <p:cNvPr id="6" name="presenter"/>
          <p:cNvSpPr txBox="1"/>
          <p:nvPr/>
        </p:nvSpPr>
        <p:spPr>
          <a:xfrm>
            <a:off x="548640" y="5715000"/>
            <a:ext cx="5486400" cy="548640"/>
          </a:xfrm>
          <a:prstGeom prst="rect">
            <a:avLst/>
          </a:prstGeom>
          <a:noFill/>
          <a:ln/>
        </p:spPr>
        <p:txBody>
          <a:bodyPr wrap="square" lIns="0" tIns="0" rIns="0" bIns="0" rtlCol="0" anchor="t"/>
          <a:lstStyle/>
          <a:p>
            <a:pPr indent="0" marL="0">
              <a:buNone/>
            </a:pPr>
            <a:r>
              <a:rPr lang="en-US" sz="1300" b="1" dirty="0">
                <a:solidFill>
                  <a:schemeClr val="bg1"/>
                </a:solidFill>
              </a:rPr>
              <a:t>Theo</a:t>
            </a:r>
            <a:endParaRPr lang="en-US" sz="1300" dirty="0"/>
          </a:p>
          <a:p>
            <a:pPr indent="0" marL="0">
              <a:buNone/>
            </a:pPr>
            <a:r>
              <a:rPr lang="en-US" sz="1300" dirty="0">
                <a:solidFill>
                  <a:schemeClr val="bg2"/>
                </a:solidFill>
              </a:rPr>
              <a:t>Demo Day · stablesaver-web.vercel.app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Finding yield is easy.</a:t>
            </a:r>
            <a:endParaRPr lang="en-US" sz="3200" dirty="0"/>
          </a:p>
          <a:p>
            <a:pPr algn="l" indent="0" marL="0">
              <a:lnSpc>
                <a:spcPct val="95000"/>
              </a:lnSpc>
              <a:buNone/>
            </a:pPr>
            <a:r>
              <a:rPr lang="en-US" sz="3200" b="1" dirty="0">
                <a:solidFill>
                  <a:schemeClr val="bg1"/>
                </a:solidFill>
              </a:rPr>
              <a:t>Knowing what you're taking on is harder</a:t>
            </a:r>
            <a:endParaRPr lang="en-US" sz="3200" dirty="0"/>
          </a:p>
        </p:txBody>
      </p:sp>
      <p:sp>
        <p:nvSpPr>
          <p:cNvPr id="3" name="seen-card"/>
          <p:cNvSpPr/>
          <p:nvPr/>
        </p:nvSpPr>
        <p:spPr>
          <a:xfrm>
            <a:off x="548640" y="1618488"/>
            <a:ext cx="4206240" cy="4526280"/>
          </a:xfrm>
          <a:prstGeom prst="roundRect">
            <a:avLst>
              <a:gd name="adj" fmla="val 3043"/>
            </a:avLst>
          </a:prstGeom>
          <a:solidFill>
            <a:schemeClr val="tx2"/>
          </a:solidFill>
          <a:ln w="9525">
            <a:solidFill>
              <a:schemeClr val="accent6"/>
            </a:solidFill>
            <a:prstDash val="solid"/>
          </a:ln>
        </p:spPr>
      </p:sp>
      <p:sp>
        <p:nvSpPr>
          <p:cNvPr id="4" name="Text 2"/>
          <p:cNvSpPr txBox="1"/>
          <p:nvPr/>
        </p:nvSpPr>
        <p:spPr>
          <a:xfrm>
            <a:off x="914400" y="1984248"/>
            <a:ext cx="3474720" cy="274320"/>
          </a:xfrm>
          <a:prstGeom prst="rect">
            <a:avLst/>
          </a:prstGeom>
          <a:noFill/>
          <a:ln/>
        </p:spPr>
        <p:txBody>
          <a:bodyPr wrap="square" lIns="0" tIns="0" rIns="0" bIns="0" rtlCol="0" anchor="t"/>
          <a:lstStyle/>
          <a:p>
            <a:pPr indent="0" marL="0">
              <a:buNone/>
            </a:pPr>
            <a:r>
              <a:rPr lang="en-US" sz="1100" b="1" spc="200" kern="0" dirty="0">
                <a:solidFill>
                  <a:schemeClr val="bg2"/>
                </a:solidFill>
              </a:rPr>
              <a:t>WHAT YOU SEE</a:t>
            </a:r>
            <a:endParaRPr lang="en-US" sz="1100" dirty="0"/>
          </a:p>
        </p:txBody>
      </p:sp>
      <p:sp>
        <p:nvSpPr>
          <p:cNvPr id="5" name="Text 3"/>
          <p:cNvSpPr txBox="1"/>
          <p:nvPr/>
        </p:nvSpPr>
        <p:spPr>
          <a:xfrm>
            <a:off x="914400" y="2441448"/>
            <a:ext cx="3474720" cy="548640"/>
          </a:xfrm>
          <a:prstGeom prst="rect">
            <a:avLst/>
          </a:prstGeom>
          <a:noFill/>
          <a:ln/>
        </p:spPr>
        <p:txBody>
          <a:bodyPr wrap="square" lIns="0" tIns="0" rIns="0" bIns="0" rtlCol="0" anchor="t"/>
          <a:lstStyle/>
          <a:p>
            <a:pPr indent="0" marL="0">
              <a:buNone/>
            </a:pPr>
            <a:r>
              <a:rPr lang="en-US" sz="3000" b="1" dirty="0">
                <a:solidFill>
                  <a:schemeClr val="accent2"/>
                </a:solidFill>
              </a:rPr>
              <a:t>A big APY</a:t>
            </a:r>
            <a:endParaRPr lang="en-US" sz="3000" dirty="0"/>
          </a:p>
        </p:txBody>
      </p:sp>
      <p:sp>
        <p:nvSpPr>
          <p:cNvPr id="6" name="Text 4"/>
          <p:cNvSpPr txBox="1"/>
          <p:nvPr/>
        </p:nvSpPr>
        <p:spPr>
          <a:xfrm>
            <a:off x="914400" y="3035808"/>
            <a:ext cx="3474720" cy="640080"/>
          </a:xfrm>
          <a:prstGeom prst="rect">
            <a:avLst/>
          </a:prstGeom>
          <a:noFill/>
          <a:ln/>
        </p:spPr>
        <p:txBody>
          <a:bodyPr wrap="square" lIns="0" tIns="0" rIns="0" bIns="0" rtlCol="0" anchor="t"/>
          <a:lstStyle/>
          <a:p>
            <a:pPr indent="0" marL="0">
              <a:buNone/>
            </a:pPr>
            <a:r>
              <a:rPr lang="en-US" sz="1500" dirty="0">
                <a:solidFill>
                  <a:schemeClr val="bg1"/>
                </a:solidFill>
              </a:rPr>
              <a:t>One number on a dashboard, usually the highest one.</a:t>
            </a:r>
            <a:endParaRPr lang="en-US" sz="1500" dirty="0"/>
          </a:p>
        </p:txBody>
      </p:sp>
      <p:pic>
        <p:nvPicPr>
          <p:cNvPr id="7" name="Image 0" descr="Rising line icon">    </p:cNvPr>
          <p:cNvPicPr>
            <a:picLocks noChangeAspect="1"/>
          </p:cNvPicPr>
          <p:nvPr/>
        </p:nvPicPr>
        <p:blipFill>
          <a:blip r:embed="rId1"/>
          <a:stretch>
            <a:fillRect/>
          </a:stretch>
        </p:blipFill>
        <p:spPr>
          <a:xfrm>
            <a:off x="914400" y="3950208"/>
            <a:ext cx="1143000" cy="1143000"/>
          </a:xfrm>
          <a:prstGeom prst="rect">
            <a:avLst/>
          </a:prstGeom>
        </p:spPr>
      </p:pic>
      <p:sp>
        <p:nvSpPr>
          <p:cNvPr id="8" name="Text 5"/>
          <p:cNvSpPr txBox="1"/>
          <p:nvPr/>
        </p:nvSpPr>
        <p:spPr>
          <a:xfrm>
            <a:off x="914400" y="5596128"/>
            <a:ext cx="3474720" cy="274320"/>
          </a:xfrm>
          <a:prstGeom prst="rect">
            <a:avLst/>
          </a:prstGeom>
          <a:noFill/>
          <a:ln/>
        </p:spPr>
        <p:txBody>
          <a:bodyPr wrap="square" lIns="0" tIns="0" rIns="0" bIns="0" rtlCol="0" anchor="t"/>
          <a:lstStyle/>
          <a:p>
            <a:pPr indent="0" marL="0">
              <a:buNone/>
            </a:pPr>
            <a:r>
              <a:rPr lang="en-US" sz="1000" i="1" dirty="0">
                <a:solidFill>
                  <a:schemeClr val="bg2"/>
                </a:solidFill>
              </a:rPr>
              <a:t>Conceptual illustration</a:t>
            </a:r>
            <a:endParaRPr lang="en-US" sz="1000" dirty="0"/>
          </a:p>
        </p:txBody>
      </p:sp>
      <p:sp>
        <p:nvSpPr>
          <p:cNvPr id="9" name="Text 6"/>
          <p:cNvSpPr txBox="1"/>
          <p:nvPr/>
        </p:nvSpPr>
        <p:spPr>
          <a:xfrm>
            <a:off x="5074920" y="1636776"/>
            <a:ext cx="6568135"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WHAT YOU TAKE ON</a:t>
            </a:r>
            <a:endParaRPr lang="en-US" sz="1100" dirty="0"/>
          </a:p>
        </p:txBody>
      </p:sp>
      <p:sp>
        <p:nvSpPr>
          <p:cNvPr id="10" name="risk-0"/>
          <p:cNvSpPr/>
          <p:nvPr/>
        </p:nvSpPr>
        <p:spPr>
          <a:xfrm>
            <a:off x="5074920" y="2029968"/>
            <a:ext cx="6568135" cy="786384"/>
          </a:xfrm>
          <a:prstGeom prst="roundRect">
            <a:avLst>
              <a:gd name="adj" fmla="val 13953"/>
            </a:avLst>
          </a:prstGeom>
          <a:solidFill>
            <a:schemeClr val="tx2"/>
          </a:solidFill>
          <a:ln w="9525">
            <a:solidFill>
              <a:schemeClr val="accent6"/>
            </a:solidFill>
            <a:prstDash val="solid"/>
          </a:ln>
        </p:spPr>
      </p:sp>
      <p:pic>
        <p:nvPicPr>
          <p:cNvPr id="11" name="Image 1" descr="Scattered">    </p:cNvPr>
          <p:cNvPicPr>
            <a:picLocks noChangeAspect="1"/>
          </p:cNvPicPr>
          <p:nvPr/>
        </p:nvPicPr>
        <p:blipFill>
          <a:blip r:embed="rId2"/>
          <a:stretch>
            <a:fillRect/>
          </a:stretch>
        </p:blipFill>
        <p:spPr>
          <a:xfrm>
            <a:off x="5303520" y="2240280"/>
            <a:ext cx="365760" cy="365760"/>
          </a:xfrm>
          <a:prstGeom prst="rect">
            <a:avLst/>
          </a:prstGeom>
        </p:spPr>
      </p:pic>
      <p:sp>
        <p:nvSpPr>
          <p:cNvPr id="12" name="Text 8"/>
          <p:cNvSpPr txBox="1"/>
          <p:nvPr/>
        </p:nvSpPr>
        <p:spPr>
          <a:xfrm>
            <a:off x="5852160" y="2157984"/>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Scattered</a:t>
            </a:r>
            <a:endParaRPr lang="en-US" sz="1600" dirty="0"/>
          </a:p>
        </p:txBody>
      </p:sp>
      <p:sp>
        <p:nvSpPr>
          <p:cNvPr id="13" name="Text 9"/>
          <p:cNvSpPr txBox="1"/>
          <p:nvPr/>
        </p:nvSpPr>
        <p:spPr>
          <a:xfrm>
            <a:off x="8046720" y="2157984"/>
            <a:ext cx="3413455" cy="548640"/>
          </a:xfrm>
          <a:prstGeom prst="rect">
            <a:avLst/>
          </a:prstGeom>
          <a:noFill/>
          <a:ln/>
        </p:spPr>
        <p:txBody>
          <a:bodyPr wrap="square" lIns="0" tIns="0" rIns="0" bIns="0" rtlCol="0" anchor="ctr"/>
          <a:lstStyle/>
          <a:p>
            <a:pPr indent="0" marL="0">
              <a:buNone/>
            </a:pPr>
            <a:r>
              <a:rPr lang="en-US" sz="1400" dirty="0">
                <a:solidFill>
                  <a:schemeClr val="bg2"/>
                </a:solidFill>
              </a:rPr>
              <a:t>Options sit across many protocols and networks.</a:t>
            </a:r>
            <a:endParaRPr lang="en-US" sz="1400" dirty="0"/>
          </a:p>
        </p:txBody>
      </p:sp>
      <p:sp>
        <p:nvSpPr>
          <p:cNvPr id="14" name="risk-1"/>
          <p:cNvSpPr/>
          <p:nvPr/>
        </p:nvSpPr>
        <p:spPr>
          <a:xfrm>
            <a:off x="5074920" y="2871216"/>
            <a:ext cx="6568135" cy="786384"/>
          </a:xfrm>
          <a:prstGeom prst="roundRect">
            <a:avLst>
              <a:gd name="adj" fmla="val 13953"/>
            </a:avLst>
          </a:prstGeom>
          <a:solidFill>
            <a:schemeClr val="tx2"/>
          </a:solidFill>
          <a:ln w="9525">
            <a:solidFill>
              <a:schemeClr val="accent6"/>
            </a:solidFill>
            <a:prstDash val="solid"/>
          </a:ln>
        </p:spPr>
      </p:sp>
      <p:pic>
        <p:nvPicPr>
          <p:cNvPr id="15" name="Image 2" descr="Higher isn't better">    </p:cNvPr>
          <p:cNvPicPr>
            <a:picLocks noChangeAspect="1"/>
          </p:cNvPicPr>
          <p:nvPr/>
        </p:nvPicPr>
        <p:blipFill>
          <a:blip r:embed="rId3"/>
          <a:stretch>
            <a:fillRect/>
          </a:stretch>
        </p:blipFill>
        <p:spPr>
          <a:xfrm>
            <a:off x="5303520" y="3081528"/>
            <a:ext cx="365760" cy="365760"/>
          </a:xfrm>
          <a:prstGeom prst="rect">
            <a:avLst/>
          </a:prstGeom>
        </p:spPr>
      </p:pic>
      <p:sp>
        <p:nvSpPr>
          <p:cNvPr id="16" name="Text 11"/>
          <p:cNvSpPr txBox="1"/>
          <p:nvPr/>
        </p:nvSpPr>
        <p:spPr>
          <a:xfrm>
            <a:off x="5852160" y="2999232"/>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Higher isn't better</a:t>
            </a:r>
            <a:endParaRPr lang="en-US" sz="1600" dirty="0"/>
          </a:p>
        </p:txBody>
      </p:sp>
      <p:sp>
        <p:nvSpPr>
          <p:cNvPr id="17" name="Text 12"/>
          <p:cNvSpPr txBox="1"/>
          <p:nvPr/>
        </p:nvSpPr>
        <p:spPr>
          <a:xfrm>
            <a:off x="8046720" y="2999232"/>
            <a:ext cx="3413455" cy="548640"/>
          </a:xfrm>
          <a:prstGeom prst="rect">
            <a:avLst/>
          </a:prstGeom>
          <a:noFill/>
          <a:ln/>
        </p:spPr>
        <p:txBody>
          <a:bodyPr wrap="square" lIns="0" tIns="0" rIns="0" bIns="0" rtlCol="0" anchor="ctr"/>
          <a:lstStyle/>
          <a:p>
            <a:pPr indent="0" marL="0">
              <a:buNone/>
            </a:pPr>
            <a:r>
              <a:rPr lang="en-US" sz="1400" dirty="0">
                <a:solidFill>
                  <a:schemeClr val="bg2"/>
                </a:solidFill>
              </a:rPr>
              <a:t>A higher APY can mean more risk, not a better deal.</a:t>
            </a:r>
            <a:endParaRPr lang="en-US" sz="1400" dirty="0"/>
          </a:p>
        </p:txBody>
      </p:sp>
      <p:sp>
        <p:nvSpPr>
          <p:cNvPr id="18" name="risk-2"/>
          <p:cNvSpPr/>
          <p:nvPr/>
        </p:nvSpPr>
        <p:spPr>
          <a:xfrm>
            <a:off x="5074920" y="3712464"/>
            <a:ext cx="6568135" cy="786384"/>
          </a:xfrm>
          <a:prstGeom prst="roundRect">
            <a:avLst>
              <a:gd name="adj" fmla="val 13953"/>
            </a:avLst>
          </a:prstGeom>
          <a:solidFill>
            <a:schemeClr val="tx2"/>
          </a:solidFill>
          <a:ln w="9525">
            <a:solidFill>
              <a:schemeClr val="accent6"/>
            </a:solidFill>
            <a:prstDash val="solid"/>
          </a:ln>
        </p:spPr>
      </p:sp>
      <p:pic>
        <p:nvPicPr>
          <p:cNvPr id="19" name="Image 3" descr="Fees bite">    </p:cNvPr>
          <p:cNvPicPr>
            <a:picLocks noChangeAspect="1"/>
          </p:cNvPicPr>
          <p:nvPr/>
        </p:nvPicPr>
        <p:blipFill>
          <a:blip r:embed="rId4"/>
          <a:stretch>
            <a:fillRect/>
          </a:stretch>
        </p:blipFill>
        <p:spPr>
          <a:xfrm>
            <a:off x="5303520" y="3922776"/>
            <a:ext cx="365760" cy="365760"/>
          </a:xfrm>
          <a:prstGeom prst="rect">
            <a:avLst/>
          </a:prstGeom>
        </p:spPr>
      </p:pic>
      <p:sp>
        <p:nvSpPr>
          <p:cNvPr id="20" name="Text 14"/>
          <p:cNvSpPr txBox="1"/>
          <p:nvPr/>
        </p:nvSpPr>
        <p:spPr>
          <a:xfrm>
            <a:off x="5852160" y="3840480"/>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Fees bite</a:t>
            </a:r>
            <a:endParaRPr lang="en-US" sz="1600" dirty="0"/>
          </a:p>
        </p:txBody>
      </p:sp>
      <p:sp>
        <p:nvSpPr>
          <p:cNvPr id="21" name="Text 15"/>
          <p:cNvSpPr txBox="1"/>
          <p:nvPr/>
        </p:nvSpPr>
        <p:spPr>
          <a:xfrm>
            <a:off x="8046720" y="3840480"/>
            <a:ext cx="3413455" cy="548640"/>
          </a:xfrm>
          <a:prstGeom prst="rect">
            <a:avLst/>
          </a:prstGeom>
          <a:noFill/>
          <a:ln/>
        </p:spPr>
        <p:txBody>
          <a:bodyPr wrap="square" lIns="0" tIns="0" rIns="0" bIns="0" rtlCol="0" anchor="ctr"/>
          <a:lstStyle/>
          <a:p>
            <a:pPr indent="0" marL="0">
              <a:buNone/>
            </a:pPr>
            <a:r>
              <a:rPr lang="en-US" sz="1400" dirty="0">
                <a:solidFill>
                  <a:schemeClr val="bg2"/>
                </a:solidFill>
              </a:rPr>
              <a:t>Network fees can wipe out the return on a small deposit.</a:t>
            </a:r>
            <a:endParaRPr lang="en-US" sz="1400" dirty="0"/>
          </a:p>
        </p:txBody>
      </p:sp>
      <p:sp>
        <p:nvSpPr>
          <p:cNvPr id="22" name="risk-3"/>
          <p:cNvSpPr/>
          <p:nvPr/>
        </p:nvSpPr>
        <p:spPr>
          <a:xfrm>
            <a:off x="5074920" y="4553712"/>
            <a:ext cx="6568135" cy="786384"/>
          </a:xfrm>
          <a:prstGeom prst="roundRect">
            <a:avLst>
              <a:gd name="adj" fmla="val 13953"/>
            </a:avLst>
          </a:prstGeom>
          <a:solidFill>
            <a:schemeClr val="tx2"/>
          </a:solidFill>
          <a:ln w="9525">
            <a:solidFill>
              <a:schemeClr val="accent6"/>
            </a:solidFill>
            <a:prstDash val="solid"/>
          </a:ln>
        </p:spPr>
      </p:sp>
      <p:pic>
        <p:nvPicPr>
          <p:cNvPr id="23" name="Image 4" descr="Hard to compare">    </p:cNvPr>
          <p:cNvPicPr>
            <a:picLocks noChangeAspect="1"/>
          </p:cNvPicPr>
          <p:nvPr/>
        </p:nvPicPr>
        <p:blipFill>
          <a:blip r:embed="rId5"/>
          <a:stretch>
            <a:fillRect/>
          </a:stretch>
        </p:blipFill>
        <p:spPr>
          <a:xfrm>
            <a:off x="5303520" y="4764024"/>
            <a:ext cx="365760" cy="365760"/>
          </a:xfrm>
          <a:prstGeom prst="rect">
            <a:avLst/>
          </a:prstGeom>
        </p:spPr>
      </p:pic>
      <p:sp>
        <p:nvSpPr>
          <p:cNvPr id="24" name="Text 17"/>
          <p:cNvSpPr txBox="1"/>
          <p:nvPr/>
        </p:nvSpPr>
        <p:spPr>
          <a:xfrm>
            <a:off x="5852160" y="4681728"/>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Hard to compare</a:t>
            </a:r>
            <a:endParaRPr lang="en-US" sz="1600" dirty="0"/>
          </a:p>
        </p:txBody>
      </p:sp>
      <p:sp>
        <p:nvSpPr>
          <p:cNvPr id="25" name="Text 18"/>
          <p:cNvSpPr txBox="1"/>
          <p:nvPr/>
        </p:nvSpPr>
        <p:spPr>
          <a:xfrm>
            <a:off x="8046720" y="4681728"/>
            <a:ext cx="3413455" cy="548640"/>
          </a:xfrm>
          <a:prstGeom prst="rect">
            <a:avLst/>
          </a:prstGeom>
          <a:noFill/>
          <a:ln/>
        </p:spPr>
        <p:txBody>
          <a:bodyPr wrap="square" lIns="0" tIns="0" rIns="0" bIns="0" rtlCol="0" anchor="ctr"/>
          <a:lstStyle/>
          <a:p>
            <a:pPr indent="0" marL="0">
              <a:buNone/>
            </a:pPr>
            <a:r>
              <a:rPr lang="en-US" sz="1400" dirty="0">
                <a:solidFill>
                  <a:schemeClr val="bg2"/>
                </a:solidFill>
              </a:rPr>
              <a:t>Security, liquidity, maturity and strategy complexity hide in docs.</a:t>
            </a:r>
            <a:endParaRPr lang="en-US" sz="1400" dirty="0"/>
          </a:p>
        </p:txBody>
      </p:sp>
      <p:sp>
        <p:nvSpPr>
          <p:cNvPr id="26" name="risk-4"/>
          <p:cNvSpPr/>
          <p:nvPr/>
        </p:nvSpPr>
        <p:spPr>
          <a:xfrm>
            <a:off x="5074920" y="5394960"/>
            <a:ext cx="6568135" cy="786384"/>
          </a:xfrm>
          <a:prstGeom prst="roundRect">
            <a:avLst>
              <a:gd name="adj" fmla="val 13953"/>
            </a:avLst>
          </a:prstGeom>
          <a:solidFill>
            <a:schemeClr val="tx2"/>
          </a:solidFill>
          <a:ln w="9525">
            <a:solidFill>
              <a:schemeClr val="accent6"/>
            </a:solidFill>
            <a:prstDash val="solid"/>
          </a:ln>
        </p:spPr>
      </p:sp>
      <p:pic>
        <p:nvPicPr>
          <p:cNvPr id="27" name="Image 5" descr="No framework">    </p:cNvPr>
          <p:cNvPicPr>
            <a:picLocks noChangeAspect="1"/>
          </p:cNvPicPr>
          <p:nvPr/>
        </p:nvPicPr>
        <p:blipFill>
          <a:blip r:embed="rId6"/>
          <a:stretch>
            <a:fillRect/>
          </a:stretch>
        </p:blipFill>
        <p:spPr>
          <a:xfrm>
            <a:off x="5303520" y="5605272"/>
            <a:ext cx="365760" cy="365760"/>
          </a:xfrm>
          <a:prstGeom prst="rect">
            <a:avLst/>
          </a:prstGeom>
        </p:spPr>
      </p:pic>
      <p:sp>
        <p:nvSpPr>
          <p:cNvPr id="28" name="Text 20"/>
          <p:cNvSpPr txBox="1"/>
          <p:nvPr/>
        </p:nvSpPr>
        <p:spPr>
          <a:xfrm>
            <a:off x="5852160" y="5522976"/>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No framework</a:t>
            </a:r>
            <a:endParaRPr lang="en-US" sz="1600" dirty="0"/>
          </a:p>
        </p:txBody>
      </p:sp>
      <p:sp>
        <p:nvSpPr>
          <p:cNvPr id="29" name="Text 21"/>
          <p:cNvSpPr txBox="1"/>
          <p:nvPr/>
        </p:nvSpPr>
        <p:spPr>
          <a:xfrm>
            <a:off x="8046720" y="5522976"/>
            <a:ext cx="3413455" cy="548640"/>
          </a:xfrm>
          <a:prstGeom prst="rect">
            <a:avLst/>
          </a:prstGeom>
          <a:noFill/>
          <a:ln/>
        </p:spPr>
        <p:txBody>
          <a:bodyPr wrap="square" lIns="0" tIns="0" rIns="0" bIns="0" rtlCol="0" anchor="ctr"/>
          <a:lstStyle/>
          <a:p>
            <a:pPr indent="0" marL="0">
              <a:buNone/>
            </a:pPr>
            <a:r>
              <a:rPr lang="en-US" sz="1400" dirty="0">
                <a:solidFill>
                  <a:schemeClr val="bg2"/>
                </a:solidFill>
              </a:rPr>
              <a:t>Beginners have no clear way to weigh any of it.</a:t>
            </a:r>
            <a:endParaRPr lang="en-US" sz="14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One place to compare yield, risk,</a:t>
            </a:r>
            <a:endParaRPr lang="en-US" sz="3200" dirty="0"/>
          </a:p>
          <a:p>
            <a:pPr algn="l" indent="0" marL="0">
              <a:lnSpc>
                <a:spcPct val="95000"/>
              </a:lnSpc>
              <a:buNone/>
            </a:pPr>
            <a:r>
              <a:rPr lang="en-US" sz="3200" b="1" dirty="0">
                <a:solidFill>
                  <a:schemeClr val="bg1"/>
                </a:solidFill>
              </a:rPr>
              <a:t>and estimated net earnings</a:t>
            </a:r>
            <a:endParaRPr lang="en-US" sz="3200" dirty="0"/>
          </a:p>
        </p:txBody>
      </p:sp>
      <p:sp>
        <p:nvSpPr>
          <p:cNvPr id="3" name="shot-home-frame"/>
          <p:cNvSpPr/>
          <p:nvPr/>
        </p:nvSpPr>
        <p:spPr>
          <a:xfrm>
            <a:off x="962517" y="1517904"/>
            <a:ext cx="2555526" cy="4453128"/>
          </a:xfrm>
          <a:prstGeom prst="roundRect">
            <a:avLst>
              <a:gd name="adj" fmla="val 4294"/>
            </a:avLst>
          </a:prstGeom>
          <a:solidFill>
            <a:schemeClr val="tx1"/>
          </a:solidFill>
          <a:ln w="9525">
            <a:solidFill>
              <a:schemeClr val="accent6"/>
            </a:solidFill>
            <a:prstDash val="solid"/>
          </a:ln>
        </p:spPr>
      </p:sp>
      <p:pic>
        <p:nvPicPr>
          <p:cNvPr id="4" name="shot-home" descr="StableSave home screen: amount entry, estimated yearly earnings, and the risk preference selector">    </p:cNvPr>
          <p:cNvPicPr>
            <a:picLocks noChangeAspect="1"/>
          </p:cNvPicPr>
          <p:nvPr/>
        </p:nvPicPr>
        <p:blipFill>
          <a:blip r:embed="rId1"/>
          <a:stretch>
            <a:fillRect/>
          </a:stretch>
        </p:blipFill>
        <p:spPr>
          <a:xfrm>
            <a:off x="1017381" y="1572768"/>
            <a:ext cx="2445798" cy="4343400"/>
          </a:xfrm>
          <a:prstGeom prst="rect">
            <a:avLst/>
          </a:prstGeom>
        </p:spPr>
      </p:pic>
      <p:sp>
        <p:nvSpPr>
          <p:cNvPr id="5" name="Text 2"/>
          <p:cNvSpPr txBox="1"/>
          <p:nvPr/>
        </p:nvSpPr>
        <p:spPr>
          <a:xfrm>
            <a:off x="962517" y="6025896"/>
            <a:ext cx="2994438"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a:t>
            </a:r>
            <a:endParaRPr lang="en-US" sz="1000" dirty="0"/>
          </a:p>
        </p:txBody>
      </p:sp>
      <p:sp>
        <p:nvSpPr>
          <p:cNvPr id="6" name="step-1"/>
          <p:cNvSpPr/>
          <p:nvPr/>
        </p:nvSpPr>
        <p:spPr>
          <a:xfrm>
            <a:off x="4480560" y="1618488"/>
            <a:ext cx="3291840" cy="731520"/>
          </a:xfrm>
          <a:prstGeom prst="roundRect">
            <a:avLst>
              <a:gd name="adj" fmla="val 15000"/>
            </a:avLst>
          </a:prstGeom>
          <a:solidFill>
            <a:schemeClr val="tx2"/>
          </a:solidFill>
          <a:ln w="9525">
            <a:solidFill>
              <a:schemeClr val="accent6"/>
            </a:solidFill>
            <a:prstDash val="solid"/>
          </a:ln>
        </p:spPr>
      </p:sp>
      <p:sp>
        <p:nvSpPr>
          <p:cNvPr id="7" name="badge-1"/>
          <p:cNvSpPr txBox="1"/>
          <p:nvPr/>
        </p:nvSpPr>
        <p:spPr>
          <a:xfrm>
            <a:off x="468172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8" name="Text 5"/>
          <p:cNvSpPr txBox="1"/>
          <p:nvPr/>
        </p:nvSpPr>
        <p:spPr>
          <a:xfrm>
            <a:off x="516636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Enter a stablecoin amount</a:t>
            </a:r>
            <a:endParaRPr lang="en-US" sz="1500" dirty="0"/>
          </a:p>
        </p:txBody>
      </p:sp>
      <p:sp>
        <p:nvSpPr>
          <p:cNvPr id="9" name="step-2"/>
          <p:cNvSpPr/>
          <p:nvPr/>
        </p:nvSpPr>
        <p:spPr>
          <a:xfrm>
            <a:off x="4480560" y="2514600"/>
            <a:ext cx="3291840" cy="731520"/>
          </a:xfrm>
          <a:prstGeom prst="roundRect">
            <a:avLst>
              <a:gd name="adj" fmla="val 15000"/>
            </a:avLst>
          </a:prstGeom>
          <a:solidFill>
            <a:schemeClr val="tx2"/>
          </a:solidFill>
          <a:ln w="9525">
            <a:solidFill>
              <a:schemeClr val="accent6"/>
            </a:solidFill>
            <a:prstDash val="solid"/>
          </a:ln>
        </p:spPr>
      </p:sp>
      <p:sp>
        <p:nvSpPr>
          <p:cNvPr id="10" name="badge-2"/>
          <p:cNvSpPr txBox="1"/>
          <p:nvPr/>
        </p:nvSpPr>
        <p:spPr>
          <a:xfrm>
            <a:off x="468172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8"/>
          <p:cNvSpPr txBox="1"/>
          <p:nvPr/>
        </p:nvSpPr>
        <p:spPr>
          <a:xfrm>
            <a:off x="516636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Pick a risk preference</a:t>
            </a:r>
            <a:endParaRPr lang="en-US" sz="1500" dirty="0"/>
          </a:p>
        </p:txBody>
      </p:sp>
      <p:sp>
        <p:nvSpPr>
          <p:cNvPr id="12" name="step-3"/>
          <p:cNvSpPr/>
          <p:nvPr/>
        </p:nvSpPr>
        <p:spPr>
          <a:xfrm>
            <a:off x="4480560" y="3410712"/>
            <a:ext cx="3291840" cy="731520"/>
          </a:xfrm>
          <a:prstGeom prst="roundRect">
            <a:avLst>
              <a:gd name="adj" fmla="val 15000"/>
            </a:avLst>
          </a:prstGeom>
          <a:solidFill>
            <a:schemeClr val="tx2"/>
          </a:solidFill>
          <a:ln w="9525">
            <a:solidFill>
              <a:schemeClr val="accent6"/>
            </a:solidFill>
            <a:prstDash val="solid"/>
          </a:ln>
        </p:spPr>
      </p:sp>
      <p:sp>
        <p:nvSpPr>
          <p:cNvPr id="13" name="badge-3"/>
          <p:cNvSpPr txBox="1"/>
          <p:nvPr/>
        </p:nvSpPr>
        <p:spPr>
          <a:xfrm>
            <a:off x="4681728" y="3611880"/>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516636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Compare the options</a:t>
            </a:r>
            <a:endParaRPr lang="en-US" sz="1500" dirty="0"/>
          </a:p>
        </p:txBody>
      </p:sp>
      <p:sp>
        <p:nvSpPr>
          <p:cNvPr id="15" name="step-4"/>
          <p:cNvSpPr/>
          <p:nvPr/>
        </p:nvSpPr>
        <p:spPr>
          <a:xfrm>
            <a:off x="8092440" y="1618488"/>
            <a:ext cx="3291840" cy="731520"/>
          </a:xfrm>
          <a:prstGeom prst="roundRect">
            <a:avLst>
              <a:gd name="adj" fmla="val 15000"/>
            </a:avLst>
          </a:prstGeom>
          <a:solidFill>
            <a:schemeClr val="tx2"/>
          </a:solidFill>
          <a:ln w="9525">
            <a:solidFill>
              <a:schemeClr val="accent6"/>
            </a:solidFill>
            <a:prstDash val="solid"/>
          </a:ln>
        </p:spPr>
      </p:sp>
      <p:sp>
        <p:nvSpPr>
          <p:cNvPr id="16" name="badge-4"/>
          <p:cNvSpPr txBox="1"/>
          <p:nvPr/>
        </p:nvSpPr>
        <p:spPr>
          <a:xfrm>
            <a:off x="829360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7" name="Text 14"/>
          <p:cNvSpPr txBox="1"/>
          <p:nvPr/>
        </p:nvSpPr>
        <p:spPr>
          <a:xfrm>
            <a:off x="877824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Check the grade and its reasons</a:t>
            </a:r>
            <a:endParaRPr lang="en-US" sz="1500" dirty="0"/>
          </a:p>
        </p:txBody>
      </p:sp>
      <p:sp>
        <p:nvSpPr>
          <p:cNvPr id="18" name="step-5"/>
          <p:cNvSpPr/>
          <p:nvPr/>
        </p:nvSpPr>
        <p:spPr>
          <a:xfrm>
            <a:off x="8092440" y="2514600"/>
            <a:ext cx="3291840" cy="731520"/>
          </a:xfrm>
          <a:prstGeom prst="roundRect">
            <a:avLst>
              <a:gd name="adj" fmla="val 15000"/>
            </a:avLst>
          </a:prstGeom>
          <a:solidFill>
            <a:schemeClr val="tx2"/>
          </a:solidFill>
          <a:ln w="9525">
            <a:solidFill>
              <a:schemeClr val="accent6"/>
            </a:solidFill>
            <a:prstDash val="solid"/>
          </a:ln>
        </p:spPr>
      </p:sp>
      <p:sp>
        <p:nvSpPr>
          <p:cNvPr id="19" name="badge-5"/>
          <p:cNvSpPr txBox="1"/>
          <p:nvPr/>
        </p:nvSpPr>
        <p:spPr>
          <a:xfrm>
            <a:off x="829360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20" name="Text 17"/>
          <p:cNvSpPr txBox="1"/>
          <p:nvPr/>
        </p:nvSpPr>
        <p:spPr>
          <a:xfrm>
            <a:off x="877824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See earnings after fees</a:t>
            </a:r>
            <a:endParaRPr lang="en-US" sz="1500" dirty="0"/>
          </a:p>
        </p:txBody>
      </p:sp>
      <p:sp>
        <p:nvSpPr>
          <p:cNvPr id="21" name="step-6"/>
          <p:cNvSpPr/>
          <p:nvPr/>
        </p:nvSpPr>
        <p:spPr>
          <a:xfrm>
            <a:off x="8092440" y="3410712"/>
            <a:ext cx="3291840" cy="731520"/>
          </a:xfrm>
          <a:prstGeom prst="roundRect">
            <a:avLst>
              <a:gd name="adj" fmla="val 15000"/>
            </a:avLst>
          </a:prstGeom>
          <a:solidFill>
            <a:schemeClr val="tx2"/>
          </a:solidFill>
          <a:ln w="9525">
            <a:solidFill>
              <a:schemeClr val="accent6"/>
            </a:solidFill>
            <a:prstDash val="solid"/>
          </a:ln>
        </p:spPr>
      </p:sp>
      <p:sp>
        <p:nvSpPr>
          <p:cNvPr id="22" name="badge-6"/>
          <p:cNvSpPr txBox="1"/>
          <p:nvPr/>
        </p:nvSpPr>
        <p:spPr>
          <a:xfrm>
            <a:off x="8293608" y="361188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23" name="Text 20"/>
          <p:cNvSpPr txBox="1"/>
          <p:nvPr/>
        </p:nvSpPr>
        <p:spPr>
          <a:xfrm>
            <a:off x="877824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Continue to the official app</a:t>
            </a:r>
            <a:endParaRPr lang="en-US" sz="1500" dirty="0"/>
          </a:p>
        </p:txBody>
      </p:sp>
      <p:sp>
        <p:nvSpPr>
          <p:cNvPr id="24" name="promise-0"/>
          <p:cNvSpPr/>
          <p:nvPr/>
        </p:nvSpPr>
        <p:spPr>
          <a:xfrm>
            <a:off x="4480560" y="4453128"/>
            <a:ext cx="3314700" cy="1627632"/>
          </a:xfrm>
          <a:prstGeom prst="roundRect">
            <a:avLst>
              <a:gd name="adj" fmla="val 7865"/>
            </a:avLst>
          </a:prstGeom>
          <a:solidFill>
            <a:schemeClr val="accent5"/>
          </a:solidFill>
          <a:ln w="9525">
            <a:solidFill>
              <a:schemeClr val="accent6"/>
            </a:solidFill>
            <a:prstDash val="solid"/>
          </a:ln>
        </p:spPr>
      </p:sp>
      <p:pic>
        <p:nvPicPr>
          <p:cNvPr id="25" name="Image 1" descr="No wallet or sign-up">    </p:cNvPr>
          <p:cNvPicPr>
            <a:picLocks noChangeAspect="1"/>
          </p:cNvPicPr>
          <p:nvPr/>
        </p:nvPicPr>
        <p:blipFill>
          <a:blip r:embed="rId2"/>
          <a:stretch>
            <a:fillRect/>
          </a:stretch>
        </p:blipFill>
        <p:spPr>
          <a:xfrm>
            <a:off x="4754880" y="4727448"/>
            <a:ext cx="384048" cy="384048"/>
          </a:xfrm>
          <a:prstGeom prst="rect">
            <a:avLst/>
          </a:prstGeom>
        </p:spPr>
      </p:pic>
      <p:sp>
        <p:nvSpPr>
          <p:cNvPr id="26" name="Text 22"/>
          <p:cNvSpPr txBox="1"/>
          <p:nvPr/>
        </p:nvSpPr>
        <p:spPr>
          <a:xfrm>
            <a:off x="475488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No wallet or sign-up</a:t>
            </a:r>
            <a:endParaRPr lang="en-US" sz="1500" dirty="0"/>
          </a:p>
        </p:txBody>
      </p:sp>
      <p:sp>
        <p:nvSpPr>
          <p:cNvPr id="27" name="Text 23"/>
          <p:cNvSpPr txBox="1"/>
          <p:nvPr/>
        </p:nvSpPr>
        <p:spPr>
          <a:xfrm>
            <a:off x="475488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Comparing needs nothing but an amount.</a:t>
            </a:r>
            <a:endParaRPr lang="en-US" sz="1250" dirty="0"/>
          </a:p>
        </p:txBody>
      </p:sp>
      <p:sp>
        <p:nvSpPr>
          <p:cNvPr id="28" name="promise-1"/>
          <p:cNvSpPr/>
          <p:nvPr/>
        </p:nvSpPr>
        <p:spPr>
          <a:xfrm>
            <a:off x="8069580" y="4453128"/>
            <a:ext cx="3314700" cy="1627632"/>
          </a:xfrm>
          <a:prstGeom prst="roundRect">
            <a:avLst>
              <a:gd name="adj" fmla="val 7865"/>
            </a:avLst>
          </a:prstGeom>
          <a:solidFill>
            <a:schemeClr val="accent5"/>
          </a:solidFill>
          <a:ln w="9525">
            <a:solidFill>
              <a:schemeClr val="accent6"/>
            </a:solidFill>
            <a:prstDash val="solid"/>
          </a:ln>
        </p:spPr>
      </p:sp>
      <p:pic>
        <p:nvPicPr>
          <p:cNvPr id="29" name="Image 2" descr="Never holds your funds">    </p:cNvPr>
          <p:cNvPicPr>
            <a:picLocks noChangeAspect="1"/>
          </p:cNvPicPr>
          <p:nvPr/>
        </p:nvPicPr>
        <p:blipFill>
          <a:blip r:embed="rId3"/>
          <a:stretch>
            <a:fillRect/>
          </a:stretch>
        </p:blipFill>
        <p:spPr>
          <a:xfrm>
            <a:off x="8343900" y="4727448"/>
            <a:ext cx="384048" cy="384048"/>
          </a:xfrm>
          <a:prstGeom prst="rect">
            <a:avLst/>
          </a:prstGeom>
        </p:spPr>
      </p:pic>
      <p:sp>
        <p:nvSpPr>
          <p:cNvPr id="30" name="Text 25"/>
          <p:cNvSpPr txBox="1"/>
          <p:nvPr/>
        </p:nvSpPr>
        <p:spPr>
          <a:xfrm>
            <a:off x="834390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Never holds your funds</a:t>
            </a:r>
            <a:endParaRPr lang="en-US" sz="1500" dirty="0"/>
          </a:p>
        </p:txBody>
      </p:sp>
      <p:sp>
        <p:nvSpPr>
          <p:cNvPr id="31" name="Text 26"/>
          <p:cNvSpPr txBox="1"/>
          <p:nvPr/>
        </p:nvSpPr>
        <p:spPr>
          <a:xfrm>
            <a:off x="834390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You deposit from your own wallet, on the protocol's own app.</a:t>
            </a:r>
            <a:endParaRPr lang="en-US" sz="12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a balance to a more informed decision</a:t>
            </a:r>
            <a:endParaRPr lang="en-US" sz="3200" dirty="0"/>
          </a:p>
        </p:txBody>
      </p:sp>
      <p:sp>
        <p:nvSpPr>
          <p:cNvPr id="3" name="walk-home-frame"/>
          <p:cNvSpPr/>
          <p:nvPr/>
        </p:nvSpPr>
        <p:spPr>
          <a:xfrm>
            <a:off x="644031" y="1472184"/>
            <a:ext cx="2323819" cy="4041648"/>
          </a:xfrm>
          <a:prstGeom prst="roundRect">
            <a:avLst>
              <a:gd name="adj" fmla="val 4722"/>
            </a:avLst>
          </a:prstGeom>
          <a:solidFill>
            <a:schemeClr val="tx1"/>
          </a:solidFill>
          <a:ln w="9525">
            <a:solidFill>
              <a:schemeClr val="accent6"/>
            </a:solidFill>
            <a:prstDash val="solid"/>
          </a:ln>
        </p:spPr>
      </p:sp>
      <p:pic>
        <p:nvPicPr>
          <p:cNvPr id="4" name="walk-home" descr="Amount, stablecoin and risk preference">    </p:cNvPr>
          <p:cNvPicPr>
            <a:picLocks noChangeAspect="1"/>
          </p:cNvPicPr>
          <p:nvPr/>
        </p:nvPicPr>
        <p:blipFill>
          <a:blip r:embed="rId1"/>
          <a:stretch>
            <a:fillRect/>
          </a:stretch>
        </p:blipFill>
        <p:spPr>
          <a:xfrm>
            <a:off x="698895" y="1527048"/>
            <a:ext cx="2214091" cy="3931920"/>
          </a:xfrm>
          <a:prstGeom prst="rect">
            <a:avLst/>
          </a:prstGeom>
        </p:spPr>
      </p:pic>
      <p:sp>
        <p:nvSpPr>
          <p:cNvPr id="5" name="walk-list-frame"/>
          <p:cNvSpPr/>
          <p:nvPr/>
        </p:nvSpPr>
        <p:spPr>
          <a:xfrm>
            <a:off x="3538728" y="1472184"/>
            <a:ext cx="3255264" cy="4041648"/>
          </a:xfrm>
          <a:prstGeom prst="roundRect">
            <a:avLst>
              <a:gd name="adj" fmla="val 3371"/>
            </a:avLst>
          </a:prstGeom>
          <a:solidFill>
            <a:schemeClr val="tx1"/>
          </a:solidFill>
          <a:ln w="9525">
            <a:solidFill>
              <a:schemeClr val="accent6"/>
            </a:solidFill>
            <a:prstDash val="solid"/>
          </a:ln>
        </p:spPr>
      </p:sp>
      <p:pic>
        <p:nvPicPr>
          <p:cNvPr id="6" name="walk-list" descr="Ranked options with grade, network, deposits, rate and yearly estimate">    </p:cNvPr>
          <p:cNvPicPr>
            <a:picLocks noChangeAspect="1"/>
          </p:cNvPicPr>
          <p:nvPr/>
        </p:nvPicPr>
        <p:blipFill>
          <a:blip r:embed="rId2"/>
          <a:stretch>
            <a:fillRect/>
          </a:stretch>
        </p:blipFill>
        <p:spPr>
          <a:xfrm>
            <a:off x="3593592" y="1527048"/>
            <a:ext cx="3145536" cy="3931920"/>
          </a:xfrm>
          <a:prstGeom prst="rect">
            <a:avLst/>
          </a:prstGeom>
        </p:spPr>
      </p:pic>
      <p:sp>
        <p:nvSpPr>
          <p:cNvPr id="7" name="walk-detail-frame"/>
          <p:cNvSpPr/>
          <p:nvPr/>
        </p:nvSpPr>
        <p:spPr>
          <a:xfrm>
            <a:off x="7345030" y="1472184"/>
            <a:ext cx="2043459" cy="4041648"/>
          </a:xfrm>
          <a:prstGeom prst="roundRect">
            <a:avLst>
              <a:gd name="adj" fmla="val 5370"/>
            </a:avLst>
          </a:prstGeom>
          <a:solidFill>
            <a:schemeClr val="tx1"/>
          </a:solidFill>
          <a:ln w="9525">
            <a:solidFill>
              <a:schemeClr val="accent6"/>
            </a:solidFill>
            <a:prstDash val="solid"/>
          </a:ln>
        </p:spPr>
      </p:sp>
      <p:pic>
        <p:nvPicPr>
          <p:cNvPr id="8" name="walk-detail" descr="Option detail: rate history, and what $1,000 could earn after fees">    </p:cNvPr>
          <p:cNvPicPr>
            <a:picLocks noChangeAspect="1"/>
          </p:cNvPicPr>
          <p:nvPr/>
        </p:nvPicPr>
        <p:blipFill>
          <a:blip r:embed="rId3"/>
          <a:stretch>
            <a:fillRect/>
          </a:stretch>
        </p:blipFill>
        <p:spPr>
          <a:xfrm>
            <a:off x="7399894" y="1527048"/>
            <a:ext cx="1933731" cy="3931920"/>
          </a:xfrm>
          <a:prstGeom prst="rect">
            <a:avLst/>
          </a:prstGeom>
        </p:spPr>
      </p:pic>
      <p:sp>
        <p:nvSpPr>
          <p:cNvPr id="9" name="badge-1"/>
          <p:cNvSpPr txBox="1"/>
          <p:nvPr/>
        </p:nvSpPr>
        <p:spPr>
          <a:xfrm>
            <a:off x="479439" y="2844241"/>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0" name="badge-2"/>
          <p:cNvSpPr txBox="1"/>
          <p:nvPr/>
        </p:nvSpPr>
        <p:spPr>
          <a:xfrm>
            <a:off x="479439" y="5046116"/>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badge-3"/>
          <p:cNvSpPr txBox="1"/>
          <p:nvPr/>
        </p:nvSpPr>
        <p:spPr>
          <a:xfrm>
            <a:off x="6611112" y="1380744"/>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2" name="badge-4"/>
          <p:cNvSpPr txBox="1"/>
          <p:nvPr/>
        </p:nvSpPr>
        <p:spPr>
          <a:xfrm>
            <a:off x="3374136" y="1979219"/>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3" name="badge-5"/>
          <p:cNvSpPr txBox="1"/>
          <p:nvPr/>
        </p:nvSpPr>
        <p:spPr>
          <a:xfrm>
            <a:off x="7180438" y="2981858"/>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14" name="badge-6"/>
          <p:cNvSpPr txBox="1"/>
          <p:nvPr/>
        </p:nvSpPr>
        <p:spPr>
          <a:xfrm>
            <a:off x="7180438" y="435803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15" name="badge-1"/>
          <p:cNvSpPr txBox="1"/>
          <p:nvPr/>
        </p:nvSpPr>
        <p:spPr>
          <a:xfrm>
            <a:off x="9646920" y="154533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6" name="Text 11"/>
          <p:cNvSpPr txBox="1"/>
          <p:nvPr/>
        </p:nvSpPr>
        <p:spPr>
          <a:xfrm>
            <a:off x="10030968" y="152704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Amount</a:t>
            </a:r>
            <a:endParaRPr lang="en-US" sz="1300" dirty="0"/>
          </a:p>
        </p:txBody>
      </p:sp>
      <p:sp>
        <p:nvSpPr>
          <p:cNvPr id="17" name="Text 12"/>
          <p:cNvSpPr txBox="1"/>
          <p:nvPr/>
        </p:nvSpPr>
        <p:spPr>
          <a:xfrm>
            <a:off x="10030968" y="1801368"/>
            <a:ext cx="1600200" cy="274320"/>
          </a:xfrm>
          <a:prstGeom prst="rect">
            <a:avLst/>
          </a:prstGeom>
          <a:noFill/>
          <a:ln/>
        </p:spPr>
        <p:txBody>
          <a:bodyPr wrap="square" lIns="0" tIns="0" rIns="0" bIns="0" rtlCol="0" anchor="t"/>
          <a:lstStyle/>
          <a:p>
            <a:pPr indent="0" marL="0">
              <a:buNone/>
            </a:pPr>
            <a:r>
              <a:rPr lang="en-US" sz="1050" dirty="0">
                <a:solidFill>
                  <a:schemeClr val="bg2"/>
                </a:solidFill>
              </a:rPr>
              <a:t>$1,000 of USDC here</a:t>
            </a:r>
            <a:endParaRPr lang="en-US" sz="1050" dirty="0"/>
          </a:p>
        </p:txBody>
      </p:sp>
      <p:sp>
        <p:nvSpPr>
          <p:cNvPr id="18" name="badge-2"/>
          <p:cNvSpPr txBox="1"/>
          <p:nvPr/>
        </p:nvSpPr>
        <p:spPr>
          <a:xfrm>
            <a:off x="9646920" y="222199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9" name="Text 14"/>
          <p:cNvSpPr txBox="1"/>
          <p:nvPr/>
        </p:nvSpPr>
        <p:spPr>
          <a:xfrm>
            <a:off x="10030968" y="2203704"/>
            <a:ext cx="1600200" cy="274320"/>
          </a:xfrm>
          <a:prstGeom prst="rect">
            <a:avLst/>
          </a:prstGeom>
          <a:noFill/>
          <a:ln/>
        </p:spPr>
        <p:txBody>
          <a:bodyPr wrap="square" lIns="0" tIns="0" rIns="0" bIns="0" rtlCol="0" anchor="t"/>
          <a:lstStyle/>
          <a:p>
            <a:pPr indent="0" marL="0">
              <a:buNone/>
            </a:pPr>
            <a:r>
              <a:rPr lang="en-US" sz="1300" b="1" dirty="0">
                <a:solidFill>
                  <a:schemeClr val="bg1"/>
                </a:solidFill>
              </a:rPr>
              <a:t>Risk preference</a:t>
            </a:r>
            <a:endParaRPr lang="en-US" sz="1300" dirty="0"/>
          </a:p>
        </p:txBody>
      </p:sp>
      <p:sp>
        <p:nvSpPr>
          <p:cNvPr id="20" name="Text 15"/>
          <p:cNvSpPr txBox="1"/>
          <p:nvPr/>
        </p:nvSpPr>
        <p:spPr>
          <a:xfrm>
            <a:off x="10030968" y="2478024"/>
            <a:ext cx="1600200" cy="274320"/>
          </a:xfrm>
          <a:prstGeom prst="rect">
            <a:avLst/>
          </a:prstGeom>
          <a:noFill/>
          <a:ln/>
        </p:spPr>
        <p:txBody>
          <a:bodyPr wrap="square" lIns="0" tIns="0" rIns="0" bIns="0" rtlCol="0" anchor="t"/>
          <a:lstStyle/>
          <a:p>
            <a:pPr indent="0" marL="0">
              <a:buNone/>
            </a:pPr>
            <a:r>
              <a:rPr lang="en-US" sz="1050" dirty="0">
                <a:solidFill>
                  <a:schemeClr val="bg2"/>
                </a:solidFill>
              </a:rPr>
              <a:t>Safe, Balanced or Bigger</a:t>
            </a:r>
            <a:endParaRPr lang="en-US" sz="1050" dirty="0"/>
          </a:p>
        </p:txBody>
      </p:sp>
      <p:sp>
        <p:nvSpPr>
          <p:cNvPr id="21" name="badge-3"/>
          <p:cNvSpPr txBox="1"/>
          <p:nvPr/>
        </p:nvSpPr>
        <p:spPr>
          <a:xfrm>
            <a:off x="9646920" y="289864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22" name="Text 17"/>
          <p:cNvSpPr txBox="1"/>
          <p:nvPr/>
        </p:nvSpPr>
        <p:spPr>
          <a:xfrm>
            <a:off x="10030968" y="2880360"/>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Ranked options</a:t>
            </a:r>
            <a:endParaRPr lang="en-US" sz="1300" dirty="0"/>
          </a:p>
        </p:txBody>
      </p:sp>
      <p:sp>
        <p:nvSpPr>
          <p:cNvPr id="23" name="Text 18"/>
          <p:cNvSpPr txBox="1"/>
          <p:nvPr/>
        </p:nvSpPr>
        <p:spPr>
          <a:xfrm>
            <a:off x="10030968" y="3154680"/>
            <a:ext cx="1600200" cy="274320"/>
          </a:xfrm>
          <a:prstGeom prst="rect">
            <a:avLst/>
          </a:prstGeom>
          <a:noFill/>
          <a:ln/>
        </p:spPr>
        <p:txBody>
          <a:bodyPr wrap="square" lIns="0" tIns="0" rIns="0" bIns="0" rtlCol="0" anchor="t"/>
          <a:lstStyle/>
          <a:p>
            <a:pPr indent="0" marL="0">
              <a:buNone/>
            </a:pPr>
            <a:r>
              <a:rPr lang="en-US" sz="1050" dirty="0">
                <a:solidFill>
                  <a:schemeClr val="bg2"/>
                </a:solidFill>
              </a:rPr>
              <a:t>Sort: best fit, rate, safety</a:t>
            </a:r>
            <a:endParaRPr lang="en-US" sz="1050" dirty="0"/>
          </a:p>
        </p:txBody>
      </p:sp>
      <p:sp>
        <p:nvSpPr>
          <p:cNvPr id="24" name="badge-4"/>
          <p:cNvSpPr txBox="1"/>
          <p:nvPr/>
        </p:nvSpPr>
        <p:spPr>
          <a:xfrm>
            <a:off x="9646920" y="357530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5" name="Text 20"/>
          <p:cNvSpPr txBox="1"/>
          <p:nvPr/>
        </p:nvSpPr>
        <p:spPr>
          <a:xfrm>
            <a:off x="10030968" y="3557016"/>
            <a:ext cx="1600200" cy="274320"/>
          </a:xfrm>
          <a:prstGeom prst="rect">
            <a:avLst/>
          </a:prstGeom>
          <a:noFill/>
          <a:ln/>
        </p:spPr>
        <p:txBody>
          <a:bodyPr wrap="square" lIns="0" tIns="0" rIns="0" bIns="0" rtlCol="0" anchor="t"/>
          <a:lstStyle/>
          <a:p>
            <a:pPr indent="0" marL="0">
              <a:buNone/>
            </a:pPr>
            <a:r>
              <a:rPr lang="en-US" sz="1300" b="1" dirty="0">
                <a:solidFill>
                  <a:schemeClr val="bg1"/>
                </a:solidFill>
              </a:rPr>
              <a:t>A–D grade</a:t>
            </a:r>
            <a:endParaRPr lang="en-US" sz="1300" dirty="0"/>
          </a:p>
        </p:txBody>
      </p:sp>
      <p:sp>
        <p:nvSpPr>
          <p:cNvPr id="26" name="Text 21"/>
          <p:cNvSpPr txBox="1"/>
          <p:nvPr/>
        </p:nvSpPr>
        <p:spPr>
          <a:xfrm>
            <a:off x="10030968" y="3831336"/>
            <a:ext cx="1600200" cy="274320"/>
          </a:xfrm>
          <a:prstGeom prst="rect">
            <a:avLst/>
          </a:prstGeom>
          <a:noFill/>
          <a:ln/>
        </p:spPr>
        <p:txBody>
          <a:bodyPr wrap="square" lIns="0" tIns="0" rIns="0" bIns="0" rtlCol="0" anchor="t"/>
          <a:lstStyle/>
          <a:p>
            <a:pPr indent="0" marL="0">
              <a:buNone/>
            </a:pPr>
            <a:r>
              <a:rPr lang="en-US" sz="1050" dirty="0">
                <a:solidFill>
                  <a:schemeClr val="bg2"/>
                </a:solidFill>
              </a:rPr>
              <a:t>Next to network, deposits</a:t>
            </a:r>
            <a:endParaRPr lang="en-US" sz="1050" dirty="0"/>
          </a:p>
        </p:txBody>
      </p:sp>
      <p:sp>
        <p:nvSpPr>
          <p:cNvPr id="27" name="badge-5"/>
          <p:cNvSpPr txBox="1"/>
          <p:nvPr/>
        </p:nvSpPr>
        <p:spPr>
          <a:xfrm>
            <a:off x="9646920" y="425196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28" name="Text 23"/>
          <p:cNvSpPr txBox="1"/>
          <p:nvPr/>
        </p:nvSpPr>
        <p:spPr>
          <a:xfrm>
            <a:off x="10030968" y="4233672"/>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Rate history</a:t>
            </a:r>
            <a:endParaRPr lang="en-US" sz="1300" dirty="0"/>
          </a:p>
        </p:txBody>
      </p:sp>
      <p:sp>
        <p:nvSpPr>
          <p:cNvPr id="29" name="Text 24"/>
          <p:cNvSpPr txBox="1"/>
          <p:nvPr/>
        </p:nvSpPr>
        <p:spPr>
          <a:xfrm>
            <a:off x="10030968" y="4507992"/>
            <a:ext cx="1600200" cy="274320"/>
          </a:xfrm>
          <a:prstGeom prst="rect">
            <a:avLst/>
          </a:prstGeom>
          <a:noFill/>
          <a:ln/>
        </p:spPr>
        <p:txBody>
          <a:bodyPr wrap="square" lIns="0" tIns="0" rIns="0" bIns="0" rtlCol="0" anchor="t"/>
          <a:lstStyle/>
          <a:p>
            <a:pPr indent="0" marL="0">
              <a:buNone/>
            </a:pPr>
            <a:r>
              <a:rPr lang="en-US" sz="1050" dirty="0">
                <a:solidFill>
                  <a:schemeClr val="bg2"/>
                </a:solidFill>
              </a:rPr>
              <a:t>30 or 90 days, daily</a:t>
            </a:r>
            <a:endParaRPr lang="en-US" sz="1050" dirty="0"/>
          </a:p>
        </p:txBody>
      </p:sp>
      <p:sp>
        <p:nvSpPr>
          <p:cNvPr id="30" name="badge-6"/>
          <p:cNvSpPr txBox="1"/>
          <p:nvPr/>
        </p:nvSpPr>
        <p:spPr>
          <a:xfrm>
            <a:off x="9646920" y="49286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31" name="Text 26"/>
          <p:cNvSpPr txBox="1"/>
          <p:nvPr/>
        </p:nvSpPr>
        <p:spPr>
          <a:xfrm>
            <a:off x="10030968" y="491032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After fees</a:t>
            </a:r>
            <a:endParaRPr lang="en-US" sz="1300" dirty="0"/>
          </a:p>
        </p:txBody>
      </p:sp>
      <p:sp>
        <p:nvSpPr>
          <p:cNvPr id="32" name="Text 27"/>
          <p:cNvSpPr txBox="1"/>
          <p:nvPr/>
        </p:nvSpPr>
        <p:spPr>
          <a:xfrm>
            <a:off x="10030968" y="5184648"/>
            <a:ext cx="1600200" cy="274320"/>
          </a:xfrm>
          <a:prstGeom prst="rect">
            <a:avLst/>
          </a:prstGeom>
          <a:noFill/>
          <a:ln/>
        </p:spPr>
        <p:txBody>
          <a:bodyPr wrap="square" lIns="0" tIns="0" rIns="0" bIns="0" rtlCol="0" anchor="t"/>
          <a:lstStyle/>
          <a:p>
            <a:pPr indent="0" marL="0">
              <a:buNone/>
            </a:pPr>
            <a:r>
              <a:rPr lang="en-US" sz="1050" dirty="0">
                <a:solidFill>
                  <a:schemeClr val="bg2"/>
                </a:solidFill>
              </a:rPr>
              <a:t>What you'd keep a year</a:t>
            </a:r>
            <a:endParaRPr lang="en-US" sz="1050" dirty="0"/>
          </a:p>
        </p:txBody>
      </p:sp>
      <p:sp>
        <p:nvSpPr>
          <p:cNvPr id="33" name="worked-example"/>
          <p:cNvSpPr/>
          <p:nvPr/>
        </p:nvSpPr>
        <p:spPr>
          <a:xfrm>
            <a:off x="548640" y="5733288"/>
            <a:ext cx="11094415" cy="566928"/>
          </a:xfrm>
          <a:prstGeom prst="roundRect">
            <a:avLst>
              <a:gd name="adj" fmla="val 16129"/>
            </a:avLst>
          </a:prstGeom>
          <a:solidFill>
            <a:schemeClr val="accent5"/>
          </a:solidFill>
          <a:ln w="9525">
            <a:solidFill>
              <a:schemeClr val="accent6"/>
            </a:solidFill>
            <a:prstDash val="solid"/>
          </a:ln>
        </p:spPr>
      </p:sp>
      <p:sp>
        <p:nvSpPr>
          <p:cNvPr id="34" name="Text 29"/>
          <p:cNvSpPr txBox="1"/>
          <p:nvPr/>
        </p:nvSpPr>
        <p:spPr>
          <a:xfrm>
            <a:off x="822960" y="5806440"/>
            <a:ext cx="10545775" cy="420624"/>
          </a:xfrm>
          <a:prstGeom prst="rect">
            <a:avLst/>
          </a:prstGeom>
          <a:noFill/>
          <a:ln/>
        </p:spPr>
        <p:txBody>
          <a:bodyPr wrap="square" lIns="0" tIns="0" rIns="0" bIns="0" rtlCol="0" anchor="ctr"/>
          <a:lstStyle/>
          <a:p>
            <a:pPr indent="0" marL="0">
              <a:buNone/>
            </a:pPr>
            <a:r>
              <a:rPr lang="en-US" sz="1300" b="1" dirty="0">
                <a:solidFill>
                  <a:schemeClr val="bg1"/>
                </a:solidFill>
              </a:rPr>
              <a:t>Worked example (demo data):  </a:t>
            </a:r>
            <a:pPr indent="0" marL="0">
              <a:buNone/>
            </a:pPr>
            <a:r>
              <a:rPr lang="en-US" sz="1300" dirty="0">
                <a:solidFill>
                  <a:schemeClr val="bg2"/>
                </a:solidFill>
              </a:rPr>
              <a:t>$1,000 USDC, Balanced → 8.33% → </a:t>
            </a:r>
            <a:pPr indent="0" marL="0">
              <a:buNone/>
            </a:pPr>
            <a:r>
              <a:rPr lang="en-US" sz="1300" b="1" dirty="0">
                <a:solidFill>
                  <a:schemeClr val="accent2"/>
                </a:solidFill>
              </a:rPr>
              <a:t>about +$83 a year after fees</a:t>
            </a:r>
            <a:pPr indent="0" marL="0">
              <a:buNone/>
            </a:pPr>
            <a:r>
              <a:rPr lang="en-US" sz="1300" dirty="0">
                <a:solidFill>
                  <a:schemeClr val="bg2"/>
                </a:solidFill>
              </a:rPr>
              <a:t>. Estimated, not promised.</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high APY should never tell the whole story</a:t>
            </a:r>
            <a:endParaRPr lang="en-US" sz="3200" dirty="0"/>
          </a:p>
        </p:txBody>
      </p:sp>
      <p:sp>
        <p:nvSpPr>
          <p:cNvPr id="3" name="weights-card"/>
          <p:cNvSpPr/>
          <p:nvPr/>
        </p:nvSpPr>
        <p:spPr>
          <a:xfrm>
            <a:off x="548640" y="1572768"/>
            <a:ext cx="5669280" cy="4526280"/>
          </a:xfrm>
          <a:prstGeom prst="roundRect">
            <a:avLst>
              <a:gd name="adj" fmla="val 2828"/>
            </a:avLst>
          </a:prstGeom>
          <a:solidFill>
            <a:schemeClr val="tx2"/>
          </a:solidFill>
          <a:ln w="9525">
            <a:solidFill>
              <a:schemeClr val="accent6"/>
            </a:solidFill>
            <a:prstDash val="solid"/>
          </a:ln>
        </p:spPr>
      </p:sp>
      <p:sp>
        <p:nvSpPr>
          <p:cNvPr id="4" name="Text 2"/>
          <p:cNvSpPr txBox="1"/>
          <p:nvPr/>
        </p:nvSpPr>
        <p:spPr>
          <a:xfrm>
            <a:off x="822960" y="1773936"/>
            <a:ext cx="5120640" cy="320040"/>
          </a:xfrm>
          <a:prstGeom prst="rect">
            <a:avLst/>
          </a:prstGeom>
          <a:noFill/>
          <a:ln/>
        </p:spPr>
        <p:txBody>
          <a:bodyPr wrap="square" lIns="0" tIns="0" rIns="0" bIns="0" rtlCol="0" anchor="t"/>
          <a:lstStyle/>
          <a:p>
            <a:pPr indent="0" marL="0">
              <a:buNone/>
            </a:pPr>
            <a:r>
              <a:rPr lang="en-US" sz="1500" b="1" dirty="0">
                <a:solidFill>
                  <a:schemeClr val="bg1"/>
                </a:solidFill>
              </a:rPr>
              <a:t>Nine factors, weighted (% of the score)</a:t>
            </a:r>
            <a:endParaRPr lang="en-US" sz="1500" dirty="0"/>
          </a:p>
        </p:txBody>
      </p:sp>
      <p:graphicFrame>
        <p:nvGraphicFramePr>
          <p:cNvPr id="5" name="weights-chart" descr=""/>
          <p:cNvGraphicFramePr/>
          <p:nvPr/>
        </p:nvGraphicFramePr>
        <p:xfrm>
          <a:off x="685800" y="2121408"/>
          <a:ext cx="5394960" cy="3886200"/>
        </p:xfrm>
        <a:graphic xmlns:a="http://schemas.openxmlformats.org/drawingml/2006/main">
          <a:graphicData uri="http://schemas.openxmlformats.org/drawingml/2006/chart">
            <c:chart xmlns:c="http://schemas.openxmlformats.org/drawingml/2006/chart" r:id="rId1"/>
          </a:graphicData>
        </a:graphic>
      </p:graphicFrame>
      <p:sp>
        <p:nvSpPr>
          <p:cNvPr id="6" name="formula-card"/>
          <p:cNvSpPr/>
          <p:nvPr/>
        </p:nvSpPr>
        <p:spPr>
          <a:xfrm>
            <a:off x="6537960" y="1572768"/>
            <a:ext cx="5105095" cy="1572768"/>
          </a:xfrm>
          <a:prstGeom prst="roundRect">
            <a:avLst>
              <a:gd name="adj" fmla="val 8140"/>
            </a:avLst>
          </a:prstGeom>
          <a:solidFill>
            <a:schemeClr val="accent5"/>
          </a:solidFill>
          <a:ln w="9525">
            <a:solidFill>
              <a:schemeClr val="accent6"/>
            </a:solidFill>
            <a:prstDash val="solid"/>
          </a:ln>
        </p:spPr>
      </p:sp>
      <p:sp>
        <p:nvSpPr>
          <p:cNvPr id="7" name="Text 4"/>
          <p:cNvSpPr txBox="1"/>
          <p:nvPr/>
        </p:nvSpPr>
        <p:spPr>
          <a:xfrm>
            <a:off x="6812280" y="1755648"/>
            <a:ext cx="4556455" cy="256032"/>
          </a:xfrm>
          <a:prstGeom prst="rect">
            <a:avLst/>
          </a:prstGeom>
          <a:noFill/>
          <a:ln/>
        </p:spPr>
        <p:txBody>
          <a:bodyPr wrap="square" lIns="0" tIns="0" rIns="0" bIns="0" rtlCol="0" anchor="t"/>
          <a:lstStyle/>
          <a:p>
            <a:pPr indent="0" marL="0">
              <a:buNone/>
            </a:pPr>
            <a:r>
              <a:rPr lang="en-US" sz="1050" b="1" spc="200" kern="0" dirty="0">
                <a:solidFill>
                  <a:schemeClr val="bg2"/>
                </a:solidFill>
              </a:rPr>
              <a:t>HOW THE SCORE IS BUILT</a:t>
            </a:r>
            <a:endParaRPr lang="en-US" sz="1050" dirty="0"/>
          </a:p>
        </p:txBody>
      </p:sp>
      <p:sp>
        <p:nvSpPr>
          <p:cNvPr id="8" name="Text 5"/>
          <p:cNvSpPr txBox="1"/>
          <p:nvPr/>
        </p:nvSpPr>
        <p:spPr>
          <a:xfrm>
            <a:off x="6812280" y="2029968"/>
            <a:ext cx="4556455" cy="685800"/>
          </a:xfrm>
          <a:prstGeom prst="rect">
            <a:avLst/>
          </a:prstGeom>
          <a:noFill/>
          <a:ln/>
        </p:spPr>
        <p:txBody>
          <a:bodyPr wrap="square" lIns="0" tIns="0" rIns="0" bIns="0" rtlCol="0" anchor="t"/>
          <a:lstStyle/>
          <a:p>
            <a:pPr indent="0" marL="0">
              <a:buNone/>
            </a:pPr>
            <a:r>
              <a:rPr lang="en-US" sz="1700" b="1" dirty="0">
                <a:solidFill>
                  <a:schemeClr val="bg1"/>
                </a:solidFill>
              </a:rPr>
              <a:t>Score = </a:t>
            </a:r>
            <a:pPr indent="0" marL="0">
              <a:buNone/>
            </a:pPr>
            <a:r>
              <a:rPr lang="en-US" sz="1700" b="1" dirty="0">
                <a:solidFill>
                  <a:schemeClr val="accent1"/>
                </a:solidFill>
              </a:rPr>
              <a:t>75%</a:t>
            </a:r>
            <a:pPr indent="0" marL="0">
              <a:buNone/>
            </a:pPr>
            <a:r>
              <a:rPr lang="en-US" sz="1700" b="1" dirty="0">
                <a:solidFill>
                  <a:schemeClr val="bg1"/>
                </a:solidFill>
              </a:rPr>
              <a:t> weighted average</a:t>
            </a:r>
            <a:endParaRPr lang="en-US" sz="1700" dirty="0"/>
          </a:p>
          <a:p>
            <a:pPr indent="0" marL="0">
              <a:buNone/>
            </a:pPr>
            <a:r>
              <a:rPr lang="en-US" sz="1700" b="1" dirty="0">
                <a:solidFill>
                  <a:schemeClr val="bg1"/>
                </a:solidFill>
              </a:rPr>
              <a:t>      + </a:t>
            </a:r>
            <a:pPr indent="0" marL="0">
              <a:buNone/>
            </a:pPr>
            <a:r>
              <a:rPr lang="en-US" sz="1700" b="1" dirty="0">
                <a:solidFill>
                  <a:schemeClr val="accent3"/>
                </a:solidFill>
              </a:rPr>
              <a:t>25%</a:t>
            </a:r>
            <a:pPr indent="0" marL="0">
              <a:buNone/>
            </a:pPr>
            <a:r>
              <a:rPr lang="en-US" sz="1700" b="1" dirty="0">
                <a:solidFill>
                  <a:schemeClr val="bg1"/>
                </a:solidFill>
              </a:rPr>
              <a:t> weakest factor</a:t>
            </a:r>
            <a:endParaRPr lang="en-US" sz="1700" dirty="0"/>
          </a:p>
        </p:txBody>
      </p:sp>
      <p:sp>
        <p:nvSpPr>
          <p:cNvPr id="9" name="Text 6"/>
          <p:cNvSpPr txBox="1"/>
          <p:nvPr/>
        </p:nvSpPr>
        <p:spPr>
          <a:xfrm>
            <a:off x="6812280" y="2761488"/>
            <a:ext cx="4556455" cy="274320"/>
          </a:xfrm>
          <a:prstGeom prst="rect">
            <a:avLst/>
          </a:prstGeom>
          <a:noFill/>
          <a:ln/>
        </p:spPr>
        <p:txBody>
          <a:bodyPr wrap="square" lIns="0" tIns="0" rIns="0" bIns="0" rtlCol="0" anchor="t"/>
          <a:lstStyle/>
          <a:p>
            <a:pPr indent="0" marL="0">
              <a:buNone/>
            </a:pPr>
            <a:r>
              <a:rPr lang="en-US" sz="1250" dirty="0">
                <a:solidFill>
                  <a:schemeClr val="bg2"/>
                </a:solidFill>
              </a:rPr>
              <a:t>So one bad area pulls the grade down.</a:t>
            </a:r>
            <a:endParaRPr lang="en-US" sz="1250" dirty="0"/>
          </a:p>
        </p:txBody>
      </p:sp>
      <p:sp>
        <p:nvSpPr>
          <p:cNvPr id="10" name="band-A"/>
          <p:cNvSpPr/>
          <p:nvPr/>
        </p:nvSpPr>
        <p:spPr>
          <a:xfrm>
            <a:off x="6537960" y="3310128"/>
            <a:ext cx="1173404" cy="868680"/>
          </a:xfrm>
          <a:prstGeom prst="roundRect">
            <a:avLst>
              <a:gd name="adj" fmla="val 12632"/>
            </a:avLst>
          </a:prstGeom>
          <a:solidFill>
            <a:schemeClr val="tx2"/>
          </a:solidFill>
          <a:ln w="9525">
            <a:solidFill>
              <a:schemeClr val="accent2"/>
            </a:solidFill>
            <a:prstDash val="solid"/>
          </a:ln>
        </p:spPr>
      </p:sp>
      <p:sp>
        <p:nvSpPr>
          <p:cNvPr id="11" name="Text 8"/>
          <p:cNvSpPr txBox="1"/>
          <p:nvPr/>
        </p:nvSpPr>
        <p:spPr>
          <a:xfrm>
            <a:off x="6537960" y="3383280"/>
            <a:ext cx="1173404" cy="438912"/>
          </a:xfrm>
          <a:prstGeom prst="rect">
            <a:avLst/>
          </a:prstGeom>
          <a:noFill/>
          <a:ln/>
        </p:spPr>
        <p:txBody>
          <a:bodyPr wrap="square" lIns="0" tIns="0" rIns="0" bIns="0" rtlCol="0" anchor="t"/>
          <a:lstStyle/>
          <a:p>
            <a:pPr algn="ctr" indent="0" marL="0">
              <a:buNone/>
            </a:pPr>
            <a:r>
              <a:rPr lang="en-US" sz="2400" b="1" dirty="0">
                <a:solidFill>
                  <a:schemeClr val="accent2"/>
                </a:solidFill>
              </a:rPr>
              <a:t>A</a:t>
            </a:r>
            <a:endParaRPr lang="en-US" sz="2400" dirty="0"/>
          </a:p>
        </p:txBody>
      </p:sp>
      <p:sp>
        <p:nvSpPr>
          <p:cNvPr id="12" name="Text 9"/>
          <p:cNvSpPr txBox="1"/>
          <p:nvPr/>
        </p:nvSpPr>
        <p:spPr>
          <a:xfrm>
            <a:off x="6537960"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80+</a:t>
            </a:r>
            <a:endParaRPr lang="en-US" sz="1200" dirty="0"/>
          </a:p>
        </p:txBody>
      </p:sp>
      <p:sp>
        <p:nvSpPr>
          <p:cNvPr id="13" name="band-B"/>
          <p:cNvSpPr/>
          <p:nvPr/>
        </p:nvSpPr>
        <p:spPr>
          <a:xfrm>
            <a:off x="7848524" y="3310128"/>
            <a:ext cx="1173404" cy="868680"/>
          </a:xfrm>
          <a:prstGeom prst="roundRect">
            <a:avLst>
              <a:gd name="adj" fmla="val 12632"/>
            </a:avLst>
          </a:prstGeom>
          <a:solidFill>
            <a:schemeClr val="tx2"/>
          </a:solidFill>
          <a:ln w="9525">
            <a:solidFill>
              <a:srgbClr val="D7C65E"/>
            </a:solidFill>
            <a:prstDash val="solid"/>
          </a:ln>
        </p:spPr>
      </p:sp>
      <p:sp>
        <p:nvSpPr>
          <p:cNvPr id="14" name="Text 11"/>
          <p:cNvSpPr txBox="1"/>
          <p:nvPr/>
        </p:nvSpPr>
        <p:spPr>
          <a:xfrm>
            <a:off x="7848524" y="3383280"/>
            <a:ext cx="1173404" cy="438912"/>
          </a:xfrm>
          <a:prstGeom prst="rect">
            <a:avLst/>
          </a:prstGeom>
          <a:noFill/>
          <a:ln/>
        </p:spPr>
        <p:txBody>
          <a:bodyPr wrap="square" lIns="0" tIns="0" rIns="0" bIns="0" rtlCol="0" anchor="t"/>
          <a:lstStyle/>
          <a:p>
            <a:pPr algn="ctr" indent="0" marL="0">
              <a:buNone/>
            </a:pPr>
            <a:r>
              <a:rPr lang="en-US" sz="2400" b="1" dirty="0">
                <a:solidFill>
                  <a:srgbClr val="D7C65E"/>
                </a:solidFill>
              </a:rPr>
              <a:t>B</a:t>
            </a:r>
            <a:endParaRPr lang="en-US" sz="2400" dirty="0"/>
          </a:p>
        </p:txBody>
      </p:sp>
      <p:sp>
        <p:nvSpPr>
          <p:cNvPr id="15" name="Text 12"/>
          <p:cNvSpPr txBox="1"/>
          <p:nvPr/>
        </p:nvSpPr>
        <p:spPr>
          <a:xfrm>
            <a:off x="7848524"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65–79</a:t>
            </a:r>
            <a:endParaRPr lang="en-US" sz="1200" dirty="0"/>
          </a:p>
        </p:txBody>
      </p:sp>
      <p:sp>
        <p:nvSpPr>
          <p:cNvPr id="16" name="band-C"/>
          <p:cNvSpPr/>
          <p:nvPr/>
        </p:nvSpPr>
        <p:spPr>
          <a:xfrm>
            <a:off x="9159088" y="3310128"/>
            <a:ext cx="1173404" cy="868680"/>
          </a:xfrm>
          <a:prstGeom prst="roundRect">
            <a:avLst>
              <a:gd name="adj" fmla="val 12632"/>
            </a:avLst>
          </a:prstGeom>
          <a:solidFill>
            <a:schemeClr val="tx2"/>
          </a:solidFill>
          <a:ln w="9525">
            <a:solidFill>
              <a:srgbClr val="E8955C"/>
            </a:solidFill>
            <a:prstDash val="solid"/>
          </a:ln>
        </p:spPr>
      </p:sp>
      <p:sp>
        <p:nvSpPr>
          <p:cNvPr id="17" name="Text 14"/>
          <p:cNvSpPr txBox="1"/>
          <p:nvPr/>
        </p:nvSpPr>
        <p:spPr>
          <a:xfrm>
            <a:off x="9159088" y="3383280"/>
            <a:ext cx="1173404" cy="438912"/>
          </a:xfrm>
          <a:prstGeom prst="rect">
            <a:avLst/>
          </a:prstGeom>
          <a:noFill/>
          <a:ln/>
        </p:spPr>
        <p:txBody>
          <a:bodyPr wrap="square" lIns="0" tIns="0" rIns="0" bIns="0" rtlCol="0" anchor="t"/>
          <a:lstStyle/>
          <a:p>
            <a:pPr algn="ctr" indent="0" marL="0">
              <a:buNone/>
            </a:pPr>
            <a:r>
              <a:rPr lang="en-US" sz="2400" b="1" dirty="0">
                <a:solidFill>
                  <a:srgbClr val="E8955C"/>
                </a:solidFill>
              </a:rPr>
              <a:t>C</a:t>
            </a:r>
            <a:endParaRPr lang="en-US" sz="2400" dirty="0"/>
          </a:p>
        </p:txBody>
      </p:sp>
      <p:sp>
        <p:nvSpPr>
          <p:cNvPr id="18" name="Text 15"/>
          <p:cNvSpPr txBox="1"/>
          <p:nvPr/>
        </p:nvSpPr>
        <p:spPr>
          <a:xfrm>
            <a:off x="9159088"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50–64</a:t>
            </a:r>
            <a:endParaRPr lang="en-US" sz="1200" dirty="0"/>
          </a:p>
        </p:txBody>
      </p:sp>
      <p:sp>
        <p:nvSpPr>
          <p:cNvPr id="19" name="band-D"/>
          <p:cNvSpPr/>
          <p:nvPr/>
        </p:nvSpPr>
        <p:spPr>
          <a:xfrm>
            <a:off x="10469651" y="3310128"/>
            <a:ext cx="1173404" cy="868680"/>
          </a:xfrm>
          <a:prstGeom prst="roundRect">
            <a:avLst>
              <a:gd name="adj" fmla="val 12632"/>
            </a:avLst>
          </a:prstGeom>
          <a:solidFill>
            <a:schemeClr val="tx2"/>
          </a:solidFill>
          <a:ln w="9525">
            <a:solidFill>
              <a:schemeClr val="accent4"/>
            </a:solidFill>
            <a:prstDash val="solid"/>
          </a:ln>
        </p:spPr>
      </p:sp>
      <p:sp>
        <p:nvSpPr>
          <p:cNvPr id="20" name="Text 17"/>
          <p:cNvSpPr txBox="1"/>
          <p:nvPr/>
        </p:nvSpPr>
        <p:spPr>
          <a:xfrm>
            <a:off x="10469651" y="3383280"/>
            <a:ext cx="1173404" cy="438912"/>
          </a:xfrm>
          <a:prstGeom prst="rect">
            <a:avLst/>
          </a:prstGeom>
          <a:noFill/>
          <a:ln/>
        </p:spPr>
        <p:txBody>
          <a:bodyPr wrap="square" lIns="0" tIns="0" rIns="0" bIns="0" rtlCol="0" anchor="t"/>
          <a:lstStyle/>
          <a:p>
            <a:pPr algn="ctr" indent="0" marL="0">
              <a:buNone/>
            </a:pPr>
            <a:r>
              <a:rPr lang="en-US" sz="2400" b="1" dirty="0">
                <a:solidFill>
                  <a:schemeClr val="accent4"/>
                </a:solidFill>
              </a:rPr>
              <a:t>D</a:t>
            </a:r>
            <a:endParaRPr lang="en-US" sz="2400" dirty="0"/>
          </a:p>
        </p:txBody>
      </p:sp>
      <p:sp>
        <p:nvSpPr>
          <p:cNvPr id="21" name="Text 18"/>
          <p:cNvSpPr txBox="1"/>
          <p:nvPr/>
        </p:nvSpPr>
        <p:spPr>
          <a:xfrm>
            <a:off x="10469651"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&lt;50</a:t>
            </a:r>
            <a:endParaRPr lang="en-US" sz="1200" dirty="0"/>
          </a:p>
        </p:txBody>
      </p:sp>
      <p:sp>
        <p:nvSpPr>
          <p:cNvPr id="22" name="example-card"/>
          <p:cNvSpPr/>
          <p:nvPr/>
        </p:nvSpPr>
        <p:spPr>
          <a:xfrm>
            <a:off x="6537960" y="4315968"/>
            <a:ext cx="5105095" cy="1207008"/>
          </a:xfrm>
          <a:prstGeom prst="roundRect">
            <a:avLst>
              <a:gd name="adj" fmla="val 10606"/>
            </a:avLst>
          </a:prstGeom>
          <a:solidFill>
            <a:schemeClr val="tx2"/>
          </a:solidFill>
          <a:ln w="9525">
            <a:solidFill>
              <a:schemeClr val="accent6"/>
            </a:solidFill>
            <a:prstDash val="solid"/>
          </a:ln>
        </p:spPr>
      </p:sp>
      <p:sp>
        <p:nvSpPr>
          <p:cNvPr id="23" name="Text 20"/>
          <p:cNvSpPr txBox="1"/>
          <p:nvPr/>
        </p:nvSpPr>
        <p:spPr>
          <a:xfrm>
            <a:off x="6812280" y="4480560"/>
            <a:ext cx="455645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ONE WEAK FACTOR (DEMO DATA)</a:t>
            </a:r>
            <a:endParaRPr lang="en-US" sz="1050" dirty="0"/>
          </a:p>
        </p:txBody>
      </p:sp>
      <p:sp>
        <p:nvSpPr>
          <p:cNvPr id="24" name="Text 21"/>
          <p:cNvSpPr txBox="1"/>
          <p:nvPr/>
        </p:nvSpPr>
        <p:spPr>
          <a:xfrm>
            <a:off x="6812280" y="4754880"/>
            <a:ext cx="4556455" cy="731520"/>
          </a:xfrm>
          <a:prstGeom prst="rect">
            <a:avLst/>
          </a:prstGeom>
          <a:noFill/>
          <a:ln/>
        </p:spPr>
        <p:txBody>
          <a:bodyPr wrap="square" lIns="0" tIns="0" rIns="0" bIns="0" rtlCol="0" anchor="t"/>
          <a:lstStyle/>
          <a:p>
            <a:pPr indent="0" marL="0">
              <a:lnSpc>
                <a:spcPct val="105000"/>
              </a:lnSpc>
              <a:buNone/>
            </a:pPr>
            <a:r>
              <a:rPr lang="en-US" sz="1350" dirty="0">
                <a:solidFill>
                  <a:schemeClr val="bg2"/>
                </a:solidFill>
              </a:rPr>
              <a:t>Kamino JLP Market: weighted average </a:t>
            </a:r>
            <a:pPr indent="0" marL="0">
              <a:lnSpc>
                <a:spcPct val="105000"/>
              </a:lnSpc>
              <a:buNone/>
            </a:pPr>
            <a:r>
              <a:rPr lang="en-US" sz="1350" b="1" dirty="0">
                <a:solidFill>
                  <a:schemeClr val="accent2"/>
                </a:solidFill>
              </a:rPr>
              <a:t>81</a:t>
            </a:r>
            <a:pPr indent="0" marL="0">
              <a:lnSpc>
                <a:spcPct val="105000"/>
              </a:lnSpc>
              <a:buNone/>
            </a:pPr>
            <a:r>
              <a:rPr lang="en-US" sz="1350" dirty="0">
                <a:solidFill>
                  <a:schemeClr val="bg2"/>
                </a:solidFill>
              </a:rPr>
              <a:t> (an A on its own). Concentration scores </a:t>
            </a:r>
            <a:pPr indent="0" marL="0">
              <a:lnSpc>
                <a:spcPct val="105000"/>
              </a:lnSpc>
              <a:buNone/>
            </a:pPr>
            <a:r>
              <a:rPr lang="en-US" sz="1350" b="1" dirty="0">
                <a:solidFill>
                  <a:schemeClr val="accent4"/>
                </a:solidFill>
              </a:rPr>
              <a:t>37</a:t>
            </a:r>
            <a:pPr indent="0" marL="0">
              <a:lnSpc>
                <a:spcPct val="105000"/>
              </a:lnSpc>
              <a:buNone/>
            </a:pPr>
            <a:r>
              <a:rPr lang="en-US" sz="1350" dirty="0">
                <a:solidFill>
                  <a:schemeClr val="bg2"/>
                </a:solidFill>
              </a:rPr>
              <a:t>, so the final score is </a:t>
            </a:r>
            <a:pPr indent="0" marL="0">
              <a:lnSpc>
                <a:spcPct val="105000"/>
              </a:lnSpc>
              <a:buNone/>
            </a:pPr>
            <a:r>
              <a:rPr lang="en-US" sz="1350" b="1" dirty="0">
                <a:solidFill>
                  <a:schemeClr val="bg1"/>
                </a:solidFill>
              </a:rPr>
              <a:t>70: grade B</a:t>
            </a:r>
            <a:pPr indent="0" marL="0">
              <a:lnSpc>
                <a:spcPct val="105000"/>
              </a:lnSpc>
              <a:buNone/>
            </a:pPr>
            <a:r>
              <a:rPr lang="en-US" sz="1350" dirty="0">
                <a:solidFill>
                  <a:schemeClr val="bg2"/>
                </a:solidFill>
              </a:rPr>
              <a:t>.</a:t>
            </a:r>
            <a:endParaRPr lang="en-US" sz="1350" dirty="0"/>
          </a:p>
        </p:txBody>
      </p:sp>
      <p:sp>
        <p:nvSpPr>
          <p:cNvPr id="25" name="Text 22"/>
          <p:cNvSpPr txBox="1"/>
          <p:nvPr/>
        </p:nvSpPr>
        <p:spPr>
          <a:xfrm>
            <a:off x="6537960" y="5632704"/>
            <a:ext cx="5105095" cy="566928"/>
          </a:xfrm>
          <a:prstGeom prst="rect">
            <a:avLst/>
          </a:prstGeom>
          <a:noFill/>
          <a:ln/>
        </p:spPr>
        <p:txBody>
          <a:bodyPr wrap="square" lIns="0" tIns="0" rIns="0" bIns="0" rtlCol="0" anchor="t"/>
          <a:lstStyle/>
          <a:p>
            <a:pPr indent="0" marL="0">
              <a:buNone/>
            </a:pPr>
            <a:r>
              <a:rPr lang="en-US" sz="1200" b="1" dirty="0">
                <a:solidFill>
                  <a:schemeClr val="bg1"/>
                </a:solidFill>
              </a:rPr>
              <a:t>Hard caps can override the score </a:t>
            </a:r>
            <a:pPr indent="0" marL="0">
              <a:buNone/>
            </a:pPr>
            <a:r>
              <a:rPr lang="en-US" sz="1200" dirty="0">
                <a:solidFill>
                  <a:schemeClr val="bg2"/>
                </a:solidFill>
              </a:rPr>
              <a:t>(e.g. no public audits: at most C). Inputs the data doesn't cover are marked "Not verified" and scored cautiously, never guessed.</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The return that matters is the return after costs</a:t>
            </a:r>
            <a:endParaRPr lang="en-US" sz="3200" dirty="0"/>
          </a:p>
        </p:txBody>
      </p:sp>
      <p:sp>
        <p:nvSpPr>
          <p:cNvPr id="3" name="shot-fees-frame"/>
          <p:cNvSpPr/>
          <p:nvPr/>
        </p:nvSpPr>
        <p:spPr>
          <a:xfrm>
            <a:off x="548640" y="1578703"/>
            <a:ext cx="6876288" cy="2338138"/>
          </a:xfrm>
          <a:prstGeom prst="roundRect">
            <a:avLst>
              <a:gd name="adj" fmla="val 4693"/>
            </a:avLst>
          </a:prstGeom>
          <a:solidFill>
            <a:schemeClr val="tx1"/>
          </a:solidFill>
          <a:ln w="9525">
            <a:solidFill>
              <a:schemeClr val="accent6"/>
            </a:solidFill>
            <a:prstDash val="solid"/>
          </a:ln>
        </p:spPr>
      </p:sp>
      <p:pic>
        <p:nvPicPr>
          <p:cNvPr id="4" name="shot-fees" descr="Filtered to Ethereum with $100: Aave V3 at 4.10% shows minus $7.90 a year and the note 'Fees cost more than you'd earn'">    </p:cNvPr>
          <p:cNvPicPr>
            <a:picLocks noChangeAspect="1"/>
          </p:cNvPicPr>
          <p:nvPr/>
        </p:nvPicPr>
        <p:blipFill>
          <a:blip r:embed="rId1"/>
          <a:stretch>
            <a:fillRect/>
          </a:stretch>
        </p:blipFill>
        <p:spPr>
          <a:xfrm>
            <a:off x="603504" y="1633567"/>
            <a:ext cx="6766560" cy="2228410"/>
          </a:xfrm>
          <a:prstGeom prst="rect">
            <a:avLst/>
          </a:prstGeom>
        </p:spPr>
      </p:pic>
      <p:sp>
        <p:nvSpPr>
          <p:cNvPr id="5" name="Text 2"/>
          <p:cNvSpPr txBox="1"/>
          <p:nvPr/>
        </p:nvSpPr>
        <p:spPr>
          <a:xfrm>
            <a:off x="603504" y="3953417"/>
            <a:ext cx="6400800"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 · $100 of USDC, Ethereum</a:t>
            </a:r>
            <a:endParaRPr lang="en-US" sz="1000" dirty="0"/>
          </a:p>
        </p:txBody>
      </p:sp>
      <p:sp>
        <p:nvSpPr>
          <p:cNvPr id="6" name="fees-callout"/>
          <p:cNvSpPr/>
          <p:nvPr/>
        </p:nvSpPr>
        <p:spPr>
          <a:xfrm>
            <a:off x="7726680" y="1572768"/>
            <a:ext cx="3916375" cy="2338138"/>
          </a:xfrm>
          <a:prstGeom prst="roundRect">
            <a:avLst>
              <a:gd name="adj" fmla="val 5475"/>
            </a:avLst>
          </a:prstGeom>
          <a:solidFill>
            <a:schemeClr val="tx2"/>
          </a:solidFill>
          <a:ln w="9525">
            <a:solidFill>
              <a:schemeClr val="accent3"/>
            </a:solidFill>
            <a:prstDash val="solid"/>
          </a:ln>
        </p:spPr>
      </p:sp>
      <p:sp>
        <p:nvSpPr>
          <p:cNvPr id="7" name="Text 4"/>
          <p:cNvSpPr txBox="1"/>
          <p:nvPr/>
        </p:nvSpPr>
        <p:spPr>
          <a:xfrm>
            <a:off x="8001000" y="1801368"/>
            <a:ext cx="336773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MARKED, NOT HIDDEN</a:t>
            </a:r>
            <a:endParaRPr lang="en-US" sz="1050" dirty="0"/>
          </a:p>
        </p:txBody>
      </p:sp>
      <p:sp>
        <p:nvSpPr>
          <p:cNvPr id="8" name="Text 5"/>
          <p:cNvSpPr txBox="1"/>
          <p:nvPr/>
        </p:nvSpPr>
        <p:spPr>
          <a:xfrm>
            <a:off x="8001000" y="2167128"/>
            <a:ext cx="3413455" cy="1600200"/>
          </a:xfrm>
          <a:prstGeom prst="rect">
            <a:avLst/>
          </a:prstGeom>
          <a:noFill/>
          <a:ln/>
        </p:spPr>
        <p:txBody>
          <a:bodyPr wrap="square" lIns="0" tIns="0" rIns="0" bIns="0" rtlCol="0" anchor="t"/>
          <a:lstStyle/>
          <a:p>
            <a:pPr indent="0" marL="0">
              <a:lnSpc>
                <a:spcPct val="110000"/>
              </a:lnSpc>
              <a:buNone/>
            </a:pPr>
            <a:r>
              <a:rPr lang="en-US" sz="1400" dirty="0">
                <a:solidFill>
                  <a:schemeClr val="bg1"/>
                </a:solidFill>
              </a:rPr>
              <a:t>$100 at 4.10% earns about $4.10 a year. Getting in and out of Ethereum is estimated at $12. </a:t>
            </a:r>
            <a:pPr indent="0" marL="0">
              <a:lnSpc>
                <a:spcPct val="110000"/>
              </a:lnSpc>
              <a:buNone/>
            </a:pPr>
            <a:r>
              <a:rPr lang="en-US" sz="1400" b="1" dirty="0">
                <a:solidFill>
                  <a:schemeClr val="accent3"/>
                </a:solidFill>
              </a:rPr>
              <a:t>So the app says: "Fees cost more than you'd earn."</a:t>
            </a:r>
            <a:endParaRPr lang="en-US" sz="1400" dirty="0"/>
          </a:p>
        </p:txBody>
      </p:sp>
      <p:sp>
        <p:nvSpPr>
          <p:cNvPr id="9" name="Text 6"/>
          <p:cNvSpPr txBox="1"/>
          <p:nvPr/>
        </p:nvSpPr>
        <p:spPr>
          <a:xfrm>
            <a:off x="2057400"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Headline rate</a:t>
            </a:r>
            <a:endParaRPr lang="en-US" sz="1150" dirty="0"/>
          </a:p>
        </p:txBody>
      </p:sp>
      <p:sp>
        <p:nvSpPr>
          <p:cNvPr id="10" name="Text 7"/>
          <p:cNvSpPr txBox="1"/>
          <p:nvPr/>
        </p:nvSpPr>
        <p:spPr>
          <a:xfrm>
            <a:off x="4419524"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A year's interest</a:t>
            </a:r>
            <a:endParaRPr lang="en-US" sz="1150" dirty="0"/>
          </a:p>
        </p:txBody>
      </p:sp>
      <p:sp>
        <p:nvSpPr>
          <p:cNvPr id="11" name="Text 8"/>
          <p:cNvSpPr txBox="1"/>
          <p:nvPr/>
        </p:nvSpPr>
        <p:spPr>
          <a:xfrm>
            <a:off x="6781648"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Network fees (est.)</a:t>
            </a:r>
            <a:endParaRPr lang="en-US" sz="1150" dirty="0"/>
          </a:p>
        </p:txBody>
      </p:sp>
      <p:sp>
        <p:nvSpPr>
          <p:cNvPr id="12" name="Text 9"/>
          <p:cNvSpPr txBox="1"/>
          <p:nvPr/>
        </p:nvSpPr>
        <p:spPr>
          <a:xfrm>
            <a:off x="9143771"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What you keep</a:t>
            </a:r>
            <a:endParaRPr lang="en-US" sz="1150" dirty="0"/>
          </a:p>
        </p:txBody>
      </p:sp>
      <p:sp>
        <p:nvSpPr>
          <p:cNvPr id="13" name="ledger-Ethereum"/>
          <p:cNvSpPr/>
          <p:nvPr/>
        </p:nvSpPr>
        <p:spPr>
          <a:xfrm>
            <a:off x="548640" y="4648361"/>
            <a:ext cx="11094415" cy="512064"/>
          </a:xfrm>
          <a:prstGeom prst="roundRect">
            <a:avLst>
              <a:gd name="adj" fmla="val 17857"/>
            </a:avLst>
          </a:prstGeom>
          <a:solidFill>
            <a:schemeClr val="tx2"/>
          </a:solidFill>
          <a:ln w="9525">
            <a:solidFill>
              <a:schemeClr val="accent6"/>
            </a:solidFill>
            <a:prstDash val="solid"/>
          </a:ln>
        </p:spPr>
      </p:sp>
      <p:sp>
        <p:nvSpPr>
          <p:cNvPr id="14" name="Text 11"/>
          <p:cNvSpPr txBox="1"/>
          <p:nvPr/>
        </p:nvSpPr>
        <p:spPr>
          <a:xfrm>
            <a:off x="777240" y="4721513"/>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Ethereum</a:t>
            </a:r>
            <a:endParaRPr lang="en-US" sz="1500" dirty="0"/>
          </a:p>
        </p:txBody>
      </p:sp>
      <p:sp>
        <p:nvSpPr>
          <p:cNvPr id="15" name="Text 12"/>
          <p:cNvSpPr txBox="1"/>
          <p:nvPr/>
        </p:nvSpPr>
        <p:spPr>
          <a:xfrm>
            <a:off x="2057400"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6" name="Text 13"/>
          <p:cNvSpPr txBox="1"/>
          <p:nvPr/>
        </p:nvSpPr>
        <p:spPr>
          <a:xfrm>
            <a:off x="4419524"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7" name="Text 14"/>
          <p:cNvSpPr txBox="1"/>
          <p:nvPr/>
        </p:nvSpPr>
        <p:spPr>
          <a:xfrm>
            <a:off x="6781648" y="4721513"/>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−$12.00</a:t>
            </a:r>
            <a:endParaRPr lang="en-US" sz="1600" dirty="0"/>
          </a:p>
        </p:txBody>
      </p:sp>
      <p:sp>
        <p:nvSpPr>
          <p:cNvPr id="18" name="Text 15"/>
          <p:cNvSpPr txBox="1"/>
          <p:nvPr/>
        </p:nvSpPr>
        <p:spPr>
          <a:xfrm>
            <a:off x="9143771" y="4721513"/>
            <a:ext cx="2270684" cy="365760"/>
          </a:xfrm>
          <a:prstGeom prst="rect">
            <a:avLst/>
          </a:prstGeom>
          <a:noFill/>
          <a:ln/>
        </p:spPr>
        <p:txBody>
          <a:bodyPr wrap="square" lIns="0" tIns="0" rIns="0" bIns="0" rtlCol="0" anchor="ctr"/>
          <a:lstStyle/>
          <a:p>
            <a:pPr algn="r" indent="0" marL="0">
              <a:buNone/>
            </a:pPr>
            <a:r>
              <a:rPr lang="en-US" sz="1600" b="1" dirty="0">
                <a:solidFill>
                  <a:schemeClr val="accent4"/>
                </a:solidFill>
              </a:rPr>
              <a:t>−$7.90</a:t>
            </a:r>
            <a:endParaRPr lang="en-US" sz="1600" dirty="0"/>
          </a:p>
        </p:txBody>
      </p:sp>
      <p:sp>
        <p:nvSpPr>
          <p:cNvPr id="19" name="ledger-Solana"/>
          <p:cNvSpPr/>
          <p:nvPr/>
        </p:nvSpPr>
        <p:spPr>
          <a:xfrm>
            <a:off x="548640" y="5251865"/>
            <a:ext cx="11094415" cy="512064"/>
          </a:xfrm>
          <a:prstGeom prst="roundRect">
            <a:avLst>
              <a:gd name="adj" fmla="val 17857"/>
            </a:avLst>
          </a:prstGeom>
          <a:solidFill>
            <a:schemeClr val="tx2"/>
          </a:solidFill>
          <a:ln w="9525">
            <a:solidFill>
              <a:schemeClr val="accent6"/>
            </a:solidFill>
            <a:prstDash val="solid"/>
          </a:ln>
        </p:spPr>
      </p:sp>
      <p:sp>
        <p:nvSpPr>
          <p:cNvPr id="20" name="Text 17"/>
          <p:cNvSpPr txBox="1"/>
          <p:nvPr/>
        </p:nvSpPr>
        <p:spPr>
          <a:xfrm>
            <a:off x="777240" y="5325017"/>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Solana</a:t>
            </a:r>
            <a:endParaRPr lang="en-US" sz="1500" dirty="0"/>
          </a:p>
        </p:txBody>
      </p:sp>
      <p:sp>
        <p:nvSpPr>
          <p:cNvPr id="21" name="Text 18"/>
          <p:cNvSpPr txBox="1"/>
          <p:nvPr/>
        </p:nvSpPr>
        <p:spPr>
          <a:xfrm>
            <a:off x="2057400"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2" name="Text 19"/>
          <p:cNvSpPr txBox="1"/>
          <p:nvPr/>
        </p:nvSpPr>
        <p:spPr>
          <a:xfrm>
            <a:off x="4419524"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3" name="Text 20"/>
          <p:cNvSpPr txBox="1"/>
          <p:nvPr/>
        </p:nvSpPr>
        <p:spPr>
          <a:xfrm>
            <a:off x="6781648" y="5325017"/>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−$0.02</a:t>
            </a:r>
            <a:endParaRPr lang="en-US" sz="1600" dirty="0"/>
          </a:p>
        </p:txBody>
      </p:sp>
      <p:sp>
        <p:nvSpPr>
          <p:cNvPr id="24" name="Text 21"/>
          <p:cNvSpPr txBox="1"/>
          <p:nvPr/>
        </p:nvSpPr>
        <p:spPr>
          <a:xfrm>
            <a:off x="9143771" y="5325017"/>
            <a:ext cx="2270684" cy="365760"/>
          </a:xfrm>
          <a:prstGeom prst="rect">
            <a:avLst/>
          </a:prstGeom>
          <a:noFill/>
          <a:ln/>
        </p:spPr>
        <p:txBody>
          <a:bodyPr wrap="square" lIns="0" tIns="0" rIns="0" bIns="0" rtlCol="0" anchor="ctr"/>
          <a:lstStyle/>
          <a:p>
            <a:pPr algn="r" indent="0" marL="0">
              <a:buNone/>
            </a:pPr>
            <a:r>
              <a:rPr lang="en-US" sz="1600" b="1" dirty="0">
                <a:solidFill>
                  <a:schemeClr val="accent2"/>
                </a:solidFill>
              </a:rPr>
              <a:t>+$4.08</a:t>
            </a:r>
            <a:endParaRPr lang="en-US" sz="1600" dirty="0"/>
          </a:p>
        </p:txBody>
      </p:sp>
      <p:sp>
        <p:nvSpPr>
          <p:cNvPr id="25" name="Text 22"/>
          <p:cNvSpPr txBox="1"/>
          <p:nvPr/>
        </p:nvSpPr>
        <p:spPr>
          <a:xfrm>
            <a:off x="548640" y="5946809"/>
            <a:ext cx="11094415" cy="274320"/>
          </a:xfrm>
          <a:prstGeom prst="rect">
            <a:avLst/>
          </a:prstGeom>
          <a:noFill/>
          <a:ln/>
        </p:spPr>
        <p:txBody>
          <a:bodyPr wrap="square" lIns="0" tIns="0" rIns="0" bIns="0" rtlCol="0" anchor="t"/>
          <a:lstStyle/>
          <a:p>
            <a:pPr indent="0" marL="0">
              <a:buNone/>
            </a:pPr>
            <a:r>
              <a:rPr lang="en-US" sz="1100" i="1" dirty="0">
                <a:solidFill>
                  <a:schemeClr val="bg2"/>
                </a:solidFill>
              </a:rPr>
              <a:t>Illustrative: $100 at the same 4.10% rate, using StableSave's per-network fee estimates for one deposit and one withdrawal. Estimates, not live gas prices.</a:t>
            </a:r>
            <a:endParaRPr lang="en-US" sz="11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separate Anchor vault prototype</a:t>
            </a:r>
            <a:endParaRPr lang="en-US" sz="3200" dirty="0"/>
          </a:p>
          <a:p>
            <a:pPr algn="l" indent="0" marL="0">
              <a:lnSpc>
                <a:spcPct val="95000"/>
              </a:lnSpc>
              <a:buNone/>
            </a:pPr>
            <a:r>
              <a:rPr lang="en-US" sz="3200" b="1" dirty="0">
                <a:solidFill>
                  <a:schemeClr val="bg1"/>
                </a:solidFill>
              </a:rPr>
              <a:t>brings the project on-chain</a:t>
            </a:r>
            <a:endParaRPr lang="en-US" sz="3200" dirty="0"/>
          </a:p>
        </p:txBody>
      </p:sp>
      <p:sp>
        <p:nvSpPr>
          <p:cNvPr id="3" name="wallet"/>
          <p:cNvSpPr/>
          <p:nvPr/>
        </p:nvSpPr>
        <p:spPr>
          <a:xfrm>
            <a:off x="548640" y="2624328"/>
            <a:ext cx="1965960" cy="1463040"/>
          </a:xfrm>
          <a:prstGeom prst="roundRect">
            <a:avLst>
              <a:gd name="adj" fmla="val 8750"/>
            </a:avLst>
          </a:prstGeom>
          <a:solidFill>
            <a:schemeClr val="accent5"/>
          </a:solidFill>
          <a:ln w="9525">
            <a:solidFill>
              <a:schemeClr val="accent6"/>
            </a:solidFill>
            <a:prstDash val="solid"/>
          </a:ln>
        </p:spPr>
      </p:sp>
      <p:pic>
        <p:nvPicPr>
          <p:cNvPr id="4" name="Image 0" descr="Wallet">    </p:cNvPr>
          <p:cNvPicPr>
            <a:picLocks noChangeAspect="1"/>
          </p:cNvPicPr>
          <p:nvPr/>
        </p:nvPicPr>
        <p:blipFill>
          <a:blip r:embed="rId1"/>
          <a:stretch>
            <a:fillRect/>
          </a:stretch>
        </p:blipFill>
        <p:spPr>
          <a:xfrm>
            <a:off x="777240" y="2852928"/>
            <a:ext cx="384048" cy="384048"/>
          </a:xfrm>
          <a:prstGeom prst="rect">
            <a:avLst/>
          </a:prstGeom>
        </p:spPr>
      </p:pic>
      <p:sp>
        <p:nvSpPr>
          <p:cNvPr id="5" name="Text 2"/>
          <p:cNvSpPr txBox="1"/>
          <p:nvPr/>
        </p:nvSpPr>
        <p:spPr>
          <a:xfrm>
            <a:off x="777240" y="3337560"/>
            <a:ext cx="1600200" cy="274320"/>
          </a:xfrm>
          <a:prstGeom prst="rect">
            <a:avLst/>
          </a:prstGeom>
          <a:noFill/>
          <a:ln/>
        </p:spPr>
        <p:txBody>
          <a:bodyPr wrap="square" lIns="0" tIns="0" rIns="0" bIns="0" rtlCol="0" anchor="t"/>
          <a:lstStyle/>
          <a:p>
            <a:pPr indent="0" marL="0">
              <a:buNone/>
            </a:pPr>
            <a:r>
              <a:rPr lang="en-US" sz="1500" b="1" dirty="0">
                <a:solidFill>
                  <a:schemeClr val="bg1"/>
                </a:solidFill>
              </a:rPr>
              <a:t>User wallet</a:t>
            </a:r>
            <a:endParaRPr lang="en-US" sz="1500" dirty="0"/>
          </a:p>
        </p:txBody>
      </p:sp>
      <p:sp>
        <p:nvSpPr>
          <p:cNvPr id="6" name="Text 3"/>
          <p:cNvSpPr txBox="1"/>
          <p:nvPr/>
        </p:nvSpPr>
        <p:spPr>
          <a:xfrm>
            <a:off x="777240" y="3630168"/>
            <a:ext cx="1600200" cy="274320"/>
          </a:xfrm>
          <a:prstGeom prst="rect">
            <a:avLst/>
          </a:prstGeom>
          <a:noFill/>
          <a:ln/>
        </p:spPr>
        <p:txBody>
          <a:bodyPr wrap="square" lIns="0" tIns="0" rIns="0" bIns="0" rtlCol="0" anchor="t"/>
          <a:lstStyle/>
          <a:p>
            <a:pPr indent="0" marL="0">
              <a:buNone/>
            </a:pPr>
            <a:r>
              <a:rPr lang="en-US" sz="1100" dirty="0">
                <a:solidFill>
                  <a:schemeClr val="bg2"/>
                </a:solidFill>
              </a:rPr>
              <a:t>Signs every user action</a:t>
            </a:r>
            <a:endParaRPr lang="en-US" sz="1100" dirty="0"/>
          </a:p>
        </p:txBody>
      </p:sp>
      <p:sp>
        <p:nvSpPr>
          <p:cNvPr id="7" name="status-card"/>
          <p:cNvSpPr/>
          <p:nvPr/>
        </p:nvSpPr>
        <p:spPr>
          <a:xfrm>
            <a:off x="548640" y="4498848"/>
            <a:ext cx="1965960" cy="1143000"/>
          </a:xfrm>
          <a:prstGeom prst="roundRect">
            <a:avLst>
              <a:gd name="adj" fmla="val 11200"/>
            </a:avLst>
          </a:prstGeom>
          <a:solidFill>
            <a:schemeClr val="tx2"/>
          </a:solidFill>
          <a:ln w="9525">
            <a:solidFill>
              <a:schemeClr val="accent3"/>
            </a:solidFill>
            <a:prstDash val="solid"/>
          </a:ln>
        </p:spPr>
      </p:sp>
      <p:sp>
        <p:nvSpPr>
          <p:cNvPr id="8" name="Text 5"/>
          <p:cNvSpPr txBox="1"/>
          <p:nvPr/>
        </p:nvSpPr>
        <p:spPr>
          <a:xfrm>
            <a:off x="777240" y="4636008"/>
            <a:ext cx="1600200" cy="868680"/>
          </a:xfrm>
          <a:prstGeom prst="rect">
            <a:avLst/>
          </a:prstGeom>
          <a:noFill/>
          <a:ln/>
        </p:spPr>
        <p:txBody>
          <a:bodyPr wrap="square" lIns="0" tIns="0" rIns="0" bIns="0" rtlCol="0" anchor="ctr"/>
          <a:lstStyle/>
          <a:p>
            <a:pPr indent="0" marL="0">
              <a:spcAft>
                <a:spcPts val="200"/>
              </a:spcAft>
              <a:buNone/>
            </a:pPr>
            <a:r>
              <a:rPr lang="en-US" sz="1300" b="1" dirty="0">
                <a:solidFill>
                  <a:schemeClr val="accent3"/>
                </a:solidFill>
              </a:rPr>
              <a:t>Devnet prototype</a:t>
            </a:r>
            <a:endParaRPr lang="en-US" sz="1300" dirty="0"/>
          </a:p>
          <a:p>
            <a:pPr indent="0" marL="0">
              <a:spcAft>
                <a:spcPts val="200"/>
              </a:spcAft>
              <a:buNone/>
            </a:pPr>
            <a:r>
              <a:rPr lang="en-US" sz="1300" b="1" dirty="0">
                <a:solidFill>
                  <a:schemeClr val="accent3"/>
                </a:solidFill>
              </a:rPr>
              <a:t>Unaudited</a:t>
            </a:r>
            <a:endParaRPr lang="en-US" sz="1300" dirty="0"/>
          </a:p>
          <a:p>
            <a:pPr indent="0" marL="0">
              <a:spcAft>
                <a:spcPts val="200"/>
              </a:spcAft>
              <a:buNone/>
            </a:pPr>
            <a:r>
              <a:rPr lang="en-US" sz="1300" b="1" dirty="0">
                <a:solidFill>
                  <a:schemeClr val="accent3"/>
                </a:solidFill>
              </a:rPr>
              <a:t>No yield yet</a:t>
            </a:r>
            <a:endParaRPr lang="en-US" sz="1300" dirty="0"/>
          </a:p>
        </p:txBody>
      </p:sp>
      <p:sp>
        <p:nvSpPr>
          <p:cNvPr id="9" name="program"/>
          <p:cNvSpPr/>
          <p:nvPr/>
        </p:nvSpPr>
        <p:spPr>
          <a:xfrm>
            <a:off x="3520440" y="1664208"/>
            <a:ext cx="4160520" cy="4434840"/>
          </a:xfrm>
          <a:prstGeom prst="roundRect">
            <a:avLst>
              <a:gd name="adj" fmla="val 3077"/>
            </a:avLst>
          </a:prstGeom>
          <a:solidFill>
            <a:schemeClr val="tx2"/>
          </a:solidFill>
          <a:ln w="9525">
            <a:solidFill>
              <a:schemeClr val="accent1"/>
            </a:solidFill>
            <a:prstDash val="solid"/>
          </a:ln>
        </p:spPr>
      </p:sp>
      <p:pic>
        <p:nvPicPr>
          <p:cNvPr id="10" name="Image 1" descr="Program">    </p:cNvPr>
          <p:cNvPicPr>
            <a:picLocks noChangeAspect="1"/>
          </p:cNvPicPr>
          <p:nvPr/>
        </p:nvPicPr>
        <p:blipFill>
          <a:blip r:embed="rId2"/>
          <a:stretch>
            <a:fillRect/>
          </a:stretch>
        </p:blipFill>
        <p:spPr>
          <a:xfrm>
            <a:off x="3794760" y="1892808"/>
            <a:ext cx="365760" cy="365760"/>
          </a:xfrm>
          <a:prstGeom prst="rect">
            <a:avLst/>
          </a:prstGeom>
        </p:spPr>
      </p:pic>
      <p:sp>
        <p:nvSpPr>
          <p:cNvPr id="11" name="Text 7"/>
          <p:cNvSpPr txBox="1"/>
          <p:nvPr/>
        </p:nvSpPr>
        <p:spPr>
          <a:xfrm>
            <a:off x="4270248" y="1865376"/>
            <a:ext cx="3246120" cy="274320"/>
          </a:xfrm>
          <a:prstGeom prst="rect">
            <a:avLst/>
          </a:prstGeom>
          <a:noFill/>
          <a:ln/>
        </p:spPr>
        <p:txBody>
          <a:bodyPr wrap="square" lIns="0" tIns="0" rIns="0" bIns="0" rtlCol="0" anchor="t"/>
          <a:lstStyle/>
          <a:p>
            <a:pPr indent="0" marL="0">
              <a:buNone/>
            </a:pPr>
            <a:r>
              <a:rPr lang="en-US" sz="1500" b="1" dirty="0">
                <a:solidFill>
                  <a:schemeClr val="bg1"/>
                </a:solidFill>
              </a:rPr>
              <a:t>StableSave Vault program</a:t>
            </a:r>
            <a:endParaRPr lang="en-US" sz="1500" dirty="0"/>
          </a:p>
        </p:txBody>
      </p:sp>
      <p:sp>
        <p:nvSpPr>
          <p:cNvPr id="12" name="Text 8"/>
          <p:cNvSpPr txBox="1"/>
          <p:nvPr/>
        </p:nvSpPr>
        <p:spPr>
          <a:xfrm>
            <a:off x="4270248" y="2139696"/>
            <a:ext cx="3246120" cy="256032"/>
          </a:xfrm>
          <a:prstGeom prst="rect">
            <a:avLst/>
          </a:prstGeom>
          <a:noFill/>
          <a:ln/>
        </p:spPr>
        <p:txBody>
          <a:bodyPr wrap="square" lIns="0" tIns="0" rIns="0" bIns="0" rtlCol="0" anchor="t"/>
          <a:lstStyle/>
          <a:p>
            <a:pPr indent="0" marL="0">
              <a:buNone/>
            </a:pPr>
            <a:r>
              <a:rPr lang="en-US" sz="1100" dirty="0">
                <a:solidFill>
                  <a:schemeClr val="bg2"/>
                </a:solidFill>
              </a:rPr>
              <a:t>Anchor · Solana devnet · 13 instructions</a:t>
            </a:r>
            <a:endParaRPr lang="en-US" sz="1100" dirty="0"/>
          </a:p>
        </p:txBody>
      </p:sp>
      <p:sp>
        <p:nvSpPr>
          <p:cNvPr id="13" name="Text 9"/>
          <p:cNvSpPr txBox="1"/>
          <p:nvPr/>
        </p:nvSpPr>
        <p:spPr>
          <a:xfrm>
            <a:off x="3794760" y="2578608"/>
            <a:ext cx="3611880" cy="256032"/>
          </a:xfrm>
          <a:prstGeom prst="rect">
            <a:avLst/>
          </a:prstGeom>
          <a:noFill/>
          <a:ln/>
        </p:spPr>
        <p:txBody>
          <a:bodyPr wrap="square" lIns="0" tIns="0" rIns="0" bIns="0" rtlCol="0" anchor="t"/>
          <a:lstStyle/>
          <a:p>
            <a:pPr indent="0" marL="0">
              <a:buNone/>
            </a:pPr>
            <a:r>
              <a:rPr lang="en-US" sz="1000" b="1" spc="200" kern="0" dirty="0">
                <a:solidFill>
                  <a:schemeClr val="accent2"/>
                </a:solidFill>
              </a:rPr>
              <a:t>PROGRAM-ENFORCED CHECKS</a:t>
            </a:r>
            <a:endParaRPr lang="en-US" sz="1000" dirty="0"/>
          </a:p>
        </p:txBody>
      </p:sp>
      <p:pic>
        <p:nvPicPr>
          <p:cNvPr id="14" name="Image 2" descr="Check">    </p:cNvPr>
          <p:cNvPicPr>
            <a:picLocks noChangeAspect="1"/>
          </p:cNvPicPr>
          <p:nvPr/>
        </p:nvPicPr>
        <p:blipFill>
          <a:blip r:embed="rId3"/>
          <a:stretch>
            <a:fillRect/>
          </a:stretch>
        </p:blipFill>
        <p:spPr>
          <a:xfrm>
            <a:off x="3794760" y="2944368"/>
            <a:ext cx="237744" cy="237744"/>
          </a:xfrm>
          <a:prstGeom prst="rect">
            <a:avLst/>
          </a:prstGeom>
        </p:spPr>
      </p:pic>
      <p:sp>
        <p:nvSpPr>
          <p:cNvPr id="15" name="Text 10"/>
          <p:cNvSpPr txBox="1"/>
          <p:nvPr/>
        </p:nvSpPr>
        <p:spPr>
          <a:xfrm>
            <a:off x="4160520" y="2907792"/>
            <a:ext cx="3291840" cy="384048"/>
          </a:xfrm>
          <a:prstGeom prst="rect">
            <a:avLst/>
          </a:prstGeom>
          <a:noFill/>
          <a:ln/>
        </p:spPr>
        <p:txBody>
          <a:bodyPr wrap="square" lIns="0" tIns="0" rIns="0" bIns="0" rtlCol="0" anchor="t"/>
          <a:lstStyle/>
          <a:p>
            <a:pPr indent="0" marL="0">
              <a:buNone/>
            </a:pPr>
            <a:r>
              <a:rPr lang="en-US" sz="1250" dirty="0">
                <a:solidFill>
                  <a:schemeClr val="bg1"/>
                </a:solidFill>
              </a:rPr>
              <a:t>Not paused</a:t>
            </a:r>
            <a:endParaRPr lang="en-US" sz="1250" dirty="0"/>
          </a:p>
        </p:txBody>
      </p:sp>
      <p:pic>
        <p:nvPicPr>
          <p:cNvPr id="16" name="Image 3" descr="Check">    </p:cNvPr>
          <p:cNvPicPr>
            <a:picLocks noChangeAspect="1"/>
          </p:cNvPicPr>
          <p:nvPr/>
        </p:nvPicPr>
        <p:blipFill>
          <a:blip r:embed="rId4"/>
          <a:stretch>
            <a:fillRect/>
          </a:stretch>
        </p:blipFill>
        <p:spPr>
          <a:xfrm>
            <a:off x="3794760" y="3474720"/>
            <a:ext cx="237744" cy="237744"/>
          </a:xfrm>
          <a:prstGeom prst="rect">
            <a:avLst/>
          </a:prstGeom>
        </p:spPr>
      </p:pic>
      <p:sp>
        <p:nvSpPr>
          <p:cNvPr id="17" name="Text 11"/>
          <p:cNvSpPr txBox="1"/>
          <p:nvPr/>
        </p:nvSpPr>
        <p:spPr>
          <a:xfrm>
            <a:off x="4160520" y="3438144"/>
            <a:ext cx="3291840" cy="384048"/>
          </a:xfrm>
          <a:prstGeom prst="rect">
            <a:avLst/>
          </a:prstGeom>
          <a:noFill/>
          <a:ln/>
        </p:spPr>
        <p:txBody>
          <a:bodyPr wrap="square" lIns="0" tIns="0" rIns="0" bIns="0" rtlCol="0" anchor="t"/>
          <a:lstStyle/>
          <a:p>
            <a:pPr indent="0" marL="0">
              <a:buNone/>
            </a:pPr>
            <a:r>
              <a:rPr lang="en-US" sz="1250" dirty="0">
                <a:solidFill>
                  <a:schemeClr val="bg1"/>
                </a:solidFill>
              </a:rPr>
              <a:t>Deposit ≥ minimum, under the vault cap</a:t>
            </a:r>
            <a:endParaRPr lang="en-US" sz="1250" dirty="0"/>
          </a:p>
        </p:txBody>
      </p:sp>
      <p:pic>
        <p:nvPicPr>
          <p:cNvPr id="18" name="Image 4" descr="Check">    </p:cNvPr>
          <p:cNvPicPr>
            <a:picLocks noChangeAspect="1"/>
          </p:cNvPicPr>
          <p:nvPr/>
        </p:nvPicPr>
        <p:blipFill>
          <a:blip r:embed="rId5"/>
          <a:stretch>
            <a:fillRect/>
          </a:stretch>
        </p:blipFill>
        <p:spPr>
          <a:xfrm>
            <a:off x="3794760" y="4005072"/>
            <a:ext cx="237744" cy="237744"/>
          </a:xfrm>
          <a:prstGeom prst="rect">
            <a:avLst/>
          </a:prstGeom>
        </p:spPr>
      </p:pic>
      <p:sp>
        <p:nvSpPr>
          <p:cNvPr id="19" name="Text 12"/>
          <p:cNvSpPr txBox="1"/>
          <p:nvPr/>
        </p:nvSpPr>
        <p:spPr>
          <a:xfrm>
            <a:off x="4160520" y="3968496"/>
            <a:ext cx="3291840" cy="384048"/>
          </a:xfrm>
          <a:prstGeom prst="rect">
            <a:avLst/>
          </a:prstGeom>
          <a:noFill/>
          <a:ln/>
        </p:spPr>
        <p:txBody>
          <a:bodyPr wrap="square" lIns="0" tIns="0" rIns="0" bIns="0" rtlCol="0" anchor="t"/>
          <a:lstStyle/>
          <a:p>
            <a:pPr indent="0" marL="0">
              <a:buNone/>
            </a:pPr>
            <a:r>
              <a:rPr lang="en-US" sz="1250" dirty="0">
                <a:solidFill>
                  <a:schemeClr val="bg1"/>
                </a:solidFill>
              </a:rPr>
              <a:t>Instant: 2,000 per wallet, 50,000 per vault / 24 h</a:t>
            </a:r>
            <a:endParaRPr lang="en-US" sz="1250" dirty="0"/>
          </a:p>
        </p:txBody>
      </p:sp>
      <p:pic>
        <p:nvPicPr>
          <p:cNvPr id="20" name="Image 5" descr="Check">    </p:cNvPr>
          <p:cNvPicPr>
            <a:picLocks noChangeAspect="1"/>
          </p:cNvPicPr>
          <p:nvPr/>
        </p:nvPicPr>
        <p:blipFill>
          <a:blip r:embed="rId6"/>
          <a:stretch>
            <a:fillRect/>
          </a:stretch>
        </p:blipFill>
        <p:spPr>
          <a:xfrm>
            <a:off x="3794760" y="4535424"/>
            <a:ext cx="237744" cy="237744"/>
          </a:xfrm>
          <a:prstGeom prst="rect">
            <a:avLst/>
          </a:prstGeom>
        </p:spPr>
      </p:pic>
      <p:sp>
        <p:nvSpPr>
          <p:cNvPr id="21" name="Text 13"/>
          <p:cNvSpPr txBox="1"/>
          <p:nvPr/>
        </p:nvSpPr>
        <p:spPr>
          <a:xfrm>
            <a:off x="4160520" y="4498848"/>
            <a:ext cx="3291840" cy="384048"/>
          </a:xfrm>
          <a:prstGeom prst="rect">
            <a:avLst/>
          </a:prstGeom>
          <a:noFill/>
          <a:ln/>
        </p:spPr>
        <p:txBody>
          <a:bodyPr wrap="square" lIns="0" tIns="0" rIns="0" bIns="0" rtlCol="0" anchor="t"/>
          <a:lstStyle/>
          <a:p>
            <a:pPr indent="0" marL="0">
              <a:buNone/>
            </a:pPr>
            <a:r>
              <a:rPr lang="en-US" sz="1250" dirty="0">
                <a:solidFill>
                  <a:schemeClr val="bg1"/>
                </a:solidFill>
              </a:rPr>
              <a:t>Bigger: request, wait 30 min, then execute</a:t>
            </a:r>
            <a:endParaRPr lang="en-US" sz="1250" dirty="0"/>
          </a:p>
        </p:txBody>
      </p:sp>
      <p:pic>
        <p:nvPicPr>
          <p:cNvPr id="22" name="Image 6" descr="Check">    </p:cNvPr>
          <p:cNvPicPr>
            <a:picLocks noChangeAspect="1"/>
          </p:cNvPicPr>
          <p:nvPr/>
        </p:nvPicPr>
        <p:blipFill>
          <a:blip r:embed="rId7"/>
          <a:stretch>
            <a:fillRect/>
          </a:stretch>
        </p:blipFill>
        <p:spPr>
          <a:xfrm>
            <a:off x="3794760" y="5065776"/>
            <a:ext cx="237744" cy="237744"/>
          </a:xfrm>
          <a:prstGeom prst="rect">
            <a:avLst/>
          </a:prstGeom>
        </p:spPr>
      </p:pic>
      <p:sp>
        <p:nvSpPr>
          <p:cNvPr id="23" name="Text 14"/>
          <p:cNvSpPr txBox="1"/>
          <p:nvPr/>
        </p:nvSpPr>
        <p:spPr>
          <a:xfrm>
            <a:off x="4160520" y="5029200"/>
            <a:ext cx="3291840" cy="384048"/>
          </a:xfrm>
          <a:prstGeom prst="rect">
            <a:avLst/>
          </a:prstGeom>
          <a:noFill/>
          <a:ln/>
        </p:spPr>
        <p:txBody>
          <a:bodyPr wrap="square" lIns="0" tIns="0" rIns="0" bIns="0" rtlCol="0" anchor="t"/>
          <a:lstStyle/>
          <a:p>
            <a:pPr indent="0" marL="0">
              <a:buNone/>
            </a:pPr>
            <a:r>
              <a:rPr lang="en-US" sz="1250" dirty="0">
                <a:solidFill>
                  <a:schemeClr val="bg1"/>
                </a:solidFill>
              </a:rPr>
              <a:t>Shares priced with a virtual offset</a:t>
            </a:r>
            <a:endParaRPr lang="en-US" sz="1250" dirty="0"/>
          </a:p>
        </p:txBody>
      </p:sp>
      <p:sp>
        <p:nvSpPr>
          <p:cNvPr id="24" name="Text 15"/>
          <p:cNvSpPr txBox="1"/>
          <p:nvPr/>
        </p:nvSpPr>
        <p:spPr>
          <a:xfrm>
            <a:off x="3794760" y="5532120"/>
            <a:ext cx="3611880" cy="411480"/>
          </a:xfrm>
          <a:prstGeom prst="rect">
            <a:avLst/>
          </a:prstGeom>
          <a:noFill/>
          <a:ln/>
        </p:spPr>
        <p:txBody>
          <a:bodyPr wrap="square" lIns="0" tIns="0" rIns="0" bIns="0" rtlCol="0" anchor="t"/>
          <a:lstStyle/>
          <a:p>
            <a:pPr indent="0" marL="0">
              <a:buNone/>
            </a:pPr>
            <a:r>
              <a:rPr lang="en-US" sz="1050" dirty="0">
                <a:solidFill>
                  <a:schemeClr val="accent3"/>
                </a:solidFill>
              </a:rPr>
              <a:t>Admin: authority (settings, unpause, two-step handover) · guardian (pause only)</a:t>
            </a:r>
            <a:endParaRPr lang="en-US" sz="1050" dirty="0"/>
          </a:p>
        </p:txBody>
      </p:sp>
      <p:sp>
        <p:nvSpPr>
          <p:cNvPr id="25" name="arrow-in"/>
          <p:cNvSpPr/>
          <p:nvPr/>
        </p:nvSpPr>
        <p:spPr>
          <a:xfrm>
            <a:off x="2560320" y="3127248"/>
            <a:ext cx="914400" cy="0"/>
          </a:xfrm>
          <a:prstGeom prst="line">
            <a:avLst/>
          </a:prstGeom>
          <a:noFill/>
          <a:ln w="22225">
            <a:solidFill>
              <a:srgbClr val="14F195"/>
            </a:solidFill>
            <a:prstDash val="solid"/>
            <a:tailEnd type="triangle"/>
          </a:ln>
        </p:spPr>
      </p:sp>
      <p:sp>
        <p:nvSpPr>
          <p:cNvPr id="26" name="arrow-out"/>
          <p:cNvSpPr/>
          <p:nvPr/>
        </p:nvSpPr>
        <p:spPr>
          <a:xfrm>
            <a:off x="2560320" y="3584448"/>
            <a:ext cx="914400" cy="0"/>
          </a:xfrm>
          <a:prstGeom prst="line">
            <a:avLst/>
          </a:prstGeom>
          <a:noFill/>
          <a:ln w="15875">
            <a:solidFill>
              <a:srgbClr val="9AA7BD"/>
            </a:solidFill>
            <a:prstDash val="solid"/>
            <a:headEnd type="triangle"/>
          </a:ln>
        </p:spPr>
      </p:sp>
      <p:sp>
        <p:nvSpPr>
          <p:cNvPr id="27" name="Text 18"/>
          <p:cNvSpPr txBox="1"/>
          <p:nvPr/>
        </p:nvSpPr>
        <p:spPr>
          <a:xfrm>
            <a:off x="2606040" y="2825496"/>
            <a:ext cx="822960" cy="256032"/>
          </a:xfrm>
          <a:prstGeom prst="rect">
            <a:avLst/>
          </a:prstGeom>
          <a:noFill/>
          <a:ln/>
        </p:spPr>
        <p:txBody>
          <a:bodyPr wrap="square" lIns="0" tIns="0" rIns="0" bIns="0" rtlCol="0" anchor="t"/>
          <a:lstStyle/>
          <a:p>
            <a:pPr algn="ctr" indent="0" marL="0">
              <a:buNone/>
            </a:pPr>
            <a:r>
              <a:rPr lang="en-US" sz="1050" dirty="0">
                <a:solidFill>
                  <a:schemeClr val="accent2"/>
                </a:solidFill>
              </a:rPr>
              <a:t>deposit</a:t>
            </a:r>
            <a:endParaRPr lang="en-US" sz="1050" dirty="0"/>
          </a:p>
        </p:txBody>
      </p:sp>
      <p:sp>
        <p:nvSpPr>
          <p:cNvPr id="28" name="Text 19"/>
          <p:cNvSpPr txBox="1"/>
          <p:nvPr/>
        </p:nvSpPr>
        <p:spPr>
          <a:xfrm>
            <a:off x="2606040" y="3648456"/>
            <a:ext cx="822960" cy="256032"/>
          </a:xfrm>
          <a:prstGeom prst="rect">
            <a:avLst/>
          </a:prstGeom>
          <a:noFill/>
          <a:ln/>
        </p:spPr>
        <p:txBody>
          <a:bodyPr wrap="square" lIns="0" tIns="0" rIns="0" bIns="0" rtlCol="0" anchor="t"/>
          <a:lstStyle/>
          <a:p>
            <a:pPr algn="ctr" indent="0" marL="0">
              <a:buNone/>
            </a:pPr>
            <a:r>
              <a:rPr lang="en-US" sz="1050" dirty="0">
                <a:solidFill>
                  <a:schemeClr val="bg2"/>
                </a:solidFill>
              </a:rPr>
              <a:t>withdraw</a:t>
            </a:r>
            <a:endParaRPr lang="en-US" sz="1050" dirty="0"/>
          </a:p>
        </p:txBody>
      </p:sp>
      <p:sp>
        <p:nvSpPr>
          <p:cNvPr id="29" name="acct-0"/>
          <p:cNvSpPr/>
          <p:nvPr/>
        </p:nvSpPr>
        <p:spPr>
          <a:xfrm>
            <a:off x="8549640" y="1664208"/>
            <a:ext cx="3093415" cy="1344168"/>
          </a:xfrm>
          <a:prstGeom prst="roundRect">
            <a:avLst>
              <a:gd name="adj" fmla="val 9524"/>
            </a:avLst>
          </a:prstGeom>
          <a:solidFill>
            <a:schemeClr val="tx2"/>
          </a:solidFill>
          <a:ln w="9525">
            <a:solidFill>
              <a:schemeClr val="accent6"/>
            </a:solidFill>
            <a:prstDash val="solid"/>
          </a:ln>
        </p:spPr>
      </p:sp>
      <p:sp>
        <p:nvSpPr>
          <p:cNvPr id="30" name="Text 21"/>
          <p:cNvSpPr txBox="1"/>
          <p:nvPr/>
        </p:nvSpPr>
        <p:spPr>
          <a:xfrm>
            <a:off x="8778240" y="1801368"/>
            <a:ext cx="2636215" cy="274320"/>
          </a:xfrm>
          <a:prstGeom prst="rect">
            <a:avLst/>
          </a:prstGeom>
          <a:noFill/>
          <a:ln/>
        </p:spPr>
        <p:txBody>
          <a:bodyPr wrap="square" lIns="0" tIns="0" rIns="0" bIns="0" rtlCol="0" anchor="t"/>
          <a:lstStyle/>
          <a:p>
            <a:pPr indent="0" marL="0">
              <a:buNone/>
            </a:pPr>
            <a:r>
              <a:rPr lang="en-US" sz="1400" b="1" dirty="0">
                <a:solidFill>
                  <a:schemeClr val="bg1"/>
                </a:solidFill>
              </a:rPr>
              <a:t>Vault PDA</a:t>
            </a:r>
            <a:endParaRPr lang="en-US" sz="1400" dirty="0"/>
          </a:p>
        </p:txBody>
      </p:sp>
      <p:sp>
        <p:nvSpPr>
          <p:cNvPr id="31" name="Text 22"/>
          <p:cNvSpPr txBox="1"/>
          <p:nvPr/>
        </p:nvSpPr>
        <p:spPr>
          <a:xfrm>
            <a:off x="8778240" y="2093976"/>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["vault", mint, risk_profile]</a:t>
            </a:r>
            <a:endParaRPr lang="en-US" sz="1050" dirty="0"/>
          </a:p>
        </p:txBody>
      </p:sp>
      <p:sp>
        <p:nvSpPr>
          <p:cNvPr id="32" name="Text 23"/>
          <p:cNvSpPr txBox="1"/>
          <p:nvPr/>
        </p:nvSpPr>
        <p:spPr>
          <a:xfrm>
            <a:off x="8778240" y="2377440"/>
            <a:ext cx="2636215" cy="457200"/>
          </a:xfrm>
          <a:prstGeom prst="rect">
            <a:avLst/>
          </a:prstGeom>
          <a:noFill/>
          <a:ln/>
        </p:spPr>
        <p:txBody>
          <a:bodyPr wrap="square" lIns="0" tIns="0" rIns="0" bIns="0" rtlCol="0" anchor="t"/>
          <a:lstStyle/>
          <a:p>
            <a:pPr indent="0" marL="0">
              <a:buNone/>
            </a:pPr>
            <a:r>
              <a:rPr lang="en-US" sz="1150" dirty="0">
                <a:solidFill>
                  <a:schemeClr val="bg2"/>
                </a:solidFill>
              </a:rPr>
              <a:t>Roles, limits, strategy, share totals</a:t>
            </a:r>
            <a:endParaRPr lang="en-US" sz="1150" dirty="0"/>
          </a:p>
        </p:txBody>
      </p:sp>
      <p:sp>
        <p:nvSpPr>
          <p:cNvPr id="33" name="link-0"/>
          <p:cNvSpPr/>
          <p:nvPr/>
        </p:nvSpPr>
        <p:spPr>
          <a:xfrm>
            <a:off x="7726680" y="2336292"/>
            <a:ext cx="777240" cy="0"/>
          </a:xfrm>
          <a:prstGeom prst="line">
            <a:avLst/>
          </a:prstGeom>
          <a:noFill/>
          <a:ln w="15875">
            <a:solidFill>
              <a:srgbClr val="26324F"/>
            </a:solidFill>
            <a:prstDash val="solid"/>
            <a:tailEnd type="oval"/>
          </a:ln>
        </p:spPr>
      </p:sp>
      <p:sp>
        <p:nvSpPr>
          <p:cNvPr id="34" name="acct-1"/>
          <p:cNvSpPr/>
          <p:nvPr/>
        </p:nvSpPr>
        <p:spPr>
          <a:xfrm>
            <a:off x="8549640" y="3191256"/>
            <a:ext cx="3093415" cy="1344168"/>
          </a:xfrm>
          <a:prstGeom prst="roundRect">
            <a:avLst>
              <a:gd name="adj" fmla="val 9524"/>
            </a:avLst>
          </a:prstGeom>
          <a:solidFill>
            <a:schemeClr val="tx2"/>
          </a:solidFill>
          <a:ln w="9525">
            <a:solidFill>
              <a:schemeClr val="accent6"/>
            </a:solidFill>
            <a:prstDash val="solid"/>
          </a:ln>
        </p:spPr>
      </p:sp>
      <p:sp>
        <p:nvSpPr>
          <p:cNvPr id="35" name="Text 26"/>
          <p:cNvSpPr txBox="1"/>
          <p:nvPr/>
        </p:nvSpPr>
        <p:spPr>
          <a:xfrm>
            <a:off x="8778240" y="3328416"/>
            <a:ext cx="2636215" cy="274320"/>
          </a:xfrm>
          <a:prstGeom prst="rect">
            <a:avLst/>
          </a:prstGeom>
          <a:noFill/>
          <a:ln/>
        </p:spPr>
        <p:txBody>
          <a:bodyPr wrap="square" lIns="0" tIns="0" rIns="0" bIns="0" rtlCol="0" anchor="t"/>
          <a:lstStyle/>
          <a:p>
            <a:pPr indent="0" marL="0">
              <a:buNone/>
            </a:pPr>
            <a:r>
              <a:rPr lang="en-US" sz="1400" b="1" dirty="0">
                <a:solidFill>
                  <a:schemeClr val="accent2"/>
                </a:solidFill>
              </a:rPr>
              <a:t>Reserve PDA</a:t>
            </a:r>
            <a:endParaRPr lang="en-US" sz="1400" dirty="0"/>
          </a:p>
        </p:txBody>
      </p:sp>
      <p:sp>
        <p:nvSpPr>
          <p:cNvPr id="36" name="Text 27"/>
          <p:cNvSpPr txBox="1"/>
          <p:nvPr/>
        </p:nvSpPr>
        <p:spPr>
          <a:xfrm>
            <a:off x="8778240" y="3621024"/>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["reserve", vault]</a:t>
            </a:r>
            <a:endParaRPr lang="en-US" sz="1050" dirty="0"/>
          </a:p>
        </p:txBody>
      </p:sp>
      <p:sp>
        <p:nvSpPr>
          <p:cNvPr id="37" name="Text 28"/>
          <p:cNvSpPr txBox="1"/>
          <p:nvPr/>
        </p:nvSpPr>
        <p:spPr>
          <a:xfrm>
            <a:off x="8778240" y="3904488"/>
            <a:ext cx="2636215" cy="457200"/>
          </a:xfrm>
          <a:prstGeom prst="rect">
            <a:avLst/>
          </a:prstGeom>
          <a:noFill/>
          <a:ln/>
        </p:spPr>
        <p:txBody>
          <a:bodyPr wrap="square" lIns="0" tIns="0" rIns="0" bIns="0" rtlCol="0" anchor="t"/>
          <a:lstStyle/>
          <a:p>
            <a:pPr indent="0" marL="0">
              <a:buNone/>
            </a:pPr>
            <a:r>
              <a:rPr lang="en-US" sz="1150" dirty="0">
                <a:solidFill>
                  <a:schemeClr val="bg2"/>
                </a:solidFill>
              </a:rPr>
              <a:t>The deposited tokens; only the vault signs transfers out</a:t>
            </a:r>
            <a:endParaRPr lang="en-US" sz="1150" dirty="0"/>
          </a:p>
        </p:txBody>
      </p:sp>
      <p:sp>
        <p:nvSpPr>
          <p:cNvPr id="38" name="link-1"/>
          <p:cNvSpPr/>
          <p:nvPr/>
        </p:nvSpPr>
        <p:spPr>
          <a:xfrm>
            <a:off x="7726680" y="3863340"/>
            <a:ext cx="777240" cy="0"/>
          </a:xfrm>
          <a:prstGeom prst="line">
            <a:avLst/>
          </a:prstGeom>
          <a:noFill/>
          <a:ln w="15875">
            <a:solidFill>
              <a:srgbClr val="26324F"/>
            </a:solidFill>
            <a:prstDash val="solid"/>
            <a:tailEnd type="oval"/>
          </a:ln>
        </p:spPr>
      </p:sp>
      <p:sp>
        <p:nvSpPr>
          <p:cNvPr id="39" name="acct-2"/>
          <p:cNvSpPr/>
          <p:nvPr/>
        </p:nvSpPr>
        <p:spPr>
          <a:xfrm>
            <a:off x="8549640" y="4718304"/>
            <a:ext cx="3093415" cy="1344168"/>
          </a:xfrm>
          <a:prstGeom prst="roundRect">
            <a:avLst>
              <a:gd name="adj" fmla="val 9524"/>
            </a:avLst>
          </a:prstGeom>
          <a:solidFill>
            <a:schemeClr val="tx2"/>
          </a:solidFill>
          <a:ln w="9525">
            <a:solidFill>
              <a:schemeClr val="accent6"/>
            </a:solidFill>
            <a:prstDash val="solid"/>
          </a:ln>
        </p:spPr>
      </p:sp>
      <p:sp>
        <p:nvSpPr>
          <p:cNvPr id="40" name="Text 31"/>
          <p:cNvSpPr txBox="1"/>
          <p:nvPr/>
        </p:nvSpPr>
        <p:spPr>
          <a:xfrm>
            <a:off x="8778240" y="4855464"/>
            <a:ext cx="2636215" cy="274320"/>
          </a:xfrm>
          <a:prstGeom prst="rect">
            <a:avLst/>
          </a:prstGeom>
          <a:noFill/>
          <a:ln/>
        </p:spPr>
        <p:txBody>
          <a:bodyPr wrap="square" lIns="0" tIns="0" rIns="0" bIns="0" rtlCol="0" anchor="t"/>
          <a:lstStyle/>
          <a:p>
            <a:pPr indent="0" marL="0">
              <a:buNone/>
            </a:pPr>
            <a:r>
              <a:rPr lang="en-US" sz="1400" b="1" dirty="0">
                <a:solidFill>
                  <a:schemeClr val="bg1"/>
                </a:solidFill>
              </a:rPr>
              <a:t>UserPosition PDA</a:t>
            </a:r>
            <a:endParaRPr lang="en-US" sz="1400" dirty="0"/>
          </a:p>
        </p:txBody>
      </p:sp>
      <p:sp>
        <p:nvSpPr>
          <p:cNvPr id="41" name="Text 32"/>
          <p:cNvSpPr txBox="1"/>
          <p:nvPr/>
        </p:nvSpPr>
        <p:spPr>
          <a:xfrm>
            <a:off x="8778240" y="5148072"/>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["position", vault, owner]</a:t>
            </a:r>
            <a:endParaRPr lang="en-US" sz="1050" dirty="0"/>
          </a:p>
        </p:txBody>
      </p:sp>
      <p:sp>
        <p:nvSpPr>
          <p:cNvPr id="42" name="Text 33"/>
          <p:cNvSpPr txBox="1"/>
          <p:nvPr/>
        </p:nvSpPr>
        <p:spPr>
          <a:xfrm>
            <a:off x="8778240" y="5431536"/>
            <a:ext cx="2636215" cy="457200"/>
          </a:xfrm>
          <a:prstGeom prst="rect">
            <a:avLst/>
          </a:prstGeom>
          <a:noFill/>
          <a:ln/>
        </p:spPr>
        <p:txBody>
          <a:bodyPr wrap="square" lIns="0" tIns="0" rIns="0" bIns="0" rtlCol="0" anchor="t"/>
          <a:lstStyle/>
          <a:p>
            <a:pPr indent="0" marL="0">
              <a:buNone/>
            </a:pPr>
            <a:r>
              <a:rPr lang="en-US" sz="1150" dirty="0">
                <a:solidFill>
                  <a:schemeClr val="bg2"/>
                </a:solidFill>
              </a:rPr>
              <a:t>One depositor's shares and pending withdrawal</a:t>
            </a:r>
            <a:endParaRPr lang="en-US" sz="1150" dirty="0"/>
          </a:p>
        </p:txBody>
      </p:sp>
      <p:sp>
        <p:nvSpPr>
          <p:cNvPr id="43" name="link-2"/>
          <p:cNvSpPr/>
          <p:nvPr/>
        </p:nvSpPr>
        <p:spPr>
          <a:xfrm>
            <a:off x="7726680" y="5390388"/>
            <a:ext cx="777240" cy="0"/>
          </a:xfrm>
          <a:prstGeom prst="line">
            <a:avLst/>
          </a:prstGeom>
          <a:noFill/>
          <a:ln w="15875">
            <a:solidFill>
              <a:srgbClr val="26324F"/>
            </a:solidFill>
            <a:prstDash val="solid"/>
            <a:tailEnd type="oval"/>
          </a:ln>
        </p:spPr>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Security is not a badge. It is a set of explicit trade-offs</a:t>
            </a:r>
            <a:endParaRPr lang="en-US" sz="3200" dirty="0"/>
          </a:p>
        </p:txBody>
      </p:sp>
      <p:sp>
        <p:nvSpPr>
          <p:cNvPr id="3" name="control-0"/>
          <p:cNvSpPr/>
          <p:nvPr/>
        </p:nvSpPr>
        <p:spPr>
          <a:xfrm>
            <a:off x="548640" y="1572768"/>
            <a:ext cx="2602154" cy="1847088"/>
          </a:xfrm>
          <a:prstGeom prst="roundRect">
            <a:avLst>
              <a:gd name="adj" fmla="val 6931"/>
            </a:avLst>
          </a:prstGeom>
          <a:solidFill>
            <a:schemeClr val="tx2"/>
          </a:solidFill>
          <a:ln w="9525">
            <a:solidFill>
              <a:schemeClr val="accent6"/>
            </a:solidFill>
            <a:prstDash val="solid"/>
          </a:ln>
        </p:spPr>
      </p:sp>
      <p:pic>
        <p:nvPicPr>
          <p:cNvPr id="4" name="Image 0" descr="On-chain checks">    </p:cNvPr>
          <p:cNvPicPr>
            <a:picLocks noChangeAspect="1"/>
          </p:cNvPicPr>
          <p:nvPr/>
        </p:nvPicPr>
        <p:blipFill>
          <a:blip r:embed="rId1"/>
          <a:stretch>
            <a:fillRect/>
          </a:stretch>
        </p:blipFill>
        <p:spPr>
          <a:xfrm>
            <a:off x="777240" y="1801368"/>
            <a:ext cx="329184" cy="329184"/>
          </a:xfrm>
          <a:prstGeom prst="rect">
            <a:avLst/>
          </a:prstGeom>
        </p:spPr>
      </p:pic>
      <p:sp>
        <p:nvSpPr>
          <p:cNvPr id="5" name="Text 2"/>
          <p:cNvSpPr txBox="1"/>
          <p:nvPr/>
        </p:nvSpPr>
        <p:spPr>
          <a:xfrm>
            <a:off x="777240"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On-chain checks</a:t>
            </a:r>
            <a:endParaRPr lang="en-US" sz="1400" dirty="0"/>
          </a:p>
        </p:txBody>
      </p:sp>
      <p:sp>
        <p:nvSpPr>
          <p:cNvPr id="6" name="Text 3"/>
          <p:cNvSpPr txBox="1"/>
          <p:nvPr/>
        </p:nvSpPr>
        <p:spPr>
          <a:xfrm>
            <a:off x="777240"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Pause, minimum and cap</a:t>
            </a:r>
            <a:endParaRPr lang="en-US" sz="1150" dirty="0"/>
          </a:p>
        </p:txBody>
      </p:sp>
      <p:sp>
        <p:nvSpPr>
          <p:cNvPr id="7" name="Text 4"/>
          <p:cNvSpPr txBox="1"/>
          <p:nvPr/>
        </p:nvSpPr>
        <p:spPr>
          <a:xfrm>
            <a:off x="777240"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Rejects bad deposits and exits</a:t>
            </a:r>
            <a:endParaRPr lang="en-US" sz="1150" dirty="0"/>
          </a:p>
        </p:txBody>
      </p:sp>
      <p:sp>
        <p:nvSpPr>
          <p:cNvPr id="8" name="control-1"/>
          <p:cNvSpPr/>
          <p:nvPr/>
        </p:nvSpPr>
        <p:spPr>
          <a:xfrm>
            <a:off x="3379394" y="1572768"/>
            <a:ext cx="2602154" cy="1847088"/>
          </a:xfrm>
          <a:prstGeom prst="roundRect">
            <a:avLst>
              <a:gd name="adj" fmla="val 6931"/>
            </a:avLst>
          </a:prstGeom>
          <a:solidFill>
            <a:schemeClr val="tx2"/>
          </a:solidFill>
          <a:ln w="9525">
            <a:solidFill>
              <a:schemeClr val="accent6"/>
            </a:solidFill>
            <a:prstDash val="solid"/>
          </a:ln>
        </p:spPr>
      </p:sp>
      <p:pic>
        <p:nvPicPr>
          <p:cNvPr id="9" name="Image 1" descr="2,000 per wallet / 24 h">    </p:cNvPr>
          <p:cNvPicPr>
            <a:picLocks noChangeAspect="1"/>
          </p:cNvPicPr>
          <p:nvPr/>
        </p:nvPicPr>
        <p:blipFill>
          <a:blip r:embed="rId2"/>
          <a:stretch>
            <a:fillRect/>
          </a:stretch>
        </p:blipFill>
        <p:spPr>
          <a:xfrm>
            <a:off x="3607994" y="1801368"/>
            <a:ext cx="329184" cy="329184"/>
          </a:xfrm>
          <a:prstGeom prst="rect">
            <a:avLst/>
          </a:prstGeom>
        </p:spPr>
      </p:pic>
      <p:sp>
        <p:nvSpPr>
          <p:cNvPr id="10" name="Text 6"/>
          <p:cNvSpPr txBox="1"/>
          <p:nvPr/>
        </p:nvSpPr>
        <p:spPr>
          <a:xfrm>
            <a:off x="3607994"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2,000 per wallet / 24 h</a:t>
            </a:r>
            <a:endParaRPr lang="en-US" sz="1400" dirty="0"/>
          </a:p>
        </p:txBody>
      </p:sp>
      <p:sp>
        <p:nvSpPr>
          <p:cNvPr id="11" name="Text 7"/>
          <p:cNvSpPr txBox="1"/>
          <p:nvPr/>
        </p:nvSpPr>
        <p:spPr>
          <a:xfrm>
            <a:off x="3607994"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withdrawal limit</a:t>
            </a:r>
            <a:endParaRPr lang="en-US" sz="1150" dirty="0"/>
          </a:p>
        </p:txBody>
      </p:sp>
      <p:sp>
        <p:nvSpPr>
          <p:cNvPr id="12" name="Text 8"/>
          <p:cNvSpPr txBox="1"/>
          <p:nvPr/>
        </p:nvSpPr>
        <p:spPr>
          <a:xfrm>
            <a:off x="3607994"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Limits a stolen wallet</a:t>
            </a:r>
            <a:endParaRPr lang="en-US" sz="1150" dirty="0"/>
          </a:p>
        </p:txBody>
      </p:sp>
      <p:sp>
        <p:nvSpPr>
          <p:cNvPr id="13" name="control-2"/>
          <p:cNvSpPr/>
          <p:nvPr/>
        </p:nvSpPr>
        <p:spPr>
          <a:xfrm>
            <a:off x="6210148" y="1572768"/>
            <a:ext cx="2602154" cy="1847088"/>
          </a:xfrm>
          <a:prstGeom prst="roundRect">
            <a:avLst>
              <a:gd name="adj" fmla="val 6931"/>
            </a:avLst>
          </a:prstGeom>
          <a:solidFill>
            <a:schemeClr val="tx2"/>
          </a:solidFill>
          <a:ln w="9525">
            <a:solidFill>
              <a:schemeClr val="accent6"/>
            </a:solidFill>
            <a:prstDash val="solid"/>
          </a:ln>
        </p:spPr>
      </p:sp>
      <p:pic>
        <p:nvPicPr>
          <p:cNvPr id="14" name="Image 2" descr="50,000 per vault / 24 h">    </p:cNvPr>
          <p:cNvPicPr>
            <a:picLocks noChangeAspect="1"/>
          </p:cNvPicPr>
          <p:nvPr/>
        </p:nvPicPr>
        <p:blipFill>
          <a:blip r:embed="rId3"/>
          <a:stretch>
            <a:fillRect/>
          </a:stretch>
        </p:blipFill>
        <p:spPr>
          <a:xfrm>
            <a:off x="6438748" y="1801368"/>
            <a:ext cx="329184" cy="329184"/>
          </a:xfrm>
          <a:prstGeom prst="rect">
            <a:avLst/>
          </a:prstGeom>
        </p:spPr>
      </p:pic>
      <p:sp>
        <p:nvSpPr>
          <p:cNvPr id="15" name="Text 10"/>
          <p:cNvSpPr txBox="1"/>
          <p:nvPr/>
        </p:nvSpPr>
        <p:spPr>
          <a:xfrm>
            <a:off x="6438748"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50,000 per vault / 24 h</a:t>
            </a:r>
            <a:endParaRPr lang="en-US" sz="1400" dirty="0"/>
          </a:p>
        </p:txBody>
      </p:sp>
      <p:sp>
        <p:nvSpPr>
          <p:cNvPr id="16" name="Text 11"/>
          <p:cNvSpPr txBox="1"/>
          <p:nvPr/>
        </p:nvSpPr>
        <p:spPr>
          <a:xfrm>
            <a:off x="6438748"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limit, all users</a:t>
            </a:r>
            <a:endParaRPr lang="en-US" sz="1150" dirty="0"/>
          </a:p>
        </p:txBody>
      </p:sp>
      <p:sp>
        <p:nvSpPr>
          <p:cNvPr id="17" name="Text 12"/>
          <p:cNvSpPr txBox="1"/>
          <p:nvPr/>
        </p:nvSpPr>
        <p:spPr>
          <a:xfrm>
            <a:off x="6438748"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Slows a bank run</a:t>
            </a:r>
            <a:endParaRPr lang="en-US" sz="1150" dirty="0"/>
          </a:p>
        </p:txBody>
      </p:sp>
      <p:sp>
        <p:nvSpPr>
          <p:cNvPr id="18" name="control-3"/>
          <p:cNvSpPr/>
          <p:nvPr/>
        </p:nvSpPr>
        <p:spPr>
          <a:xfrm>
            <a:off x="9040901" y="1572768"/>
            <a:ext cx="2602154" cy="1847088"/>
          </a:xfrm>
          <a:prstGeom prst="roundRect">
            <a:avLst>
              <a:gd name="adj" fmla="val 6931"/>
            </a:avLst>
          </a:prstGeom>
          <a:solidFill>
            <a:schemeClr val="tx2"/>
          </a:solidFill>
          <a:ln w="9525">
            <a:solidFill>
              <a:schemeClr val="accent6"/>
            </a:solidFill>
            <a:prstDash val="solid"/>
          </a:ln>
        </p:spPr>
      </p:sp>
      <p:pic>
        <p:nvPicPr>
          <p:cNvPr id="19" name="Image 3" descr="30-minute timelock">    </p:cNvPr>
          <p:cNvPicPr>
            <a:picLocks noChangeAspect="1"/>
          </p:cNvPicPr>
          <p:nvPr/>
        </p:nvPicPr>
        <p:blipFill>
          <a:blip r:embed="rId4"/>
          <a:stretch>
            <a:fillRect/>
          </a:stretch>
        </p:blipFill>
        <p:spPr>
          <a:xfrm>
            <a:off x="9269501" y="1801368"/>
            <a:ext cx="329184" cy="329184"/>
          </a:xfrm>
          <a:prstGeom prst="rect">
            <a:avLst/>
          </a:prstGeom>
        </p:spPr>
      </p:pic>
      <p:sp>
        <p:nvSpPr>
          <p:cNvPr id="20" name="Text 14"/>
          <p:cNvSpPr txBox="1"/>
          <p:nvPr/>
        </p:nvSpPr>
        <p:spPr>
          <a:xfrm>
            <a:off x="9269501"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30-minute timelock</a:t>
            </a:r>
            <a:endParaRPr lang="en-US" sz="1400" dirty="0"/>
          </a:p>
        </p:txBody>
      </p:sp>
      <p:sp>
        <p:nvSpPr>
          <p:cNvPr id="21" name="Text 15"/>
          <p:cNvSpPr txBox="1"/>
          <p:nvPr/>
        </p:nvSpPr>
        <p:spPr>
          <a:xfrm>
            <a:off x="9269501"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Above the instant limits</a:t>
            </a:r>
            <a:endParaRPr lang="en-US" sz="1150" dirty="0"/>
          </a:p>
        </p:txBody>
      </p:sp>
      <p:sp>
        <p:nvSpPr>
          <p:cNvPr id="22" name="Text 16"/>
          <p:cNvSpPr txBox="1"/>
          <p:nvPr/>
        </p:nvSpPr>
        <p:spPr>
          <a:xfrm>
            <a:off x="9269501"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Time to react; big exits wait</a:t>
            </a:r>
            <a:endParaRPr lang="en-US" sz="1150" dirty="0"/>
          </a:p>
        </p:txBody>
      </p:sp>
      <p:sp>
        <p:nvSpPr>
          <p:cNvPr id="23" name="control-4"/>
          <p:cNvSpPr/>
          <p:nvPr/>
        </p:nvSpPr>
        <p:spPr>
          <a:xfrm>
            <a:off x="548640" y="3648456"/>
            <a:ext cx="2602154" cy="1847088"/>
          </a:xfrm>
          <a:prstGeom prst="roundRect">
            <a:avLst>
              <a:gd name="adj" fmla="val 6931"/>
            </a:avLst>
          </a:prstGeom>
          <a:solidFill>
            <a:schemeClr val="tx2"/>
          </a:solidFill>
          <a:ln w="9525">
            <a:solidFill>
              <a:schemeClr val="accent6"/>
            </a:solidFill>
            <a:prstDash val="solid"/>
          </a:ln>
        </p:spPr>
      </p:sp>
      <p:pic>
        <p:nvPicPr>
          <p:cNvPr id="24" name="Image 4" descr="Guardian pause">    </p:cNvPr>
          <p:cNvPicPr>
            <a:picLocks noChangeAspect="1"/>
          </p:cNvPicPr>
          <p:nvPr/>
        </p:nvPicPr>
        <p:blipFill>
          <a:blip r:embed="rId5"/>
          <a:stretch>
            <a:fillRect/>
          </a:stretch>
        </p:blipFill>
        <p:spPr>
          <a:xfrm>
            <a:off x="777240" y="3877056"/>
            <a:ext cx="329184" cy="329184"/>
          </a:xfrm>
          <a:prstGeom prst="rect">
            <a:avLst/>
          </a:prstGeom>
        </p:spPr>
      </p:pic>
      <p:sp>
        <p:nvSpPr>
          <p:cNvPr id="25" name="Text 18"/>
          <p:cNvSpPr txBox="1"/>
          <p:nvPr/>
        </p:nvSpPr>
        <p:spPr>
          <a:xfrm>
            <a:off x="777240"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Guardian pause</a:t>
            </a:r>
            <a:endParaRPr lang="en-US" sz="1400" dirty="0"/>
          </a:p>
        </p:txBody>
      </p:sp>
      <p:sp>
        <p:nvSpPr>
          <p:cNvPr id="26" name="Text 19"/>
          <p:cNvSpPr txBox="1"/>
          <p:nvPr/>
        </p:nvSpPr>
        <p:spPr>
          <a:xfrm>
            <a:off x="777240"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Only the authority unpauses</a:t>
            </a:r>
            <a:endParaRPr lang="en-US" sz="1150" dirty="0"/>
          </a:p>
        </p:txBody>
      </p:sp>
      <p:sp>
        <p:nvSpPr>
          <p:cNvPr id="27" name="Text 20"/>
          <p:cNvSpPr txBox="1"/>
          <p:nvPr/>
        </p:nvSpPr>
        <p:spPr>
          <a:xfrm>
            <a:off x="777240"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Fast stop; no escape hatch yet</a:t>
            </a:r>
            <a:endParaRPr lang="en-US" sz="1150" dirty="0"/>
          </a:p>
        </p:txBody>
      </p:sp>
      <p:sp>
        <p:nvSpPr>
          <p:cNvPr id="28" name="control-5"/>
          <p:cNvSpPr/>
          <p:nvPr/>
        </p:nvSpPr>
        <p:spPr>
          <a:xfrm>
            <a:off x="3379394" y="3648456"/>
            <a:ext cx="2602154" cy="1847088"/>
          </a:xfrm>
          <a:prstGeom prst="roundRect">
            <a:avLst>
              <a:gd name="adj" fmla="val 6931"/>
            </a:avLst>
          </a:prstGeom>
          <a:solidFill>
            <a:schemeClr val="tx2"/>
          </a:solidFill>
          <a:ln w="9525">
            <a:solidFill>
              <a:schemeClr val="accent6"/>
            </a:solidFill>
            <a:prstDash val="solid"/>
          </a:ln>
        </p:spPr>
      </p:sp>
      <p:pic>
        <p:nvPicPr>
          <p:cNvPr id="29" name="Image 5" descr="Role-based admin">    </p:cNvPr>
          <p:cNvPicPr>
            <a:picLocks noChangeAspect="1"/>
          </p:cNvPicPr>
          <p:nvPr/>
        </p:nvPicPr>
        <p:blipFill>
          <a:blip r:embed="rId6"/>
          <a:stretch>
            <a:fillRect/>
          </a:stretch>
        </p:blipFill>
        <p:spPr>
          <a:xfrm>
            <a:off x="3607994" y="3877056"/>
            <a:ext cx="329184" cy="329184"/>
          </a:xfrm>
          <a:prstGeom prst="rect">
            <a:avLst/>
          </a:prstGeom>
        </p:spPr>
      </p:pic>
      <p:sp>
        <p:nvSpPr>
          <p:cNvPr id="30" name="Text 22"/>
          <p:cNvSpPr txBox="1"/>
          <p:nvPr/>
        </p:nvSpPr>
        <p:spPr>
          <a:xfrm>
            <a:off x="3607994"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Role-based admin</a:t>
            </a:r>
            <a:endParaRPr lang="en-US" sz="1400" dirty="0"/>
          </a:p>
        </p:txBody>
      </p:sp>
      <p:sp>
        <p:nvSpPr>
          <p:cNvPr id="31" name="Text 23"/>
          <p:cNvSpPr txBox="1"/>
          <p:nvPr/>
        </p:nvSpPr>
        <p:spPr>
          <a:xfrm>
            <a:off x="3607994"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Two-step authority handover</a:t>
            </a:r>
            <a:endParaRPr lang="en-US" sz="1150" dirty="0"/>
          </a:p>
        </p:txBody>
      </p:sp>
      <p:sp>
        <p:nvSpPr>
          <p:cNvPr id="32" name="Text 24"/>
          <p:cNvSpPr txBox="1"/>
          <p:nvPr/>
        </p:nvSpPr>
        <p:spPr>
          <a:xfrm>
            <a:off x="3607994"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One powerful key today</a:t>
            </a:r>
            <a:endParaRPr lang="en-US" sz="1150" dirty="0"/>
          </a:p>
        </p:txBody>
      </p:sp>
      <p:sp>
        <p:nvSpPr>
          <p:cNvPr id="33" name="control-6"/>
          <p:cNvSpPr/>
          <p:nvPr/>
        </p:nvSpPr>
        <p:spPr>
          <a:xfrm>
            <a:off x="6210148" y="3648456"/>
            <a:ext cx="2602154" cy="1847088"/>
          </a:xfrm>
          <a:prstGeom prst="roundRect">
            <a:avLst>
              <a:gd name="adj" fmla="val 6931"/>
            </a:avLst>
          </a:prstGeom>
          <a:solidFill>
            <a:schemeClr val="tx2"/>
          </a:solidFill>
          <a:ln w="9525">
            <a:solidFill>
              <a:schemeClr val="accent6"/>
            </a:solidFill>
            <a:prstDash val="solid"/>
          </a:ln>
        </p:spPr>
      </p:sp>
      <p:pic>
        <p:nvPicPr>
          <p:cNvPr id="34" name="Image 6" descr="Virtual share offset">    </p:cNvPr>
          <p:cNvPicPr>
            <a:picLocks noChangeAspect="1"/>
          </p:cNvPicPr>
          <p:nvPr/>
        </p:nvPicPr>
        <p:blipFill>
          <a:blip r:embed="rId7"/>
          <a:stretch>
            <a:fillRect/>
          </a:stretch>
        </p:blipFill>
        <p:spPr>
          <a:xfrm>
            <a:off x="6438748" y="3877056"/>
            <a:ext cx="329184" cy="329184"/>
          </a:xfrm>
          <a:prstGeom prst="rect">
            <a:avLst/>
          </a:prstGeom>
        </p:spPr>
      </p:pic>
      <p:sp>
        <p:nvSpPr>
          <p:cNvPr id="35" name="Text 26"/>
          <p:cNvSpPr txBox="1"/>
          <p:nvPr/>
        </p:nvSpPr>
        <p:spPr>
          <a:xfrm>
            <a:off x="6438748"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Virtual share offset</a:t>
            </a:r>
            <a:endParaRPr lang="en-US" sz="1400" dirty="0"/>
          </a:p>
        </p:txBody>
      </p:sp>
      <p:sp>
        <p:nvSpPr>
          <p:cNvPr id="36" name="Text 27"/>
          <p:cNvSpPr txBox="1"/>
          <p:nvPr/>
        </p:nvSpPr>
        <p:spPr>
          <a:xfrm>
            <a:off x="6438748"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1,000 shares, 1 asset</a:t>
            </a:r>
            <a:endParaRPr lang="en-US" sz="1150" dirty="0"/>
          </a:p>
        </p:txBody>
      </p:sp>
      <p:sp>
        <p:nvSpPr>
          <p:cNvPr id="37" name="Text 28"/>
          <p:cNvSpPr txBox="1"/>
          <p:nvPr/>
        </p:nvSpPr>
        <p:spPr>
          <a:xfrm>
            <a:off x="6438748"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Stops share-price inflation</a:t>
            </a:r>
            <a:endParaRPr lang="en-US" sz="1150" dirty="0"/>
          </a:p>
        </p:txBody>
      </p:sp>
      <p:sp>
        <p:nvSpPr>
          <p:cNvPr id="38" name="control-7"/>
          <p:cNvSpPr/>
          <p:nvPr/>
        </p:nvSpPr>
        <p:spPr>
          <a:xfrm>
            <a:off x="9040901" y="3648456"/>
            <a:ext cx="2602154" cy="1847088"/>
          </a:xfrm>
          <a:prstGeom prst="roundRect">
            <a:avLst>
              <a:gd name="adj" fmla="val 6931"/>
            </a:avLst>
          </a:prstGeom>
          <a:solidFill>
            <a:schemeClr val="tx2"/>
          </a:solidFill>
          <a:ln w="9525">
            <a:solidFill>
              <a:schemeClr val="accent6"/>
            </a:solidFill>
            <a:prstDash val="solid"/>
          </a:ln>
        </p:spPr>
      </p:sp>
      <p:pic>
        <p:nvPicPr>
          <p:cNvPr id="39" name="Image 7" descr="Automated tests">    </p:cNvPr>
          <p:cNvPicPr>
            <a:picLocks noChangeAspect="1"/>
          </p:cNvPicPr>
          <p:nvPr/>
        </p:nvPicPr>
        <p:blipFill>
          <a:blip r:embed="rId8"/>
          <a:stretch>
            <a:fillRect/>
          </a:stretch>
        </p:blipFill>
        <p:spPr>
          <a:xfrm>
            <a:off x="9269501" y="3877056"/>
            <a:ext cx="329184" cy="329184"/>
          </a:xfrm>
          <a:prstGeom prst="rect">
            <a:avLst/>
          </a:prstGeom>
        </p:spPr>
      </p:pic>
      <p:sp>
        <p:nvSpPr>
          <p:cNvPr id="40" name="Text 30"/>
          <p:cNvSpPr txBox="1"/>
          <p:nvPr/>
        </p:nvSpPr>
        <p:spPr>
          <a:xfrm>
            <a:off x="9269501"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Automated tests</a:t>
            </a:r>
            <a:endParaRPr lang="en-US" sz="1400" dirty="0"/>
          </a:p>
        </p:txBody>
      </p:sp>
      <p:sp>
        <p:nvSpPr>
          <p:cNvPr id="41" name="Text 31"/>
          <p:cNvSpPr txBox="1"/>
          <p:nvPr/>
        </p:nvSpPr>
        <p:spPr>
          <a:xfrm>
            <a:off x="9269501"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10 unit + 5 integration</a:t>
            </a:r>
            <a:endParaRPr lang="en-US" sz="1150" dirty="0"/>
          </a:p>
        </p:txBody>
      </p:sp>
      <p:sp>
        <p:nvSpPr>
          <p:cNvPr id="42" name="Text 32"/>
          <p:cNvSpPr txBox="1"/>
          <p:nvPr/>
        </p:nvSpPr>
        <p:spPr>
          <a:xfrm>
            <a:off x="9269501"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Plus a local deploy rehearsal</a:t>
            </a:r>
            <a:endParaRPr lang="en-US" sz="1150" dirty="0"/>
          </a:p>
        </p:txBody>
      </p:sp>
      <p:sp>
        <p:nvSpPr>
          <p:cNvPr id="43" name="not-yet"/>
          <p:cNvSpPr/>
          <p:nvPr/>
        </p:nvSpPr>
        <p:spPr>
          <a:xfrm>
            <a:off x="548640" y="5678424"/>
            <a:ext cx="11094415" cy="530352"/>
          </a:xfrm>
          <a:prstGeom prst="roundRect">
            <a:avLst>
              <a:gd name="adj" fmla="val 17241"/>
            </a:avLst>
          </a:prstGeom>
          <a:solidFill>
            <a:schemeClr val="tx2"/>
          </a:solidFill>
          <a:ln w="9525">
            <a:solidFill>
              <a:schemeClr val="accent3"/>
            </a:solidFill>
            <a:prstDash val="solid"/>
          </a:ln>
        </p:spPr>
      </p:sp>
      <p:sp>
        <p:nvSpPr>
          <p:cNvPr id="44" name="Text 34"/>
          <p:cNvSpPr txBox="1"/>
          <p:nvPr/>
        </p:nvSpPr>
        <p:spPr>
          <a:xfrm>
            <a:off x="822960" y="5751576"/>
            <a:ext cx="10545775" cy="384048"/>
          </a:xfrm>
          <a:prstGeom prst="rect">
            <a:avLst/>
          </a:prstGeom>
          <a:noFill/>
          <a:ln/>
        </p:spPr>
        <p:txBody>
          <a:bodyPr wrap="square" lIns="0" tIns="0" rIns="0" bIns="0" rtlCol="0" anchor="ctr"/>
          <a:lstStyle/>
          <a:p>
            <a:pPr indent="0" marL="0">
              <a:buNone/>
            </a:pPr>
            <a:r>
              <a:rPr lang="en-US" sz="1300" b="1" dirty="0">
                <a:solidFill>
                  <a:schemeClr val="accent3"/>
                </a:solidFill>
              </a:rPr>
              <a:t>Not yet: </a:t>
            </a:r>
            <a:pPr indent="0" marL="0">
              <a:buNone/>
            </a:pPr>
            <a:r>
              <a:rPr lang="en-US" sz="1300" dirty="0">
                <a:solidFill>
                  <a:schemeClr val="bg1"/>
                </a:solidFill>
              </a:rPr>
              <a:t>audit · multisig authority · strategy-change delay · pause escape hatch · fuzz testing</a:t>
            </a:r>
            <a:pPr indent="0" marL="0">
              <a:buNone/>
            </a:pPr>
            <a:r>
              <a:rPr lang="en-US" sz="1300" dirty="0">
                <a:solidFill>
                  <a:schemeClr val="bg2"/>
                </a:solidFill>
              </a:rPr>
              <a:t>   (everything above runs on devnet only)</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Let's see what works today</a:t>
            </a:r>
            <a:endParaRPr lang="en-US" sz="3200" dirty="0"/>
          </a:p>
        </p:txBody>
      </p:sp>
      <p:sp>
        <p:nvSpPr>
          <p:cNvPr id="3" name="demo-0"/>
          <p:cNvSpPr/>
          <p:nvPr/>
        </p:nvSpPr>
        <p:spPr>
          <a:xfrm>
            <a:off x="548640" y="1572768"/>
            <a:ext cx="5364328" cy="4251960"/>
          </a:xfrm>
          <a:prstGeom prst="roundRect">
            <a:avLst>
              <a:gd name="adj" fmla="val 3011"/>
            </a:avLst>
          </a:prstGeom>
          <a:solidFill>
            <a:schemeClr val="tx2"/>
          </a:solidFill>
          <a:ln w="9525">
            <a:solidFill>
              <a:schemeClr val="accent6"/>
            </a:solidFill>
            <a:prstDash val="solid"/>
          </a:ln>
        </p:spPr>
      </p:sp>
      <p:sp>
        <p:nvSpPr>
          <p:cNvPr id="4" name="Text 2"/>
          <p:cNvSpPr txBox="1"/>
          <p:nvPr/>
        </p:nvSpPr>
        <p:spPr>
          <a:xfrm>
            <a:off x="822960" y="1828800"/>
            <a:ext cx="960120" cy="310896"/>
          </a:xfrm>
          <a:prstGeom prst="roundRect">
            <a:avLst>
              <a:gd name="adj" fmla="val 50000"/>
            </a:avLst>
          </a:prstGeom>
          <a:solidFill>
            <a:schemeClr val="tx1"/>
          </a:solidFill>
          <a:ln w="12700">
            <a:solidFill>
              <a:schemeClr val="accent2"/>
            </a:solidFill>
          </a:ln>
        </p:spPr>
        <p:txBody>
          <a:bodyPr wrap="square" lIns="0" tIns="0" rIns="0" bIns="0" rtlCol="0" anchor="ctr"/>
          <a:lstStyle/>
          <a:p>
            <a:pPr algn="ctr" indent="0" marL="0">
              <a:buNone/>
            </a:pPr>
            <a:r>
              <a:rPr lang="en-US" sz="950" b="1" spc="100" kern="0" dirty="0">
                <a:solidFill>
                  <a:schemeClr val="accent2"/>
                </a:solidFill>
              </a:rPr>
              <a:t>A · LIVE</a:t>
            </a:r>
            <a:endParaRPr lang="en-US" sz="950" dirty="0"/>
          </a:p>
        </p:txBody>
      </p:sp>
      <p:sp>
        <p:nvSpPr>
          <p:cNvPr id="5" name="Text 3"/>
          <p:cNvSpPr txBox="1"/>
          <p:nvPr/>
        </p:nvSpPr>
        <p:spPr>
          <a:xfrm>
            <a:off x="822960"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Comparison app</a:t>
            </a:r>
            <a:endParaRPr lang="en-US" sz="2000" dirty="0"/>
          </a:p>
        </p:txBody>
      </p:sp>
      <p:sp>
        <p:nvSpPr>
          <p:cNvPr id="6" name="Text 4"/>
          <p:cNvSpPr txBox="1"/>
          <p:nvPr/>
        </p:nvSpPr>
        <p:spPr>
          <a:xfrm>
            <a:off x="822960" y="2651760"/>
            <a:ext cx="3108960" cy="274320"/>
          </a:xfrm>
          <a:prstGeom prst="rect">
            <a:avLst/>
          </a:prstGeom>
          <a:noFill/>
          <a:ln/>
        </p:spPr>
        <p:txBody>
          <a:bodyPr wrap="square" lIns="0" tIns="0" rIns="0" bIns="0" rtlCol="0" anchor="t"/>
          <a:lstStyle/>
          <a:p>
            <a:pPr indent="0" marL="0">
              <a:buNone/>
            </a:pPr>
            <a:r>
              <a:rPr lang="en-US" sz="1150" dirty="0">
                <a:solidFill>
                  <a:schemeClr val="accent2"/>
                </a:solidFill>
              </a:rPr>
              <a:t>stablesaver-web.vercel.app</a:t>
            </a:r>
            <a:endParaRPr lang="en-US" sz="1150" dirty="0"/>
          </a:p>
        </p:txBody>
      </p:sp>
      <p:sp>
        <p:nvSpPr>
          <p:cNvPr id="7" name="badge-1"/>
          <p:cNvSpPr txBox="1"/>
          <p:nvPr/>
        </p:nvSpPr>
        <p:spPr>
          <a:xfrm>
            <a:off x="822960" y="30998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8" name="Text 6"/>
          <p:cNvSpPr txBox="1"/>
          <p:nvPr/>
        </p:nvSpPr>
        <p:spPr>
          <a:xfrm>
            <a:off x="1207008"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the site</a:t>
            </a:r>
            <a:endParaRPr lang="en-US" sz="1300" dirty="0"/>
          </a:p>
        </p:txBody>
      </p:sp>
      <p:sp>
        <p:nvSpPr>
          <p:cNvPr id="9" name="badge-2"/>
          <p:cNvSpPr txBox="1"/>
          <p:nvPr/>
        </p:nvSpPr>
        <p:spPr>
          <a:xfrm>
            <a:off x="822960" y="352958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10" name="Text 8"/>
          <p:cNvSpPr txBox="1"/>
          <p:nvPr/>
        </p:nvSpPr>
        <p:spPr>
          <a:xfrm>
            <a:off x="1207008"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Enter an amount</a:t>
            </a:r>
            <a:endParaRPr lang="en-US" sz="1300" dirty="0"/>
          </a:p>
        </p:txBody>
      </p:sp>
      <p:sp>
        <p:nvSpPr>
          <p:cNvPr id="11" name="badge-3"/>
          <p:cNvSpPr txBox="1"/>
          <p:nvPr/>
        </p:nvSpPr>
        <p:spPr>
          <a:xfrm>
            <a:off x="822960" y="395935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12" name="Text 10"/>
          <p:cNvSpPr txBox="1"/>
          <p:nvPr/>
        </p:nvSpPr>
        <p:spPr>
          <a:xfrm>
            <a:off x="1207008"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Switch Safe / Balanced / Bigger</a:t>
            </a:r>
            <a:endParaRPr lang="en-US" sz="1300" dirty="0"/>
          </a:p>
        </p:txBody>
      </p:sp>
      <p:sp>
        <p:nvSpPr>
          <p:cNvPr id="13" name="badge-4"/>
          <p:cNvSpPr txBox="1"/>
          <p:nvPr/>
        </p:nvSpPr>
        <p:spPr>
          <a:xfrm>
            <a:off x="822960" y="438912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14" name="Text 12"/>
          <p:cNvSpPr txBox="1"/>
          <p:nvPr/>
        </p:nvSpPr>
        <p:spPr>
          <a:xfrm>
            <a:off x="1207008"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an option: the grade</a:t>
            </a:r>
            <a:endParaRPr lang="en-US" sz="1300" dirty="0"/>
          </a:p>
        </p:txBody>
      </p:sp>
      <p:sp>
        <p:nvSpPr>
          <p:cNvPr id="15" name="badge-5"/>
          <p:cNvSpPr txBox="1"/>
          <p:nvPr/>
        </p:nvSpPr>
        <p:spPr>
          <a:xfrm>
            <a:off x="822960" y="481888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16" name="Text 14"/>
          <p:cNvSpPr txBox="1"/>
          <p:nvPr/>
        </p:nvSpPr>
        <p:spPr>
          <a:xfrm>
            <a:off x="1207008"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Show earnings after fees</a:t>
            </a:r>
            <a:endParaRPr lang="en-US" sz="1300" dirty="0"/>
          </a:p>
        </p:txBody>
      </p:sp>
      <p:sp>
        <p:nvSpPr>
          <p:cNvPr id="17" name="badge-6"/>
          <p:cNvSpPr txBox="1"/>
          <p:nvPr/>
        </p:nvSpPr>
        <p:spPr>
          <a:xfrm>
            <a:off x="822960" y="524865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18" name="Text 16"/>
          <p:cNvSpPr txBox="1"/>
          <p:nvPr/>
        </p:nvSpPr>
        <p:spPr>
          <a:xfrm>
            <a:off x="1207008"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$100 + Ethereum: fees win</a:t>
            </a:r>
            <a:endParaRPr lang="en-US" sz="1300" dirty="0"/>
          </a:p>
        </p:txBody>
      </p:sp>
      <p:sp>
        <p:nvSpPr>
          <p:cNvPr id="19" name="Shape 17"/>
          <p:cNvSpPr/>
          <p:nvPr/>
        </p:nvSpPr>
        <p:spPr>
          <a:xfrm>
            <a:off x="3931920" y="2137572"/>
            <a:ext cx="1798168" cy="3122353"/>
          </a:xfrm>
          <a:prstGeom prst="roundRect">
            <a:avLst>
              <a:gd name="adj" fmla="val 5085"/>
            </a:avLst>
          </a:prstGeom>
          <a:solidFill>
            <a:schemeClr val="tx1"/>
          </a:solidFill>
          <a:ln w="9525">
            <a:solidFill>
              <a:schemeClr val="accent6"/>
            </a:solidFill>
            <a:prstDash val="solid"/>
          </a:ln>
        </p:spPr>
      </p:sp>
      <p:pic>
        <p:nvPicPr>
          <p:cNvPr id="20" name="demo-shot-0" descr="Comparison app home: amount, estimated earnings and risk preference">    </p:cNvPr>
          <p:cNvPicPr>
            <a:picLocks noChangeAspect="1"/>
          </p:cNvPicPr>
          <p:nvPr/>
        </p:nvPicPr>
        <p:blipFill>
          <a:blip r:embed="rId1"/>
          <a:stretch>
            <a:fillRect/>
          </a:stretch>
        </p:blipFill>
        <p:spPr>
          <a:xfrm>
            <a:off x="3977640" y="2183292"/>
            <a:ext cx="1706728" cy="3030913"/>
          </a:xfrm>
          <a:prstGeom prst="rect">
            <a:avLst/>
          </a:prstGeom>
        </p:spPr>
      </p:pic>
      <p:sp>
        <p:nvSpPr>
          <p:cNvPr id="21" name="demo-1"/>
          <p:cNvSpPr/>
          <p:nvPr/>
        </p:nvSpPr>
        <p:spPr>
          <a:xfrm>
            <a:off x="6278728" y="1572768"/>
            <a:ext cx="5364328" cy="4251960"/>
          </a:xfrm>
          <a:prstGeom prst="roundRect">
            <a:avLst>
              <a:gd name="adj" fmla="val 3011"/>
            </a:avLst>
          </a:prstGeom>
          <a:solidFill>
            <a:schemeClr val="tx2"/>
          </a:solidFill>
          <a:ln w="9525">
            <a:solidFill>
              <a:schemeClr val="accent6"/>
            </a:solidFill>
            <a:prstDash val="solid"/>
          </a:ln>
        </p:spPr>
      </p:sp>
      <p:sp>
        <p:nvSpPr>
          <p:cNvPr id="22" name="Text 19"/>
          <p:cNvSpPr txBox="1"/>
          <p:nvPr/>
        </p:nvSpPr>
        <p:spPr>
          <a:xfrm>
            <a:off x="6553048" y="1828800"/>
            <a:ext cx="2057400" cy="310896"/>
          </a:xfrm>
          <a:prstGeom prst="roundRect">
            <a:avLst>
              <a:gd name="adj" fmla="val 50000"/>
            </a:avLst>
          </a:prstGeom>
          <a:solidFill>
            <a:schemeClr val="tx1"/>
          </a:solidFill>
          <a:ln w="12700">
            <a:solidFill>
              <a:schemeClr val="accent1"/>
            </a:solidFill>
          </a:ln>
        </p:spPr>
        <p:txBody>
          <a:bodyPr wrap="square" lIns="0" tIns="0" rIns="0" bIns="0" rtlCol="0" anchor="ctr"/>
          <a:lstStyle/>
          <a:p>
            <a:pPr algn="ctr" indent="0" marL="0">
              <a:buNone/>
            </a:pPr>
            <a:r>
              <a:rPr lang="en-US" sz="950" b="1" spc="100" kern="0" dirty="0">
                <a:solidFill>
                  <a:schemeClr val="accent1"/>
                </a:solidFill>
              </a:rPr>
              <a:t>B · DEVNET PROTOTYPE</a:t>
            </a:r>
            <a:endParaRPr lang="en-US" sz="950" dirty="0"/>
          </a:p>
        </p:txBody>
      </p:sp>
      <p:sp>
        <p:nvSpPr>
          <p:cNvPr id="23" name="Text 20"/>
          <p:cNvSpPr txBox="1"/>
          <p:nvPr/>
        </p:nvSpPr>
        <p:spPr>
          <a:xfrm>
            <a:off x="6553048"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Vault</a:t>
            </a:r>
            <a:endParaRPr lang="en-US" sz="2000" dirty="0"/>
          </a:p>
        </p:txBody>
      </p:sp>
      <p:sp>
        <p:nvSpPr>
          <p:cNvPr id="24" name="Text 21"/>
          <p:cNvSpPr txBox="1"/>
          <p:nvPr/>
        </p:nvSpPr>
        <p:spPr>
          <a:xfrm>
            <a:off x="6553048" y="2651760"/>
            <a:ext cx="3108960" cy="274320"/>
          </a:xfrm>
          <a:prstGeom prst="rect">
            <a:avLst/>
          </a:prstGeom>
          <a:noFill/>
          <a:ln/>
        </p:spPr>
        <p:txBody>
          <a:bodyPr wrap="square" lIns="0" tIns="0" rIns="0" bIns="0" rtlCol="0" anchor="t"/>
          <a:lstStyle/>
          <a:p>
            <a:pPr indent="0" marL="0">
              <a:buNone/>
            </a:pPr>
            <a:r>
              <a:rPr lang="en-US" sz="1150" dirty="0">
                <a:solidFill>
                  <a:schemeClr val="accent1"/>
                </a:solidFill>
              </a:rPr>
              <a:t>Wallet on Solana devnet</a:t>
            </a:r>
            <a:endParaRPr lang="en-US" sz="1150" dirty="0"/>
          </a:p>
        </p:txBody>
      </p:sp>
      <p:sp>
        <p:nvSpPr>
          <p:cNvPr id="25" name="badge-1"/>
          <p:cNvSpPr txBox="1"/>
          <p:nvPr/>
        </p:nvSpPr>
        <p:spPr>
          <a:xfrm>
            <a:off x="6553048" y="309981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26" name="Text 23"/>
          <p:cNvSpPr txBox="1"/>
          <p:nvPr/>
        </p:nvSpPr>
        <p:spPr>
          <a:xfrm>
            <a:off x="6937096"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Switch wallet to devnet</a:t>
            </a:r>
            <a:endParaRPr lang="en-US" sz="1300" dirty="0"/>
          </a:p>
        </p:txBody>
      </p:sp>
      <p:sp>
        <p:nvSpPr>
          <p:cNvPr id="27" name="badge-2"/>
          <p:cNvSpPr txBox="1"/>
          <p:nvPr/>
        </p:nvSpPr>
        <p:spPr>
          <a:xfrm>
            <a:off x="6553048" y="3529584"/>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28" name="Text 25"/>
          <p:cNvSpPr txBox="1"/>
          <p:nvPr/>
        </p:nvSpPr>
        <p:spPr>
          <a:xfrm>
            <a:off x="6937096"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Vault</a:t>
            </a:r>
            <a:endParaRPr lang="en-US" sz="1300" dirty="0"/>
          </a:p>
        </p:txBody>
      </p:sp>
      <p:sp>
        <p:nvSpPr>
          <p:cNvPr id="29" name="badge-3"/>
          <p:cNvSpPr txBox="1"/>
          <p:nvPr/>
        </p:nvSpPr>
        <p:spPr>
          <a:xfrm>
            <a:off x="6553048" y="395935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30" name="Text 27"/>
          <p:cNvSpPr txBox="1"/>
          <p:nvPr/>
        </p:nvSpPr>
        <p:spPr>
          <a:xfrm>
            <a:off x="6937096"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Connect the wallet</a:t>
            </a:r>
            <a:endParaRPr lang="en-US" sz="1300" dirty="0"/>
          </a:p>
        </p:txBody>
      </p:sp>
      <p:sp>
        <p:nvSpPr>
          <p:cNvPr id="31" name="badge-4"/>
          <p:cNvSpPr txBox="1"/>
          <p:nvPr/>
        </p:nvSpPr>
        <p:spPr>
          <a:xfrm>
            <a:off x="6553048" y="4389120"/>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32" name="Text 29"/>
          <p:cNvSpPr txBox="1"/>
          <p:nvPr/>
        </p:nvSpPr>
        <p:spPr>
          <a:xfrm>
            <a:off x="6937096"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Deposit test tokens</a:t>
            </a:r>
            <a:endParaRPr lang="en-US" sz="1300" dirty="0"/>
          </a:p>
        </p:txBody>
      </p:sp>
      <p:sp>
        <p:nvSpPr>
          <p:cNvPr id="33" name="badge-5"/>
          <p:cNvSpPr txBox="1"/>
          <p:nvPr/>
        </p:nvSpPr>
        <p:spPr>
          <a:xfrm>
            <a:off x="6553048" y="4818888"/>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34" name="Text 31"/>
          <p:cNvSpPr txBox="1"/>
          <p:nvPr/>
        </p:nvSpPr>
        <p:spPr>
          <a:xfrm>
            <a:off x="6937096"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Show the position</a:t>
            </a:r>
            <a:endParaRPr lang="en-US" sz="1300" dirty="0"/>
          </a:p>
        </p:txBody>
      </p:sp>
      <p:sp>
        <p:nvSpPr>
          <p:cNvPr id="35" name="badge-6"/>
          <p:cNvSpPr txBox="1"/>
          <p:nvPr/>
        </p:nvSpPr>
        <p:spPr>
          <a:xfrm>
            <a:off x="6553048" y="524865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36" name="Text 33"/>
          <p:cNvSpPr txBox="1"/>
          <p:nvPr/>
        </p:nvSpPr>
        <p:spPr>
          <a:xfrm>
            <a:off x="6937096"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Withdraw: 2,000 now, rest waits</a:t>
            </a:r>
            <a:endParaRPr lang="en-US" sz="1300" dirty="0"/>
          </a:p>
        </p:txBody>
      </p:sp>
      <p:sp>
        <p:nvSpPr>
          <p:cNvPr id="37" name="Shape 34"/>
          <p:cNvSpPr/>
          <p:nvPr/>
        </p:nvSpPr>
        <p:spPr>
          <a:xfrm>
            <a:off x="9662008" y="2287646"/>
            <a:ext cx="1798168" cy="2822204"/>
          </a:xfrm>
          <a:prstGeom prst="roundRect">
            <a:avLst>
              <a:gd name="adj" fmla="val 5085"/>
            </a:avLst>
          </a:prstGeom>
          <a:solidFill>
            <a:schemeClr val="tx1"/>
          </a:solidFill>
          <a:ln w="9525">
            <a:solidFill>
              <a:schemeClr val="accent6"/>
            </a:solidFill>
            <a:prstDash val="solid"/>
          </a:ln>
        </p:spPr>
      </p:sp>
      <p:pic>
        <p:nvPicPr>
          <p:cNvPr id="38" name="demo-shot-1" descr="Vault withdraw screen: 2,000 now, the rest after a 30-minute timelock">    </p:cNvPr>
          <p:cNvPicPr>
            <a:picLocks noChangeAspect="1"/>
          </p:cNvPicPr>
          <p:nvPr/>
        </p:nvPicPr>
        <p:blipFill>
          <a:blip r:embed="rId2"/>
          <a:stretch>
            <a:fillRect/>
          </a:stretch>
        </p:blipFill>
        <p:spPr>
          <a:xfrm>
            <a:off x="9707728" y="2333366"/>
            <a:ext cx="1706728" cy="2730764"/>
          </a:xfrm>
          <a:prstGeom prst="rect">
            <a:avLst/>
          </a:prstGeom>
        </p:spPr>
      </p:pic>
      <p:sp>
        <p:nvSpPr>
          <p:cNvPr id="39" name="Text 35"/>
          <p:cNvSpPr txBox="1"/>
          <p:nvPr/>
        </p:nvSpPr>
        <p:spPr>
          <a:xfrm>
            <a:off x="548640" y="5980176"/>
            <a:ext cx="11094415" cy="365760"/>
          </a:xfrm>
          <a:prstGeom prst="rect">
            <a:avLst/>
          </a:prstGeom>
          <a:noFill/>
          <a:ln/>
        </p:spPr>
        <p:txBody>
          <a:bodyPr wrap="square" lIns="0" tIns="0" rIns="0" bIns="0" rtlCol="0" anchor="t"/>
          <a:lstStyle/>
          <a:p>
            <a:pPr indent="0" marL="0">
              <a:buNone/>
            </a:pPr>
            <a:r>
              <a:rPr lang="en-US" sz="1150" b="1" dirty="0">
                <a:solidFill>
                  <a:schemeClr val="accent3"/>
                </a:solidFill>
              </a:rPr>
              <a:t>Devnet tokens have no value. </a:t>
            </a:r>
            <a:pPr indent="0" marL="0">
              <a:buNone/>
            </a:pPr>
            <a:r>
              <a:rPr lang="en-US" sz="1150" dirty="0">
                <a:solidFill>
                  <a:schemeClr val="bg2"/>
                </a:solidFill>
              </a:rPr>
              <a:t>The vault doesn't move funds into yield protocols yet. Thumbnails: local build (demo data; vault in simulated preview).</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What is live, what is experimental, and what comes next</a:t>
            </a:r>
            <a:endParaRPr lang="en-US" sz="3200" dirty="0"/>
          </a:p>
        </p:txBody>
      </p:sp>
      <p:sp>
        <p:nvSpPr>
          <p:cNvPr id="3" name="status-0"/>
          <p:cNvSpPr/>
          <p:nvPr/>
        </p:nvSpPr>
        <p:spPr>
          <a:xfrm>
            <a:off x="548640" y="1572768"/>
            <a:ext cx="3515258" cy="3063240"/>
          </a:xfrm>
          <a:prstGeom prst="roundRect">
            <a:avLst>
              <a:gd name="adj" fmla="val 4179"/>
            </a:avLst>
          </a:prstGeom>
          <a:solidFill>
            <a:schemeClr val="tx2"/>
          </a:solidFill>
          <a:ln w="9525">
            <a:solidFill>
              <a:schemeClr val="accent2"/>
            </a:solidFill>
            <a:prstDash val="solid"/>
          </a:ln>
        </p:spPr>
      </p:sp>
      <p:sp>
        <p:nvSpPr>
          <p:cNvPr id="4" name="Text 2"/>
          <p:cNvSpPr txBox="1"/>
          <p:nvPr/>
        </p:nvSpPr>
        <p:spPr>
          <a:xfrm>
            <a:off x="822960" y="1801368"/>
            <a:ext cx="2966618" cy="365760"/>
          </a:xfrm>
          <a:prstGeom prst="rect">
            <a:avLst/>
          </a:prstGeom>
          <a:noFill/>
          <a:ln/>
        </p:spPr>
        <p:txBody>
          <a:bodyPr wrap="square" lIns="0" tIns="0" rIns="0" bIns="0" rtlCol="0" anchor="t"/>
          <a:lstStyle/>
          <a:p>
            <a:pPr indent="0" marL="0">
              <a:buNone/>
            </a:pPr>
            <a:r>
              <a:rPr lang="en-US" sz="1800" b="1" dirty="0">
                <a:solidFill>
                  <a:schemeClr val="accent2"/>
                </a:solidFill>
              </a:rPr>
              <a:t>Live</a:t>
            </a:r>
            <a:endParaRPr lang="en-US" sz="1800" dirty="0"/>
          </a:p>
        </p:txBody>
      </p:sp>
      <p:sp>
        <p:nvSpPr>
          <p:cNvPr id="5" name="Text 3"/>
          <p:cNvSpPr txBox="1"/>
          <p:nvPr/>
        </p:nvSpPr>
        <p:spPr>
          <a:xfrm>
            <a:off x="822960"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Stablecoin opportunity comparison</a:t>
            </a:r>
            <a:endParaRPr lang="en-US" sz="1350" dirty="0"/>
          </a:p>
          <a:p>
            <a:pPr marL="177800" indent="-177800">
              <a:spcAft>
                <a:spcPts val="700"/>
              </a:spcAft>
              <a:buSzPct val="100000"/>
              <a:buChar char="•"/>
            </a:pPr>
            <a:r>
              <a:rPr lang="en-US" sz="1350" dirty="0">
                <a:solidFill>
                  <a:schemeClr val="bg1"/>
                </a:solidFill>
              </a:rPr>
              <a:t>DefiLlama-backed pool data</a:t>
            </a:r>
            <a:endParaRPr lang="en-US" sz="1350" dirty="0"/>
          </a:p>
          <a:p>
            <a:pPr marL="177800" indent="-177800">
              <a:spcAft>
                <a:spcPts val="700"/>
              </a:spcAft>
              <a:buSzPct val="100000"/>
              <a:buChar char="•"/>
            </a:pPr>
            <a:r>
              <a:rPr lang="en-US" sz="1350" dirty="0">
                <a:solidFill>
                  <a:schemeClr val="bg1"/>
                </a:solidFill>
              </a:rPr>
              <a:t>Risk grades and explanations</a:t>
            </a:r>
            <a:endParaRPr lang="en-US" sz="1350" dirty="0"/>
          </a:p>
          <a:p>
            <a:pPr marL="177800" indent="-177800">
              <a:spcAft>
                <a:spcPts val="700"/>
              </a:spcAft>
              <a:buSzPct val="100000"/>
              <a:buChar char="•"/>
            </a:pPr>
            <a:r>
              <a:rPr lang="en-US" sz="1350" dirty="0">
                <a:solidFill>
                  <a:schemeClr val="bg1"/>
                </a:solidFill>
              </a:rPr>
              <a:t>Fee-adjusted earnings estimates</a:t>
            </a:r>
            <a:endParaRPr lang="en-US" sz="1350" dirty="0"/>
          </a:p>
          <a:p>
            <a:pPr marL="177800" indent="-177800">
              <a:spcAft>
                <a:spcPts val="700"/>
              </a:spcAft>
              <a:buSzPct val="100000"/>
              <a:buChar char="•"/>
            </a:pPr>
            <a:r>
              <a:rPr lang="en-US" sz="1350" dirty="0">
                <a:solidFill>
                  <a:schemeClr val="bg1"/>
                </a:solidFill>
              </a:rPr>
              <a:t>Optional API endpoints</a:t>
            </a:r>
            <a:endParaRPr lang="en-US" sz="1350" dirty="0"/>
          </a:p>
        </p:txBody>
      </p:sp>
      <p:sp>
        <p:nvSpPr>
          <p:cNvPr id="6" name="status-1"/>
          <p:cNvSpPr/>
          <p:nvPr/>
        </p:nvSpPr>
        <p:spPr>
          <a:xfrm>
            <a:off x="4338218" y="1572768"/>
            <a:ext cx="3515258" cy="3063240"/>
          </a:xfrm>
          <a:prstGeom prst="roundRect">
            <a:avLst>
              <a:gd name="adj" fmla="val 4179"/>
            </a:avLst>
          </a:prstGeom>
          <a:solidFill>
            <a:schemeClr val="tx2"/>
          </a:solidFill>
          <a:ln w="9525">
            <a:solidFill>
              <a:schemeClr val="accent1"/>
            </a:solidFill>
            <a:prstDash val="solid"/>
          </a:ln>
        </p:spPr>
      </p:sp>
      <p:sp>
        <p:nvSpPr>
          <p:cNvPr id="7" name="Text 5"/>
          <p:cNvSpPr txBox="1"/>
          <p:nvPr/>
        </p:nvSpPr>
        <p:spPr>
          <a:xfrm>
            <a:off x="4612538" y="1801368"/>
            <a:ext cx="2966618" cy="365760"/>
          </a:xfrm>
          <a:prstGeom prst="rect">
            <a:avLst/>
          </a:prstGeom>
          <a:noFill/>
          <a:ln/>
        </p:spPr>
        <p:txBody>
          <a:bodyPr wrap="square" lIns="0" tIns="0" rIns="0" bIns="0" rtlCol="0" anchor="t"/>
          <a:lstStyle/>
          <a:p>
            <a:pPr indent="0" marL="0">
              <a:buNone/>
            </a:pPr>
            <a:r>
              <a:rPr lang="en-US" sz="1800" b="1" dirty="0">
                <a:solidFill>
                  <a:schemeClr val="accent1"/>
                </a:solidFill>
              </a:rPr>
              <a:t>Devnet prototype</a:t>
            </a:r>
            <a:endParaRPr lang="en-US" sz="1800" dirty="0"/>
          </a:p>
        </p:txBody>
      </p:sp>
      <p:sp>
        <p:nvSpPr>
          <p:cNvPr id="8" name="Text 6"/>
          <p:cNvSpPr txBox="1"/>
          <p:nvPr/>
        </p:nvSpPr>
        <p:spPr>
          <a:xfrm>
            <a:off x="4612538"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Anchor vault program</a:t>
            </a:r>
            <a:endParaRPr lang="en-US" sz="1350" dirty="0"/>
          </a:p>
          <a:p>
            <a:pPr marL="177800" indent="-177800">
              <a:spcAft>
                <a:spcPts val="700"/>
              </a:spcAft>
              <a:buSzPct val="100000"/>
              <a:buChar char="•"/>
            </a:pPr>
            <a:r>
              <a:rPr lang="en-US" sz="1350" dirty="0">
                <a:solidFill>
                  <a:schemeClr val="bg1"/>
                </a:solidFill>
              </a:rPr>
              <a:t>Deposits and shares</a:t>
            </a:r>
            <a:endParaRPr lang="en-US" sz="1350" dirty="0"/>
          </a:p>
          <a:p>
            <a:pPr marL="177800" indent="-177800">
              <a:spcAft>
                <a:spcPts val="700"/>
              </a:spcAft>
              <a:buSzPct val="100000"/>
              <a:buChar char="•"/>
            </a:pPr>
            <a:r>
              <a:rPr lang="en-US" sz="1350" dirty="0">
                <a:solidFill>
                  <a:schemeClr val="bg1"/>
                </a:solidFill>
              </a:rPr>
              <a:t>Withdrawal limits and timelock</a:t>
            </a:r>
            <a:endParaRPr lang="en-US" sz="1350" dirty="0"/>
          </a:p>
          <a:p>
            <a:pPr marL="177800" indent="-177800">
              <a:spcAft>
                <a:spcPts val="700"/>
              </a:spcAft>
              <a:buSzPct val="100000"/>
              <a:buChar char="•"/>
            </a:pPr>
            <a:r>
              <a:rPr lang="en-US" sz="1350" dirty="0">
                <a:solidFill>
                  <a:schemeClr val="bg1"/>
                </a:solidFill>
              </a:rPr>
              <a:t>Pause and authority controls</a:t>
            </a:r>
            <a:endParaRPr lang="en-US" sz="1350" dirty="0"/>
          </a:p>
        </p:txBody>
      </p:sp>
      <p:sp>
        <p:nvSpPr>
          <p:cNvPr id="9" name="status-2"/>
          <p:cNvSpPr/>
          <p:nvPr/>
        </p:nvSpPr>
        <p:spPr>
          <a:xfrm>
            <a:off x="8127797" y="1572768"/>
            <a:ext cx="3515258" cy="3063240"/>
          </a:xfrm>
          <a:prstGeom prst="roundRect">
            <a:avLst>
              <a:gd name="adj" fmla="val 4179"/>
            </a:avLst>
          </a:prstGeom>
          <a:solidFill>
            <a:schemeClr val="tx2"/>
          </a:solidFill>
          <a:ln w="9525">
            <a:solidFill>
              <a:schemeClr val="accent3"/>
            </a:solidFill>
            <a:prstDash val="solid"/>
          </a:ln>
        </p:spPr>
      </p:sp>
      <p:sp>
        <p:nvSpPr>
          <p:cNvPr id="10" name="Text 8"/>
          <p:cNvSpPr txBox="1"/>
          <p:nvPr/>
        </p:nvSpPr>
        <p:spPr>
          <a:xfrm>
            <a:off x="8402117" y="1801368"/>
            <a:ext cx="2966618" cy="365760"/>
          </a:xfrm>
          <a:prstGeom prst="rect">
            <a:avLst/>
          </a:prstGeom>
          <a:noFill/>
          <a:ln/>
        </p:spPr>
        <p:txBody>
          <a:bodyPr wrap="square" lIns="0" tIns="0" rIns="0" bIns="0" rtlCol="0" anchor="t"/>
          <a:lstStyle/>
          <a:p>
            <a:pPr indent="0" marL="0">
              <a:buNone/>
            </a:pPr>
            <a:r>
              <a:rPr lang="en-US" sz="1800" b="1" dirty="0">
                <a:solidFill>
                  <a:schemeClr val="accent3"/>
                </a:solidFill>
              </a:rPr>
              <a:t>Not yet implemented</a:t>
            </a:r>
            <a:endParaRPr lang="en-US" sz="1800" dirty="0"/>
          </a:p>
        </p:txBody>
      </p:sp>
      <p:sp>
        <p:nvSpPr>
          <p:cNvPr id="11" name="Text 9"/>
          <p:cNvSpPr txBox="1"/>
          <p:nvPr/>
        </p:nvSpPr>
        <p:spPr>
          <a:xfrm>
            <a:off x="8402117"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Allocator into lending protocols</a:t>
            </a:r>
            <a:endParaRPr lang="en-US" sz="1350" dirty="0"/>
          </a:p>
          <a:p>
            <a:pPr marL="177800" indent="-177800">
              <a:spcAft>
                <a:spcPts val="700"/>
              </a:spcAft>
              <a:buSzPct val="100000"/>
              <a:buChar char="•"/>
            </a:pPr>
            <a:r>
              <a:rPr lang="en-US" sz="1350" dirty="0">
                <a:solidFill>
                  <a:schemeClr val="bg1"/>
                </a:solidFill>
              </a:rPr>
              <a:t>Real yield through the vault</a:t>
            </a:r>
            <a:endParaRPr lang="en-US" sz="1350" dirty="0"/>
          </a:p>
          <a:p>
            <a:pPr marL="177800" indent="-177800">
              <a:spcAft>
                <a:spcPts val="700"/>
              </a:spcAft>
              <a:buSzPct val="100000"/>
              <a:buChar char="•"/>
            </a:pPr>
            <a:r>
              <a:rPr lang="en-US" sz="1350" dirty="0">
                <a:solidFill>
                  <a:schemeClr val="bg1"/>
                </a:solidFill>
              </a:rPr>
              <a:t>Deployed balances read on-chain, not reported by an admin</a:t>
            </a:r>
            <a:endParaRPr lang="en-US" sz="1350" dirty="0"/>
          </a:p>
          <a:p>
            <a:pPr marL="177800" indent="-177800">
              <a:spcAft>
                <a:spcPts val="700"/>
              </a:spcAft>
              <a:buSzPct val="100000"/>
              <a:buChar char="•"/>
            </a:pPr>
            <a:r>
              <a:rPr lang="en-US" sz="1350" dirty="0">
                <a:solidFill>
                  <a:schemeClr val="bg1"/>
                </a:solidFill>
              </a:rPr>
              <a:t>Production security assurances</a:t>
            </a:r>
            <a:endParaRPr lang="en-US" sz="1350" dirty="0"/>
          </a:p>
        </p:txBody>
      </p:sp>
      <p:sp>
        <p:nvSpPr>
          <p:cNvPr id="12" name="Text 10"/>
          <p:cNvSpPr txBox="1"/>
          <p:nvPr/>
        </p:nvSpPr>
        <p:spPr>
          <a:xfrm>
            <a:off x="548640" y="4910328"/>
            <a:ext cx="3657600" cy="256032"/>
          </a:xfrm>
          <a:prstGeom prst="rect">
            <a:avLst/>
          </a:prstGeom>
          <a:noFill/>
          <a:ln/>
        </p:spPr>
        <p:txBody>
          <a:bodyPr wrap="square" lIns="0" tIns="0" rIns="0" bIns="0" rtlCol="0" anchor="t"/>
          <a:lstStyle/>
          <a:p>
            <a:pPr indent="0" marL="0">
              <a:buNone/>
            </a:pPr>
            <a:r>
              <a:rPr lang="en-US" sz="1050" b="1" spc="200" kern="0" dirty="0">
                <a:solidFill>
                  <a:schemeClr val="bg2"/>
                </a:solidFill>
              </a:rPr>
              <a:t>ALSO WORTH KNOWING</a:t>
            </a:r>
            <a:endParaRPr lang="en-US" sz="1050" dirty="0"/>
          </a:p>
        </p:txBody>
      </p:sp>
      <p:sp>
        <p:nvSpPr>
          <p:cNvPr id="13" name="Text 11"/>
          <p:cNvSpPr txBox="1"/>
          <p:nvPr/>
        </p:nvSpPr>
        <p:spPr>
          <a:xfrm>
            <a:off x="548640"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One data source</a:t>
            </a:r>
            <a:endParaRPr lang="en-US" sz="1150" dirty="0"/>
          </a:p>
        </p:txBody>
      </p:sp>
      <p:sp>
        <p:nvSpPr>
          <p:cNvPr id="14" name="Text 12"/>
          <p:cNvSpPr txBox="1"/>
          <p:nvPr/>
        </p:nvSpPr>
        <p:spPr>
          <a:xfrm>
            <a:off x="4307738"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Fixed network-fee estimates</a:t>
            </a:r>
            <a:endParaRPr lang="en-US" sz="1150" dirty="0"/>
          </a:p>
        </p:txBody>
      </p:sp>
      <p:sp>
        <p:nvSpPr>
          <p:cNvPr id="15" name="Text 13"/>
          <p:cNvSpPr txBox="1"/>
          <p:nvPr/>
        </p:nvSpPr>
        <p:spPr>
          <a:xfrm>
            <a:off x="8066837"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Weights not back-tested</a:t>
            </a:r>
            <a:endParaRPr lang="en-US" sz="1150" dirty="0"/>
          </a:p>
        </p:txBody>
      </p:sp>
      <p:sp>
        <p:nvSpPr>
          <p:cNvPr id="16" name="Text 14"/>
          <p:cNvSpPr txBox="1"/>
          <p:nvPr/>
        </p:nvSpPr>
        <p:spPr>
          <a:xfrm>
            <a:off x="548640"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Ranks on today's APY, not the 30-day average</a:t>
            </a:r>
            <a:endParaRPr lang="en-US" sz="1150" dirty="0"/>
          </a:p>
        </p:txBody>
      </p:sp>
      <p:sp>
        <p:nvSpPr>
          <p:cNvPr id="17" name="Text 15"/>
          <p:cNvSpPr txBox="1"/>
          <p:nvPr/>
        </p:nvSpPr>
        <p:spPr>
          <a:xfrm>
            <a:off x="4307738"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Bridge costs and risk not modelled</a:t>
            </a:r>
            <a:endParaRPr lang="en-US" sz="1150" dirty="0"/>
          </a:p>
        </p:txBody>
      </p:sp>
      <p:sp>
        <p:nvSpPr>
          <p:cNvPr id="18" name="Text 16"/>
          <p:cNvSpPr txBox="1"/>
          <p:nvPr/>
        </p:nvSpPr>
        <p:spPr>
          <a:xfrm>
            <a:off x="8066837"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Admin and upgrade-key risk</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useful comparison tool</a:t>
            </a:r>
            <a:endParaRPr lang="en-US" sz="3200" dirty="0"/>
          </a:p>
          <a:p>
            <a:pPr algn="l" indent="0" marL="0">
              <a:lnSpc>
                <a:spcPct val="95000"/>
              </a:lnSpc>
              <a:buNone/>
            </a:pPr>
            <a:r>
              <a:rPr lang="en-US" sz="3200" b="1" dirty="0">
                <a:solidFill>
                  <a:schemeClr val="bg1"/>
                </a:solidFill>
              </a:rPr>
              <a:t>to a more complete on-chain system</a:t>
            </a:r>
            <a:endParaRPr lang="en-US" sz="3200" dirty="0"/>
          </a:p>
        </p:txBody>
      </p:sp>
      <p:sp>
        <p:nvSpPr>
          <p:cNvPr id="3" name="timeline"/>
          <p:cNvSpPr/>
          <p:nvPr/>
        </p:nvSpPr>
        <p:spPr>
          <a:xfrm>
            <a:off x="731520" y="1892808"/>
            <a:ext cx="10728655" cy="0"/>
          </a:xfrm>
          <a:prstGeom prst="line">
            <a:avLst/>
          </a:prstGeom>
          <a:noFill/>
          <a:ln w="25400">
            <a:solidFill>
              <a:srgbClr val="26324F"/>
            </a:solidFill>
            <a:prstDash val="solid"/>
          </a:ln>
        </p:spPr>
      </p:sp>
      <p:sp>
        <p:nvSpPr>
          <p:cNvPr id="4" name="dot-0"/>
          <p:cNvSpPr/>
          <p:nvPr/>
        </p:nvSpPr>
        <p:spPr>
          <a:xfrm>
            <a:off x="731520" y="1773936"/>
            <a:ext cx="237744" cy="237744"/>
          </a:xfrm>
          <a:prstGeom prst="ellipse">
            <a:avLst/>
          </a:prstGeom>
          <a:solidFill>
            <a:schemeClr val="accent2"/>
          </a:solidFill>
          <a:ln w="25400">
            <a:solidFill>
              <a:schemeClr val="tx1"/>
            </a:solidFill>
            <a:prstDash val="solid"/>
          </a:ln>
        </p:spPr>
      </p:sp>
      <p:sp>
        <p:nvSpPr>
          <p:cNvPr id="5" name="Text 3"/>
          <p:cNvSpPr txBox="1"/>
          <p:nvPr/>
        </p:nvSpPr>
        <p:spPr>
          <a:xfrm>
            <a:off x="1097280"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1</a:t>
            </a:r>
            <a:endParaRPr lang="en-US" sz="1100" dirty="0"/>
          </a:p>
        </p:txBody>
      </p:sp>
      <p:sp>
        <p:nvSpPr>
          <p:cNvPr id="6" name="phase-0"/>
          <p:cNvSpPr/>
          <p:nvPr/>
        </p:nvSpPr>
        <p:spPr>
          <a:xfrm>
            <a:off x="548640" y="2304288"/>
            <a:ext cx="2581580" cy="3611880"/>
          </a:xfrm>
          <a:prstGeom prst="roundRect">
            <a:avLst>
              <a:gd name="adj" fmla="val 4959"/>
            </a:avLst>
          </a:prstGeom>
          <a:solidFill>
            <a:schemeClr val="tx2"/>
          </a:solidFill>
          <a:ln w="9525">
            <a:solidFill>
              <a:schemeClr val="accent6"/>
            </a:solidFill>
            <a:prstDash val="solid"/>
          </a:ln>
        </p:spPr>
      </p:sp>
      <p:sp>
        <p:nvSpPr>
          <p:cNvPr id="7" name="Text 5"/>
          <p:cNvSpPr txBox="1"/>
          <p:nvPr/>
        </p:nvSpPr>
        <p:spPr>
          <a:xfrm>
            <a:off x="804672"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Safety and correctness</a:t>
            </a:r>
            <a:endParaRPr lang="en-US" sz="1700" dirty="0"/>
          </a:p>
        </p:txBody>
      </p:sp>
      <p:sp>
        <p:nvSpPr>
          <p:cNvPr id="8" name="Shape 6"/>
          <p:cNvSpPr/>
          <p:nvPr/>
        </p:nvSpPr>
        <p:spPr>
          <a:xfrm>
            <a:off x="822960" y="3438144"/>
            <a:ext cx="109728" cy="109728"/>
          </a:xfrm>
          <a:prstGeom prst="ellipse">
            <a:avLst/>
          </a:prstGeom>
          <a:solidFill>
            <a:schemeClr val="accent2"/>
          </a:solidFill>
          <a:ln w="12700">
            <a:solidFill>
              <a:schemeClr val="accent2"/>
            </a:solidFill>
            <a:prstDash val="solid"/>
          </a:ln>
        </p:spPr>
      </p:sp>
      <p:sp>
        <p:nvSpPr>
          <p:cNvPr id="9" name="Text 7"/>
          <p:cNvSpPr txBox="1"/>
          <p:nvPr/>
        </p:nvSpPr>
        <p:spPr>
          <a:xfrm>
            <a:off x="1051560"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Escape hatch if a vault stays paused</a:t>
            </a:r>
            <a:endParaRPr lang="en-US" sz="1300" dirty="0"/>
          </a:p>
        </p:txBody>
      </p:sp>
      <p:sp>
        <p:nvSpPr>
          <p:cNvPr id="10" name="Shape 8"/>
          <p:cNvSpPr/>
          <p:nvPr/>
        </p:nvSpPr>
        <p:spPr>
          <a:xfrm>
            <a:off x="822960" y="4242816"/>
            <a:ext cx="109728" cy="109728"/>
          </a:xfrm>
          <a:prstGeom prst="ellipse">
            <a:avLst/>
          </a:prstGeom>
          <a:solidFill>
            <a:schemeClr val="accent2"/>
          </a:solidFill>
          <a:ln w="12700">
            <a:solidFill>
              <a:schemeClr val="accent2"/>
            </a:solidFill>
            <a:prstDash val="solid"/>
          </a:ln>
        </p:spPr>
      </p:sp>
      <p:sp>
        <p:nvSpPr>
          <p:cNvPr id="11" name="Text 9"/>
          <p:cNvSpPr txBox="1"/>
          <p:nvPr/>
        </p:nvSpPr>
        <p:spPr>
          <a:xfrm>
            <a:off x="1051560"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close_position to refund rent</a:t>
            </a:r>
            <a:endParaRPr lang="en-US" sz="1300" dirty="0"/>
          </a:p>
        </p:txBody>
      </p:sp>
      <p:sp>
        <p:nvSpPr>
          <p:cNvPr id="12" name="Shape 10"/>
          <p:cNvSpPr/>
          <p:nvPr/>
        </p:nvSpPr>
        <p:spPr>
          <a:xfrm>
            <a:off x="822960" y="5047488"/>
            <a:ext cx="109728" cy="109728"/>
          </a:xfrm>
          <a:prstGeom prst="ellipse">
            <a:avLst/>
          </a:prstGeom>
          <a:solidFill>
            <a:schemeClr val="accent2"/>
          </a:solidFill>
          <a:ln w="12700">
            <a:solidFill>
              <a:schemeClr val="accent2"/>
            </a:solidFill>
            <a:prstDash val="solid"/>
          </a:ln>
        </p:spPr>
      </p:sp>
      <p:sp>
        <p:nvSpPr>
          <p:cNvPr id="13" name="Text 11"/>
          <p:cNvSpPr txBox="1"/>
          <p:nvPr/>
        </p:nvSpPr>
        <p:spPr>
          <a:xfrm>
            <a:off x="1051560"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Fuzz the share math and limits</a:t>
            </a:r>
            <a:endParaRPr lang="en-US" sz="1300" dirty="0"/>
          </a:p>
        </p:txBody>
      </p:sp>
      <p:sp>
        <p:nvSpPr>
          <p:cNvPr id="14" name="dot-1"/>
          <p:cNvSpPr/>
          <p:nvPr/>
        </p:nvSpPr>
        <p:spPr>
          <a:xfrm>
            <a:off x="3569132" y="1773936"/>
            <a:ext cx="237744" cy="237744"/>
          </a:xfrm>
          <a:prstGeom prst="ellipse">
            <a:avLst/>
          </a:prstGeom>
          <a:solidFill>
            <a:schemeClr val="accent2"/>
          </a:solidFill>
          <a:ln w="25400">
            <a:solidFill>
              <a:schemeClr val="tx1"/>
            </a:solidFill>
            <a:prstDash val="solid"/>
          </a:ln>
        </p:spPr>
      </p:sp>
      <p:sp>
        <p:nvSpPr>
          <p:cNvPr id="15" name="Text 13"/>
          <p:cNvSpPr txBox="1"/>
          <p:nvPr/>
        </p:nvSpPr>
        <p:spPr>
          <a:xfrm>
            <a:off x="3934892"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2</a:t>
            </a:r>
            <a:endParaRPr lang="en-US" sz="1100" dirty="0"/>
          </a:p>
        </p:txBody>
      </p:sp>
      <p:sp>
        <p:nvSpPr>
          <p:cNvPr id="16" name="phase-1"/>
          <p:cNvSpPr/>
          <p:nvPr/>
        </p:nvSpPr>
        <p:spPr>
          <a:xfrm>
            <a:off x="3386252" y="2304288"/>
            <a:ext cx="2581580" cy="3611880"/>
          </a:xfrm>
          <a:prstGeom prst="roundRect">
            <a:avLst>
              <a:gd name="adj" fmla="val 4959"/>
            </a:avLst>
          </a:prstGeom>
          <a:solidFill>
            <a:schemeClr val="tx2"/>
          </a:solidFill>
          <a:ln w="9525">
            <a:solidFill>
              <a:schemeClr val="accent6"/>
            </a:solidFill>
            <a:prstDash val="solid"/>
          </a:ln>
        </p:spPr>
      </p:sp>
      <p:sp>
        <p:nvSpPr>
          <p:cNvPr id="17" name="Text 15"/>
          <p:cNvSpPr txBox="1"/>
          <p:nvPr/>
        </p:nvSpPr>
        <p:spPr>
          <a:xfrm>
            <a:off x="3642284"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Better recommendations</a:t>
            </a:r>
            <a:endParaRPr lang="en-US" sz="1700" dirty="0"/>
          </a:p>
        </p:txBody>
      </p:sp>
      <p:sp>
        <p:nvSpPr>
          <p:cNvPr id="18" name="Shape 16"/>
          <p:cNvSpPr/>
          <p:nvPr/>
        </p:nvSpPr>
        <p:spPr>
          <a:xfrm>
            <a:off x="3660572" y="3438144"/>
            <a:ext cx="109728" cy="109728"/>
          </a:xfrm>
          <a:prstGeom prst="ellipse">
            <a:avLst/>
          </a:prstGeom>
          <a:solidFill>
            <a:schemeClr val="accent2"/>
          </a:solidFill>
          <a:ln w="12700">
            <a:solidFill>
              <a:schemeClr val="accent2"/>
            </a:solidFill>
            <a:prstDash val="solid"/>
          </a:ln>
        </p:spPr>
      </p:sp>
      <p:sp>
        <p:nvSpPr>
          <p:cNvPr id="19" name="Text 17"/>
          <p:cNvSpPr txBox="1"/>
          <p:nvPr/>
        </p:nvSpPr>
        <p:spPr>
          <a:xfrm>
            <a:off x="3889172"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Rank on the 30-day average APY</a:t>
            </a:r>
            <a:endParaRPr lang="en-US" sz="1300" dirty="0"/>
          </a:p>
        </p:txBody>
      </p:sp>
      <p:sp>
        <p:nvSpPr>
          <p:cNvPr id="20" name="Shape 18"/>
          <p:cNvSpPr/>
          <p:nvPr/>
        </p:nvSpPr>
        <p:spPr>
          <a:xfrm>
            <a:off x="3660572" y="4242816"/>
            <a:ext cx="109728" cy="109728"/>
          </a:xfrm>
          <a:prstGeom prst="ellipse">
            <a:avLst/>
          </a:prstGeom>
          <a:solidFill>
            <a:schemeClr val="accent2"/>
          </a:solidFill>
          <a:ln w="12700">
            <a:solidFill>
              <a:schemeClr val="accent2"/>
            </a:solidFill>
            <a:prstDash val="solid"/>
          </a:ln>
        </p:spPr>
      </p:sp>
      <p:sp>
        <p:nvSpPr>
          <p:cNvPr id="21" name="Text 19"/>
          <p:cNvSpPr txBox="1"/>
          <p:nvPr/>
        </p:nvSpPr>
        <p:spPr>
          <a:xfrm>
            <a:off x="3889172"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Flag options that need funds moved between networks</a:t>
            </a:r>
            <a:endParaRPr lang="en-US" sz="1300" dirty="0"/>
          </a:p>
        </p:txBody>
      </p:sp>
      <p:sp>
        <p:nvSpPr>
          <p:cNvPr id="22" name="Shape 20"/>
          <p:cNvSpPr/>
          <p:nvPr/>
        </p:nvSpPr>
        <p:spPr>
          <a:xfrm>
            <a:off x="3660572" y="5047488"/>
            <a:ext cx="109728" cy="109728"/>
          </a:xfrm>
          <a:prstGeom prst="ellipse">
            <a:avLst/>
          </a:prstGeom>
          <a:solidFill>
            <a:schemeClr val="accent2"/>
          </a:solidFill>
          <a:ln w="12700">
            <a:solidFill>
              <a:schemeClr val="accent2"/>
            </a:solidFill>
            <a:prstDash val="solid"/>
          </a:ln>
        </p:spPr>
      </p:sp>
      <p:sp>
        <p:nvSpPr>
          <p:cNvPr id="23" name="Text 21"/>
          <p:cNvSpPr txBox="1"/>
          <p:nvPr/>
        </p:nvSpPr>
        <p:spPr>
          <a:xfrm>
            <a:off x="3889172"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Back-test grades against past exploits</a:t>
            </a:r>
            <a:endParaRPr lang="en-US" sz="1300" dirty="0"/>
          </a:p>
        </p:txBody>
      </p:sp>
      <p:sp>
        <p:nvSpPr>
          <p:cNvPr id="24" name="dot-2"/>
          <p:cNvSpPr/>
          <p:nvPr/>
        </p:nvSpPr>
        <p:spPr>
          <a:xfrm>
            <a:off x="6406744" y="1773936"/>
            <a:ext cx="237744" cy="237744"/>
          </a:xfrm>
          <a:prstGeom prst="ellipse">
            <a:avLst/>
          </a:prstGeom>
          <a:solidFill>
            <a:schemeClr val="accent1"/>
          </a:solidFill>
          <a:ln w="25400">
            <a:solidFill>
              <a:schemeClr val="tx1"/>
            </a:solidFill>
            <a:prstDash val="solid"/>
          </a:ln>
        </p:spPr>
      </p:sp>
      <p:sp>
        <p:nvSpPr>
          <p:cNvPr id="25" name="Text 23"/>
          <p:cNvSpPr txBox="1"/>
          <p:nvPr/>
        </p:nvSpPr>
        <p:spPr>
          <a:xfrm>
            <a:off x="6772504"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3</a:t>
            </a:r>
            <a:endParaRPr lang="en-US" sz="1100" dirty="0"/>
          </a:p>
        </p:txBody>
      </p:sp>
      <p:sp>
        <p:nvSpPr>
          <p:cNvPr id="26" name="phase-2"/>
          <p:cNvSpPr/>
          <p:nvPr/>
        </p:nvSpPr>
        <p:spPr>
          <a:xfrm>
            <a:off x="6223864" y="2304288"/>
            <a:ext cx="2581580" cy="3611880"/>
          </a:xfrm>
          <a:prstGeom prst="roundRect">
            <a:avLst>
              <a:gd name="adj" fmla="val 4959"/>
            </a:avLst>
          </a:prstGeom>
          <a:solidFill>
            <a:schemeClr val="tx2"/>
          </a:solidFill>
          <a:ln w="9525">
            <a:solidFill>
              <a:schemeClr val="accent6"/>
            </a:solidFill>
            <a:prstDash val="solid"/>
          </a:ln>
        </p:spPr>
      </p:sp>
      <p:sp>
        <p:nvSpPr>
          <p:cNvPr id="27" name="Text 25"/>
          <p:cNvSpPr txBox="1"/>
          <p:nvPr/>
        </p:nvSpPr>
        <p:spPr>
          <a:xfrm>
            <a:off x="6479896"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Vault integration</a:t>
            </a:r>
            <a:endParaRPr lang="en-US" sz="1700" dirty="0"/>
          </a:p>
        </p:txBody>
      </p:sp>
      <p:sp>
        <p:nvSpPr>
          <p:cNvPr id="28" name="Shape 26"/>
          <p:cNvSpPr/>
          <p:nvPr/>
        </p:nvSpPr>
        <p:spPr>
          <a:xfrm>
            <a:off x="6498184" y="3438144"/>
            <a:ext cx="109728" cy="109728"/>
          </a:xfrm>
          <a:prstGeom prst="ellipse">
            <a:avLst/>
          </a:prstGeom>
          <a:solidFill>
            <a:schemeClr val="accent1"/>
          </a:solidFill>
          <a:ln w="12700">
            <a:solidFill>
              <a:schemeClr val="accent1"/>
            </a:solidFill>
            <a:prstDash val="solid"/>
          </a:ln>
        </p:spPr>
      </p:sp>
      <p:sp>
        <p:nvSpPr>
          <p:cNvPr id="29" name="Text 27"/>
          <p:cNvSpPr txBox="1"/>
          <p:nvPr/>
        </p:nvSpPr>
        <p:spPr>
          <a:xfrm>
            <a:off x="6726784"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One real Kamino lending strategy</a:t>
            </a:r>
            <a:endParaRPr lang="en-US" sz="1300" dirty="0"/>
          </a:p>
        </p:txBody>
      </p:sp>
      <p:sp>
        <p:nvSpPr>
          <p:cNvPr id="30" name="Shape 28"/>
          <p:cNvSpPr/>
          <p:nvPr/>
        </p:nvSpPr>
        <p:spPr>
          <a:xfrm>
            <a:off x="6498184" y="4242816"/>
            <a:ext cx="109728" cy="109728"/>
          </a:xfrm>
          <a:prstGeom prst="ellipse">
            <a:avLst/>
          </a:prstGeom>
          <a:solidFill>
            <a:schemeClr val="accent1"/>
          </a:solidFill>
          <a:ln w="12700">
            <a:solidFill>
              <a:schemeClr val="accent1"/>
            </a:solidFill>
            <a:prstDash val="solid"/>
          </a:ln>
        </p:spPr>
      </p:sp>
      <p:sp>
        <p:nvSpPr>
          <p:cNvPr id="31" name="Text 29"/>
          <p:cNvSpPr txBox="1"/>
          <p:nvPr/>
        </p:nvSpPr>
        <p:spPr>
          <a:xfrm>
            <a:off x="6726784"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Tested against the real Kamino program on a local validator</a:t>
            </a:r>
            <a:endParaRPr lang="en-US" sz="1300" dirty="0"/>
          </a:p>
        </p:txBody>
      </p:sp>
      <p:sp>
        <p:nvSpPr>
          <p:cNvPr id="32" name="Shape 30"/>
          <p:cNvSpPr/>
          <p:nvPr/>
        </p:nvSpPr>
        <p:spPr>
          <a:xfrm>
            <a:off x="6498184" y="5047488"/>
            <a:ext cx="109728" cy="109728"/>
          </a:xfrm>
          <a:prstGeom prst="ellipse">
            <a:avLst/>
          </a:prstGeom>
          <a:solidFill>
            <a:schemeClr val="accent1"/>
          </a:solidFill>
          <a:ln w="12700">
            <a:solidFill>
              <a:schemeClr val="accent1"/>
            </a:solidFill>
            <a:prstDash val="solid"/>
          </a:ln>
        </p:spPr>
      </p:sp>
      <p:sp>
        <p:nvSpPr>
          <p:cNvPr id="33" name="Text 31"/>
          <p:cNvSpPr txBox="1"/>
          <p:nvPr/>
        </p:nvSpPr>
        <p:spPr>
          <a:xfrm>
            <a:off x="6726784"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Deployed balance read on-chain</a:t>
            </a:r>
            <a:endParaRPr lang="en-US" sz="1300" dirty="0"/>
          </a:p>
        </p:txBody>
      </p:sp>
      <p:sp>
        <p:nvSpPr>
          <p:cNvPr id="34" name="dot-3"/>
          <p:cNvSpPr/>
          <p:nvPr/>
        </p:nvSpPr>
        <p:spPr>
          <a:xfrm>
            <a:off x="9244355" y="1773936"/>
            <a:ext cx="237744" cy="237744"/>
          </a:xfrm>
          <a:prstGeom prst="ellipse">
            <a:avLst/>
          </a:prstGeom>
          <a:solidFill>
            <a:schemeClr val="accent1"/>
          </a:solidFill>
          <a:ln w="25400">
            <a:solidFill>
              <a:schemeClr val="tx1"/>
            </a:solidFill>
            <a:prstDash val="solid"/>
          </a:ln>
        </p:spPr>
      </p:sp>
      <p:sp>
        <p:nvSpPr>
          <p:cNvPr id="35" name="Text 33"/>
          <p:cNvSpPr txBox="1"/>
          <p:nvPr/>
        </p:nvSpPr>
        <p:spPr>
          <a:xfrm>
            <a:off x="9610115"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4</a:t>
            </a:r>
            <a:endParaRPr lang="en-US" sz="1100" dirty="0"/>
          </a:p>
        </p:txBody>
      </p:sp>
      <p:sp>
        <p:nvSpPr>
          <p:cNvPr id="36" name="phase-3"/>
          <p:cNvSpPr/>
          <p:nvPr/>
        </p:nvSpPr>
        <p:spPr>
          <a:xfrm>
            <a:off x="9061475" y="2304288"/>
            <a:ext cx="2581580" cy="3611880"/>
          </a:xfrm>
          <a:prstGeom prst="roundRect">
            <a:avLst>
              <a:gd name="adj" fmla="val 4959"/>
            </a:avLst>
          </a:prstGeom>
          <a:solidFill>
            <a:schemeClr val="tx2"/>
          </a:solidFill>
          <a:ln w="9525">
            <a:solidFill>
              <a:schemeClr val="accent6"/>
            </a:solidFill>
            <a:prstDash val="solid"/>
          </a:ln>
        </p:spPr>
      </p:sp>
      <p:sp>
        <p:nvSpPr>
          <p:cNvPr id="37" name="Text 35"/>
          <p:cNvSpPr txBox="1"/>
          <p:nvPr/>
        </p:nvSpPr>
        <p:spPr>
          <a:xfrm>
            <a:off x="9317507"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Admin and expansion</a:t>
            </a:r>
            <a:endParaRPr lang="en-US" sz="1700" dirty="0"/>
          </a:p>
        </p:txBody>
      </p:sp>
      <p:sp>
        <p:nvSpPr>
          <p:cNvPr id="38" name="Shape 36"/>
          <p:cNvSpPr/>
          <p:nvPr/>
        </p:nvSpPr>
        <p:spPr>
          <a:xfrm>
            <a:off x="9335795" y="3438144"/>
            <a:ext cx="109728" cy="109728"/>
          </a:xfrm>
          <a:prstGeom prst="ellipse">
            <a:avLst/>
          </a:prstGeom>
          <a:solidFill>
            <a:schemeClr val="accent1"/>
          </a:solidFill>
          <a:ln w="12700">
            <a:solidFill>
              <a:schemeClr val="accent1"/>
            </a:solidFill>
            <a:prstDash val="solid"/>
          </a:ln>
        </p:spPr>
      </p:sp>
      <p:sp>
        <p:nvSpPr>
          <p:cNvPr id="39" name="Text 37"/>
          <p:cNvSpPr txBox="1"/>
          <p:nvPr/>
        </p:nvSpPr>
        <p:spPr>
          <a:xfrm>
            <a:off x="9564395"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Multisig authority</a:t>
            </a:r>
            <a:endParaRPr lang="en-US" sz="1300" dirty="0"/>
          </a:p>
        </p:txBody>
      </p:sp>
      <p:sp>
        <p:nvSpPr>
          <p:cNvPr id="40" name="Shape 38"/>
          <p:cNvSpPr/>
          <p:nvPr/>
        </p:nvSpPr>
        <p:spPr>
          <a:xfrm>
            <a:off x="9335795" y="4242816"/>
            <a:ext cx="109728" cy="109728"/>
          </a:xfrm>
          <a:prstGeom prst="ellipse">
            <a:avLst/>
          </a:prstGeom>
          <a:solidFill>
            <a:schemeClr val="accent1"/>
          </a:solidFill>
          <a:ln w="12700">
            <a:solidFill>
              <a:schemeClr val="accent1"/>
            </a:solidFill>
            <a:prstDash val="solid"/>
          </a:ln>
        </p:spPr>
      </p:sp>
      <p:sp>
        <p:nvSpPr>
          <p:cNvPr id="41" name="Text 39"/>
          <p:cNvSpPr txBox="1"/>
          <p:nvPr/>
        </p:nvSpPr>
        <p:spPr>
          <a:xfrm>
            <a:off x="9564395"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Delay on strategy changes</a:t>
            </a:r>
            <a:endParaRPr lang="en-US" sz="1300" dirty="0"/>
          </a:p>
        </p:txBody>
      </p:sp>
      <p:sp>
        <p:nvSpPr>
          <p:cNvPr id="42" name="Shape 40"/>
          <p:cNvSpPr/>
          <p:nvPr/>
        </p:nvSpPr>
        <p:spPr>
          <a:xfrm>
            <a:off x="9335795" y="5047488"/>
            <a:ext cx="109728" cy="109728"/>
          </a:xfrm>
          <a:prstGeom prst="ellipse">
            <a:avLst/>
          </a:prstGeom>
          <a:solidFill>
            <a:schemeClr val="accent1"/>
          </a:solidFill>
          <a:ln w="12700">
            <a:solidFill>
              <a:schemeClr val="accent1"/>
            </a:solidFill>
            <a:prstDash val="solid"/>
          </a:ln>
        </p:spPr>
      </p:sp>
      <p:sp>
        <p:nvSpPr>
          <p:cNvPr id="43" name="Text 41"/>
          <p:cNvSpPr txBox="1"/>
          <p:nvPr/>
        </p:nvSpPr>
        <p:spPr>
          <a:xfrm>
            <a:off x="9564395"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Blinks, alerts, read-only portfolio, more tokens</a:t>
            </a:r>
            <a:endParaRPr lang="en-US" sz="1300" dirty="0"/>
          </a:p>
        </p:txBody>
      </p:sp>
      <p:sp>
        <p:nvSpPr>
          <p:cNvPr id="44" name="planned-chip"/>
          <p:cNvSpPr txBox="1"/>
          <p:nvPr/>
        </p:nvSpPr>
        <p:spPr>
          <a:xfrm>
            <a:off x="548640" y="6053328"/>
            <a:ext cx="1600200" cy="292608"/>
          </a:xfrm>
          <a:prstGeom prst="roundRect">
            <a:avLst>
              <a:gd name="adj" fmla="val 50000"/>
            </a:avLst>
          </a:prstGeom>
          <a:solidFill>
            <a:schemeClr val="tx1"/>
          </a:solidFill>
          <a:ln w="12700">
            <a:solidFill>
              <a:schemeClr val="accent3"/>
            </a:solidFill>
          </a:ln>
        </p:spPr>
        <p:txBody>
          <a:bodyPr wrap="square" lIns="0" tIns="0" rIns="0" bIns="0" rtlCol="0" anchor="ctr"/>
          <a:lstStyle/>
          <a:p>
            <a:pPr algn="ctr" indent="0" marL="0">
              <a:buNone/>
            </a:pPr>
            <a:r>
              <a:rPr lang="en-US" sz="950" b="1" spc="100" kern="0" dirty="0">
                <a:solidFill>
                  <a:schemeClr val="accent3"/>
                </a:solidFill>
              </a:rPr>
              <a:t>PLANNED WORK</a:t>
            </a:r>
            <a:endParaRPr lang="en-US" sz="950" dirty="0"/>
          </a:p>
        </p:txBody>
      </p:sp>
      <p:sp>
        <p:nvSpPr>
          <p:cNvPr id="45" name="Text 43"/>
          <p:cNvSpPr txBox="1"/>
          <p:nvPr/>
        </p:nvSpPr>
        <p:spPr>
          <a:xfrm>
            <a:off x="2377440" y="6053328"/>
            <a:ext cx="9265615" cy="292608"/>
          </a:xfrm>
          <a:prstGeom prst="rect">
            <a:avLst/>
          </a:prstGeom>
          <a:noFill/>
          <a:ln/>
        </p:spPr>
        <p:txBody>
          <a:bodyPr wrap="square" lIns="0" tIns="0" rIns="0" bIns="0" rtlCol="0" anchor="ctr"/>
          <a:lstStyle/>
          <a:p>
            <a:pPr indent="0" marL="0">
              <a:buNone/>
            </a:pPr>
            <a:r>
              <a:rPr lang="en-US" sz="1200" i="1" dirty="0">
                <a:solidFill>
                  <a:schemeClr val="bg2"/>
                </a:solidFill>
              </a:rPr>
              <a:t>None of this is built yet. Safety first, then the feature that makes the vault real.</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tableSave logo">    </p:cNvPr>
          <p:cNvPicPr>
            <a:picLocks noChangeAspect="1"/>
          </p:cNvPicPr>
          <p:nvPr/>
        </p:nvPicPr>
        <p:blipFill>
          <a:blip r:embed="rId1"/>
          <a:stretch>
            <a:fillRect/>
          </a:stretch>
        </p:blipFill>
        <p:spPr>
          <a:xfrm>
            <a:off x="548640" y="566928"/>
            <a:ext cx="2581835" cy="329184"/>
          </a:xfrm>
          <a:prstGeom prst="rect">
            <a:avLst/>
          </a:prstGeom>
        </p:spPr>
      </p:pic>
      <p:sp>
        <p:nvSpPr>
          <p:cNvPr id="3" name="Text 0"/>
          <p:cNvSpPr txBox="1"/>
          <p:nvPr/>
        </p:nvSpPr>
        <p:spPr>
          <a:xfrm>
            <a:off x="548640" y="1417320"/>
            <a:ext cx="7498080" cy="1554480"/>
          </a:xfrm>
          <a:prstGeom prst="rect">
            <a:avLst/>
          </a:prstGeom>
          <a:noFill/>
          <a:ln/>
        </p:spPr>
        <p:txBody>
          <a:bodyPr wrap="square" lIns="0" tIns="0" rIns="0" bIns="0" rtlCol="0" anchor="t"/>
          <a:lstStyle/>
          <a:p>
            <a:pPr indent="0" marL="0">
              <a:lnSpc>
                <a:spcPct val="95000"/>
              </a:lnSpc>
              <a:buNone/>
            </a:pPr>
            <a:r>
              <a:rPr lang="en-US" sz="3600" b="1" dirty="0">
                <a:solidFill>
                  <a:schemeClr val="bg1"/>
                </a:solidFill>
              </a:rPr>
              <a:t>Make stablecoin yield easier to understand before making it easier to chase.</a:t>
            </a:r>
            <a:endParaRPr lang="en-US" sz="3600" dirty="0"/>
          </a:p>
        </p:txBody>
      </p:sp>
      <p:pic>
        <p:nvPicPr>
          <p:cNvPr id="4" name="Image 1" descr="Simpler comparison">    </p:cNvPr>
          <p:cNvPicPr>
            <a:picLocks noChangeAspect="1"/>
          </p:cNvPicPr>
          <p:nvPr/>
        </p:nvPicPr>
        <p:blipFill>
          <a:blip r:embed="rId2"/>
          <a:stretch>
            <a:fillRect/>
          </a:stretch>
        </p:blipFill>
        <p:spPr>
          <a:xfrm>
            <a:off x="548640" y="3291840"/>
            <a:ext cx="365760" cy="365760"/>
          </a:xfrm>
          <a:prstGeom prst="rect">
            <a:avLst/>
          </a:prstGeom>
        </p:spPr>
      </p:pic>
      <p:sp>
        <p:nvSpPr>
          <p:cNvPr id="5" name="Text 1"/>
          <p:cNvSpPr txBox="1"/>
          <p:nvPr/>
        </p:nvSpPr>
        <p:spPr>
          <a:xfrm>
            <a:off x="1097280" y="3246120"/>
            <a:ext cx="6217920" cy="292608"/>
          </a:xfrm>
          <a:prstGeom prst="rect">
            <a:avLst/>
          </a:prstGeom>
          <a:noFill/>
          <a:ln/>
        </p:spPr>
        <p:txBody>
          <a:bodyPr wrap="square" lIns="0" tIns="0" rIns="0" bIns="0" rtlCol="0" anchor="t"/>
          <a:lstStyle/>
          <a:p>
            <a:pPr indent="0" marL="0">
              <a:buNone/>
            </a:pPr>
            <a:r>
              <a:rPr lang="en-US" sz="1600" b="1" dirty="0">
                <a:solidFill>
                  <a:schemeClr val="bg1"/>
                </a:solidFill>
              </a:rPr>
              <a:t>Simpler comparison</a:t>
            </a:r>
            <a:endParaRPr lang="en-US" sz="1600" dirty="0"/>
          </a:p>
        </p:txBody>
      </p:sp>
      <p:sp>
        <p:nvSpPr>
          <p:cNvPr id="6" name="Text 2"/>
          <p:cNvSpPr txBox="1"/>
          <p:nvPr/>
        </p:nvSpPr>
        <p:spPr>
          <a:xfrm>
            <a:off x="1097280" y="3547872"/>
            <a:ext cx="6217920" cy="274320"/>
          </a:xfrm>
          <a:prstGeom prst="rect">
            <a:avLst/>
          </a:prstGeom>
          <a:noFill/>
          <a:ln/>
        </p:spPr>
        <p:txBody>
          <a:bodyPr wrap="square" lIns="0" tIns="0" rIns="0" bIns="0" rtlCol="0" anchor="t"/>
          <a:lstStyle/>
          <a:p>
            <a:pPr indent="0" marL="0">
              <a:buNone/>
            </a:pPr>
            <a:r>
              <a:rPr lang="en-US" sz="1250" dirty="0">
                <a:solidFill>
                  <a:schemeClr val="bg2"/>
                </a:solidFill>
              </a:rPr>
              <a:t>Yield options in one place, ranked for your risk.</a:t>
            </a:r>
            <a:endParaRPr lang="en-US" sz="1250" dirty="0"/>
          </a:p>
        </p:txBody>
      </p:sp>
      <p:pic>
        <p:nvPicPr>
          <p:cNvPr id="7" name="Image 2" descr="Risk grades that show trade-offs">    </p:cNvPr>
          <p:cNvPicPr>
            <a:picLocks noChangeAspect="1"/>
          </p:cNvPicPr>
          <p:nvPr/>
        </p:nvPicPr>
        <p:blipFill>
          <a:blip r:embed="rId3"/>
          <a:stretch>
            <a:fillRect/>
          </a:stretch>
        </p:blipFill>
        <p:spPr>
          <a:xfrm>
            <a:off x="548640" y="4041648"/>
            <a:ext cx="365760" cy="365760"/>
          </a:xfrm>
          <a:prstGeom prst="rect">
            <a:avLst/>
          </a:prstGeom>
        </p:spPr>
      </p:pic>
      <p:sp>
        <p:nvSpPr>
          <p:cNvPr id="8" name="Text 3"/>
          <p:cNvSpPr txBox="1"/>
          <p:nvPr/>
        </p:nvSpPr>
        <p:spPr>
          <a:xfrm>
            <a:off x="1097280" y="3995928"/>
            <a:ext cx="6217920" cy="292608"/>
          </a:xfrm>
          <a:prstGeom prst="rect">
            <a:avLst/>
          </a:prstGeom>
          <a:noFill/>
          <a:ln/>
        </p:spPr>
        <p:txBody>
          <a:bodyPr wrap="square" lIns="0" tIns="0" rIns="0" bIns="0" rtlCol="0" anchor="t"/>
          <a:lstStyle/>
          <a:p>
            <a:pPr indent="0" marL="0">
              <a:buNone/>
            </a:pPr>
            <a:r>
              <a:rPr lang="en-US" sz="1600" b="1" dirty="0">
                <a:solidFill>
                  <a:schemeClr val="bg1"/>
                </a:solidFill>
              </a:rPr>
              <a:t>Risk grades that show trade-offs</a:t>
            </a:r>
            <a:endParaRPr lang="en-US" sz="1600" dirty="0"/>
          </a:p>
        </p:txBody>
      </p:sp>
      <p:sp>
        <p:nvSpPr>
          <p:cNvPr id="9" name="Text 4"/>
          <p:cNvSpPr txBox="1"/>
          <p:nvPr/>
        </p:nvSpPr>
        <p:spPr>
          <a:xfrm>
            <a:off x="1097280" y="4297680"/>
            <a:ext cx="6217920" cy="274320"/>
          </a:xfrm>
          <a:prstGeom prst="rect">
            <a:avLst/>
          </a:prstGeom>
          <a:noFill/>
          <a:ln/>
        </p:spPr>
        <p:txBody>
          <a:bodyPr wrap="square" lIns="0" tIns="0" rIns="0" bIns="0" rtlCol="0" anchor="t"/>
          <a:lstStyle/>
          <a:p>
            <a:pPr indent="0" marL="0">
              <a:buNone/>
            </a:pPr>
            <a:r>
              <a:rPr lang="en-US" sz="1250" dirty="0">
                <a:solidFill>
                  <a:schemeClr val="bg2"/>
                </a:solidFill>
              </a:rPr>
              <a:t>A–D, with the reasons, and unknowns never guessed.</a:t>
            </a:r>
            <a:endParaRPr lang="en-US" sz="1250" dirty="0"/>
          </a:p>
        </p:txBody>
      </p:sp>
      <p:pic>
        <p:nvPicPr>
          <p:cNvPr id="10" name="Image 3" descr="A separate Solana vault prototype">    </p:cNvPr>
          <p:cNvPicPr>
            <a:picLocks noChangeAspect="1"/>
          </p:cNvPicPr>
          <p:nvPr/>
        </p:nvPicPr>
        <p:blipFill>
          <a:blip r:embed="rId4"/>
          <a:stretch>
            <a:fillRect/>
          </a:stretch>
        </p:blipFill>
        <p:spPr>
          <a:xfrm>
            <a:off x="548640" y="4791456"/>
            <a:ext cx="365760" cy="365760"/>
          </a:xfrm>
          <a:prstGeom prst="rect">
            <a:avLst/>
          </a:prstGeom>
        </p:spPr>
      </p:pic>
      <p:sp>
        <p:nvSpPr>
          <p:cNvPr id="11" name="Text 5"/>
          <p:cNvSpPr txBox="1"/>
          <p:nvPr/>
        </p:nvSpPr>
        <p:spPr>
          <a:xfrm>
            <a:off x="1097280" y="4745736"/>
            <a:ext cx="6217920" cy="292608"/>
          </a:xfrm>
          <a:prstGeom prst="rect">
            <a:avLst/>
          </a:prstGeom>
          <a:noFill/>
          <a:ln/>
        </p:spPr>
        <p:txBody>
          <a:bodyPr wrap="square" lIns="0" tIns="0" rIns="0" bIns="0" rtlCol="0" anchor="t"/>
          <a:lstStyle/>
          <a:p>
            <a:pPr indent="0" marL="0">
              <a:buNone/>
            </a:pPr>
            <a:r>
              <a:rPr lang="en-US" sz="1600" b="1" dirty="0">
                <a:solidFill>
                  <a:schemeClr val="bg1"/>
                </a:solidFill>
              </a:rPr>
              <a:t>A separate Solana vault prototype</a:t>
            </a:r>
            <a:endParaRPr lang="en-US" sz="1600" dirty="0"/>
          </a:p>
        </p:txBody>
      </p:sp>
      <p:sp>
        <p:nvSpPr>
          <p:cNvPr id="12" name="Text 6"/>
          <p:cNvSpPr txBox="1"/>
          <p:nvPr/>
        </p:nvSpPr>
        <p:spPr>
          <a:xfrm>
            <a:off x="1097280" y="5047488"/>
            <a:ext cx="6217920" cy="274320"/>
          </a:xfrm>
          <a:prstGeom prst="rect">
            <a:avLst/>
          </a:prstGeom>
          <a:noFill/>
          <a:ln/>
        </p:spPr>
        <p:txBody>
          <a:bodyPr wrap="square" lIns="0" tIns="0" rIns="0" bIns="0" rtlCol="0" anchor="t"/>
          <a:lstStyle/>
          <a:p>
            <a:pPr indent="0" marL="0">
              <a:buNone/>
            </a:pPr>
            <a:r>
              <a:rPr lang="en-US" sz="1250" dirty="0">
                <a:solidFill>
                  <a:schemeClr val="bg2"/>
                </a:solidFill>
              </a:rPr>
              <a:t>Controlled deposits and withdrawals on devnet.</a:t>
            </a:r>
            <a:endParaRPr lang="en-US" sz="1250" dirty="0"/>
          </a:p>
        </p:txBody>
      </p:sp>
      <p:sp>
        <p:nvSpPr>
          <p:cNvPr id="13" name="qr-card"/>
          <p:cNvSpPr/>
          <p:nvPr/>
        </p:nvSpPr>
        <p:spPr>
          <a:xfrm>
            <a:off x="8625535" y="1417320"/>
            <a:ext cx="3017520" cy="3977640"/>
          </a:xfrm>
          <a:prstGeom prst="roundRect">
            <a:avLst>
              <a:gd name="adj" fmla="val 4242"/>
            </a:avLst>
          </a:prstGeom>
          <a:solidFill>
            <a:schemeClr val="tx2">
              <a:alpha val="90000"/>
            </a:schemeClr>
          </a:solidFill>
          <a:ln w="9525">
            <a:solidFill>
              <a:schemeClr val="accent6"/>
            </a:solidFill>
            <a:prstDash val="solid"/>
          </a:ln>
        </p:spPr>
      </p:sp>
      <p:pic>
        <p:nvPicPr>
          <p:cNvPr id="14" name="Image 4" descr="QR code linking to stablesaver-web.vercel.app">    </p:cNvPr>
          <p:cNvPicPr>
            <a:picLocks noChangeAspect="1"/>
          </p:cNvPicPr>
          <p:nvPr/>
        </p:nvPicPr>
        <p:blipFill>
          <a:blip r:embed="rId5"/>
          <a:stretch>
            <a:fillRect/>
          </a:stretch>
        </p:blipFill>
        <p:spPr>
          <a:xfrm>
            <a:off x="9037015" y="1691640"/>
            <a:ext cx="2194560" cy="2194560"/>
          </a:xfrm>
          <a:prstGeom prst="rect">
            <a:avLst/>
          </a:prstGeom>
        </p:spPr>
      </p:pic>
      <p:sp>
        <p:nvSpPr>
          <p:cNvPr id="15" name="Text 8"/>
          <p:cNvSpPr txBox="1"/>
          <p:nvPr/>
        </p:nvSpPr>
        <p:spPr>
          <a:xfrm>
            <a:off x="8899855" y="4041648"/>
            <a:ext cx="2468880" cy="292608"/>
          </a:xfrm>
          <a:prstGeom prst="rect">
            <a:avLst/>
          </a:prstGeom>
          <a:noFill/>
          <a:ln/>
        </p:spPr>
        <p:txBody>
          <a:bodyPr wrap="square" lIns="0" tIns="0" rIns="0" bIns="0" rtlCol="0" anchor="t"/>
          <a:lstStyle/>
          <a:p>
            <a:pPr algn="ctr" indent="0" marL="0">
              <a:buNone/>
            </a:pPr>
            <a:r>
              <a:rPr lang="en-US" sz="1500" b="1" dirty="0">
                <a:solidFill>
                  <a:schemeClr val="bg1"/>
                </a:solidFill>
              </a:rPr>
              <a:t>Try it now</a:t>
            </a:r>
            <a:endParaRPr lang="en-US" sz="1500" dirty="0"/>
          </a:p>
        </p:txBody>
      </p:sp>
      <p:sp>
        <p:nvSpPr>
          <p:cNvPr id="16" name="Text 9"/>
          <p:cNvSpPr txBox="1"/>
          <p:nvPr/>
        </p:nvSpPr>
        <p:spPr>
          <a:xfrm>
            <a:off x="8808415" y="4343400"/>
            <a:ext cx="2651760" cy="274320"/>
          </a:xfrm>
          <a:prstGeom prst="rect">
            <a:avLst/>
          </a:prstGeom>
          <a:noFill/>
          <a:ln/>
        </p:spPr>
        <p:txBody>
          <a:bodyPr wrap="square" lIns="0" tIns="0" rIns="0" bIns="0" rtlCol="0" anchor="t"/>
          <a:lstStyle/>
          <a:p>
            <a:pPr algn="ctr" indent="0" marL="0">
              <a:buNone/>
            </a:pPr>
            <a:r>
              <a:rPr lang="en-US" sz="1200" dirty="0">
                <a:solidFill>
                  <a:schemeClr val="accent2"/>
                </a:solidFill>
              </a:rPr>
              <a:t>stablesaver-web.vercel.app</a:t>
            </a:r>
            <a:endParaRPr lang="en-US" sz="1200" dirty="0"/>
          </a:p>
        </p:txBody>
      </p:sp>
      <p:sp>
        <p:nvSpPr>
          <p:cNvPr id="17" name="Text 10"/>
          <p:cNvSpPr txBox="1"/>
          <p:nvPr/>
        </p:nvSpPr>
        <p:spPr>
          <a:xfrm>
            <a:off x="8854135" y="4681728"/>
            <a:ext cx="2560320" cy="640080"/>
          </a:xfrm>
          <a:prstGeom prst="rect">
            <a:avLst/>
          </a:prstGeom>
          <a:noFill/>
          <a:ln/>
        </p:spPr>
        <p:txBody>
          <a:bodyPr wrap="square" lIns="0" tIns="0" rIns="0" bIns="0" rtlCol="0" anchor="t"/>
          <a:lstStyle/>
          <a:p>
            <a:pPr algn="ctr" indent="0" marL="0">
              <a:buNone/>
            </a:pPr>
            <a:r>
              <a:rPr lang="en-US" sz="1050" dirty="0">
                <a:solidFill>
                  <a:schemeClr val="bg2"/>
                </a:solidFill>
              </a:rPr>
              <a:t>Feedback welcome on risk scoring, vault security, and which integration to build next.</a:t>
            </a:r>
            <a:endParaRPr lang="en-US" sz="1050" dirty="0"/>
          </a:p>
        </p:txBody>
      </p:sp>
      <p:sp>
        <p:nvSpPr>
          <p:cNvPr id="18" name="Text 11"/>
          <p:cNvSpPr txBox="1"/>
          <p:nvPr/>
        </p:nvSpPr>
        <p:spPr>
          <a:xfrm>
            <a:off x="548640" y="5897880"/>
            <a:ext cx="8229600" cy="365760"/>
          </a:xfrm>
          <a:prstGeom prst="rect">
            <a:avLst/>
          </a:prstGeom>
          <a:noFill/>
          <a:ln/>
        </p:spPr>
        <p:txBody>
          <a:bodyPr wrap="square" lIns="0" tIns="0" rIns="0" bIns="0" rtlCol="0" anchor="t"/>
          <a:lstStyle/>
          <a:p>
            <a:pPr indent="0" marL="0">
              <a:buNone/>
            </a:pPr>
            <a:r>
              <a:rPr lang="en-US" sz="1300" b="1" dirty="0">
                <a:solidFill>
                  <a:schemeClr val="bg1"/>
                </a:solidFill>
              </a:rPr>
              <a:t>Theo</a:t>
            </a:r>
            <a:pPr indent="0" marL="0">
              <a:buNone/>
            </a:pPr>
            <a:r>
              <a:rPr lang="en-US" sz="1300" dirty="0">
                <a:solidFill>
                  <a:schemeClr val="bg2"/>
                </a:solidFill>
              </a:rPr>
              <a:t>   ·   StableSave — Know the risk before you chase the yield.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StableSave">
      <a:dk1>
        <a:srgbClr val="0B1020"/>
      </a:dk1>
      <a:lt1>
        <a:srgbClr val="F5F7FB"/>
      </a:lt1>
      <a:dk2>
        <a:srgbClr val="131C31"/>
      </a:dk2>
      <a:lt2>
        <a:srgbClr val="9AA7BD"/>
      </a:lt2>
      <a:accent1>
        <a:srgbClr val="9945FF"/>
      </a:accent1>
      <a:accent2>
        <a:srgbClr val="14F195"/>
      </a:accent2>
      <a:accent3>
        <a:srgbClr val="F5B942"/>
      </a:accent3>
      <a:accent4>
        <a:srgbClr val="F0616D"/>
      </a:accent4>
      <a:accent5>
        <a:srgbClr val="1B2640"/>
      </a:accent5>
      <a:accent6>
        <a:srgbClr val="26324F"/>
      </a:accent6>
      <a:hlink>
        <a:srgbClr val="14F195"/>
      </a:hlink>
      <a:folHlink>
        <a:srgbClr val="9945FF"/>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StableSave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StableSave — Demo Day</dc:title>
  <dc:subject>Stablecoin yield intelligence and a Solana vault prototype</dc:subject>
  <dc:creator>Theo</dc:creator>
  <cp:lastModifiedBy>Theo</cp:lastModifiedBy>
  <cp:revision>1</cp:revision>
  <dcterms:created xsi:type="dcterms:W3CDTF">2026-10-14T01:55:47Z</dcterms:created>
  <dcterms:modified xsi:type="dcterms:W3CDTF">2026-10-14T01:55:47Z</dcterms:modified>
</cp:coreProperties>
</file>