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6e09a64-7c25-06a3-0253-24ce9c671a55}">
          <p14:sldIdLst>
            <p14:sldId id="256"/>
            <p14:sldId id="257"/>
          </p14:sldIdLst>
        </p14:section>
        <p14:section name="StableSave" id="{d4177548-1194-8dd2-522d-8433a4865bb6}">
          <p14:sldIdLst>
            <p14:sldId id="258"/>
            <p14:sldId id="259"/>
          </p14:sldIdLst>
        </p14:section>
        <p14:section name="Demo" id="{1944e314-7f46-1dea-9fb9-dbb2718870e8}">
          <p14:sldIdLst>
            <p14:sldId id="260"/>
          </p14:sldIdLst>
        </p14:section>
        <p14:section name="Close" id="{ff8c1fd1-7560-3772-0d37-1170a749c388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seconds. (Clock: 0:00 to 0:10.)
SAY: "Hi, I'm Theo. This is StableSave: know the risk before you chase the yield. It has two parts: a comparison app that's live today, and a Solana vault that's a devnet prototype."
Transition: straight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seconds. (Clock: 0:10 to 0:35.)
SAY: "If you hold USDC or USDT, finding a yield is easy: every app shows you one big number. What's hard is everything behind it. The options are scattered across protocols and networks. A higher APY often just means more risk. And on a small deposit, network fees can eat the whole return."
Note: the left card is a concept, not a real pool. No market statistics here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35 seconds. (Clock: 0:35 to 1:10.)
SAY: "StableSave puts it on one screen. You type an amount, pick how much risk you want, and every option shows three things. The rate. An A to D risk grade from nine factors, where the weakest factor always counts, so a high APY can't hide a weak spot. And what you keep after fees: a hundred dollars on Ethereum earns about four dollars a year but costs about twelve to get in and out, and the app tells you. You don't need a wallet to compare, and you deposit on the protocol's own app."
Honesty: the screenshot and the -$7.90 are from demo data. The live site uses live DefiLlama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seconds. (Clock: 1:10 to 1:35.)
SAY: "The second part is separate: a vault program on Solana devnet, where the program enforces the rules, not the website. Every deposit is split: twenty percent stays liquid for withdrawals, the rest goes into practice pools by strategy. Withdrawals have daily limits, big exits wait thirty minutes, and a guardian can pause it. To be clear: devnet, test tokens, practice rates, not audited."
Do NOT claim market yield, real Kamino/MarginFi/Save deposits, or 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in total. (Clock: 1:35 to 4:35.) Then go to the last slide.
SAY: "Let me show you." Switch to the browser.
BEFORE THE TALK
- Tab 1: stablesaver-web.vercel.app, the calculator showing.
- Tab 2: stablesaver-web.vercel.app/vault with the wallet connected. Wallet on Devnet, holding test USDC and a little devnet SOL. Do one deposit beforehand so the pools card already has money in it.
- Copy a mainnet wallet address that holds USDC (for Find idle money).
PART A: live app (1:30)
1. (0:00) Type 1000. Click Play it safe, then Go bigger. SAY: "The list re-ranks by how much risk you're comfortable with."
2. (0:30) Open the top option. SAY: "Here's its grade and why. And can I withdraw today? Yes: this much is free in the pool right now."
3. (1:00) Close it, click Find idle money, paste the address. SAY: "It reads a real wallet, read-only, and fills the calculator."
PART B: devnet vault (1:30)
4. (1:30) Tab 2. SAY: "This is devnet, test tokens." Deposit 100, approve in the wallet.
5. (1:45) While it confirms, point at "Where the vault's money is". SAY: "One transaction deposits and splits it: twenty percent liquid, the rest across three pools, read from the chain."
6. (2:20) Only if you're under 2:30: press Try it on the "Deposit from a link" card, then Deposit 10. SAY: "The same deposit from a link you can post anywhere."
If a transaction is slow, keep talking over the pools card and move on; never wait in silence. If the network fails, show slide 4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seconds. (Clock: 4:35 to 4:55.)
SAY: "That's StableSave: know the risk before you chase the yield. Next, I'll swap a practice pool for a real Kamino strategy, then get an audit and a multisig. Scan the code to try it, no wallet needed. Thank you!"
LIKELY QUESTIONS (the full deck, StableSave-Demo-Day.pptx, has a slide for each)
- Does the vault earn yield? Not market yield yet. The practice pools pay fixed practice rates from a sponsor pot of test tokens. A real Kamino strategy is the next build.
- Is it audited? No. It's a devnet prototype.
- Who controls the vault? One authority key today, plus a guardian that can only pause. A multisig and a delay on strategy changes are planned.
- Why trust the grades? Every factor and its reason is shown, and unknowns lower the grade. The weights are my judgement and not back-tested yet.
- Why only DefiLlama? It covers every network without an API key. The trade-off is a single point of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ablesaver/presentation/assets/graphic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8346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6696" y="2651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chemeClr val="accent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STABLESAVE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2276856" y="265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chemeClr val="bg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 DEMO DAY</a:t>
            </a:r>
            <a:endParaRPr lang="en-US" sz="105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640080"/>
            <a:ext cx="1082009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ablesaver/presentation/assets/graphic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8346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6696" y="2651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chemeClr val="accent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STABLESAVE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2276856" y="265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chemeClr val="bg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 DEMO DAY</a:t>
            </a:r>
            <a:endParaRPr lang="en-US" sz="105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2898648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ablesaver/presentation/assets/graphic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8346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6696" y="2651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chemeClr val="accent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STABLESAVE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2276856" y="265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chemeClr val="bg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 DEMO DAY</a:t>
            </a:r>
            <a:endParaRPr lang="en-US" sz="105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987552"/>
            <a:ext cx="1127729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2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defRPr>
            </a:lvl1pPr>
          </a:lstStyle>
          <a:p>
            <a:pPr algn="ctr" indent="0" marL="0">
              <a:buNone/>
            </a:pPr>
            <a:endParaRPr lang="en-US" sz="6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3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age" descr="Collage: StableSave screens, a DEMO DAY label, code snippets and stic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0"/>
            <a:ext cx="629381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150000">
            <a:off x="685800" y="960120"/>
            <a:ext cx="3246120" cy="3474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50" kern="0" dirty="0">
                <a:solidFill>
                  <a:srgbClr val="14141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STABLESAVE  ·  DEMO DAY</a:t>
            </a:r>
            <a:endParaRPr lang="en-US" sz="1050" dirty="0"/>
          </a:p>
        </p:txBody>
      </p:sp>
      <p:sp>
        <p:nvSpPr>
          <p:cNvPr id="4" name="wordmark"/>
          <p:cNvSpPr txBox="1"/>
          <p:nvPr/>
        </p:nvSpPr>
        <p:spPr>
          <a:xfrm>
            <a:off x="685800" y="1627632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6000"/>
              </a:lnSpc>
              <a:buNone/>
            </a:pPr>
            <a:r>
              <a:rPr lang="en-US" sz="118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STABLE</a:t>
            </a:r>
            <a:endParaRPr lang="en-US" sz="1180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11800" dirty="0">
                <a:solidFill>
                  <a:schemeClr val="accent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SAVE</a:t>
            </a:r>
            <a:endParaRPr lang="en-US" sz="11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chemeClr val="accent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STABLECOIN YIELD  ·  SOLANA VAULT PROTOTYPE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956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9C9C9"/>
                </a:solidFill>
              </a:rPr>
              <a:t>Know the risk 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before you chase the yield.</a:t>
            </a:r>
            <a:endParaRPr lang="en-US" sz="1900" dirty="0"/>
          </a:p>
        </p:txBody>
      </p:sp>
      <p:sp>
        <p:nvSpPr>
          <p:cNvPr id="7" name="presenter"/>
          <p:cNvSpPr txBox="1"/>
          <p:nvPr/>
        </p:nvSpPr>
        <p:spPr>
          <a:xfrm>
            <a:off x="685800" y="5760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Theo</a:t>
            </a:r>
            <a:pPr indent="0" marL="0">
              <a:buNone/>
            </a:pPr>
            <a:r>
              <a:rPr lang="en-US" sz="1100" spc="100" kern="0" dirty="0">
                <a:solidFill>
                  <a:schemeClr val="bg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stablesaver-web.vercel.app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-blo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17" y="420624"/>
            <a:ext cx="4980921" cy="1024128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640080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YIELD IS EASY TO FIND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4813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Knowing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what you're taking on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 is the hard part.</a:t>
            </a:r>
            <a:endParaRPr lang="en-US" sz="1700" dirty="0"/>
          </a:p>
        </p:txBody>
      </p:sp>
      <p:sp>
        <p:nvSpPr>
          <p:cNvPr id="5" name="seen-card"/>
          <p:cNvSpPr txBox="1"/>
          <p:nvPr/>
        </p:nvSpPr>
        <p:spPr>
          <a:xfrm rot="-150000">
            <a:off x="822960" y="2514600"/>
            <a:ext cx="3931920" cy="3017520"/>
          </a:xfrm>
          <a:prstGeom prst="roundRect">
            <a:avLst>
              <a:gd name="adj" fmla="val 4242"/>
            </a:avLst>
          </a:prstGeom>
          <a:solidFill>
            <a:schemeClr val="tx2"/>
          </a:solidFill>
          <a:ln w="15875">
            <a:solidFill>
              <a:schemeClr val="accent6"/>
            </a:solidFill>
          </a:ln>
          <a:effectLst>
            <a:outerShdw sx="100000" sy="100000" kx="0" ky="0" algn="bl" rotWithShape="0" blurRad="101600" dist="63500" dir="2700000">
              <a:srgbClr val="080808">
                <a:alpha val="85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YOU SEE</a:t>
            </a:r>
            <a:endParaRPr lang="en-US" sz="1000" dirty="0"/>
          </a:p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BIG APY</a:t>
            </a:r>
            <a:endParaRPr lang="en-US" sz="10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One number on a dashboard, usually the highest one.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CONCEPTUAL ILLUSTRATION</a:t>
            </a:r>
            <a:endParaRPr lang="en-US" sz="1000" dirty="0"/>
          </a:p>
        </p:txBody>
      </p:sp>
      <p:pic>
        <p:nvPicPr>
          <p:cNvPr id="6" name="sticker-chart" descr="chart stic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4114800" y="2103120"/>
            <a:ext cx="1051560" cy="1051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577840" y="2350008"/>
            <a:ext cx="5928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5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YOU TAKE ON</a:t>
            </a:r>
            <a:endParaRPr lang="en-US" sz="1000" dirty="0"/>
          </a:p>
        </p:txBody>
      </p:sp>
      <p:pic>
        <p:nvPicPr>
          <p:cNvPr id="8" name="Image 2" descr="/home/user/Stablesaver/presentation/assets/graphics/star-bu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807208"/>
            <a:ext cx="155448" cy="1554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870448" y="2743200"/>
            <a:ext cx="56354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Scattered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: options sit across many protocols and networks</a:t>
            </a:r>
            <a:endParaRPr lang="en-US" sz="1800" dirty="0"/>
          </a:p>
        </p:txBody>
      </p:sp>
      <p:pic>
        <p:nvPicPr>
          <p:cNvPr id="10" name="Image 3" descr="/home/user/Stablesaver/presentation/assets/graphics/star-bul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813048"/>
            <a:ext cx="155448" cy="15544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870448" y="3749040"/>
            <a:ext cx="56354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Higher isn't better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: a higher APY often just means more risk</a:t>
            </a:r>
            <a:endParaRPr lang="en-US" sz="1800" dirty="0"/>
          </a:p>
        </p:txBody>
      </p:sp>
      <p:pic>
        <p:nvPicPr>
          <p:cNvPr id="12" name="Image 4" descr="/home/user/Stablesaver/presentation/assets/graphics/star-bul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818888"/>
            <a:ext cx="155448" cy="15544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870448" y="4754880"/>
            <a:ext cx="56354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Fees bite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: network fees can wipe out the return on a small deposit</a:t>
            </a:r>
            <a:endParaRPr lang="en-US" sz="1800" dirty="0"/>
          </a:p>
        </p:txBody>
      </p:sp>
      <p:sp>
        <p:nvSpPr>
          <p:cNvPr id="14" name="Shape 7"/>
          <p:cNvSpPr/>
          <p:nvPr/>
        </p:nvSpPr>
        <p:spPr>
          <a:xfrm>
            <a:off x="5870448" y="3593592"/>
            <a:ext cx="5635447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dash"/>
          </a:ln>
        </p:spPr>
      </p:sp>
      <p:sp>
        <p:nvSpPr>
          <p:cNvPr id="15" name="Shape 8"/>
          <p:cNvSpPr/>
          <p:nvPr/>
        </p:nvSpPr>
        <p:spPr>
          <a:xfrm>
            <a:off x="5870448" y="4599432"/>
            <a:ext cx="5635447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dash"/>
          </a:ln>
        </p:spPr>
      </p:sp>
      <p:sp>
        <p:nvSpPr>
          <p:cNvPr id="16" name="Text 9"/>
          <p:cNvSpPr txBox="1"/>
          <p:nvPr/>
        </p:nvSpPr>
        <p:spPr>
          <a:xfrm>
            <a:off x="1022573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-blo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084" y="420624"/>
            <a:ext cx="6022311" cy="1024128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640080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RATE, RISK, REAL RETURN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4813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Every option shows the rate,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an A–D risk grade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 and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what you keep after fees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.</a:t>
            </a:r>
            <a:endParaRPr lang="en-US" sz="1700" dirty="0"/>
          </a:p>
        </p:txBody>
      </p:sp>
      <p:sp>
        <p:nvSpPr>
          <p:cNvPr id="5" name="shot-list-frame"/>
          <p:cNvSpPr/>
          <p:nvPr/>
        </p:nvSpPr>
        <p:spPr>
          <a:xfrm rot="-90000">
            <a:off x="1783080" y="2267712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0E0E0E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63500" dir="2700000">
              <a:srgbClr val="080808">
                <a:alpha val="85000"/>
              </a:srgbClr>
            </a:outerShdw>
          </a:effectLst>
        </p:spPr>
      </p:sp>
      <p:pic>
        <p:nvPicPr>
          <p:cNvPr id="6" name="shot-list" descr="Ranked options for $1,000 of USDC: each with its grade, network, deposits, rate and yearly estim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90000">
            <a:off x="1828800" y="2313432"/>
            <a:ext cx="2743200" cy="3429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5943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7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INTERFACE · LOCAL BUILD, DEMO DATA</a:t>
            </a:r>
            <a:endParaRPr lang="en-US" sz="850" dirty="0"/>
          </a:p>
        </p:txBody>
      </p:sp>
      <p:sp>
        <p:nvSpPr>
          <p:cNvPr id="8" name="answer-0"/>
          <p:cNvSpPr/>
          <p:nvPr/>
        </p:nvSpPr>
        <p:spPr>
          <a:xfrm>
            <a:off x="6126480" y="2331720"/>
            <a:ext cx="5379415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63500" dir="2700000">
              <a:srgbClr val="080808">
                <a:alpha val="8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00800" y="2441448"/>
            <a:ext cx="1463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accent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A–D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2551176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 GRADE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7955280" y="2807208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C9"/>
                </a:solidFill>
              </a:rPr>
              <a:t>Nine factors, and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the weakest one always counts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C9"/>
                </a:solidFill>
              </a:rPr>
              <a:t>.</a:t>
            </a:r>
            <a:endParaRPr lang="en-US" sz="1500" dirty="0"/>
          </a:p>
        </p:txBody>
      </p:sp>
      <p:sp>
        <p:nvSpPr>
          <p:cNvPr id="12" name="answer-1"/>
          <p:cNvSpPr/>
          <p:nvPr/>
        </p:nvSpPr>
        <p:spPr>
          <a:xfrm>
            <a:off x="6126480" y="3675888"/>
            <a:ext cx="5379415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63500" dir="2700000">
              <a:srgbClr val="080808">
                <a:alpha val="85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00800" y="3785616"/>
            <a:ext cx="1463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0616D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−$7.90</a:t>
            </a:r>
            <a:endParaRPr lang="en-US" sz="38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3895344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FEES · $100 ON ETHEREUM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7955280" y="4151376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Fees cost more than you'd earn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C9"/>
                </a:solidFill>
              </a:rPr>
              <a:t>, and the app says so.</a:t>
            </a:r>
            <a:endParaRPr lang="en-US" sz="1500" dirty="0"/>
          </a:p>
        </p:txBody>
      </p:sp>
      <p:sp>
        <p:nvSpPr>
          <p:cNvPr id="16" name="answer-2"/>
          <p:cNvSpPr/>
          <p:nvPr/>
        </p:nvSpPr>
        <p:spPr>
          <a:xfrm>
            <a:off x="6126480" y="5020056"/>
            <a:ext cx="5379415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63500" dir="2700000">
              <a:srgbClr val="080808">
                <a:alpha val="8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400800" y="5129784"/>
            <a:ext cx="1463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accent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$0</a:t>
            </a:r>
            <a:endParaRPr lang="en-US" sz="3800" dirty="0"/>
          </a:p>
        </p:txBody>
      </p:sp>
      <p:sp>
        <p:nvSpPr>
          <p:cNvPr id="18" name="Text 14"/>
          <p:cNvSpPr txBox="1"/>
          <p:nvPr/>
        </p:nvSpPr>
        <p:spPr>
          <a:xfrm>
            <a:off x="7955280" y="5239512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HELD BY STABLESAVE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7955280" y="5495544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C9"/>
                </a:solidFill>
              </a:rPr>
              <a:t>No sign-up to compare.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You deposit on the protocol's own app.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022573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-blo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456" y="420624"/>
            <a:ext cx="3893971" cy="1024128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640080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SOLANA VAULT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4813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A separate devnet prototype: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the program itself enforces the rules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.</a:t>
            </a:r>
            <a:endParaRPr lang="en-US" sz="1700" dirty="0"/>
          </a:p>
        </p:txBody>
      </p:sp>
      <p:sp>
        <p:nvSpPr>
          <p:cNvPr id="5" name="shot-pools-frame"/>
          <p:cNvSpPr/>
          <p:nvPr/>
        </p:nvSpPr>
        <p:spPr>
          <a:xfrm rot="-72000">
            <a:off x="685800" y="2440197"/>
            <a:ext cx="5577840" cy="2983446"/>
          </a:xfrm>
          <a:prstGeom prst="roundRect">
            <a:avLst>
              <a:gd name="adj" fmla="val 2452"/>
            </a:avLst>
          </a:prstGeom>
          <a:solidFill>
            <a:srgbClr val="0E0E0E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63500" dir="2700000">
              <a:srgbClr val="080808">
                <a:alpha val="85000"/>
              </a:srgbClr>
            </a:outerShdw>
          </a:effectLst>
        </p:spPr>
      </p:sp>
      <p:pic>
        <p:nvPicPr>
          <p:cNvPr id="6" name="shot-pools" descr="Where the vault's money is: $100.00 in total; $20.00 kept liquid for withdrawals; Kamino practice pool $36.00; MarginFi $24.00; Save $20.0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">
            <a:off x="731520" y="2485917"/>
            <a:ext cx="5486400" cy="28920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 rot="180000">
            <a:off x="4069080" y="2211597"/>
            <a:ext cx="2240280" cy="310896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14141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DEVNET · TEST TOKENS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56080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7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INTERFACE · THE SPLIT FROM THE CI REHEARSAL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6720840" y="2350008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ENFORCED ON-CHAIN</a:t>
            </a:r>
            <a:endParaRPr lang="en-US" sz="1000" dirty="0"/>
          </a:p>
        </p:txBody>
      </p:sp>
      <p:pic>
        <p:nvPicPr>
          <p:cNvPr id="10" name="Image 2" descr="/home/user/Stablesaver/presentation/assets/graphics/star-bu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794762"/>
            <a:ext cx="155448" cy="1554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013448" y="2743200"/>
            <a:ext cx="4492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chemeClr val="bg1"/>
                </a:solidFill>
              </a:rPr>
              <a:t>Split on deposit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: 20% kept liquid, the rest across practice pools by strategy</a:t>
            </a:r>
            <a:endParaRPr lang="en-US" sz="1450" dirty="0"/>
          </a:p>
        </p:txBody>
      </p:sp>
      <p:pic>
        <p:nvPicPr>
          <p:cNvPr id="12" name="Image 3" descr="/home/user/Stablesaver/presentation/assets/graphics/star-bul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507994"/>
            <a:ext cx="155448" cy="15544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13448" y="3456432"/>
            <a:ext cx="4492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chemeClr val="bg1"/>
                </a:solidFill>
              </a:rPr>
              <a:t>Withdrawal limits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: 2,000 a wallet a day at once; bigger exits wait 30 minutes</a:t>
            </a:r>
            <a:endParaRPr lang="en-US" sz="1450" dirty="0"/>
          </a:p>
        </p:txBody>
      </p:sp>
      <p:pic>
        <p:nvPicPr>
          <p:cNvPr id="14" name="Image 4" descr="/home/user/Stablesaver/presentation/assets/graphics/star-bul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221226"/>
            <a:ext cx="155448" cy="15544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013448" y="4169664"/>
            <a:ext cx="4492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chemeClr val="bg1"/>
                </a:solidFill>
              </a:rPr>
              <a:t>Safety switch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: a guardian can pause; only the authority unpauses</a:t>
            </a:r>
            <a:endParaRPr lang="en-US" sz="1450" dirty="0"/>
          </a:p>
        </p:txBody>
      </p:sp>
      <p:pic>
        <p:nvPicPr>
          <p:cNvPr id="16" name="Image 5" descr="/home/user/Stablesaver/presentation/assets/graphics/star-bul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934458"/>
            <a:ext cx="155448" cy="15544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013448" y="4882896"/>
            <a:ext cx="44924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chemeClr val="bg1"/>
                </a:solidFill>
              </a:rPr>
              <a:t>Deposit from a link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: the same deposit as a Solana Blink</a:t>
            </a:r>
            <a:endParaRPr lang="en-US" sz="1450" dirty="0"/>
          </a:p>
        </p:txBody>
      </p:sp>
      <p:sp>
        <p:nvSpPr>
          <p:cNvPr id="18" name="callout-orange"/>
          <p:cNvSpPr/>
          <p:nvPr/>
        </p:nvSpPr>
        <p:spPr>
          <a:xfrm>
            <a:off x="685800" y="5852160"/>
            <a:ext cx="10820095" cy="438912"/>
          </a:xfrm>
          <a:prstGeom prst="rect">
            <a:avLst/>
          </a:prstGeom>
          <a:solidFill>
            <a:srgbClr val="2D2219"/>
          </a:solidFill>
          <a:ln w="12700">
            <a:solidFill>
              <a:srgbClr val="2D2219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685800" y="5852160"/>
            <a:ext cx="45720" cy="43891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914400" y="5907024"/>
            <a:ext cx="10408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yet: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market yield (practice pools pay fixed practice rates) · an audit · a multisig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1022573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-blo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5" y="420624"/>
            <a:ext cx="4540115" cy="1024128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640080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LET'S SEE IT WORK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4813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Part A is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live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. Part B is a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devnet prototype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C9"/>
                </a:solidFill>
              </a:rPr>
              <a:t>. Keep them separate.</a:t>
            </a:r>
            <a:endParaRPr lang="en-US" sz="1700" dirty="0"/>
          </a:p>
        </p:txBody>
      </p:sp>
      <p:sp>
        <p:nvSpPr>
          <p:cNvPr id="5" name="demo-0"/>
          <p:cNvSpPr/>
          <p:nvPr/>
        </p:nvSpPr>
        <p:spPr>
          <a:xfrm>
            <a:off x="685800" y="2377440"/>
            <a:ext cx="5250028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 rot="-180000">
            <a:off x="868680" y="2240280"/>
            <a:ext cx="2240280" cy="31089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14141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A · LIVE · 1½ MIN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7157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Comparison app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081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stablesaver-web.vercel.app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4838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50" kern="0" dirty="0">
                <a:solidFill>
                  <a:schemeClr val="accent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34472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Type 1,000, then switch risk levels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1970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50" kern="0" dirty="0">
                <a:solidFill>
                  <a:schemeClr val="accent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41605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Open the top option: its grade, and can I withdraw today?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9103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50" kern="0" dirty="0">
                <a:solidFill>
                  <a:schemeClr val="accent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8737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Find idle money in a pasted wallet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32504" y="2600802"/>
            <a:ext cx="1711300" cy="2982276"/>
          </a:xfrm>
          <a:prstGeom prst="roundRect">
            <a:avLst>
              <a:gd name="adj" fmla="val 3206"/>
            </a:avLst>
          </a:prstGeom>
          <a:solidFill>
            <a:srgbClr val="0E0E0E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demo-shot-0" descr="Comparison app home: amount, estimated earnings and risk prefer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637378"/>
            <a:ext cx="1638148" cy="2909124"/>
          </a:xfrm>
          <a:prstGeom prst="rect">
            <a:avLst/>
          </a:prstGeom>
        </p:spPr>
      </p:pic>
      <p:sp>
        <p:nvSpPr>
          <p:cNvPr id="17" name="demo-1"/>
          <p:cNvSpPr/>
          <p:nvPr/>
        </p:nvSpPr>
        <p:spPr>
          <a:xfrm>
            <a:off x="6255868" y="2377440"/>
            <a:ext cx="5250028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 rot="120000">
            <a:off x="6438748" y="2240280"/>
            <a:ext cx="2240280" cy="310896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14141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 · DEVNET · 1½ MIN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530188" y="27157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Vault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6530188" y="3081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Wallet on Solana devnet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6530188" y="34838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50" kern="0" dirty="0">
                <a:solidFill>
                  <a:schemeClr val="accent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941668" y="34472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Deposit 100 test USDC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530188" y="41970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50" kern="0" dirty="0">
                <a:solidFill>
                  <a:schemeClr val="accent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941668" y="41605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See the split: 20% liquid, the rest in pools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530188" y="49103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50" kern="0" dirty="0">
                <a:solidFill>
                  <a:schemeClr val="accent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941668" y="48737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If there's time: deposit again from the Blink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9602572" y="2744846"/>
            <a:ext cx="1711300" cy="2694188"/>
          </a:xfrm>
          <a:prstGeom prst="roundRect">
            <a:avLst>
              <a:gd name="adj" fmla="val 3206"/>
            </a:avLst>
          </a:prstGeom>
          <a:solidFill>
            <a:srgbClr val="0E0E0E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8" name="demo-shot-1" descr="Vault withdraw screen: 2,000 now, the rest after a 30-minute time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148" y="2781422"/>
            <a:ext cx="1638148" cy="262103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85800" y="5961888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Devnet tokens have no value.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Practice pools pay fixed practice rates, not market yield. Thumbnails: local build (demo data; vault in simulated preview).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1022573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-blo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3506" y="713232"/>
            <a:ext cx="6362719" cy="1600200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987552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chemeClr val="bg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4" name="Text 1"/>
          <p:cNvSpPr txBox="1"/>
          <p:nvPr/>
        </p:nvSpPr>
        <p:spPr>
          <a:xfrm>
            <a:off x="1828800" y="2423160"/>
            <a:ext cx="8534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9C9C9"/>
                </a:solidFill>
              </a:rPr>
              <a:t>Make stablecoin yield easier to understand </a:t>
            </a:r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before making it easier to chase.</a:t>
            </a:r>
            <a:endParaRPr lang="en-US" sz="1900" dirty="0"/>
          </a:p>
        </p:txBody>
      </p:sp>
      <p:sp>
        <p:nvSpPr>
          <p:cNvPr id="5" name="qr-card"/>
          <p:cNvSpPr/>
          <p:nvPr/>
        </p:nvSpPr>
        <p:spPr>
          <a:xfrm rot="180000">
            <a:off x="4998568" y="32461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63500" dir="2700000">
              <a:srgbClr val="080808">
                <a:alpha val="85000"/>
              </a:srgbClr>
            </a:outerShdw>
          </a:effectLst>
        </p:spPr>
      </p:sp>
      <p:pic>
        <p:nvPicPr>
          <p:cNvPr id="6" name="Image 1" descr="QR code linking to stablesaver-web.vercel.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5163160" y="3410712"/>
            <a:ext cx="1865376" cy="1865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0" y="5669280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50" kern="0" dirty="0">
                <a:solidFill>
                  <a:schemeClr val="accent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SCAN TO TRY IT  ·  STABLESAVER-WEB.VERCEL.APP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2286000" y="5961888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Next: a real Kamino strategy in the vault, then an audit and a multisig.</a:t>
            </a:r>
            <a:endParaRPr lang="en-US" sz="1250" dirty="0"/>
          </a:p>
        </p:txBody>
      </p:sp>
      <p:pic>
        <p:nvPicPr>
          <p:cNvPr id="9" name="sticker-coin" descr="coin stic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40000">
            <a:off x="1463040" y="3566160"/>
            <a:ext cx="1463040" cy="1463040"/>
          </a:xfrm>
          <a:prstGeom prst="rect">
            <a:avLst/>
          </a:prstGeom>
        </p:spPr>
      </p:pic>
      <p:pic>
        <p:nvPicPr>
          <p:cNvPr id="10" name="sticker-sprout" descr="sprout stic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2103120" y="822960"/>
            <a:ext cx="1051560" cy="1051560"/>
          </a:xfrm>
          <a:prstGeom prst="rect">
            <a:avLst/>
          </a:prstGeom>
        </p:spPr>
      </p:pic>
      <p:pic>
        <p:nvPicPr>
          <p:cNvPr id="11" name="sticker-piggy" descr="piggy stick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9326880" y="3657600"/>
            <a:ext cx="1554480" cy="1554480"/>
          </a:xfrm>
          <a:prstGeom prst="rect">
            <a:avLst/>
          </a:prstGeom>
        </p:spPr>
      </p:pic>
      <p:pic>
        <p:nvPicPr>
          <p:cNvPr id="12" name="sticker-shield" descr="shield stick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360000">
            <a:off x="9692640" y="914400"/>
            <a:ext cx="1051560" cy="1051560"/>
          </a:xfrm>
          <a:prstGeom prst="rect">
            <a:avLst/>
          </a:prstGeom>
        </p:spPr>
      </p:pic>
      <p:pic>
        <p:nvPicPr>
          <p:cNvPr id="13" name="sticker-sparkle" descr="sparkle stic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3429000"/>
            <a:ext cx="777240" cy="77724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022573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ableSave Scrapbook">
      <a:dk1>
        <a:srgbClr val="1C1C1C"/>
      </a:dk1>
      <a:lt1>
        <a:srgbClr val="F2F2F2"/>
      </a:lt1>
      <a:dk2>
        <a:srgbClr val="262626"/>
      </a:dk2>
      <a:lt2>
        <a:srgbClr val="A3A3A3"/>
      </a:lt2>
      <a:accent1>
        <a:srgbClr val="3DDC97"/>
      </a:accent1>
      <a:accent2>
        <a:srgbClr val="F2C14E"/>
      </a:accent2>
      <a:accent3>
        <a:srgbClr val="EE8A43"/>
      </a:accent3>
      <a:accent4>
        <a:srgbClr val="A47CF3"/>
      </a:accent4>
      <a:accent5>
        <a:srgbClr val="2F2F2F"/>
      </a:accent5>
      <a:accent6>
        <a:srgbClr val="3D3D3D"/>
      </a:accent6>
      <a:hlink>
        <a:srgbClr val="3DDC97"/>
      </a:hlink>
      <a:folHlink>
        <a:srgbClr val="A47CF3"/>
      </a:folHlink>
    </a:clrScheme>
    <a:fontScheme name="Office">
      <a:majorFont>
        <a:latin typeface="Ant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StableSave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StableSave — Demo Day</dc:title>
  <dc:subject>Stablecoin yield intelligence and a Solana vault prototype</dc:subject>
  <dc:creator>Theo</dc:creator>
  <cp:lastModifiedBy>Theo</cp:lastModifiedBy>
  <cp:revision>1</cp:revision>
  <dcterms:created xsi:type="dcterms:W3CDTF">2026-10-14T23:39:16Z</dcterms:created>
  <dcterms:modified xsi:type="dcterms:W3CDTF">2026-10-14T23:39:16Z</dcterms:modified>
</cp:coreProperties>
</file>